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1"/>
  </p:notesMasterIdLst>
  <p:sldIdLst>
    <p:sldId id="256" r:id="rId3"/>
    <p:sldId id="258" r:id="rId4"/>
    <p:sldId id="260" r:id="rId5"/>
    <p:sldId id="267" r:id="rId6"/>
    <p:sldId id="275" r:id="rId7"/>
    <p:sldId id="287" r:id="rId8"/>
    <p:sldId id="284" r:id="rId9"/>
    <p:sldId id="286" r:id="rId10"/>
    <p:sldId id="289" r:id="rId11"/>
    <p:sldId id="302" r:id="rId12"/>
    <p:sldId id="303" r:id="rId13"/>
    <p:sldId id="348" r:id="rId14"/>
    <p:sldId id="349" r:id="rId15"/>
    <p:sldId id="304" r:id="rId16"/>
    <p:sldId id="351" r:id="rId17"/>
    <p:sldId id="305" r:id="rId18"/>
    <p:sldId id="372" r:id="rId19"/>
    <p:sldId id="373" r:id="rId20"/>
    <p:sldId id="371" r:id="rId21"/>
    <p:sldId id="357" r:id="rId22"/>
    <p:sldId id="375" r:id="rId23"/>
    <p:sldId id="356" r:id="rId24"/>
    <p:sldId id="376" r:id="rId25"/>
    <p:sldId id="378" r:id="rId26"/>
    <p:sldId id="358" r:id="rId27"/>
    <p:sldId id="352" r:id="rId28"/>
    <p:sldId id="306" r:id="rId29"/>
    <p:sldId id="307" r:id="rId30"/>
    <p:sldId id="308" r:id="rId31"/>
    <p:sldId id="309" r:id="rId32"/>
    <p:sldId id="310" r:id="rId33"/>
    <p:sldId id="311" r:id="rId34"/>
    <p:sldId id="312" r:id="rId35"/>
    <p:sldId id="313" r:id="rId36"/>
    <p:sldId id="314" r:id="rId37"/>
    <p:sldId id="315" r:id="rId38"/>
    <p:sldId id="316" r:id="rId39"/>
    <p:sldId id="317" r:id="rId40"/>
    <p:sldId id="318" r:id="rId41"/>
    <p:sldId id="319" r:id="rId42"/>
    <p:sldId id="369" r:id="rId43"/>
    <p:sldId id="370" r:id="rId44"/>
    <p:sldId id="320" r:id="rId45"/>
    <p:sldId id="363" r:id="rId46"/>
    <p:sldId id="353" r:id="rId47"/>
    <p:sldId id="364" r:id="rId48"/>
    <p:sldId id="366" r:id="rId49"/>
    <p:sldId id="331" r:id="rId50"/>
    <p:sldId id="332" r:id="rId51"/>
    <p:sldId id="333" r:id="rId52"/>
    <p:sldId id="334" r:id="rId53"/>
    <p:sldId id="335" r:id="rId54"/>
    <p:sldId id="336" r:id="rId55"/>
    <p:sldId id="337" r:id="rId56"/>
    <p:sldId id="338" r:id="rId57"/>
    <p:sldId id="339" r:id="rId58"/>
    <p:sldId id="340" r:id="rId59"/>
    <p:sldId id="341" r:id="rId60"/>
    <p:sldId id="342" r:id="rId61"/>
    <p:sldId id="343" r:id="rId62"/>
    <p:sldId id="344" r:id="rId63"/>
    <p:sldId id="367" r:id="rId64"/>
    <p:sldId id="368" r:id="rId65"/>
    <p:sldId id="359" r:id="rId66"/>
    <p:sldId id="360" r:id="rId67"/>
    <p:sldId id="361" r:id="rId68"/>
    <p:sldId id="362" r:id="rId69"/>
    <p:sldId id="347" r:id="rId70"/>
  </p:sldIdLst>
  <p:sldSz cx="12192000" cy="6858000"/>
  <p:notesSz cx="6858000" cy="9144000"/>
  <p:custDataLst>
    <p:tags r:id="rId7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905" autoAdjust="0"/>
    <p:restoredTop sz="86706" autoAdjust="0"/>
  </p:normalViewPr>
  <p:slideViewPr>
    <p:cSldViewPr snapToGrid="0">
      <p:cViewPr varScale="1">
        <p:scale>
          <a:sx n="81" d="100"/>
          <a:sy n="81" d="100"/>
        </p:scale>
        <p:origin x="73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5" Type="http://schemas.openxmlformats.org/officeDocument/2006/relationships/tags" Target="tags/tag1.xml"/><Relationship Id="rId74" Type="http://schemas.openxmlformats.org/officeDocument/2006/relationships/tableStyles" Target="tableStyles.xml"/><Relationship Id="rId73" Type="http://schemas.openxmlformats.org/officeDocument/2006/relationships/viewProps" Target="viewProps.xml"/><Relationship Id="rId72" Type="http://schemas.openxmlformats.org/officeDocument/2006/relationships/presProps" Target="presProps.xml"/><Relationship Id="rId71" Type="http://schemas.openxmlformats.org/officeDocument/2006/relationships/notesMaster" Target="notesMasters/notesMaster1.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0590E7-942F-4C29-9E50-D54868E0B3C5}"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1D7544-8E25-4E2A-BF62-CCE69D4AB9A4}"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image4.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normAutofit/>
          </a:bodyPr>
          <a:lstStyle>
            <a:lvl1pPr algn="ctr">
              <a:defRPr sz="5400"/>
            </a:lvl1pPr>
          </a:lstStyle>
          <a:p>
            <a:r>
              <a:rPr lang="zh-CN" altLang="en-US"/>
              <a:t>单击此处编辑母版标题样式</a:t>
            </a:r>
            <a:endParaRPr lang="zh-CN" altLang="en-US" dirty="0"/>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fld id="{126D3EE9-7539-4E35-AA32-D6C6D6B84F33}"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50648" y="390127"/>
            <a:ext cx="1077598" cy="1250521"/>
          </a:xfrm>
          <a:prstGeom prst="rect">
            <a:avLst/>
          </a:prstGeom>
        </p:spPr>
      </p:pic>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08013" y="304800"/>
            <a:ext cx="1345787" cy="1423429"/>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11" name="图片 10"/>
          <p:cNvPicPr>
            <a:picLocks noChangeAspect="1"/>
          </p:cNvPicPr>
          <p:nvPr/>
        </p:nvPicPr>
        <p:blipFill>
          <a:blip r:embed="rId2">
            <a:lum bright="70000" contrast="-70000"/>
            <a:extLst>
              <a:ext uri="{BEBA8EAE-BF5A-486C-A8C5-ECC9F3942E4B}">
                <a14:imgProps xmlns:a14="http://schemas.microsoft.com/office/drawing/2010/main">
                  <a14:imgLayer r:embed="rId3">
                    <a14:imgEffect>
                      <a14:brightnessContrast bright="40000" contrast="-40000"/>
                    </a14:imgEffect>
                    <a14:imgEffect>
                      <a14:colorTemperature colorTemp="6494"/>
                    </a14:imgEffect>
                    <a14:imgEffect>
                      <a14:saturation sat="33000"/>
                    </a14:imgEffect>
                  </a14:imgLayer>
                </a14:imgProps>
              </a:ext>
              <a:ext uri="{28A0092B-C50C-407E-A947-70E740481C1C}">
                <a14:useLocalDpi xmlns:a14="http://schemas.microsoft.com/office/drawing/2010/main" val="0"/>
              </a:ext>
            </a:extLst>
          </a:blip>
          <a:stretch>
            <a:fillRect/>
          </a:stretch>
        </p:blipFill>
        <p:spPr>
          <a:xfrm>
            <a:off x="6248401" y="365126"/>
            <a:ext cx="5105400" cy="6398768"/>
          </a:xfrm>
          <a:prstGeom prst="rect">
            <a:avLst/>
          </a:prstGeom>
        </p:spPr>
      </p:pic>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41D2AEF5-D648-4728-8573-61956C55922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E80CE14F-C2EF-41E5-9B49-9D7F25212204}"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50648" y="390127"/>
            <a:ext cx="1077598" cy="1250521"/>
          </a:xfrm>
          <a:prstGeom prst="rect">
            <a:avLst/>
          </a:prstGeom>
        </p:spPr>
      </p:pic>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08013" y="304800"/>
            <a:ext cx="1345787" cy="1423429"/>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90CADC0B-D807-4923-9E89-90102AF9581F}"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7" name="灯片编号占位符 6"/>
          <p:cNvSpPr>
            <a:spLocks noGrp="1"/>
          </p:cNvSpPr>
          <p:nvPr>
            <p:ph type="sldNum" sz="quarter" idx="12"/>
          </p:nvPr>
        </p:nvSpPr>
        <p:spPr/>
        <p:txBody>
          <a:bodyPr/>
          <a:lstStyle/>
          <a:p>
            <a:fld id="{060257D9-7AE1-4835-BC7B-58BA9867DEAF}"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28DDA34C-E308-437A-94E8-E3B69343B8A2}" type="datetime1">
              <a:rPr lang="zh-CN" altLang="en-US" smtClean="0"/>
            </a:fld>
            <a:endParaRPr lang="zh-CN" altLang="en-US"/>
          </a:p>
        </p:txBody>
      </p:sp>
      <p:sp>
        <p:nvSpPr>
          <p:cNvPr id="8" name="页脚占位符 7"/>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9" name="灯片编号占位符 8"/>
          <p:cNvSpPr>
            <a:spLocks noGrp="1"/>
          </p:cNvSpPr>
          <p:nvPr>
            <p:ph type="sldNum" sz="quarter" idx="12"/>
          </p:nvPr>
        </p:nvSpPr>
        <p:spPr/>
        <p:txBody>
          <a:bodyPr/>
          <a:lstStyle/>
          <a:p>
            <a:fld id="{060257D9-7AE1-4835-BC7B-58BA9867DEAF}"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43DCC21-3CDC-4DC7-916A-202D8537E588}"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5" name="灯片编号占位符 4"/>
          <p:cNvSpPr>
            <a:spLocks noGrp="1"/>
          </p:cNvSpPr>
          <p:nvPr>
            <p:ph type="sldNum" sz="quarter" idx="12"/>
          </p:nvPr>
        </p:nvSpPr>
        <p:spPr/>
        <p:txBody>
          <a:bodyPr/>
          <a:lstStyle/>
          <a:p>
            <a:fld id="{060257D9-7AE1-4835-BC7B-58BA9867DEAF}"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07C44A0-6583-4732-B45B-E3AB620BB415}" type="datetime1">
              <a:rPr lang="zh-CN" altLang="en-US" smtClean="0"/>
            </a:fld>
            <a:endParaRPr lang="zh-CN" altLang="en-US"/>
          </a:p>
        </p:txBody>
      </p:sp>
      <p:sp>
        <p:nvSpPr>
          <p:cNvPr id="3" name="页脚占位符 2"/>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4" name="灯片编号占位符 3"/>
          <p:cNvSpPr>
            <a:spLocks noGrp="1"/>
          </p:cNvSpPr>
          <p:nvPr>
            <p:ph type="sldNum" sz="quarter" idx="12"/>
          </p:nvPr>
        </p:nvSpPr>
        <p:spPr/>
        <p:txBody>
          <a:bodyPr/>
          <a:lstStyle/>
          <a:p>
            <a:fld id="{060257D9-7AE1-4835-BC7B-58BA9867DEAF}"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29EDD07D-41E5-4021-AEF2-C6FA1A3E613C}"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7" name="灯片编号占位符 6"/>
          <p:cNvSpPr>
            <a:spLocks noGrp="1"/>
          </p:cNvSpPr>
          <p:nvPr>
            <p:ph type="sldNum" sz="quarter" idx="12"/>
          </p:nvPr>
        </p:nvSpPr>
        <p:spPr/>
        <p:txBody>
          <a:bodyPr/>
          <a:lstStyle/>
          <a:p>
            <a:fld id="{060257D9-7AE1-4835-BC7B-58BA9867DEA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BE327DE8-D5E2-476E-B7EB-7F9125C53A04}"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7" name="灯片编号占位符 6"/>
          <p:cNvSpPr>
            <a:spLocks noGrp="1"/>
          </p:cNvSpPr>
          <p:nvPr>
            <p:ph type="sldNum" sz="quarter" idx="12"/>
          </p:nvPr>
        </p:nvSpPr>
        <p:spPr/>
        <p:txBody>
          <a:bodyPr/>
          <a:lstStyle/>
          <a:p>
            <a:fld id="{060257D9-7AE1-4835-BC7B-58BA9867DEAF}"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CE929EB-E43E-4B8C-A6CD-D68D2F1740E9}"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10999E0E-51F1-4E5B-B40B-731AE888A5F8}"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6"/>
            <a:ext cx="10515600" cy="734002"/>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348509"/>
            <a:ext cx="10515600" cy="4828454"/>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488430"/>
            <a:ext cx="2743200" cy="365125"/>
          </a:xfrm>
          <a:prstGeom prst="rect">
            <a:avLst/>
          </a:prstGeom>
        </p:spPr>
        <p:txBody>
          <a:bodyPr vert="horz" lIns="91440" tIns="45720" rIns="91440" bIns="45720" rtlCol="0" anchor="ctr"/>
          <a:lstStyle>
            <a:lvl1pPr algn="l">
              <a:defRPr sz="1700">
                <a:solidFill>
                  <a:schemeClr val="tx1"/>
                </a:solidFill>
              </a:defRPr>
            </a:lvl1pPr>
          </a:lstStyle>
          <a:p>
            <a:fld id="{0D503F90-05AE-4701-92F6-A8D652C905C0}" type="datetime1">
              <a:rPr lang="zh-CN" altLang="en-US" smtClean="0"/>
            </a:fld>
            <a:endParaRPr lang="zh-CN" altLang="en-US"/>
          </a:p>
        </p:txBody>
      </p:sp>
      <p:sp>
        <p:nvSpPr>
          <p:cNvPr id="5" name="页脚占位符 4"/>
          <p:cNvSpPr>
            <a:spLocks noGrp="1"/>
          </p:cNvSpPr>
          <p:nvPr>
            <p:ph type="ftr" sz="quarter" idx="3"/>
          </p:nvPr>
        </p:nvSpPr>
        <p:spPr>
          <a:xfrm>
            <a:off x="4038600" y="6488430"/>
            <a:ext cx="4114800" cy="365125"/>
          </a:xfrm>
          <a:prstGeom prst="rect">
            <a:avLst/>
          </a:prstGeom>
        </p:spPr>
        <p:txBody>
          <a:bodyPr vert="horz" lIns="91440" tIns="45720" rIns="91440" bIns="45720" rtlCol="0" anchor="ctr"/>
          <a:lstStyle>
            <a:lvl1pPr algn="ctr">
              <a:defRPr sz="1700">
                <a:solidFill>
                  <a:schemeClr val="tx1"/>
                </a:solidFill>
              </a:defRPr>
            </a:lvl1p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4"/>
          </p:nvPr>
        </p:nvSpPr>
        <p:spPr>
          <a:xfrm>
            <a:off x="8610600" y="6488430"/>
            <a:ext cx="2743200" cy="365125"/>
          </a:xfrm>
          <a:prstGeom prst="rect">
            <a:avLst/>
          </a:prstGeom>
        </p:spPr>
        <p:txBody>
          <a:bodyPr vert="horz" lIns="91440" tIns="45720" rIns="91440" bIns="45720" rtlCol="0" anchor="ctr"/>
          <a:lstStyle>
            <a:lvl1pPr algn="r">
              <a:defRPr sz="1700">
                <a:solidFill>
                  <a:schemeClr val="tx1"/>
                </a:solidFill>
              </a:defRPr>
            </a:lvl1pPr>
          </a:lstStyle>
          <a:p>
            <a:fld id="{060257D9-7AE1-4835-BC7B-58BA9867DEAF}"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幼圆" panose="02010509060101010101" pitchFamily="49" charset="-122"/>
          <a:ea typeface="幼圆" panose="02010509060101010101" pitchFamily="49"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幼圆" panose="02010509060101010101" pitchFamily="49" charset="-122"/>
          <a:ea typeface="幼圆" panose="02010509060101010101"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幼圆" panose="02010509060101010101" pitchFamily="49" charset="-122"/>
          <a:ea typeface="幼圆" panose="02010509060101010101" pitchFamily="49"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幼圆" panose="02010509060101010101" pitchFamily="49" charset="-122"/>
          <a:ea typeface="幼圆" panose="02010509060101010101" pitchFamily="49"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幼圆" panose="02010509060101010101" pitchFamily="49" charset="-122"/>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8.png"/><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emf"/><Relationship Id="rId1"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emf"/><Relationship Id="rId1" Type="http://schemas.openxmlformats.org/officeDocument/2006/relationships/image" Target="../media/image5.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emf"/></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jpeg"/><Relationship Id="rId1" Type="http://schemas.openxmlformats.org/officeDocument/2006/relationships/image" Target="../media/image12.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image" Target="../media/image17.emf"/></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image" Target="../media/image17.e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em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ctrTitle"/>
          </p:nvPr>
        </p:nvSpPr>
        <p:spPr>
          <a:xfrm>
            <a:off x="1524000" y="2692400"/>
            <a:ext cx="9144000" cy="1203642"/>
          </a:xfrm>
        </p:spPr>
        <p:txBody>
          <a:bodyPr>
            <a:normAutofit/>
          </a:bodyPr>
          <a:lstStyle/>
          <a:p>
            <a:pPr algn="l"/>
            <a:r>
              <a:rPr lang="en-US" altLang="zh-CN" sz="4800" dirty="0"/>
              <a:t>PA 2-1 – </a:t>
            </a:r>
            <a:r>
              <a:rPr lang="zh-CN" altLang="en-US" sz="4800" dirty="0"/>
              <a:t>指令解码与执行 </a:t>
            </a:r>
            <a:r>
              <a:rPr lang="en-US" altLang="zh-CN" sz="4800" dirty="0"/>
              <a:t>(2)</a:t>
            </a:r>
            <a:endParaRPr lang="zh-CN" altLang="en-US" sz="4800" dirty="0"/>
          </a:p>
        </p:txBody>
      </p:sp>
      <p:sp>
        <p:nvSpPr>
          <p:cNvPr id="5" name="副标题 2"/>
          <p:cNvSpPr>
            <a:spLocks noGrp="1"/>
          </p:cNvSpPr>
          <p:nvPr>
            <p:ph type="subTitle" idx="1"/>
          </p:nvPr>
        </p:nvSpPr>
        <p:spPr>
          <a:xfrm>
            <a:off x="1524000" y="4298315"/>
            <a:ext cx="9144000" cy="1655762"/>
          </a:xfrm>
        </p:spPr>
        <p:txBody>
          <a:bodyPr>
            <a:normAutofit/>
          </a:bodyPr>
          <a:lstStyle/>
          <a:p>
            <a:pPr algn="r"/>
            <a:r>
              <a:rPr lang="en-US" altLang="zh-CN" dirty="0"/>
              <a:t>2026</a:t>
            </a:r>
            <a:r>
              <a:rPr lang="zh-CN" altLang="en-US" dirty="0"/>
              <a:t>年</a:t>
            </a:r>
            <a:r>
              <a:rPr lang="en-US" altLang="zh-CN" dirty="0"/>
              <a:t>09</a:t>
            </a:r>
            <a:r>
              <a:rPr lang="zh-CN" altLang="en-US" dirty="0"/>
              <a:t>月</a:t>
            </a:r>
            <a:r>
              <a:rPr lang="en-US" altLang="zh-CN" dirty="0"/>
              <a:t>22</a:t>
            </a:r>
            <a:r>
              <a:rPr lang="zh-CN" altLang="en-US" dirty="0"/>
              <a:t>日</a:t>
            </a:r>
            <a:endParaRPr lang="zh-CN" altLang="en-US" dirty="0"/>
          </a:p>
          <a:p>
            <a:pPr algn="r"/>
            <a:r>
              <a:rPr lang="en-US" altLang="zh-CN" dirty="0">
                <a:sym typeface="+mn-ea"/>
              </a:rPr>
              <a:t>2026</a:t>
            </a:r>
            <a:r>
              <a:rPr lang="zh-CN" altLang="en-US" dirty="0">
                <a:sym typeface="+mn-ea"/>
              </a:rPr>
              <a:t>年</a:t>
            </a:r>
            <a:r>
              <a:rPr lang="en-US" altLang="zh-CN" dirty="0">
                <a:sym typeface="+mn-ea"/>
              </a:rPr>
              <a:t>10</a:t>
            </a:r>
            <a:r>
              <a:rPr lang="zh-CN" altLang="en-US" dirty="0">
                <a:sym typeface="+mn-ea"/>
              </a:rPr>
              <a:t>月</a:t>
            </a:r>
            <a:r>
              <a:rPr lang="en-US" altLang="zh-CN" dirty="0">
                <a:sym typeface="+mn-ea"/>
              </a:rPr>
              <a:t>10</a:t>
            </a:r>
            <a:r>
              <a:rPr lang="zh-CN" altLang="en-US" dirty="0">
                <a:sym typeface="+mn-ea"/>
              </a:rPr>
              <a:t>日</a:t>
            </a:r>
            <a:endParaRPr lang="zh-CN" altLang="en-US" dirty="0"/>
          </a:p>
          <a:p>
            <a:pPr algn="r"/>
            <a:r>
              <a:rPr lang="zh-CN" altLang="en-US" dirty="0"/>
              <a:t>南京大学</a:t>
            </a:r>
            <a:r>
              <a:rPr lang="en-US" altLang="zh-CN" dirty="0"/>
              <a:t>《</a:t>
            </a:r>
            <a:r>
              <a:rPr lang="zh-CN" altLang="en-US" dirty="0"/>
              <a:t>计算机系统基础</a:t>
            </a:r>
            <a:r>
              <a:rPr lang="en-US" altLang="zh-CN" dirty="0"/>
              <a:t>》</a:t>
            </a:r>
            <a:r>
              <a:rPr lang="zh-CN" altLang="en-US" dirty="0"/>
              <a:t>课程组</a:t>
            </a:r>
            <a:endParaRPr lang="zh-CN" altLang="en-US" dirty="0"/>
          </a:p>
        </p:txBody>
      </p:sp>
      <p:sp>
        <p:nvSpPr>
          <p:cNvPr id="6" name="标题 1"/>
          <p:cNvSpPr txBox="1"/>
          <p:nvPr/>
        </p:nvSpPr>
        <p:spPr>
          <a:xfrm>
            <a:off x="1524000" y="1359434"/>
            <a:ext cx="6858000" cy="133296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2400" dirty="0">
                <a:latin typeface="幼圆" panose="02010509060101010101" pitchFamily="49" charset="-122"/>
                <a:ea typeface="幼圆" panose="02010509060101010101" pitchFamily="49" charset="-122"/>
              </a:rPr>
              <a:t>计算机系统基础</a:t>
            </a:r>
            <a:br>
              <a:rPr lang="en-US" altLang="zh-CN" sz="2400" dirty="0">
                <a:latin typeface="幼圆" panose="02010509060101010101" pitchFamily="49" charset="-122"/>
                <a:ea typeface="幼圆" panose="02010509060101010101" pitchFamily="49" charset="-122"/>
              </a:rPr>
            </a:br>
            <a:r>
              <a:rPr lang="en-US" altLang="zh-CN" sz="2400" dirty="0">
                <a:latin typeface="幼圆" panose="02010509060101010101" pitchFamily="49" charset="-122"/>
                <a:ea typeface="幼圆" panose="02010509060101010101" pitchFamily="49" charset="-122"/>
              </a:rPr>
              <a:t>Programming Assignment</a:t>
            </a:r>
            <a:endParaRPr lang="zh-CN" altLang="en-US" sz="2400" dirty="0">
              <a:latin typeface="幼圆" panose="02010509060101010101" pitchFamily="49" charset="-122"/>
              <a:ea typeface="幼圆" panose="02010509060101010101" pitchFamily="49" charset="-122"/>
            </a:endParaRPr>
          </a:p>
        </p:txBody>
      </p:sp>
      <p:sp>
        <p:nvSpPr>
          <p:cNvPr id="7" name="日期占位符 6"/>
          <p:cNvSpPr>
            <a:spLocks noGrp="1"/>
          </p:cNvSpPr>
          <p:nvPr>
            <p:ph type="dt" sz="half" idx="10"/>
          </p:nvPr>
        </p:nvSpPr>
        <p:spPr/>
        <p:txBody>
          <a:bodyPr/>
          <a:lstStyle/>
          <a:p>
            <a:fld id="{E0C6070E-0867-4427-9438-18C4952E7102}" type="datetime1">
              <a:rPr lang="zh-CN" altLang="en-US" smtClean="0"/>
            </a:fld>
            <a:endParaRPr lang="zh-CN" altLang="en-US"/>
          </a:p>
        </p:txBody>
      </p:sp>
      <p:sp>
        <p:nvSpPr>
          <p:cNvPr id="8" name="页脚占位符 7"/>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9" name="灯片编号占位符 8"/>
          <p:cNvSpPr>
            <a:spLocks noGrp="1"/>
          </p:cNvSpPr>
          <p:nvPr>
            <p:ph type="sldNum" sz="quarter" idx="12"/>
          </p:nvPr>
        </p:nvSpPr>
        <p:spPr/>
        <p:txBody>
          <a:bodyPr/>
          <a:lstStyle/>
          <a:p>
            <a:fld id="{060257D9-7AE1-4835-BC7B-58BA9867DEAF}" type="slidenum">
              <a:rPr lang="zh-CN" altLang="en-US" smtClean="0"/>
            </a:fld>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目录</a:t>
            </a:r>
            <a:endParaRPr lang="zh-CN" altLang="en-US" dirty="0"/>
          </a:p>
        </p:txBody>
      </p:sp>
      <p:sp>
        <p:nvSpPr>
          <p:cNvPr id="3" name="内容占位符 2"/>
          <p:cNvSpPr>
            <a:spLocks noGrp="1"/>
          </p:cNvSpPr>
          <p:nvPr>
            <p:ph idx="1"/>
          </p:nvPr>
        </p:nvSpPr>
        <p:spPr/>
        <p:txBody>
          <a:bodyPr/>
          <a:lstStyle/>
          <a:p>
            <a:pPr>
              <a:lnSpc>
                <a:spcPct val="200000"/>
              </a:lnSpc>
            </a:pPr>
            <a:r>
              <a:rPr lang="zh-CN" altLang="en-US" b="1" dirty="0"/>
              <a:t>程序执行的宏观过程与模拟</a:t>
            </a:r>
            <a:endParaRPr lang="zh-CN" altLang="en-US" b="1" dirty="0"/>
          </a:p>
          <a:p>
            <a:pPr>
              <a:lnSpc>
                <a:spcPct val="200000"/>
              </a:lnSpc>
            </a:pPr>
            <a:r>
              <a:rPr lang="zh-CN" altLang="en-US" b="1" dirty="0"/>
              <a:t>单条指令的解码与</a:t>
            </a:r>
            <a:r>
              <a:rPr lang="en-US" altLang="zh-CN" b="1" dirty="0"/>
              <a:t>NEMU</a:t>
            </a:r>
            <a:r>
              <a:rPr lang="zh-CN" altLang="en-US" b="1" dirty="0"/>
              <a:t>实现</a:t>
            </a:r>
            <a:endParaRPr lang="zh-CN" altLang="en-US" b="1" dirty="0"/>
          </a:p>
        </p:txBody>
      </p:sp>
      <p:sp>
        <p:nvSpPr>
          <p:cNvPr id="4" name="日期占位符 3"/>
          <p:cNvSpPr>
            <a:spLocks noGrp="1"/>
          </p:cNvSpPr>
          <p:nvPr>
            <p:ph type="dt" sz="half" idx="10"/>
          </p:nvPr>
        </p:nvSpPr>
        <p:spPr/>
        <p:txBody>
          <a:bodyPr/>
          <a:lstStyle/>
          <a:p>
            <a:fld id="{41D2AEF5-D648-4728-8573-61956C55922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rot="19048444">
            <a:off x="2672133" y="1007522"/>
            <a:ext cx="3111669" cy="3111669"/>
          </a:xfrm>
          <a:prstGeom prst="rect">
            <a:avLst/>
          </a:prstGeom>
        </p:spPr>
      </p:pic>
      <p:pic>
        <p:nvPicPr>
          <p:cNvPr id="10" name="图片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75903" y="4493078"/>
            <a:ext cx="2271392" cy="1885255"/>
          </a:xfrm>
          <a:prstGeom prst="rect">
            <a:avLst/>
          </a:prstGeom>
        </p:spPr>
      </p:pic>
      <p:sp>
        <p:nvSpPr>
          <p:cNvPr id="2" name="标题 1"/>
          <p:cNvSpPr>
            <a:spLocks noGrp="1"/>
          </p:cNvSpPr>
          <p:nvPr>
            <p:ph type="title"/>
          </p:nvPr>
        </p:nvSpPr>
        <p:spPr/>
        <p:txBody>
          <a:bodyPr/>
          <a:lstStyle/>
          <a:p>
            <a:r>
              <a:rPr lang="zh-CN" altLang="en-US" dirty="0"/>
              <a:t>计算机执行程序的过程</a:t>
            </a:r>
            <a:endParaRPr lang="zh-CN" altLang="en-US" dirty="0"/>
          </a:p>
        </p:txBody>
      </p:sp>
      <p:sp>
        <p:nvSpPr>
          <p:cNvPr id="4" name="日期占位符 3"/>
          <p:cNvSpPr>
            <a:spLocks noGrp="1"/>
          </p:cNvSpPr>
          <p:nvPr>
            <p:ph type="dt" sz="half" idx="10"/>
          </p:nvPr>
        </p:nvSpPr>
        <p:spPr/>
        <p:txBody>
          <a:bodyPr/>
          <a:lstStyle/>
          <a:p>
            <a:fld id="{41D2AEF5-D648-4728-8573-61956C55922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pic>
        <p:nvPicPr>
          <p:cNvPr id="7" name="图片 6"/>
          <p:cNvPicPr>
            <a:picLocks noChangeAspect="1"/>
          </p:cNvPicPr>
          <p:nvPr/>
        </p:nvPicPr>
        <p:blipFill rotWithShape="1">
          <a:blip r:embed="rId3" cstate="print">
            <a:extLst>
              <a:ext uri="{28A0092B-C50C-407E-A947-70E740481C1C}">
                <a14:useLocalDpi xmlns:a14="http://schemas.microsoft.com/office/drawing/2010/main" val="0"/>
              </a:ext>
            </a:extLst>
          </a:blip>
          <a:srcRect l="9420" r="15217"/>
          <a:stretch>
            <a:fillRect/>
          </a:stretch>
        </p:blipFill>
        <p:spPr>
          <a:xfrm>
            <a:off x="1396998" y="4450291"/>
            <a:ext cx="1453017" cy="1928042"/>
          </a:xfrm>
          <a:prstGeom prst="rect">
            <a:avLst/>
          </a:prstGeom>
        </p:spPr>
      </p:pic>
      <p:pic>
        <p:nvPicPr>
          <p:cNvPr id="9" name="图片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52466" y="1942611"/>
            <a:ext cx="1912205" cy="1424593"/>
          </a:xfrm>
          <a:prstGeom prst="rect">
            <a:avLst/>
          </a:prstGeom>
        </p:spPr>
      </p:pic>
      <p:sp>
        <p:nvSpPr>
          <p:cNvPr id="12" name="文本框 11"/>
          <p:cNvSpPr txBox="1"/>
          <p:nvPr/>
        </p:nvSpPr>
        <p:spPr>
          <a:xfrm>
            <a:off x="500394" y="4111066"/>
            <a:ext cx="1744717" cy="707886"/>
          </a:xfrm>
          <a:prstGeom prst="rect">
            <a:avLst/>
          </a:prstGeom>
          <a:noFill/>
        </p:spPr>
        <p:txBody>
          <a:bodyPr wrap="square" rtlCol="0">
            <a:spAutoFit/>
          </a:bodyPr>
          <a:lstStyle/>
          <a:p>
            <a:r>
              <a:rPr lang="en-US" altLang="zh-CN" sz="2000" dirty="0"/>
              <a:t>Windows: .exe</a:t>
            </a:r>
            <a:endParaRPr lang="en-US" altLang="zh-CN" sz="2000" dirty="0"/>
          </a:p>
          <a:p>
            <a:r>
              <a:rPr lang="en-US" altLang="zh-CN" sz="2000" dirty="0"/>
              <a:t>Linux: ELF</a:t>
            </a:r>
            <a:endParaRPr lang="en-US" altLang="zh-CN" sz="2000" dirty="0"/>
          </a:p>
        </p:txBody>
      </p:sp>
      <p:sp>
        <p:nvSpPr>
          <p:cNvPr id="13" name="文本框 12"/>
          <p:cNvSpPr txBox="1"/>
          <p:nvPr/>
        </p:nvSpPr>
        <p:spPr>
          <a:xfrm>
            <a:off x="4419341" y="3714580"/>
            <a:ext cx="2639598" cy="1446550"/>
          </a:xfrm>
          <a:prstGeom prst="rect">
            <a:avLst/>
          </a:prstGeom>
          <a:noFill/>
        </p:spPr>
        <p:txBody>
          <a:bodyPr wrap="square" rtlCol="0">
            <a:spAutoFit/>
          </a:bodyPr>
          <a:lstStyle/>
          <a:p>
            <a:pPr marL="357505" indent="-357505"/>
            <a:r>
              <a:rPr lang="en-US" altLang="zh-CN" sz="2800" dirty="0"/>
              <a:t>1. </a:t>
            </a:r>
            <a:r>
              <a:rPr lang="zh-CN" altLang="en-US" sz="2000" dirty="0"/>
              <a:t>将可执行文件中的指令、数据从外部存储器（如，硬盘）装载到内存中</a:t>
            </a:r>
            <a:endParaRPr lang="zh-CN" altLang="en-US" sz="2000" dirty="0"/>
          </a:p>
        </p:txBody>
      </p:sp>
      <p:sp>
        <p:nvSpPr>
          <p:cNvPr id="15" name="文本框 14"/>
          <p:cNvSpPr txBox="1"/>
          <p:nvPr/>
        </p:nvSpPr>
        <p:spPr>
          <a:xfrm>
            <a:off x="5438227" y="5236094"/>
            <a:ext cx="2406869" cy="707886"/>
          </a:xfrm>
          <a:prstGeom prst="rect">
            <a:avLst/>
          </a:prstGeom>
          <a:noFill/>
        </p:spPr>
        <p:txBody>
          <a:bodyPr wrap="square" rtlCol="0">
            <a:spAutoFit/>
          </a:bodyPr>
          <a:lstStyle/>
          <a:p>
            <a:r>
              <a:rPr lang="en-US" altLang="zh-CN" sz="2000" dirty="0">
                <a:solidFill>
                  <a:srgbClr val="C00000"/>
                </a:solidFill>
              </a:rPr>
              <a:t>PA 2-2 </a:t>
            </a:r>
            <a:r>
              <a:rPr lang="zh-CN" altLang="en-US" sz="2000" dirty="0">
                <a:solidFill>
                  <a:srgbClr val="C00000"/>
                </a:solidFill>
              </a:rPr>
              <a:t>深入探讨</a:t>
            </a:r>
            <a:endParaRPr lang="en-US" altLang="zh-CN" sz="2000" dirty="0">
              <a:solidFill>
                <a:srgbClr val="C00000"/>
              </a:solidFill>
            </a:endParaRPr>
          </a:p>
          <a:p>
            <a:r>
              <a:rPr lang="en-US" altLang="zh-CN" sz="2000" dirty="0">
                <a:solidFill>
                  <a:srgbClr val="C00000"/>
                </a:solidFill>
              </a:rPr>
              <a:t>PA 2-1 </a:t>
            </a:r>
            <a:r>
              <a:rPr lang="zh-CN" altLang="en-US" sz="2000" dirty="0">
                <a:solidFill>
                  <a:srgbClr val="C00000"/>
                </a:solidFill>
              </a:rPr>
              <a:t>简化实现</a:t>
            </a:r>
            <a:endParaRPr lang="zh-CN" altLang="en-US" sz="2000" dirty="0">
              <a:solidFill>
                <a:srgbClr val="C00000"/>
              </a:solidFill>
            </a:endParaRPr>
          </a:p>
        </p:txBody>
      </p:sp>
      <p:cxnSp>
        <p:nvCxnSpPr>
          <p:cNvPr id="20" name="直接箭头连接符 19"/>
          <p:cNvCxnSpPr/>
          <p:nvPr/>
        </p:nvCxnSpPr>
        <p:spPr>
          <a:xfrm flipV="1">
            <a:off x="4040351" y="3197088"/>
            <a:ext cx="0" cy="1166648"/>
          </a:xfrm>
          <a:prstGeom prst="straightConnector1">
            <a:avLst/>
          </a:prstGeom>
          <a:ln w="127000">
            <a:tailEnd type="triangle"/>
          </a:ln>
        </p:spPr>
        <p:style>
          <a:lnRef idx="3">
            <a:schemeClr val="dk1"/>
          </a:lnRef>
          <a:fillRef idx="0">
            <a:schemeClr val="dk1"/>
          </a:fillRef>
          <a:effectRef idx="2">
            <a:schemeClr val="dk1"/>
          </a:effectRef>
          <a:fontRef idx="minor">
            <a:schemeClr val="tx1"/>
          </a:fontRef>
        </p:style>
      </p:cxnSp>
      <p:cxnSp>
        <p:nvCxnSpPr>
          <p:cNvPr id="27" name="曲线连接符 26"/>
          <p:cNvCxnSpPr/>
          <p:nvPr/>
        </p:nvCxnSpPr>
        <p:spPr>
          <a:xfrm rot="16200000" flipH="1">
            <a:off x="7565248" y="413617"/>
            <a:ext cx="74" cy="3368510"/>
          </a:xfrm>
          <a:prstGeom prst="curvedConnector3">
            <a:avLst>
              <a:gd name="adj1" fmla="val -635591892"/>
            </a:avLst>
          </a:prstGeom>
          <a:ln w="127000">
            <a:tailEnd type="triangle"/>
          </a:ln>
        </p:spPr>
        <p:style>
          <a:lnRef idx="3">
            <a:schemeClr val="dk1"/>
          </a:lnRef>
          <a:fillRef idx="0">
            <a:schemeClr val="dk1"/>
          </a:fillRef>
          <a:effectRef idx="2">
            <a:schemeClr val="dk1"/>
          </a:effectRef>
          <a:fontRef idx="minor">
            <a:schemeClr val="tx1"/>
          </a:fontRef>
        </p:style>
      </p:cxnSp>
      <p:cxnSp>
        <p:nvCxnSpPr>
          <p:cNvPr id="32" name="曲线连接符 31"/>
          <p:cNvCxnSpPr/>
          <p:nvPr/>
        </p:nvCxnSpPr>
        <p:spPr>
          <a:xfrm rot="5400000" flipH="1">
            <a:off x="7565248" y="1451809"/>
            <a:ext cx="74" cy="3368510"/>
          </a:xfrm>
          <a:prstGeom prst="curvedConnector3">
            <a:avLst>
              <a:gd name="adj1" fmla="val -635591892"/>
            </a:avLst>
          </a:prstGeom>
          <a:ln w="127000">
            <a:tailEnd type="triangle"/>
          </a:ln>
        </p:spPr>
        <p:style>
          <a:lnRef idx="3">
            <a:schemeClr val="dk1"/>
          </a:lnRef>
          <a:fillRef idx="0">
            <a:schemeClr val="dk1"/>
          </a:fillRef>
          <a:effectRef idx="2">
            <a:schemeClr val="dk1"/>
          </a:effectRef>
          <a:fontRef idx="minor">
            <a:schemeClr val="tx1"/>
          </a:fontRef>
        </p:style>
      </p:cxnSp>
      <p:sp>
        <p:nvSpPr>
          <p:cNvPr id="33" name="文本框 32"/>
          <p:cNvSpPr txBox="1"/>
          <p:nvPr/>
        </p:nvSpPr>
        <p:spPr>
          <a:xfrm>
            <a:off x="6153182" y="2085619"/>
            <a:ext cx="3096358" cy="1138773"/>
          </a:xfrm>
          <a:prstGeom prst="rect">
            <a:avLst/>
          </a:prstGeom>
          <a:noFill/>
        </p:spPr>
        <p:txBody>
          <a:bodyPr wrap="square" rtlCol="0">
            <a:spAutoFit/>
          </a:bodyPr>
          <a:lstStyle/>
          <a:p>
            <a:pPr marL="357505" indent="-357505"/>
            <a:r>
              <a:rPr lang="en-US" altLang="zh-CN" sz="2800" dirty="0"/>
              <a:t>2. </a:t>
            </a:r>
            <a:r>
              <a:rPr lang="zh-CN" altLang="en-US" sz="2000" dirty="0"/>
              <a:t>循环往复地取指令、取操作数、执行、写操作数（若需要写）</a:t>
            </a:r>
            <a:endParaRPr lang="zh-CN" alt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图片 3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rot="19048444">
            <a:off x="9620254" y="5359260"/>
            <a:ext cx="1269574" cy="1269574"/>
          </a:xfrm>
          <a:prstGeom prst="rect">
            <a:avLst/>
          </a:prstGeom>
        </p:spPr>
      </p:pic>
      <p:sp>
        <p:nvSpPr>
          <p:cNvPr id="2" name="标题 1"/>
          <p:cNvSpPr>
            <a:spLocks noGrp="1"/>
          </p:cNvSpPr>
          <p:nvPr>
            <p:ph type="title"/>
          </p:nvPr>
        </p:nvSpPr>
        <p:spPr/>
        <p:txBody>
          <a:bodyPr/>
          <a:lstStyle/>
          <a:p>
            <a:r>
              <a:rPr lang="en-US" altLang="zh-CN" dirty="0"/>
              <a:t>NEMU</a:t>
            </a:r>
            <a:r>
              <a:rPr lang="zh-CN" altLang="en-US" dirty="0"/>
              <a:t>模拟程序执行：</a:t>
            </a:r>
            <a:r>
              <a:rPr lang="en-US" altLang="zh-CN" dirty="0"/>
              <a:t>1. </a:t>
            </a:r>
            <a:r>
              <a:rPr lang="zh-CN" altLang="en-US" dirty="0"/>
              <a:t>装载程序</a:t>
            </a:r>
            <a:endParaRPr lang="zh-CN" altLang="en-US" dirty="0"/>
          </a:p>
        </p:txBody>
      </p:sp>
      <p:sp>
        <p:nvSpPr>
          <p:cNvPr id="4" name="日期占位符 3"/>
          <p:cNvSpPr>
            <a:spLocks noGrp="1"/>
          </p:cNvSpPr>
          <p:nvPr>
            <p:ph type="dt" sz="half" idx="10"/>
          </p:nvPr>
        </p:nvSpPr>
        <p:spPr/>
        <p:txBody>
          <a:bodyPr/>
          <a:lstStyle/>
          <a:p>
            <a:fld id="{41D2AEF5-D648-4728-8573-61956C55922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sp>
        <p:nvSpPr>
          <p:cNvPr id="21" name="文本框 20"/>
          <p:cNvSpPr txBox="1"/>
          <p:nvPr/>
        </p:nvSpPr>
        <p:spPr>
          <a:xfrm>
            <a:off x="838199" y="1366367"/>
            <a:ext cx="10313729" cy="646331"/>
          </a:xfrm>
          <a:prstGeom prst="rect">
            <a:avLst/>
          </a:prstGeom>
          <a:noFill/>
        </p:spPr>
        <p:txBody>
          <a:bodyPr wrap="square" rtlCol="0">
            <a:spAutoFit/>
          </a:bodyPr>
          <a:lstStyle/>
          <a:p>
            <a:r>
              <a:rPr lang="en-US" altLang="zh-CN" sz="3600" dirty="0"/>
              <a:t>1.1 NEMU</a:t>
            </a:r>
            <a:r>
              <a:rPr lang="zh-CN" altLang="en-US" sz="3600" dirty="0"/>
              <a:t>初始化模拟内存（</a:t>
            </a:r>
            <a:r>
              <a:rPr lang="en-US" altLang="zh-CN" sz="3600" dirty="0"/>
              <a:t>PA 2-1</a:t>
            </a:r>
            <a:r>
              <a:rPr lang="zh-CN" altLang="en-US" sz="3600" dirty="0"/>
              <a:t>的装载）</a:t>
            </a:r>
            <a:endParaRPr lang="zh-CN" altLang="en-US" sz="3600" dirty="0"/>
          </a:p>
        </p:txBody>
      </p:sp>
      <p:sp>
        <p:nvSpPr>
          <p:cNvPr id="33" name="矩形 32"/>
          <p:cNvSpPr/>
          <p:nvPr/>
        </p:nvSpPr>
        <p:spPr>
          <a:xfrm>
            <a:off x="647701" y="3824158"/>
            <a:ext cx="12852400" cy="1938992"/>
          </a:xfrm>
          <a:prstGeom prst="rect">
            <a:avLst/>
          </a:prstGeom>
        </p:spPr>
        <p:txBody>
          <a:bodyPr wrap="square">
            <a:spAutoFit/>
          </a:bodyPr>
          <a:lstStyle/>
          <a:p>
            <a:pPr marL="457200" algn="just"/>
            <a:r>
              <a:rPr lang="en-US" altLang="zh-CN" sz="2000" kern="100" dirty="0">
                <a:solidFill>
                  <a:prstClr val="black"/>
                </a:solidFill>
                <a:latin typeface="MS Gothic" panose="020B0609070205080204" pitchFamily="49" charset="-128"/>
                <a:ea typeface="MS Gothic" panose="020B0609070205080204" pitchFamily="49" charset="-128"/>
                <a:cs typeface="Consolas" panose="020B0609020204030204" pitchFamily="49" charset="0"/>
              </a:rPr>
              <a:t>Physical Address        </a:t>
            </a:r>
            <a:endParaRPr lang="zh-CN" altLang="zh-CN" sz="2000" kern="100" dirty="0">
              <a:solidFill>
                <a:srgbClr val="FF0000"/>
              </a:solidFill>
              <a:latin typeface="MS Gothic" panose="020B0609070205080204" pitchFamily="49" charset="-128"/>
              <a:ea typeface="MS Gothic" panose="020B0609070205080204" pitchFamily="49" charset="-128"/>
              <a:cs typeface="Times New Roman" panose="02020603050405020304" pitchFamily="18" charset="0"/>
            </a:endParaRPr>
          </a:p>
          <a:p>
            <a:pPr marL="457200" indent="57150" algn="just"/>
            <a:r>
              <a:rPr lang="en-US" altLang="zh-CN" sz="2000" kern="100" dirty="0">
                <a:solidFill>
                  <a:prstClr val="black"/>
                </a:solidFill>
                <a:latin typeface="MS Gothic" panose="020B0609070205080204" pitchFamily="49" charset="-128"/>
                <a:ea typeface="MS Gothic" panose="020B0609070205080204" pitchFamily="49" charset="-128"/>
                <a:cs typeface="Consolas" panose="020B0609020204030204" pitchFamily="49" charset="0"/>
              </a:rPr>
              <a:t>0x0                    </a:t>
            </a:r>
            <a:r>
              <a:rPr lang="en-US" altLang="zh-CN" sz="2000" kern="100" dirty="0">
                <a:solidFill>
                  <a:srgbClr val="FF0000"/>
                </a:solidFill>
                <a:latin typeface="MS Gothic" panose="020B0609070205080204" pitchFamily="49" charset="-128"/>
                <a:ea typeface="MS Gothic" panose="020B0609070205080204" pitchFamily="49" charset="-128"/>
                <a:cs typeface="Consolas" panose="020B0609020204030204" pitchFamily="49" charset="0"/>
              </a:rPr>
              <a:t>0x30000</a:t>
            </a:r>
            <a:r>
              <a:rPr lang="en-US" altLang="zh-CN" sz="2000" kern="100" dirty="0">
                <a:solidFill>
                  <a:prstClr val="black"/>
                </a:solidFill>
                <a:latin typeface="MS Gothic" panose="020B0609070205080204" pitchFamily="49" charset="-128"/>
                <a:ea typeface="MS Gothic" panose="020B0609070205080204" pitchFamily="49" charset="-128"/>
                <a:cs typeface="Consolas" panose="020B0609020204030204" pitchFamily="49" charset="0"/>
              </a:rPr>
              <a:t>                                      0x7FFFFFF</a:t>
            </a:r>
            <a:endParaRPr lang="zh-CN" altLang="zh-CN" sz="2000" kern="100" dirty="0">
              <a:solidFill>
                <a:prstClr val="black"/>
              </a:solidFill>
              <a:latin typeface="MS Gothic" panose="020B0609070205080204" pitchFamily="49" charset="-128"/>
              <a:ea typeface="MS Gothic" panose="020B0609070205080204" pitchFamily="49" charset="-128"/>
              <a:cs typeface="Times New Roman" panose="02020603050405020304" pitchFamily="18" charset="0"/>
            </a:endParaRPr>
          </a:p>
          <a:p>
            <a:pPr marL="457200" algn="just"/>
            <a:r>
              <a:rPr lang="en-US" altLang="zh-CN" sz="2000" kern="100" dirty="0">
                <a:solidFill>
                  <a:prstClr val="black"/>
                </a:solidFill>
                <a:latin typeface="MS Gothic" panose="020B0609070205080204" pitchFamily="49" charset="-128"/>
                <a:ea typeface="MS Gothic" panose="020B0609070205080204" pitchFamily="49" charset="-128"/>
                <a:cs typeface="Consolas" panose="020B0609020204030204" pitchFamily="49" charset="0"/>
              </a:rPr>
              <a:t>+------------------+---+---------------+-------------------------------------+</a:t>
            </a:r>
            <a:endParaRPr lang="zh-CN" altLang="zh-CN" sz="2000" kern="100" dirty="0">
              <a:solidFill>
                <a:prstClr val="black"/>
              </a:solidFill>
              <a:latin typeface="MS Gothic" panose="020B0609070205080204" pitchFamily="49" charset="-128"/>
              <a:ea typeface="MS Gothic" panose="020B0609070205080204" pitchFamily="49" charset="-128"/>
              <a:cs typeface="Times New Roman" panose="02020603050405020304" pitchFamily="18" charset="0"/>
            </a:endParaRPr>
          </a:p>
          <a:p>
            <a:pPr marL="457200" algn="just"/>
            <a:r>
              <a:rPr lang="en-US" altLang="zh-CN" sz="2000" kern="100" dirty="0">
                <a:solidFill>
                  <a:prstClr val="black"/>
                </a:solidFill>
                <a:latin typeface="MS Gothic" panose="020B0609070205080204" pitchFamily="49" charset="-128"/>
                <a:ea typeface="MS Gothic" panose="020B0609070205080204" pitchFamily="49" charset="-128"/>
                <a:cs typeface="Consolas" panose="020B0609020204030204" pitchFamily="49" charset="0"/>
              </a:rPr>
              <a:t>|</a:t>
            </a:r>
            <a:r>
              <a:rPr lang="en-US" altLang="zh-CN" sz="2000" kern="100" dirty="0" err="1">
                <a:solidFill>
                  <a:srgbClr val="00B0F0"/>
                </a:solidFill>
                <a:latin typeface="MS Gothic" panose="020B0609070205080204" pitchFamily="49" charset="-128"/>
                <a:ea typeface="MS Gothic" panose="020B0609070205080204" pitchFamily="49" charset="-128"/>
                <a:cs typeface="Consolas" panose="020B0609020204030204" pitchFamily="49" charset="0"/>
              </a:rPr>
              <a:t>Testcase</a:t>
            </a:r>
            <a:r>
              <a:rPr lang="en-US" altLang="zh-CN" sz="2000" kern="100" dirty="0">
                <a:solidFill>
                  <a:srgbClr val="00B0F0"/>
                </a:solidFill>
                <a:latin typeface="MS Gothic" panose="020B0609070205080204" pitchFamily="49" charset="-128"/>
                <a:ea typeface="MS Gothic" panose="020B0609070205080204" pitchFamily="49" charset="-128"/>
                <a:cs typeface="Consolas" panose="020B0609020204030204" pitchFamily="49" charset="0"/>
              </a:rPr>
              <a:t> ELF File</a:t>
            </a:r>
            <a:r>
              <a:rPr lang="en-US" altLang="zh-CN" sz="2000" kern="100" dirty="0">
                <a:solidFill>
                  <a:prstClr val="black"/>
                </a:solidFill>
                <a:latin typeface="MS Gothic" panose="020B0609070205080204" pitchFamily="49" charset="-128"/>
                <a:ea typeface="MS Gothic" panose="020B0609070205080204" pitchFamily="49" charset="-128"/>
                <a:cs typeface="Consolas" panose="020B0609020204030204" pitchFamily="49" charset="0"/>
              </a:rPr>
              <a:t> | ~ |</a:t>
            </a:r>
            <a:r>
              <a:rPr lang="en-US" altLang="zh-CN" sz="2000" kern="100" dirty="0" err="1">
                <a:solidFill>
                  <a:srgbClr val="00B050"/>
                </a:solidFill>
                <a:latin typeface="MS Gothic" panose="020B0609070205080204" pitchFamily="49" charset="-128"/>
                <a:ea typeface="MS Gothic" panose="020B0609070205080204" pitchFamily="49" charset="-128"/>
                <a:cs typeface="Consolas" panose="020B0609020204030204" pitchFamily="49" charset="0"/>
              </a:rPr>
              <a:t>Testcase</a:t>
            </a:r>
            <a:r>
              <a:rPr lang="en-US" altLang="zh-CN" sz="2000" kern="100" dirty="0">
                <a:solidFill>
                  <a:srgbClr val="00B050"/>
                </a:solidFill>
                <a:latin typeface="MS Gothic" panose="020B0609070205080204" pitchFamily="49" charset="-128"/>
                <a:ea typeface="MS Gothic" panose="020B0609070205080204" pitchFamily="49" charset="-128"/>
                <a:cs typeface="Consolas" panose="020B0609020204030204" pitchFamily="49" charset="0"/>
              </a:rPr>
              <a:t> Binary</a:t>
            </a:r>
            <a:r>
              <a:rPr lang="en-US" altLang="zh-CN" sz="2000" kern="100" dirty="0">
                <a:solidFill>
                  <a:prstClr val="black"/>
                </a:solidFill>
                <a:latin typeface="MS Gothic" panose="020B0609070205080204" pitchFamily="49" charset="-128"/>
                <a:ea typeface="MS Gothic" panose="020B0609070205080204" pitchFamily="49" charset="-128"/>
                <a:cs typeface="Consolas" panose="020B0609020204030204" pitchFamily="49" charset="0"/>
              </a:rPr>
              <a:t>|                  ~                  |</a:t>
            </a:r>
            <a:endParaRPr lang="zh-CN" altLang="zh-CN" sz="2000" kern="100" dirty="0">
              <a:solidFill>
                <a:prstClr val="black"/>
              </a:solidFill>
              <a:latin typeface="MS Gothic" panose="020B0609070205080204" pitchFamily="49" charset="-128"/>
              <a:ea typeface="MS Gothic" panose="020B0609070205080204" pitchFamily="49" charset="-128"/>
              <a:cs typeface="Times New Roman" panose="02020603050405020304" pitchFamily="18" charset="0"/>
            </a:endParaRPr>
          </a:p>
          <a:p>
            <a:pPr marL="457200" algn="just"/>
            <a:r>
              <a:rPr lang="en-US" altLang="zh-CN" sz="2000" kern="100" dirty="0">
                <a:solidFill>
                  <a:prstClr val="black"/>
                </a:solidFill>
                <a:latin typeface="MS Gothic" panose="020B0609070205080204" pitchFamily="49" charset="-128"/>
                <a:ea typeface="MS Gothic" panose="020B0609070205080204" pitchFamily="49" charset="-128"/>
                <a:cs typeface="Consolas" panose="020B0609020204030204" pitchFamily="49" charset="0"/>
              </a:rPr>
              <a:t>+------------------+---+---------------+-------------------------------------+</a:t>
            </a:r>
            <a:endParaRPr lang="zh-CN" altLang="zh-CN" sz="2000" kern="100" dirty="0">
              <a:solidFill>
                <a:prstClr val="black"/>
              </a:solidFill>
              <a:latin typeface="MS Gothic" panose="020B0609070205080204" pitchFamily="49" charset="-128"/>
              <a:ea typeface="MS Gothic" panose="020B0609070205080204" pitchFamily="49" charset="-128"/>
              <a:cs typeface="Times New Roman" panose="02020603050405020304" pitchFamily="18" charset="0"/>
            </a:endParaRPr>
          </a:p>
          <a:p>
            <a:pPr marL="457200" algn="just"/>
            <a:r>
              <a:rPr lang="en-US" altLang="zh-CN" sz="2000" kern="100" dirty="0">
                <a:solidFill>
                  <a:prstClr val="black"/>
                </a:solidFill>
                <a:latin typeface="MS Gothic" panose="020B0609070205080204" pitchFamily="49" charset="-128"/>
                <a:ea typeface="MS Gothic" panose="020B0609070205080204" pitchFamily="49" charset="-128"/>
                <a:cs typeface="Consolas" panose="020B0609020204030204" pitchFamily="49" charset="0"/>
              </a:rPr>
              <a:t>|&lt; ---- RAM  Disk ----&gt;|&lt;---------------- Physical Memory ------------------&gt;|</a:t>
            </a:r>
            <a:endParaRPr lang="zh-CN" altLang="en-US" sz="2000" dirty="0">
              <a:solidFill>
                <a:prstClr val="black"/>
              </a:solidFill>
              <a:latin typeface="Calibri" panose="020F0502020204030204"/>
            </a:endParaRPr>
          </a:p>
        </p:txBody>
      </p:sp>
      <p:sp>
        <p:nvSpPr>
          <p:cNvPr id="36" name="矩形 35"/>
          <p:cNvSpPr/>
          <p:nvPr/>
        </p:nvSpPr>
        <p:spPr>
          <a:xfrm>
            <a:off x="897011" y="5925735"/>
            <a:ext cx="5368778" cy="400110"/>
          </a:xfrm>
          <a:prstGeom prst="rect">
            <a:avLst/>
          </a:prstGeom>
        </p:spPr>
        <p:txBody>
          <a:bodyPr wrap="none">
            <a:spAutoFit/>
          </a:bodyPr>
          <a:lstStyle/>
          <a:p>
            <a:pPr algn="ctr">
              <a:spcBef>
                <a:spcPts val="600"/>
              </a:spcBef>
            </a:pPr>
            <a:r>
              <a:rPr lang="zh-CN" altLang="zh-CN" sz="2000" b="1" kern="100" dirty="0">
                <a:solidFill>
                  <a:srgbClr val="C00000"/>
                </a:solidFill>
                <a:cs typeface="Times New Roman" panose="02020603050405020304" pitchFamily="18" charset="0"/>
              </a:rPr>
              <a:t> 带有</a:t>
            </a:r>
            <a:r>
              <a:rPr lang="en-US" altLang="zh-CN" sz="2000" b="1" kern="100" dirty="0">
                <a:solidFill>
                  <a:srgbClr val="C00000"/>
                </a:solidFill>
                <a:cs typeface="Times New Roman" panose="02020603050405020304" pitchFamily="18" charset="0"/>
              </a:rPr>
              <a:t>RAM Disk</a:t>
            </a:r>
            <a:r>
              <a:rPr lang="zh-CN" altLang="zh-CN" sz="2000" b="1" kern="100" dirty="0">
                <a:solidFill>
                  <a:srgbClr val="C00000"/>
                </a:solidFill>
                <a:cs typeface="Times New Roman" panose="02020603050405020304" pitchFamily="18" charset="0"/>
              </a:rPr>
              <a:t>时的</a:t>
            </a:r>
            <a:r>
              <a:rPr lang="en-US" altLang="zh-CN" sz="2000" b="1" kern="100" dirty="0">
                <a:solidFill>
                  <a:srgbClr val="C00000"/>
                </a:solidFill>
                <a:cs typeface="Times New Roman" panose="02020603050405020304" pitchFamily="18" charset="0"/>
              </a:rPr>
              <a:t>NEMU</a:t>
            </a:r>
            <a:r>
              <a:rPr lang="zh-CN" altLang="en-US" sz="2000" b="1" kern="100" dirty="0">
                <a:solidFill>
                  <a:srgbClr val="C00000"/>
                </a:solidFill>
                <a:cs typeface="Times New Roman" panose="02020603050405020304" pitchFamily="18" charset="0"/>
              </a:rPr>
              <a:t>模拟</a:t>
            </a:r>
            <a:r>
              <a:rPr lang="zh-CN" altLang="zh-CN" sz="2000" b="1" kern="100" dirty="0">
                <a:solidFill>
                  <a:srgbClr val="C00000"/>
                </a:solidFill>
                <a:cs typeface="Times New Roman" panose="02020603050405020304" pitchFamily="18" charset="0"/>
              </a:rPr>
              <a:t>内存划分方式</a:t>
            </a:r>
            <a:endParaRPr lang="zh-CN" altLang="zh-CN" sz="2000" b="1" kern="100" dirty="0">
              <a:solidFill>
                <a:srgbClr val="C00000"/>
              </a:solidFill>
              <a:cs typeface="Times New Roman" panose="02020603050405020304" pitchFamily="18" charset="0"/>
            </a:endParaRPr>
          </a:p>
        </p:txBody>
      </p:sp>
      <p:sp>
        <p:nvSpPr>
          <p:cNvPr id="40" name="文本框 39"/>
          <p:cNvSpPr txBox="1"/>
          <p:nvPr/>
        </p:nvSpPr>
        <p:spPr>
          <a:xfrm>
            <a:off x="1385628" y="1898398"/>
            <a:ext cx="11658600" cy="1042080"/>
          </a:xfrm>
          <a:prstGeom prst="rect">
            <a:avLst/>
          </a:prstGeom>
          <a:noFill/>
        </p:spPr>
        <p:txBody>
          <a:bodyPr wrap="square" rtlCol="0">
            <a:spAutoFit/>
          </a:bodyPr>
          <a:lstStyle/>
          <a:p>
            <a:pPr>
              <a:lnSpc>
                <a:spcPct val="200000"/>
              </a:lnSpc>
            </a:pPr>
            <a:r>
              <a:rPr lang="en-US" altLang="zh-CN" sz="3600" dirty="0" err="1">
                <a:solidFill>
                  <a:srgbClr val="00B0F0"/>
                </a:solidFill>
                <a:latin typeface="Consolas" panose="020B0609020204030204" pitchFamily="49" charset="0"/>
              </a:rPr>
              <a:t>testcase</a:t>
            </a:r>
            <a:r>
              <a:rPr lang="en-US" altLang="zh-CN" sz="3600" dirty="0">
                <a:solidFill>
                  <a:srgbClr val="00B0F0"/>
                </a:solidFill>
                <a:latin typeface="Consolas" panose="020B0609020204030204" pitchFamily="49" charset="0"/>
              </a:rPr>
              <a:t>/bin/add    </a:t>
            </a:r>
            <a:r>
              <a:rPr lang="en-US" altLang="zh-CN" sz="3600" dirty="0" err="1">
                <a:solidFill>
                  <a:srgbClr val="00B050"/>
                </a:solidFill>
                <a:latin typeface="Consolas" panose="020B0609020204030204" pitchFamily="49" charset="0"/>
              </a:rPr>
              <a:t>testcase</a:t>
            </a:r>
            <a:r>
              <a:rPr lang="en-US" altLang="zh-CN" sz="3600" dirty="0">
                <a:solidFill>
                  <a:srgbClr val="00B050"/>
                </a:solidFill>
                <a:latin typeface="Consolas" panose="020B0609020204030204" pitchFamily="49" charset="0"/>
              </a:rPr>
              <a:t>/bin/</a:t>
            </a:r>
            <a:r>
              <a:rPr lang="en-US" altLang="zh-CN" sz="3600" dirty="0" err="1">
                <a:solidFill>
                  <a:srgbClr val="00B050"/>
                </a:solidFill>
                <a:latin typeface="Consolas" panose="020B0609020204030204" pitchFamily="49" charset="0"/>
              </a:rPr>
              <a:t>add.img</a:t>
            </a:r>
            <a:endParaRPr lang="zh-CN" altLang="en-US" sz="3600" dirty="0">
              <a:solidFill>
                <a:srgbClr val="00B050"/>
              </a:solidFill>
              <a:latin typeface="Consolas" panose="020B0609020204030204" pitchFamily="49" charset="0"/>
            </a:endParaRPr>
          </a:p>
        </p:txBody>
      </p:sp>
      <p:cxnSp>
        <p:nvCxnSpPr>
          <p:cNvPr id="12" name="直接箭头连接符 11"/>
          <p:cNvCxnSpPr/>
          <p:nvPr/>
        </p:nvCxnSpPr>
        <p:spPr>
          <a:xfrm flipH="1">
            <a:off x="2750338" y="2950898"/>
            <a:ext cx="1072362" cy="1609788"/>
          </a:xfrm>
          <a:prstGeom prst="straightConnector1">
            <a:avLst/>
          </a:prstGeom>
          <a:ln w="1270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flipH="1">
            <a:off x="5501158" y="3024888"/>
            <a:ext cx="1128242" cy="1563353"/>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3649406" y="3145804"/>
            <a:ext cx="2227189" cy="707886"/>
          </a:xfrm>
          <a:prstGeom prst="rect">
            <a:avLst/>
          </a:prstGeom>
          <a:noFill/>
        </p:spPr>
        <p:txBody>
          <a:bodyPr wrap="square" rtlCol="0">
            <a:spAutoFit/>
          </a:bodyPr>
          <a:lstStyle/>
          <a:p>
            <a:pPr algn="ctr"/>
            <a:r>
              <a:rPr lang="zh-CN" altLang="en-US" sz="4000" dirty="0"/>
              <a:t>直接拷贝</a:t>
            </a:r>
            <a:endParaRPr lang="zh-CN" altLang="en-US" sz="4000" dirty="0"/>
          </a:p>
        </p:txBody>
      </p:sp>
      <p:pic>
        <p:nvPicPr>
          <p:cNvPr id="19" name="图片 1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09137" y="94347"/>
            <a:ext cx="2252956" cy="1275559"/>
          </a:xfrm>
          <a:prstGeom prst="rect">
            <a:avLst/>
          </a:prstGeom>
          <a:solidFill>
            <a:schemeClr val="bg1"/>
          </a:solidFill>
        </p:spPr>
      </p:pic>
      <p:sp>
        <p:nvSpPr>
          <p:cNvPr id="10" name="矩形 9"/>
          <p:cNvSpPr/>
          <p:nvPr/>
        </p:nvSpPr>
        <p:spPr>
          <a:xfrm>
            <a:off x="6809300" y="3104103"/>
            <a:ext cx="4128053" cy="954107"/>
          </a:xfrm>
          <a:prstGeom prst="rect">
            <a:avLst/>
          </a:prstGeom>
        </p:spPr>
        <p:txBody>
          <a:bodyPr wrap="none">
            <a:spAutoFit/>
          </a:bodyPr>
          <a:lstStyle/>
          <a:p>
            <a:r>
              <a:rPr lang="zh-CN" altLang="en-US" sz="2800" dirty="0">
                <a:latin typeface="Consolas" panose="020B0609020204030204" pitchFamily="49" charset="0"/>
              </a:rPr>
              <a:t>load_exec</a:t>
            </a:r>
            <a:r>
              <a:rPr lang="en-US" altLang="zh-CN" sz="2800" dirty="0">
                <a:latin typeface="Consolas" panose="020B0609020204030204" pitchFamily="49" charset="0"/>
              </a:rPr>
              <a:t>()  </a:t>
            </a:r>
            <a:endParaRPr lang="en-US" altLang="zh-CN" sz="2800" dirty="0">
              <a:latin typeface="Consolas" panose="020B0609020204030204" pitchFamily="49" charset="0"/>
            </a:endParaRPr>
          </a:p>
          <a:p>
            <a:r>
              <a:rPr lang="en-US" altLang="zh-CN" sz="2800" dirty="0">
                <a:solidFill>
                  <a:schemeClr val="accent5"/>
                </a:solidFill>
                <a:latin typeface="Consolas" panose="020B0609020204030204" pitchFamily="49" charset="0"/>
              </a:rPr>
              <a:t>@ </a:t>
            </a:r>
            <a:r>
              <a:rPr lang="en-US" altLang="zh-CN" sz="2800" dirty="0" err="1">
                <a:solidFill>
                  <a:schemeClr val="accent5"/>
                </a:solidFill>
                <a:latin typeface="Consolas" panose="020B0609020204030204" pitchFamily="49" charset="0"/>
              </a:rPr>
              <a:t>nemu</a:t>
            </a:r>
            <a:r>
              <a:rPr lang="en-US" altLang="zh-CN" sz="2800" dirty="0">
                <a:solidFill>
                  <a:schemeClr val="accent5"/>
                </a:solidFill>
                <a:latin typeface="Consolas" panose="020B0609020204030204" pitchFamily="49" charset="0"/>
              </a:rPr>
              <a:t>/</a:t>
            </a:r>
            <a:r>
              <a:rPr lang="en-US" altLang="zh-CN" sz="2800" dirty="0" err="1">
                <a:solidFill>
                  <a:schemeClr val="accent5"/>
                </a:solidFill>
                <a:latin typeface="Consolas" panose="020B0609020204030204" pitchFamily="49" charset="0"/>
              </a:rPr>
              <a:t>src</a:t>
            </a:r>
            <a:r>
              <a:rPr lang="en-US" altLang="zh-CN" sz="2800" dirty="0">
                <a:solidFill>
                  <a:schemeClr val="accent5"/>
                </a:solidFill>
                <a:latin typeface="Consolas" panose="020B0609020204030204" pitchFamily="49" charset="0"/>
              </a:rPr>
              <a:t>/main.c:30</a:t>
            </a:r>
            <a:endParaRPr lang="zh-CN" altLang="en-US" sz="2800" dirty="0">
              <a:solidFill>
                <a:schemeClr val="accent5"/>
              </a:solidFill>
              <a:latin typeface="Consolas" panose="020B0609020204030204" pitchFamily="49"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rot="19048444">
            <a:off x="9620254" y="5359260"/>
            <a:ext cx="1269574" cy="1269574"/>
          </a:xfrm>
          <a:prstGeom prst="rect">
            <a:avLst/>
          </a:prstGeom>
        </p:spPr>
      </p:pic>
      <p:sp>
        <p:nvSpPr>
          <p:cNvPr id="2" name="标题 1"/>
          <p:cNvSpPr>
            <a:spLocks noGrp="1"/>
          </p:cNvSpPr>
          <p:nvPr>
            <p:ph type="title"/>
          </p:nvPr>
        </p:nvSpPr>
        <p:spPr/>
        <p:txBody>
          <a:bodyPr/>
          <a:lstStyle/>
          <a:p>
            <a:r>
              <a:rPr lang="en-US" altLang="zh-CN" dirty="0"/>
              <a:t>NEMU</a:t>
            </a:r>
            <a:r>
              <a:rPr lang="zh-CN" altLang="en-US" dirty="0"/>
              <a:t>模拟程序执行：</a:t>
            </a:r>
            <a:r>
              <a:rPr lang="en-US" altLang="zh-CN" dirty="0"/>
              <a:t>1. </a:t>
            </a:r>
            <a:r>
              <a:rPr lang="zh-CN" altLang="en-US" dirty="0"/>
              <a:t>装载程序</a:t>
            </a:r>
            <a:endParaRPr lang="zh-CN" altLang="en-US" dirty="0"/>
          </a:p>
        </p:txBody>
      </p:sp>
      <p:sp>
        <p:nvSpPr>
          <p:cNvPr id="4" name="日期占位符 3"/>
          <p:cNvSpPr>
            <a:spLocks noGrp="1"/>
          </p:cNvSpPr>
          <p:nvPr>
            <p:ph type="dt" sz="half" idx="10"/>
          </p:nvPr>
        </p:nvSpPr>
        <p:spPr/>
        <p:txBody>
          <a:bodyPr/>
          <a:lstStyle/>
          <a:p>
            <a:fld id="{41D2AEF5-D648-4728-8573-61956C55922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sp>
        <p:nvSpPr>
          <p:cNvPr id="21" name="文本框 20"/>
          <p:cNvSpPr txBox="1"/>
          <p:nvPr/>
        </p:nvSpPr>
        <p:spPr>
          <a:xfrm>
            <a:off x="838199" y="1366367"/>
            <a:ext cx="10313729" cy="646331"/>
          </a:xfrm>
          <a:prstGeom prst="rect">
            <a:avLst/>
          </a:prstGeom>
          <a:noFill/>
        </p:spPr>
        <p:txBody>
          <a:bodyPr wrap="square" rtlCol="0">
            <a:spAutoFit/>
          </a:bodyPr>
          <a:lstStyle/>
          <a:p>
            <a:r>
              <a:rPr lang="en-US" altLang="zh-CN" sz="3600" dirty="0"/>
              <a:t>1.2 NEMU</a:t>
            </a:r>
            <a:r>
              <a:rPr lang="zh-CN" altLang="en-US" sz="3600" dirty="0"/>
              <a:t>初始化</a:t>
            </a:r>
            <a:r>
              <a:rPr lang="en-US" altLang="zh-CN" sz="3600" dirty="0"/>
              <a:t>CPU</a:t>
            </a:r>
            <a:endParaRPr lang="zh-CN" altLang="en-US" sz="3600" dirty="0"/>
          </a:p>
        </p:txBody>
      </p:sp>
      <p:pic>
        <p:nvPicPr>
          <p:cNvPr id="19" name="图片 1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09137" y="94347"/>
            <a:ext cx="2252956" cy="1275559"/>
          </a:xfrm>
          <a:prstGeom prst="rect">
            <a:avLst/>
          </a:prstGeom>
          <a:solidFill>
            <a:schemeClr val="bg1"/>
          </a:solidFill>
        </p:spPr>
      </p:pic>
      <p:sp>
        <p:nvSpPr>
          <p:cNvPr id="17" name="矩形 16"/>
          <p:cNvSpPr/>
          <p:nvPr/>
        </p:nvSpPr>
        <p:spPr>
          <a:xfrm>
            <a:off x="647701" y="3824158"/>
            <a:ext cx="12852400" cy="1938992"/>
          </a:xfrm>
          <a:prstGeom prst="rect">
            <a:avLst/>
          </a:prstGeom>
        </p:spPr>
        <p:txBody>
          <a:bodyPr wrap="square">
            <a:spAutoFit/>
          </a:bodyPr>
          <a:lstStyle/>
          <a:p>
            <a:pPr marL="457200" algn="just"/>
            <a:r>
              <a:rPr lang="en-US" altLang="zh-CN" sz="2000" kern="100" dirty="0">
                <a:solidFill>
                  <a:prstClr val="black"/>
                </a:solidFill>
                <a:latin typeface="MS Gothic" panose="020B0609070205080204" pitchFamily="49" charset="-128"/>
                <a:ea typeface="MS Gothic" panose="020B0609070205080204" pitchFamily="49" charset="-128"/>
                <a:cs typeface="Consolas" panose="020B0609020204030204" pitchFamily="49" charset="0"/>
              </a:rPr>
              <a:t>Physical Address        </a:t>
            </a:r>
            <a:endParaRPr lang="zh-CN" altLang="zh-CN" sz="2000" kern="100" dirty="0">
              <a:solidFill>
                <a:srgbClr val="FF0000"/>
              </a:solidFill>
              <a:latin typeface="MS Gothic" panose="020B0609070205080204" pitchFamily="49" charset="-128"/>
              <a:ea typeface="MS Gothic" panose="020B0609070205080204" pitchFamily="49" charset="-128"/>
              <a:cs typeface="Times New Roman" panose="02020603050405020304" pitchFamily="18" charset="0"/>
            </a:endParaRPr>
          </a:p>
          <a:p>
            <a:pPr marL="457200" indent="57150" algn="just"/>
            <a:r>
              <a:rPr lang="en-US" altLang="zh-CN" sz="2000" kern="100" dirty="0">
                <a:solidFill>
                  <a:prstClr val="black"/>
                </a:solidFill>
                <a:latin typeface="MS Gothic" panose="020B0609070205080204" pitchFamily="49" charset="-128"/>
                <a:ea typeface="MS Gothic" panose="020B0609070205080204" pitchFamily="49" charset="-128"/>
                <a:cs typeface="Consolas" panose="020B0609020204030204" pitchFamily="49" charset="0"/>
              </a:rPr>
              <a:t>0x0                    </a:t>
            </a:r>
            <a:r>
              <a:rPr lang="en-US" altLang="zh-CN" sz="2000" b="1" kern="100" dirty="0">
                <a:solidFill>
                  <a:srgbClr val="FF0000"/>
                </a:solidFill>
                <a:latin typeface="MS Gothic" panose="020B0609070205080204" pitchFamily="49" charset="-128"/>
                <a:ea typeface="MS Gothic" panose="020B0609070205080204" pitchFamily="49" charset="-128"/>
                <a:cs typeface="Consolas" panose="020B0609020204030204" pitchFamily="49" charset="0"/>
              </a:rPr>
              <a:t>0x30000</a:t>
            </a:r>
            <a:r>
              <a:rPr lang="en-US" altLang="zh-CN" sz="2000" kern="100" dirty="0">
                <a:solidFill>
                  <a:prstClr val="black"/>
                </a:solidFill>
                <a:latin typeface="MS Gothic" panose="020B0609070205080204" pitchFamily="49" charset="-128"/>
                <a:ea typeface="MS Gothic" panose="020B0609070205080204" pitchFamily="49" charset="-128"/>
                <a:cs typeface="Consolas" panose="020B0609020204030204" pitchFamily="49" charset="0"/>
              </a:rPr>
              <a:t> </a:t>
            </a:r>
            <a:r>
              <a:rPr lang="en-US" altLang="zh-CN" sz="2000" kern="100" dirty="0">
                <a:solidFill>
                  <a:srgbClr val="FF0000"/>
                </a:solidFill>
                <a:latin typeface="MS Gothic" panose="020B0609070205080204" pitchFamily="49" charset="-128"/>
                <a:ea typeface="MS Gothic" panose="020B0609070205080204" pitchFamily="49" charset="-128"/>
                <a:cs typeface="Consolas" panose="020B0609020204030204" pitchFamily="49" charset="0"/>
              </a:rPr>
              <a:t>                                     </a:t>
            </a:r>
            <a:r>
              <a:rPr lang="en-US" altLang="zh-CN" sz="2000" b="1" kern="100" dirty="0">
                <a:solidFill>
                  <a:srgbClr val="7030A0"/>
                </a:solidFill>
                <a:latin typeface="MS Gothic" panose="020B0609070205080204" pitchFamily="49" charset="-128"/>
                <a:ea typeface="MS Gothic" panose="020B0609070205080204" pitchFamily="49" charset="-128"/>
                <a:cs typeface="Consolas" panose="020B0609020204030204" pitchFamily="49" charset="0"/>
              </a:rPr>
              <a:t>0x7FFFFFF</a:t>
            </a:r>
            <a:endParaRPr lang="zh-CN" altLang="zh-CN" sz="2000" b="1" kern="100" dirty="0">
              <a:solidFill>
                <a:srgbClr val="7030A0"/>
              </a:solidFill>
              <a:latin typeface="MS Gothic" panose="020B0609070205080204" pitchFamily="49" charset="-128"/>
              <a:ea typeface="MS Gothic" panose="020B0609070205080204" pitchFamily="49" charset="-128"/>
              <a:cs typeface="Times New Roman" panose="02020603050405020304" pitchFamily="18" charset="0"/>
            </a:endParaRPr>
          </a:p>
          <a:p>
            <a:pPr marL="457200" algn="just"/>
            <a:r>
              <a:rPr lang="en-US" altLang="zh-CN" sz="2000" kern="100" dirty="0">
                <a:solidFill>
                  <a:prstClr val="black"/>
                </a:solidFill>
                <a:latin typeface="MS Gothic" panose="020B0609070205080204" pitchFamily="49" charset="-128"/>
                <a:ea typeface="MS Gothic" panose="020B0609070205080204" pitchFamily="49" charset="-128"/>
                <a:cs typeface="Consolas" panose="020B0609020204030204" pitchFamily="49" charset="0"/>
              </a:rPr>
              <a:t>+------------------+---+---------------+-------------------------------------+</a:t>
            </a:r>
            <a:endParaRPr lang="zh-CN" altLang="zh-CN" sz="2000" kern="100" dirty="0">
              <a:solidFill>
                <a:prstClr val="black"/>
              </a:solidFill>
              <a:latin typeface="MS Gothic" panose="020B0609070205080204" pitchFamily="49" charset="-128"/>
              <a:ea typeface="MS Gothic" panose="020B0609070205080204" pitchFamily="49" charset="-128"/>
              <a:cs typeface="Times New Roman" panose="02020603050405020304" pitchFamily="18" charset="0"/>
            </a:endParaRPr>
          </a:p>
          <a:p>
            <a:pPr marL="457200" algn="just"/>
            <a:r>
              <a:rPr lang="en-US" altLang="zh-CN" sz="2000" kern="100" dirty="0">
                <a:solidFill>
                  <a:prstClr val="black"/>
                </a:solidFill>
                <a:latin typeface="MS Gothic" panose="020B0609070205080204" pitchFamily="49" charset="-128"/>
                <a:ea typeface="MS Gothic" panose="020B0609070205080204" pitchFamily="49" charset="-128"/>
                <a:cs typeface="Consolas" panose="020B0609020204030204" pitchFamily="49" charset="0"/>
              </a:rPr>
              <a:t>|</a:t>
            </a:r>
            <a:r>
              <a:rPr lang="en-US" altLang="zh-CN" sz="2000" kern="100" dirty="0" err="1">
                <a:solidFill>
                  <a:srgbClr val="00B0F0"/>
                </a:solidFill>
                <a:latin typeface="MS Gothic" panose="020B0609070205080204" pitchFamily="49" charset="-128"/>
                <a:ea typeface="MS Gothic" panose="020B0609070205080204" pitchFamily="49" charset="-128"/>
                <a:cs typeface="Consolas" panose="020B0609020204030204" pitchFamily="49" charset="0"/>
              </a:rPr>
              <a:t>Testcase</a:t>
            </a:r>
            <a:r>
              <a:rPr lang="en-US" altLang="zh-CN" sz="2000" kern="100" dirty="0">
                <a:solidFill>
                  <a:srgbClr val="00B0F0"/>
                </a:solidFill>
                <a:latin typeface="MS Gothic" panose="020B0609070205080204" pitchFamily="49" charset="-128"/>
                <a:ea typeface="MS Gothic" panose="020B0609070205080204" pitchFamily="49" charset="-128"/>
                <a:cs typeface="Consolas" panose="020B0609020204030204" pitchFamily="49" charset="0"/>
              </a:rPr>
              <a:t> ELF File</a:t>
            </a:r>
            <a:r>
              <a:rPr lang="en-US" altLang="zh-CN" sz="2000" kern="100" dirty="0">
                <a:solidFill>
                  <a:prstClr val="black"/>
                </a:solidFill>
                <a:latin typeface="MS Gothic" panose="020B0609070205080204" pitchFamily="49" charset="-128"/>
                <a:ea typeface="MS Gothic" panose="020B0609070205080204" pitchFamily="49" charset="-128"/>
                <a:cs typeface="Consolas" panose="020B0609020204030204" pitchFamily="49" charset="0"/>
              </a:rPr>
              <a:t> | ~ |</a:t>
            </a:r>
            <a:r>
              <a:rPr lang="en-US" altLang="zh-CN" sz="2000" kern="100" dirty="0" err="1">
                <a:solidFill>
                  <a:srgbClr val="00B050"/>
                </a:solidFill>
                <a:latin typeface="MS Gothic" panose="020B0609070205080204" pitchFamily="49" charset="-128"/>
                <a:ea typeface="MS Gothic" panose="020B0609070205080204" pitchFamily="49" charset="-128"/>
                <a:cs typeface="Consolas" panose="020B0609020204030204" pitchFamily="49" charset="0"/>
              </a:rPr>
              <a:t>Testcase</a:t>
            </a:r>
            <a:r>
              <a:rPr lang="en-US" altLang="zh-CN" sz="2000" kern="100" dirty="0">
                <a:solidFill>
                  <a:srgbClr val="00B050"/>
                </a:solidFill>
                <a:latin typeface="MS Gothic" panose="020B0609070205080204" pitchFamily="49" charset="-128"/>
                <a:ea typeface="MS Gothic" panose="020B0609070205080204" pitchFamily="49" charset="-128"/>
                <a:cs typeface="Consolas" panose="020B0609020204030204" pitchFamily="49" charset="0"/>
              </a:rPr>
              <a:t> Binary</a:t>
            </a:r>
            <a:r>
              <a:rPr lang="en-US" altLang="zh-CN" sz="2000" kern="100" dirty="0">
                <a:solidFill>
                  <a:prstClr val="black"/>
                </a:solidFill>
                <a:latin typeface="MS Gothic" panose="020B0609070205080204" pitchFamily="49" charset="-128"/>
                <a:ea typeface="MS Gothic" panose="020B0609070205080204" pitchFamily="49" charset="-128"/>
                <a:cs typeface="Consolas" panose="020B0609020204030204" pitchFamily="49" charset="0"/>
              </a:rPr>
              <a:t>|                  ~                  |</a:t>
            </a:r>
            <a:endParaRPr lang="zh-CN" altLang="zh-CN" sz="2000" kern="100" dirty="0">
              <a:solidFill>
                <a:prstClr val="black"/>
              </a:solidFill>
              <a:latin typeface="MS Gothic" panose="020B0609070205080204" pitchFamily="49" charset="-128"/>
              <a:ea typeface="MS Gothic" panose="020B0609070205080204" pitchFamily="49" charset="-128"/>
              <a:cs typeface="Times New Roman" panose="02020603050405020304" pitchFamily="18" charset="0"/>
            </a:endParaRPr>
          </a:p>
          <a:p>
            <a:pPr marL="457200" algn="just"/>
            <a:r>
              <a:rPr lang="en-US" altLang="zh-CN" sz="2000" kern="100" dirty="0">
                <a:solidFill>
                  <a:prstClr val="black"/>
                </a:solidFill>
                <a:latin typeface="MS Gothic" panose="020B0609070205080204" pitchFamily="49" charset="-128"/>
                <a:ea typeface="MS Gothic" panose="020B0609070205080204" pitchFamily="49" charset="-128"/>
                <a:cs typeface="Consolas" panose="020B0609020204030204" pitchFamily="49" charset="0"/>
              </a:rPr>
              <a:t>+------------------+---+---------------+-------------------------------------+</a:t>
            </a:r>
            <a:endParaRPr lang="zh-CN" altLang="zh-CN" sz="2000" kern="100" dirty="0">
              <a:solidFill>
                <a:prstClr val="black"/>
              </a:solidFill>
              <a:latin typeface="MS Gothic" panose="020B0609070205080204" pitchFamily="49" charset="-128"/>
              <a:ea typeface="MS Gothic" panose="020B0609070205080204" pitchFamily="49" charset="-128"/>
              <a:cs typeface="Times New Roman" panose="02020603050405020304" pitchFamily="18" charset="0"/>
            </a:endParaRPr>
          </a:p>
          <a:p>
            <a:pPr marL="457200" algn="just"/>
            <a:r>
              <a:rPr lang="en-US" altLang="zh-CN" sz="2000" kern="100" dirty="0">
                <a:solidFill>
                  <a:prstClr val="black"/>
                </a:solidFill>
                <a:latin typeface="MS Gothic" panose="020B0609070205080204" pitchFamily="49" charset="-128"/>
                <a:ea typeface="MS Gothic" panose="020B0609070205080204" pitchFamily="49" charset="-128"/>
                <a:cs typeface="Consolas" panose="020B0609020204030204" pitchFamily="49" charset="0"/>
              </a:rPr>
              <a:t>|&lt; ---- RAM  Disk ----&gt;|&lt;---------------- Physical Memory ------------------&gt;|</a:t>
            </a:r>
            <a:endParaRPr lang="zh-CN" altLang="en-US" sz="2000" dirty="0">
              <a:solidFill>
                <a:prstClr val="black"/>
              </a:solidFill>
              <a:latin typeface="Calibri" panose="020F0502020204030204"/>
            </a:endParaRPr>
          </a:p>
        </p:txBody>
      </p:sp>
      <p:sp>
        <p:nvSpPr>
          <p:cNvPr id="20" name="矩形 19"/>
          <p:cNvSpPr/>
          <p:nvPr/>
        </p:nvSpPr>
        <p:spPr>
          <a:xfrm>
            <a:off x="897011" y="5925735"/>
            <a:ext cx="5368778" cy="400110"/>
          </a:xfrm>
          <a:prstGeom prst="rect">
            <a:avLst/>
          </a:prstGeom>
        </p:spPr>
        <p:txBody>
          <a:bodyPr wrap="none">
            <a:spAutoFit/>
          </a:bodyPr>
          <a:lstStyle/>
          <a:p>
            <a:pPr algn="ctr">
              <a:spcBef>
                <a:spcPts val="600"/>
              </a:spcBef>
            </a:pPr>
            <a:r>
              <a:rPr lang="zh-CN" altLang="zh-CN" sz="2000" b="1" kern="100" dirty="0">
                <a:solidFill>
                  <a:srgbClr val="C00000"/>
                </a:solidFill>
                <a:cs typeface="Times New Roman" panose="02020603050405020304" pitchFamily="18" charset="0"/>
              </a:rPr>
              <a:t> 带有</a:t>
            </a:r>
            <a:r>
              <a:rPr lang="en-US" altLang="zh-CN" sz="2000" b="1" kern="100" dirty="0">
                <a:solidFill>
                  <a:srgbClr val="C00000"/>
                </a:solidFill>
                <a:cs typeface="Times New Roman" panose="02020603050405020304" pitchFamily="18" charset="0"/>
              </a:rPr>
              <a:t>RAM Disk</a:t>
            </a:r>
            <a:r>
              <a:rPr lang="zh-CN" altLang="zh-CN" sz="2000" b="1" kern="100" dirty="0">
                <a:solidFill>
                  <a:srgbClr val="C00000"/>
                </a:solidFill>
                <a:cs typeface="Times New Roman" panose="02020603050405020304" pitchFamily="18" charset="0"/>
              </a:rPr>
              <a:t>时的</a:t>
            </a:r>
            <a:r>
              <a:rPr lang="en-US" altLang="zh-CN" sz="2000" b="1" kern="100" dirty="0">
                <a:solidFill>
                  <a:srgbClr val="C00000"/>
                </a:solidFill>
                <a:cs typeface="Times New Roman" panose="02020603050405020304" pitchFamily="18" charset="0"/>
              </a:rPr>
              <a:t>NEMU</a:t>
            </a:r>
            <a:r>
              <a:rPr lang="zh-CN" altLang="en-US" sz="2000" b="1" kern="100" dirty="0">
                <a:solidFill>
                  <a:srgbClr val="C00000"/>
                </a:solidFill>
                <a:cs typeface="Times New Roman" panose="02020603050405020304" pitchFamily="18" charset="0"/>
              </a:rPr>
              <a:t>模拟</a:t>
            </a:r>
            <a:r>
              <a:rPr lang="zh-CN" altLang="zh-CN" sz="2000" b="1" kern="100" dirty="0">
                <a:solidFill>
                  <a:srgbClr val="C00000"/>
                </a:solidFill>
                <a:cs typeface="Times New Roman" panose="02020603050405020304" pitchFamily="18" charset="0"/>
              </a:rPr>
              <a:t>内存划分方式</a:t>
            </a:r>
            <a:endParaRPr lang="zh-CN" altLang="zh-CN" sz="2000" b="1" kern="100" dirty="0">
              <a:solidFill>
                <a:srgbClr val="C00000"/>
              </a:solidFill>
              <a:cs typeface="Times New Roman" panose="02020603050405020304" pitchFamily="18" charset="0"/>
            </a:endParaRPr>
          </a:p>
        </p:txBody>
      </p:sp>
      <p:sp>
        <p:nvSpPr>
          <p:cNvPr id="3" name="矩形 2"/>
          <p:cNvSpPr/>
          <p:nvPr/>
        </p:nvSpPr>
        <p:spPr>
          <a:xfrm>
            <a:off x="4712237" y="2620233"/>
            <a:ext cx="3357009" cy="646331"/>
          </a:xfrm>
          <a:prstGeom prst="rect">
            <a:avLst/>
          </a:prstGeom>
        </p:spPr>
        <p:txBody>
          <a:bodyPr wrap="none">
            <a:spAutoFit/>
          </a:bodyPr>
          <a:lstStyle/>
          <a:p>
            <a:r>
              <a:rPr lang="zh-CN" altLang="en-US" sz="3600" dirty="0"/>
              <a:t>初始化</a:t>
            </a:r>
            <a:r>
              <a:rPr lang="en-US" altLang="zh-CN" sz="3600" dirty="0">
                <a:solidFill>
                  <a:srgbClr val="FF0000"/>
                </a:solidFill>
              </a:rPr>
              <a:t>EIP</a:t>
            </a:r>
            <a:r>
              <a:rPr lang="zh-CN" altLang="en-US" sz="3600" dirty="0"/>
              <a:t>和</a:t>
            </a:r>
            <a:r>
              <a:rPr lang="en-US" altLang="zh-CN" sz="3600" dirty="0">
                <a:solidFill>
                  <a:srgbClr val="7030A0"/>
                </a:solidFill>
              </a:rPr>
              <a:t>ESP</a:t>
            </a:r>
            <a:endParaRPr lang="zh-CN" altLang="en-US" sz="3600" dirty="0">
              <a:solidFill>
                <a:srgbClr val="7030A0"/>
              </a:solidFill>
            </a:endParaRPr>
          </a:p>
        </p:txBody>
      </p:sp>
      <p:cxnSp>
        <p:nvCxnSpPr>
          <p:cNvPr id="22" name="直接箭头连接符 21"/>
          <p:cNvCxnSpPr/>
          <p:nvPr/>
        </p:nvCxnSpPr>
        <p:spPr>
          <a:xfrm>
            <a:off x="7956331" y="3213136"/>
            <a:ext cx="1568669" cy="1003264"/>
          </a:xfrm>
          <a:prstGeom prst="straightConnector1">
            <a:avLst/>
          </a:prstGeom>
          <a:ln w="635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flipH="1">
            <a:off x="4648201" y="3213136"/>
            <a:ext cx="1447799" cy="875241"/>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5997691" y="1628746"/>
            <a:ext cx="4732283" cy="954107"/>
          </a:xfrm>
          <a:prstGeom prst="rect">
            <a:avLst/>
          </a:prstGeom>
          <a:noFill/>
        </p:spPr>
        <p:txBody>
          <a:bodyPr wrap="square" rtlCol="0">
            <a:spAutoFit/>
          </a:bodyPr>
          <a:lstStyle/>
          <a:p>
            <a:r>
              <a:rPr lang="en-US" altLang="zh-CN" sz="2800" dirty="0" err="1">
                <a:latin typeface="Consolas" panose="020B0609020204030204" pitchFamily="49" charset="0"/>
              </a:rPr>
              <a:t>init_cpu</a:t>
            </a:r>
            <a:r>
              <a:rPr lang="en-US" altLang="zh-CN" sz="2800" dirty="0">
                <a:latin typeface="Consolas" panose="020B0609020204030204" pitchFamily="49" charset="0"/>
              </a:rPr>
              <a:t>()</a:t>
            </a:r>
            <a:endParaRPr lang="en-US" altLang="zh-CN" sz="2800" dirty="0">
              <a:latin typeface="Consolas" panose="020B0609020204030204" pitchFamily="49" charset="0"/>
            </a:endParaRPr>
          </a:p>
          <a:p>
            <a:r>
              <a:rPr lang="en-US" altLang="zh-CN" sz="2800" dirty="0">
                <a:solidFill>
                  <a:schemeClr val="accent5"/>
                </a:solidFill>
                <a:latin typeface="Consolas" panose="020B0609020204030204" pitchFamily="49" charset="0"/>
              </a:rPr>
              <a:t>@ </a:t>
            </a:r>
            <a:r>
              <a:rPr lang="en-US" altLang="zh-CN" sz="2800" dirty="0" err="1">
                <a:solidFill>
                  <a:schemeClr val="accent5"/>
                </a:solidFill>
                <a:latin typeface="Consolas" panose="020B0609020204030204" pitchFamily="49" charset="0"/>
              </a:rPr>
              <a:t>nemu</a:t>
            </a:r>
            <a:r>
              <a:rPr lang="en-US" altLang="zh-CN" sz="2800" dirty="0">
                <a:solidFill>
                  <a:schemeClr val="accent5"/>
                </a:solidFill>
                <a:latin typeface="Consolas" panose="020B0609020204030204" pitchFamily="49" charset="0"/>
              </a:rPr>
              <a:t>/</a:t>
            </a:r>
            <a:r>
              <a:rPr lang="en-US" altLang="zh-CN" sz="2800" dirty="0" err="1">
                <a:solidFill>
                  <a:schemeClr val="accent5"/>
                </a:solidFill>
                <a:latin typeface="Consolas" panose="020B0609020204030204" pitchFamily="49" charset="0"/>
              </a:rPr>
              <a:t>src</a:t>
            </a:r>
            <a:r>
              <a:rPr lang="en-US" altLang="zh-CN" sz="2800" dirty="0">
                <a:solidFill>
                  <a:schemeClr val="accent5"/>
                </a:solidFill>
                <a:latin typeface="Consolas" panose="020B0609020204030204" pitchFamily="49" charset="0"/>
              </a:rPr>
              <a:t>/</a:t>
            </a:r>
            <a:r>
              <a:rPr lang="en-US" altLang="zh-CN" sz="2800" dirty="0" err="1">
                <a:solidFill>
                  <a:schemeClr val="accent5"/>
                </a:solidFill>
                <a:latin typeface="Consolas" panose="020B0609020204030204" pitchFamily="49" charset="0"/>
              </a:rPr>
              <a:t>cpu</a:t>
            </a:r>
            <a:r>
              <a:rPr lang="en-US" altLang="zh-CN" sz="2800" dirty="0">
                <a:solidFill>
                  <a:schemeClr val="accent5"/>
                </a:solidFill>
                <a:latin typeface="Consolas" panose="020B0609020204030204" pitchFamily="49" charset="0"/>
              </a:rPr>
              <a:t>/cpu.c:17</a:t>
            </a:r>
            <a:endParaRPr lang="zh-CN" altLang="en-US" sz="2800" dirty="0">
              <a:solidFill>
                <a:schemeClr val="accent5"/>
              </a:solidFill>
              <a:latin typeface="Consolas" panose="020B0609020204030204" pitchFamily="49"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41D2AEF5-D648-4728-8573-61956C55922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pic>
        <p:nvPicPr>
          <p:cNvPr id="19" name="图片 1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65010" y="301728"/>
            <a:ext cx="9890735" cy="6186702"/>
          </a:xfrm>
          <a:prstGeom prst="rect">
            <a:avLst/>
          </a:prstGeom>
        </p:spPr>
      </p:pic>
      <p:sp>
        <p:nvSpPr>
          <p:cNvPr id="20" name="文本框 19"/>
          <p:cNvSpPr txBox="1"/>
          <p:nvPr/>
        </p:nvSpPr>
        <p:spPr>
          <a:xfrm>
            <a:off x="5697303" y="301728"/>
            <a:ext cx="4508939" cy="584775"/>
          </a:xfrm>
          <a:prstGeom prst="rect">
            <a:avLst/>
          </a:prstGeom>
          <a:noFill/>
        </p:spPr>
        <p:txBody>
          <a:bodyPr wrap="square" rtlCol="0">
            <a:spAutoFit/>
          </a:bodyPr>
          <a:lstStyle/>
          <a:p>
            <a:r>
              <a:rPr lang="en-US" altLang="zh-CN" sz="3200" dirty="0" err="1">
                <a:solidFill>
                  <a:schemeClr val="accent5"/>
                </a:solidFill>
                <a:latin typeface="Consolas" panose="020B0609020204030204" pitchFamily="49" charset="0"/>
              </a:rPr>
              <a:t>nemu</a:t>
            </a:r>
            <a:r>
              <a:rPr lang="en-US" altLang="zh-CN" sz="3200" dirty="0">
                <a:solidFill>
                  <a:schemeClr val="accent5"/>
                </a:solidFill>
                <a:latin typeface="Consolas" panose="020B0609020204030204" pitchFamily="49" charset="0"/>
              </a:rPr>
              <a:t>/</a:t>
            </a:r>
            <a:r>
              <a:rPr lang="en-US" altLang="zh-CN" sz="3200" dirty="0" err="1">
                <a:solidFill>
                  <a:schemeClr val="accent5"/>
                </a:solidFill>
                <a:latin typeface="Consolas" panose="020B0609020204030204" pitchFamily="49" charset="0"/>
              </a:rPr>
              <a:t>src</a:t>
            </a:r>
            <a:r>
              <a:rPr lang="en-US" altLang="zh-CN" sz="3200" dirty="0">
                <a:solidFill>
                  <a:schemeClr val="accent5"/>
                </a:solidFill>
                <a:latin typeface="Consolas" panose="020B0609020204030204" pitchFamily="49" charset="0"/>
              </a:rPr>
              <a:t>/</a:t>
            </a:r>
            <a:r>
              <a:rPr lang="en-US" altLang="zh-CN" sz="3200" dirty="0" err="1">
                <a:solidFill>
                  <a:schemeClr val="accent5"/>
                </a:solidFill>
                <a:latin typeface="Consolas" panose="020B0609020204030204" pitchFamily="49" charset="0"/>
              </a:rPr>
              <a:t>cpu</a:t>
            </a:r>
            <a:r>
              <a:rPr lang="en-US" altLang="zh-CN" sz="3200" dirty="0">
                <a:solidFill>
                  <a:schemeClr val="accent5"/>
                </a:solidFill>
                <a:latin typeface="Consolas" panose="020B0609020204030204" pitchFamily="49" charset="0"/>
              </a:rPr>
              <a:t>/</a:t>
            </a:r>
            <a:r>
              <a:rPr lang="en-US" altLang="zh-CN" sz="3200" dirty="0" err="1">
                <a:solidFill>
                  <a:schemeClr val="accent5"/>
                </a:solidFill>
                <a:latin typeface="Consolas" panose="020B0609020204030204" pitchFamily="49" charset="0"/>
              </a:rPr>
              <a:t>cpu.c</a:t>
            </a:r>
            <a:endParaRPr lang="zh-CN" altLang="en-US" sz="3200" dirty="0">
              <a:solidFill>
                <a:schemeClr val="accent5"/>
              </a:solidFill>
              <a:latin typeface="Consolas" panose="020B0609020204030204" pitchFamily="49"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NEMU</a:t>
            </a:r>
            <a:r>
              <a:rPr lang="zh-CN" altLang="en-US" dirty="0"/>
              <a:t>模拟程序执行：</a:t>
            </a:r>
            <a:r>
              <a:rPr lang="en-US" altLang="zh-CN" dirty="0"/>
              <a:t>2. </a:t>
            </a:r>
            <a:r>
              <a:rPr lang="zh-CN" altLang="en-US" dirty="0"/>
              <a:t>执行程序</a:t>
            </a:r>
            <a:endParaRPr lang="zh-CN" altLang="en-US" dirty="0"/>
          </a:p>
        </p:txBody>
      </p:sp>
      <p:sp>
        <p:nvSpPr>
          <p:cNvPr id="4" name="日期占位符 3"/>
          <p:cNvSpPr>
            <a:spLocks noGrp="1"/>
          </p:cNvSpPr>
          <p:nvPr>
            <p:ph type="dt" sz="half" idx="10"/>
          </p:nvPr>
        </p:nvSpPr>
        <p:spPr/>
        <p:txBody>
          <a:bodyPr/>
          <a:lstStyle/>
          <a:p>
            <a:fld id="{41D2AEF5-D648-4728-8573-61956C55922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656132" y="164810"/>
            <a:ext cx="2147683" cy="1215956"/>
          </a:xfrm>
          <a:prstGeom prst="rect">
            <a:avLst/>
          </a:prstGeom>
          <a:solidFill>
            <a:schemeClr val="bg1"/>
          </a:solidFill>
        </p:spPr>
      </p:pic>
      <p:sp>
        <p:nvSpPr>
          <p:cNvPr id="3" name="矩形 2"/>
          <p:cNvSpPr/>
          <p:nvPr/>
        </p:nvSpPr>
        <p:spPr>
          <a:xfrm>
            <a:off x="211895" y="1965541"/>
            <a:ext cx="6739009" cy="4401205"/>
          </a:xfrm>
          <a:prstGeom prst="rect">
            <a:avLst/>
          </a:prstGeom>
          <a:ln w="19050">
            <a:solidFill>
              <a:schemeClr val="tx1"/>
            </a:solidFill>
            <a:prstDash val="dash"/>
          </a:ln>
        </p:spPr>
        <p:txBody>
          <a:bodyPr wrap="square">
            <a:spAutoFit/>
          </a:bodyPr>
          <a:lstStyle/>
          <a:p>
            <a:r>
              <a:rPr lang="zh-CN" altLang="en-US" sz="2000" dirty="0">
                <a:latin typeface="Consolas" panose="020B0609020204030204" pitchFamily="49" charset="0"/>
              </a:rPr>
              <a:t>void exec(uint32_t n)</a:t>
            </a:r>
            <a:endParaRPr lang="zh-CN" altLang="en-US" sz="2000" dirty="0">
              <a:latin typeface="Consolas" panose="020B0609020204030204" pitchFamily="49" charset="0"/>
            </a:endParaRPr>
          </a:p>
          <a:p>
            <a:r>
              <a:rPr lang="zh-CN" altLang="en-US" sz="2000" dirty="0">
                <a:latin typeface="Consolas" panose="020B0609020204030204" pitchFamily="49" charset="0"/>
              </a:rPr>
              <a:t>{</a:t>
            </a:r>
            <a:endParaRPr lang="zh-CN" altLang="en-US" sz="2000" dirty="0">
              <a:latin typeface="Consolas" panose="020B0609020204030204" pitchFamily="49" charset="0"/>
            </a:endParaRPr>
          </a:p>
          <a:p>
            <a:r>
              <a:rPr lang="zh-CN" altLang="en-US" sz="2000">
                <a:latin typeface="Consolas" panose="020B0609020204030204" pitchFamily="49" charset="0"/>
              </a:rPr>
              <a:t>	</a:t>
            </a:r>
            <a:r>
              <a:rPr lang="en-US" altLang="zh-CN" sz="2000">
                <a:latin typeface="Consolas" panose="020B0609020204030204" pitchFamily="49" charset="0"/>
              </a:rPr>
              <a:t>…</a:t>
            </a:r>
            <a:endParaRPr lang="zh-CN" altLang="en-US" sz="2000" dirty="0">
              <a:latin typeface="Consolas" panose="020B0609020204030204" pitchFamily="49" charset="0"/>
            </a:endParaRPr>
          </a:p>
          <a:p>
            <a:r>
              <a:rPr lang="zh-CN" altLang="en-US" sz="2000">
                <a:latin typeface="Consolas" panose="020B0609020204030204" pitchFamily="49" charset="0"/>
              </a:rPr>
              <a:t>	nemu</a:t>
            </a:r>
            <a:r>
              <a:rPr lang="zh-CN" altLang="en-US" sz="2000" dirty="0">
                <a:latin typeface="Consolas" panose="020B0609020204030204" pitchFamily="49" charset="0"/>
              </a:rPr>
              <a:t>_state = NEMU_RUN;</a:t>
            </a:r>
            <a:endParaRPr lang="zh-CN" altLang="en-US" sz="2000" dirty="0">
              <a:latin typeface="Consolas" panose="020B0609020204030204" pitchFamily="49" charset="0"/>
            </a:endParaRPr>
          </a:p>
          <a:p>
            <a:r>
              <a:rPr lang="zh-CN" altLang="en-US" sz="2000">
                <a:latin typeface="Consolas" panose="020B0609020204030204" pitchFamily="49" charset="0"/>
              </a:rPr>
              <a:t>	</a:t>
            </a:r>
            <a:r>
              <a:rPr lang="zh-CN" altLang="en-US" sz="2000" b="1">
                <a:solidFill>
                  <a:srgbClr val="C00000"/>
                </a:solidFill>
                <a:latin typeface="Consolas" panose="020B0609020204030204" pitchFamily="49" charset="0"/>
              </a:rPr>
              <a:t>while</a:t>
            </a:r>
            <a:r>
              <a:rPr lang="zh-CN" altLang="en-US" sz="2000">
                <a:latin typeface="Consolas" panose="020B0609020204030204" pitchFamily="49" charset="0"/>
              </a:rPr>
              <a:t> </a:t>
            </a:r>
            <a:r>
              <a:rPr lang="zh-CN" altLang="en-US" sz="2000" dirty="0">
                <a:latin typeface="Consolas" panose="020B0609020204030204" pitchFamily="49" charset="0"/>
              </a:rPr>
              <a:t>(n &gt; 0 &amp;&amp; nemu_state == NEMU_RUN)</a:t>
            </a:r>
            <a:endParaRPr lang="zh-CN" altLang="en-US" sz="2000" dirty="0">
              <a:latin typeface="Consolas" panose="020B0609020204030204" pitchFamily="49" charset="0"/>
            </a:endParaRPr>
          </a:p>
          <a:p>
            <a:r>
              <a:rPr lang="zh-CN" altLang="en-US" sz="2000">
                <a:latin typeface="Consolas" panose="020B0609020204030204" pitchFamily="49" charset="0"/>
              </a:rPr>
              <a:t>	</a:t>
            </a:r>
            <a:r>
              <a:rPr lang="zh-CN" altLang="en-US" sz="2000" b="1">
                <a:solidFill>
                  <a:srgbClr val="C00000"/>
                </a:solidFill>
                <a:latin typeface="Consolas" panose="020B0609020204030204" pitchFamily="49" charset="0"/>
              </a:rPr>
              <a:t>{</a:t>
            </a:r>
            <a:r>
              <a:rPr lang="en-US" altLang="zh-CN" sz="2000" b="1">
                <a:solidFill>
                  <a:srgbClr val="C00000"/>
                </a:solidFill>
                <a:latin typeface="Consolas" panose="020B0609020204030204" pitchFamily="49" charset="0"/>
              </a:rPr>
              <a:t>	 </a:t>
            </a:r>
            <a:r>
              <a:rPr lang="en-US" altLang="zh-CN" sz="2000" b="1" dirty="0">
                <a:solidFill>
                  <a:srgbClr val="C00000"/>
                </a:solidFill>
                <a:latin typeface="Consolas" panose="020B0609020204030204" pitchFamily="49" charset="0"/>
              </a:rPr>
              <a:t>// </a:t>
            </a:r>
            <a:r>
              <a:rPr lang="zh-CN" altLang="en-US" sz="2000" b="1" dirty="0">
                <a:solidFill>
                  <a:srgbClr val="C00000"/>
                </a:solidFill>
                <a:latin typeface="Consolas" panose="020B0609020204030204" pitchFamily="49" charset="0"/>
              </a:rPr>
              <a:t>执行</a:t>
            </a:r>
            <a:r>
              <a:rPr lang="en-US" altLang="zh-CN" sz="2000" b="1" dirty="0" err="1">
                <a:solidFill>
                  <a:srgbClr val="C00000"/>
                </a:solidFill>
                <a:latin typeface="Consolas" panose="020B0609020204030204" pitchFamily="49" charset="0"/>
              </a:rPr>
              <a:t>eip</a:t>
            </a:r>
            <a:r>
              <a:rPr lang="zh-CN" altLang="en-US" sz="2000" b="1" dirty="0">
                <a:solidFill>
                  <a:srgbClr val="C00000"/>
                </a:solidFill>
                <a:latin typeface="Consolas" panose="020B0609020204030204" pitchFamily="49" charset="0"/>
              </a:rPr>
              <a:t>指向的指令</a:t>
            </a:r>
            <a:endParaRPr lang="zh-CN" altLang="en-US" sz="2000" b="1" dirty="0">
              <a:solidFill>
                <a:srgbClr val="C00000"/>
              </a:solidFill>
              <a:latin typeface="Consolas" panose="020B0609020204030204" pitchFamily="49" charset="0"/>
            </a:endParaRPr>
          </a:p>
          <a:p>
            <a:r>
              <a:rPr lang="zh-CN" altLang="en-US" sz="2000">
                <a:latin typeface="Consolas" panose="020B0609020204030204" pitchFamily="49" charset="0"/>
              </a:rPr>
              <a:t>		instr</a:t>
            </a:r>
            <a:r>
              <a:rPr lang="zh-CN" altLang="en-US" sz="2000" dirty="0">
                <a:latin typeface="Consolas" panose="020B0609020204030204" pitchFamily="49" charset="0"/>
              </a:rPr>
              <a:t>_len = exec_inst(); </a:t>
            </a:r>
            <a:endParaRPr lang="en-US" altLang="zh-CN" sz="2000" dirty="0">
              <a:latin typeface="Consolas" panose="020B0609020204030204" pitchFamily="49" charset="0"/>
            </a:endParaRPr>
          </a:p>
          <a:p>
            <a:r>
              <a:rPr lang="en-US" altLang="zh-CN" sz="2000" b="1">
                <a:solidFill>
                  <a:srgbClr val="C00000"/>
                </a:solidFill>
                <a:latin typeface="Consolas" panose="020B0609020204030204" pitchFamily="49" charset="0"/>
              </a:rPr>
              <a:t>		 </a:t>
            </a:r>
            <a:r>
              <a:rPr lang="en-US" altLang="zh-CN" sz="2000" b="1" dirty="0">
                <a:solidFill>
                  <a:srgbClr val="C00000"/>
                </a:solidFill>
                <a:latin typeface="Consolas" panose="020B0609020204030204" pitchFamily="49" charset="0"/>
              </a:rPr>
              <a:t>// </a:t>
            </a:r>
            <a:r>
              <a:rPr lang="en-US" altLang="zh-CN" sz="2000" b="1" dirty="0" err="1">
                <a:solidFill>
                  <a:srgbClr val="C00000"/>
                </a:solidFill>
                <a:latin typeface="Consolas" panose="020B0609020204030204" pitchFamily="49" charset="0"/>
              </a:rPr>
              <a:t>eip</a:t>
            </a:r>
            <a:r>
              <a:rPr lang="zh-CN" altLang="en-US" sz="2000" b="1" dirty="0">
                <a:solidFill>
                  <a:srgbClr val="C00000"/>
                </a:solidFill>
                <a:latin typeface="Consolas" panose="020B0609020204030204" pitchFamily="49" charset="0"/>
              </a:rPr>
              <a:t>指向下一条指令</a:t>
            </a:r>
            <a:endParaRPr lang="zh-CN" altLang="en-US" sz="2000" b="1" dirty="0">
              <a:solidFill>
                <a:srgbClr val="C00000"/>
              </a:solidFill>
              <a:latin typeface="Consolas" panose="020B0609020204030204" pitchFamily="49" charset="0"/>
            </a:endParaRPr>
          </a:p>
          <a:p>
            <a:r>
              <a:rPr lang="zh-CN" altLang="en-US" sz="2000">
                <a:latin typeface="Consolas" panose="020B0609020204030204" pitchFamily="49" charset="0"/>
              </a:rPr>
              <a:t>		cpu</a:t>
            </a:r>
            <a:r>
              <a:rPr lang="zh-CN" altLang="en-US" sz="2000" dirty="0">
                <a:latin typeface="Consolas" panose="020B0609020204030204" pitchFamily="49" charset="0"/>
              </a:rPr>
              <a:t>.eip += instr_len;</a:t>
            </a:r>
            <a:r>
              <a:rPr lang="zh-CN" altLang="en-US" sz="2000" dirty="0">
                <a:solidFill>
                  <a:srgbClr val="C00000"/>
                </a:solidFill>
                <a:latin typeface="Consolas" panose="020B0609020204030204" pitchFamily="49" charset="0"/>
              </a:rPr>
              <a:t>    </a:t>
            </a:r>
            <a:endParaRPr lang="zh-CN" altLang="en-US" sz="2000" dirty="0">
              <a:solidFill>
                <a:srgbClr val="C00000"/>
              </a:solidFill>
              <a:latin typeface="Consolas" panose="020B0609020204030204" pitchFamily="49" charset="0"/>
            </a:endParaRPr>
          </a:p>
          <a:p>
            <a:r>
              <a:rPr lang="zh-CN" altLang="en-US" sz="2000">
                <a:latin typeface="Consolas" panose="020B0609020204030204" pitchFamily="49" charset="0"/>
              </a:rPr>
              <a:t>		n</a:t>
            </a:r>
            <a:r>
              <a:rPr lang="zh-CN" altLang="en-US" sz="2000" dirty="0">
                <a:latin typeface="Consolas" panose="020B0609020204030204" pitchFamily="49" charset="0"/>
              </a:rPr>
              <a:t>--;</a:t>
            </a:r>
            <a:endParaRPr lang="en-US" altLang="zh-CN" sz="2000" dirty="0">
              <a:latin typeface="Consolas" panose="020B0609020204030204" pitchFamily="49" charset="0"/>
            </a:endParaRPr>
          </a:p>
          <a:p>
            <a:r>
              <a:rPr lang="en-US" altLang="zh-CN" sz="2000">
                <a:latin typeface="Consolas" panose="020B0609020204030204" pitchFamily="49" charset="0"/>
              </a:rPr>
              <a:t>		…</a:t>
            </a:r>
            <a:endParaRPr lang="en-US" altLang="zh-CN" sz="2000" dirty="0">
              <a:latin typeface="Consolas" panose="020B0609020204030204" pitchFamily="49" charset="0"/>
            </a:endParaRPr>
          </a:p>
          <a:p>
            <a:r>
              <a:rPr lang="en-US" altLang="zh-CN" sz="2000">
                <a:latin typeface="Consolas" panose="020B0609020204030204" pitchFamily="49" charset="0"/>
              </a:rPr>
              <a:t>	</a:t>
            </a:r>
            <a:r>
              <a:rPr lang="en-US" altLang="zh-CN" sz="2000" b="1">
                <a:solidFill>
                  <a:srgbClr val="C00000"/>
                </a:solidFill>
                <a:latin typeface="Consolas" panose="020B0609020204030204" pitchFamily="49" charset="0"/>
              </a:rPr>
              <a:t>}</a:t>
            </a:r>
            <a:endParaRPr lang="en-US" altLang="zh-CN" sz="2000" b="1" dirty="0">
              <a:solidFill>
                <a:srgbClr val="C00000"/>
              </a:solidFill>
              <a:latin typeface="Consolas" panose="020B0609020204030204" pitchFamily="49" charset="0"/>
            </a:endParaRPr>
          </a:p>
          <a:p>
            <a:r>
              <a:rPr lang="en-US" altLang="zh-CN" sz="2000">
                <a:latin typeface="Consolas" panose="020B0609020204030204" pitchFamily="49" charset="0"/>
              </a:rPr>
              <a:t>	…</a:t>
            </a:r>
            <a:endParaRPr lang="en-US" altLang="zh-CN" sz="2000" dirty="0">
              <a:latin typeface="Consolas" panose="020B0609020204030204" pitchFamily="49" charset="0"/>
            </a:endParaRPr>
          </a:p>
          <a:p>
            <a:r>
              <a:rPr lang="en-US" altLang="zh-CN" sz="2000" dirty="0">
                <a:latin typeface="Consolas" panose="020B0609020204030204" pitchFamily="49" charset="0"/>
              </a:rPr>
              <a:t>}</a:t>
            </a:r>
            <a:endParaRPr lang="zh-CN" altLang="en-US" sz="2000" dirty="0">
              <a:latin typeface="Consolas" panose="020B0609020204030204" pitchFamily="49" charset="0"/>
            </a:endParaRPr>
          </a:p>
        </p:txBody>
      </p:sp>
      <p:sp>
        <p:nvSpPr>
          <p:cNvPr id="7" name="文本框 6"/>
          <p:cNvSpPr txBox="1"/>
          <p:nvPr/>
        </p:nvSpPr>
        <p:spPr>
          <a:xfrm>
            <a:off x="2441965" y="1380766"/>
            <a:ext cx="4508939" cy="584775"/>
          </a:xfrm>
          <a:prstGeom prst="rect">
            <a:avLst/>
          </a:prstGeom>
          <a:noFill/>
        </p:spPr>
        <p:txBody>
          <a:bodyPr wrap="square" rtlCol="0">
            <a:spAutoFit/>
          </a:bodyPr>
          <a:lstStyle/>
          <a:p>
            <a:r>
              <a:rPr lang="en-US" altLang="zh-CN" sz="3200" dirty="0" err="1">
                <a:solidFill>
                  <a:schemeClr val="accent5"/>
                </a:solidFill>
                <a:latin typeface="Consolas" panose="020B0609020204030204" pitchFamily="49" charset="0"/>
              </a:rPr>
              <a:t>nemu</a:t>
            </a:r>
            <a:r>
              <a:rPr lang="en-US" altLang="zh-CN" sz="3200" dirty="0">
                <a:solidFill>
                  <a:schemeClr val="accent5"/>
                </a:solidFill>
                <a:latin typeface="Consolas" panose="020B0609020204030204" pitchFamily="49" charset="0"/>
              </a:rPr>
              <a:t>/</a:t>
            </a:r>
            <a:r>
              <a:rPr lang="en-US" altLang="zh-CN" sz="3200" dirty="0" err="1">
                <a:solidFill>
                  <a:schemeClr val="accent5"/>
                </a:solidFill>
                <a:latin typeface="Consolas" panose="020B0609020204030204" pitchFamily="49" charset="0"/>
              </a:rPr>
              <a:t>src</a:t>
            </a:r>
            <a:r>
              <a:rPr lang="en-US" altLang="zh-CN" sz="3200" dirty="0">
                <a:solidFill>
                  <a:schemeClr val="accent5"/>
                </a:solidFill>
                <a:latin typeface="Consolas" panose="020B0609020204030204" pitchFamily="49" charset="0"/>
              </a:rPr>
              <a:t>/</a:t>
            </a:r>
            <a:r>
              <a:rPr lang="en-US" altLang="zh-CN" sz="3200" dirty="0" err="1">
                <a:solidFill>
                  <a:schemeClr val="accent5"/>
                </a:solidFill>
                <a:latin typeface="Consolas" panose="020B0609020204030204" pitchFamily="49" charset="0"/>
              </a:rPr>
              <a:t>cpu</a:t>
            </a:r>
            <a:r>
              <a:rPr lang="en-US" altLang="zh-CN" sz="3200" dirty="0">
                <a:solidFill>
                  <a:schemeClr val="accent5"/>
                </a:solidFill>
                <a:latin typeface="Consolas" panose="020B0609020204030204" pitchFamily="49" charset="0"/>
              </a:rPr>
              <a:t>/</a:t>
            </a:r>
            <a:r>
              <a:rPr lang="en-US" altLang="zh-CN" sz="3200" dirty="0" err="1">
                <a:solidFill>
                  <a:schemeClr val="accent5"/>
                </a:solidFill>
                <a:latin typeface="Consolas" panose="020B0609020204030204" pitchFamily="49" charset="0"/>
              </a:rPr>
              <a:t>cpu.c</a:t>
            </a:r>
            <a:endParaRPr lang="zh-CN" altLang="en-US" sz="3200" dirty="0">
              <a:solidFill>
                <a:schemeClr val="accent5"/>
              </a:solidFill>
              <a:latin typeface="Consolas" panose="020B0609020204030204" pitchFamily="49" charset="0"/>
            </a:endParaRPr>
          </a:p>
        </p:txBody>
      </p:sp>
      <p:sp>
        <p:nvSpPr>
          <p:cNvPr id="11" name="矩形 10"/>
          <p:cNvSpPr/>
          <p:nvPr/>
        </p:nvSpPr>
        <p:spPr>
          <a:xfrm>
            <a:off x="2752781" y="4180819"/>
            <a:ext cx="8797034" cy="2246769"/>
          </a:xfrm>
          <a:prstGeom prst="rect">
            <a:avLst/>
          </a:prstGeom>
          <a:solidFill>
            <a:schemeClr val="bg1"/>
          </a:solidFill>
          <a:ln w="19050">
            <a:solidFill>
              <a:schemeClr val="tx1"/>
            </a:solidFill>
            <a:prstDash val="dash"/>
          </a:ln>
        </p:spPr>
        <p:txBody>
          <a:bodyPr wrap="square">
            <a:spAutoFit/>
          </a:bodyPr>
          <a:lstStyle/>
          <a:p>
            <a:pPr lvl="2"/>
            <a:r>
              <a:rPr lang="en-US" altLang="zh-CN" sz="2000" dirty="0" err="1">
                <a:latin typeface="Consolas" panose="020B0609020204030204" pitchFamily="49" charset="0"/>
              </a:rPr>
              <a:t>int</a:t>
            </a:r>
            <a:r>
              <a:rPr lang="en-US" altLang="zh-CN" sz="2000" dirty="0">
                <a:latin typeface="Consolas" panose="020B0609020204030204" pitchFamily="49" charset="0"/>
              </a:rPr>
              <a:t> </a:t>
            </a:r>
            <a:r>
              <a:rPr lang="en-US" altLang="zh-CN" sz="2000" dirty="0" err="1">
                <a:latin typeface="Consolas" panose="020B0609020204030204" pitchFamily="49" charset="0"/>
              </a:rPr>
              <a:t>exec_inst</a:t>
            </a:r>
            <a:r>
              <a:rPr lang="en-US" altLang="zh-CN" sz="2000" dirty="0">
                <a:latin typeface="Consolas" panose="020B0609020204030204" pitchFamily="49" charset="0"/>
              </a:rPr>
              <a:t>()</a:t>
            </a:r>
            <a:endParaRPr lang="en-US" altLang="zh-CN" sz="2000" dirty="0">
              <a:latin typeface="Consolas" panose="020B0609020204030204" pitchFamily="49" charset="0"/>
            </a:endParaRPr>
          </a:p>
          <a:p>
            <a:pPr lvl="2"/>
            <a:r>
              <a:rPr lang="en-US" altLang="zh-CN" sz="2000" dirty="0">
                <a:latin typeface="Consolas" panose="020B0609020204030204" pitchFamily="49" charset="0"/>
              </a:rPr>
              <a:t>{</a:t>
            </a:r>
            <a:endParaRPr lang="en-US" altLang="zh-CN" sz="2000" dirty="0">
              <a:latin typeface="Consolas" panose="020B0609020204030204" pitchFamily="49" charset="0"/>
            </a:endParaRPr>
          </a:p>
          <a:p>
            <a:pPr lvl="2"/>
            <a:r>
              <a:rPr lang="en-US" altLang="zh-CN" sz="2000">
                <a:latin typeface="Consolas" panose="020B0609020204030204" pitchFamily="49" charset="0"/>
              </a:rPr>
              <a:t>	uint8_t </a:t>
            </a:r>
            <a:r>
              <a:rPr lang="en-US" altLang="zh-CN" sz="2000" dirty="0">
                <a:latin typeface="Consolas" panose="020B0609020204030204" pitchFamily="49" charset="0"/>
              </a:rPr>
              <a:t>opcode = 0;</a:t>
            </a:r>
            <a:endParaRPr lang="en-US" altLang="zh-CN" sz="2000" dirty="0">
              <a:latin typeface="Consolas" panose="020B0609020204030204" pitchFamily="49" charset="0"/>
            </a:endParaRPr>
          </a:p>
          <a:p>
            <a:pPr lvl="2"/>
            <a:r>
              <a:rPr lang="en-US" altLang="zh-CN" sz="2000">
                <a:latin typeface="Consolas" panose="020B0609020204030204" pitchFamily="49" charset="0"/>
              </a:rPr>
              <a:t> 	opcode </a:t>
            </a:r>
            <a:r>
              <a:rPr lang="en-US" altLang="zh-CN" sz="2000" dirty="0">
                <a:latin typeface="Consolas" panose="020B0609020204030204" pitchFamily="49" charset="0"/>
              </a:rPr>
              <a:t>= </a:t>
            </a:r>
            <a:r>
              <a:rPr lang="en-US" altLang="zh-CN" sz="2000" dirty="0" err="1">
                <a:latin typeface="Consolas" panose="020B0609020204030204" pitchFamily="49" charset="0"/>
              </a:rPr>
              <a:t>instr_fetch</a:t>
            </a:r>
            <a:r>
              <a:rPr lang="en-US" altLang="zh-CN" sz="2000" dirty="0">
                <a:latin typeface="Consolas" panose="020B0609020204030204" pitchFamily="49" charset="0"/>
              </a:rPr>
              <a:t>(</a:t>
            </a:r>
            <a:r>
              <a:rPr lang="en-US" altLang="zh-CN" sz="2000" dirty="0" err="1">
                <a:latin typeface="Consolas" panose="020B0609020204030204" pitchFamily="49" charset="0"/>
              </a:rPr>
              <a:t>cpu.eip</a:t>
            </a:r>
            <a:r>
              <a:rPr lang="en-US" altLang="zh-CN" sz="2000" dirty="0">
                <a:latin typeface="Consolas" panose="020B0609020204030204" pitchFamily="49" charset="0"/>
              </a:rPr>
              <a:t>, 1);</a:t>
            </a:r>
            <a:endParaRPr lang="en-US" altLang="zh-CN" sz="2000" dirty="0">
              <a:latin typeface="Consolas" panose="020B0609020204030204" pitchFamily="49" charset="0"/>
            </a:endParaRPr>
          </a:p>
          <a:p>
            <a:pPr lvl="2"/>
            <a:r>
              <a:rPr lang="en-US" altLang="zh-CN" sz="2000">
                <a:solidFill>
                  <a:srgbClr val="C00000"/>
                </a:solidFill>
                <a:latin typeface="Consolas" panose="020B0609020204030204" pitchFamily="49" charset="0"/>
              </a:rPr>
              <a:t>	int </a:t>
            </a:r>
            <a:r>
              <a:rPr lang="en-US" altLang="zh-CN" sz="2000" dirty="0" err="1">
                <a:solidFill>
                  <a:srgbClr val="C00000"/>
                </a:solidFill>
                <a:latin typeface="Consolas" panose="020B0609020204030204" pitchFamily="49" charset="0"/>
              </a:rPr>
              <a:t>len</a:t>
            </a:r>
            <a:r>
              <a:rPr lang="en-US" altLang="zh-CN" sz="2000" dirty="0">
                <a:solidFill>
                  <a:srgbClr val="C00000"/>
                </a:solidFill>
                <a:latin typeface="Consolas" panose="020B0609020204030204" pitchFamily="49" charset="0"/>
              </a:rPr>
              <a:t> = </a:t>
            </a:r>
            <a:r>
              <a:rPr lang="en-US" altLang="zh-CN" sz="2000" dirty="0" err="1">
                <a:solidFill>
                  <a:srgbClr val="C00000"/>
                </a:solidFill>
                <a:latin typeface="Consolas" panose="020B0609020204030204" pitchFamily="49" charset="0"/>
              </a:rPr>
              <a:t>opcode_entry</a:t>
            </a:r>
            <a:r>
              <a:rPr lang="en-US" altLang="zh-CN" sz="2000" dirty="0">
                <a:solidFill>
                  <a:srgbClr val="C00000"/>
                </a:solidFill>
                <a:latin typeface="Consolas" panose="020B0609020204030204" pitchFamily="49" charset="0"/>
              </a:rPr>
              <a:t>[opcode](</a:t>
            </a:r>
            <a:r>
              <a:rPr lang="en-US" altLang="zh-CN" sz="2000" dirty="0" err="1">
                <a:solidFill>
                  <a:srgbClr val="C00000"/>
                </a:solidFill>
                <a:latin typeface="Consolas" panose="020B0609020204030204" pitchFamily="49" charset="0"/>
              </a:rPr>
              <a:t>cpu.eip</a:t>
            </a:r>
            <a:r>
              <a:rPr lang="en-US" altLang="zh-CN" sz="2000" dirty="0">
                <a:solidFill>
                  <a:srgbClr val="C00000"/>
                </a:solidFill>
                <a:latin typeface="Consolas" panose="020B0609020204030204" pitchFamily="49" charset="0"/>
              </a:rPr>
              <a:t>, opcode);</a:t>
            </a:r>
            <a:endParaRPr lang="en-US" altLang="zh-CN" sz="2000" dirty="0">
              <a:solidFill>
                <a:srgbClr val="C00000"/>
              </a:solidFill>
              <a:latin typeface="Consolas" panose="020B0609020204030204" pitchFamily="49" charset="0"/>
            </a:endParaRPr>
          </a:p>
          <a:p>
            <a:pPr lvl="2"/>
            <a:r>
              <a:rPr lang="en-US" altLang="zh-CN" sz="2000">
                <a:latin typeface="Consolas" panose="020B0609020204030204" pitchFamily="49" charset="0"/>
              </a:rPr>
              <a:t>	return </a:t>
            </a:r>
            <a:r>
              <a:rPr lang="en-US" altLang="zh-CN" sz="2000" dirty="0" err="1">
                <a:latin typeface="Consolas" panose="020B0609020204030204" pitchFamily="49" charset="0"/>
              </a:rPr>
              <a:t>len</a:t>
            </a:r>
            <a:r>
              <a:rPr lang="en-US" altLang="zh-CN" sz="2000" dirty="0">
                <a:latin typeface="Consolas" panose="020B0609020204030204" pitchFamily="49" charset="0"/>
              </a:rPr>
              <a:t>;</a:t>
            </a:r>
            <a:endParaRPr lang="en-US" altLang="zh-CN" sz="2000" dirty="0">
              <a:latin typeface="Consolas" panose="020B0609020204030204" pitchFamily="49" charset="0"/>
            </a:endParaRPr>
          </a:p>
          <a:p>
            <a:pPr lvl="2"/>
            <a:r>
              <a:rPr lang="en-US" altLang="zh-CN" sz="2000" dirty="0">
                <a:latin typeface="Consolas" panose="020B0609020204030204" pitchFamily="49" charset="0"/>
              </a:rPr>
              <a:t>}</a:t>
            </a:r>
            <a:endParaRPr lang="en-US" altLang="zh-CN" sz="2000" dirty="0">
              <a:latin typeface="Consolas" panose="020B0609020204030204" pitchFamily="49" charset="0"/>
            </a:endParaRPr>
          </a:p>
        </p:txBody>
      </p:sp>
      <p:sp>
        <p:nvSpPr>
          <p:cNvPr id="10" name="文本框 9"/>
          <p:cNvSpPr txBox="1"/>
          <p:nvPr/>
        </p:nvSpPr>
        <p:spPr>
          <a:xfrm>
            <a:off x="7294876" y="5809138"/>
            <a:ext cx="4508939" cy="584775"/>
          </a:xfrm>
          <a:prstGeom prst="rect">
            <a:avLst/>
          </a:prstGeom>
          <a:noFill/>
        </p:spPr>
        <p:txBody>
          <a:bodyPr wrap="square" rtlCol="0">
            <a:spAutoFit/>
          </a:bodyPr>
          <a:lstStyle/>
          <a:p>
            <a:r>
              <a:rPr lang="en-US" altLang="zh-CN" sz="3200" dirty="0" err="1">
                <a:solidFill>
                  <a:schemeClr val="accent5"/>
                </a:solidFill>
                <a:latin typeface="Consolas" panose="020B0609020204030204" pitchFamily="49" charset="0"/>
              </a:rPr>
              <a:t>nemu</a:t>
            </a:r>
            <a:r>
              <a:rPr lang="en-US" altLang="zh-CN" sz="3200" dirty="0">
                <a:solidFill>
                  <a:schemeClr val="accent5"/>
                </a:solidFill>
                <a:latin typeface="Consolas" panose="020B0609020204030204" pitchFamily="49" charset="0"/>
              </a:rPr>
              <a:t>/</a:t>
            </a:r>
            <a:r>
              <a:rPr lang="en-US" altLang="zh-CN" sz="3200" dirty="0" err="1">
                <a:solidFill>
                  <a:schemeClr val="accent5"/>
                </a:solidFill>
                <a:latin typeface="Consolas" panose="020B0609020204030204" pitchFamily="49" charset="0"/>
              </a:rPr>
              <a:t>src</a:t>
            </a:r>
            <a:r>
              <a:rPr lang="en-US" altLang="zh-CN" sz="3200" dirty="0">
                <a:solidFill>
                  <a:schemeClr val="accent5"/>
                </a:solidFill>
                <a:latin typeface="Consolas" panose="020B0609020204030204" pitchFamily="49" charset="0"/>
              </a:rPr>
              <a:t>/</a:t>
            </a:r>
            <a:r>
              <a:rPr lang="en-US" altLang="zh-CN" sz="3200" dirty="0" err="1">
                <a:solidFill>
                  <a:schemeClr val="accent5"/>
                </a:solidFill>
                <a:latin typeface="Consolas" panose="020B0609020204030204" pitchFamily="49" charset="0"/>
              </a:rPr>
              <a:t>cpu</a:t>
            </a:r>
            <a:r>
              <a:rPr lang="en-US" altLang="zh-CN" sz="3200" dirty="0">
                <a:solidFill>
                  <a:schemeClr val="accent5"/>
                </a:solidFill>
                <a:latin typeface="Consolas" panose="020B0609020204030204" pitchFamily="49" charset="0"/>
              </a:rPr>
              <a:t>/</a:t>
            </a:r>
            <a:r>
              <a:rPr lang="en-US" altLang="zh-CN" sz="3200" dirty="0" err="1">
                <a:solidFill>
                  <a:schemeClr val="accent5"/>
                </a:solidFill>
                <a:latin typeface="Consolas" panose="020B0609020204030204" pitchFamily="49" charset="0"/>
              </a:rPr>
              <a:t>cpu.c</a:t>
            </a:r>
            <a:endParaRPr lang="zh-CN" altLang="en-US" sz="3200" dirty="0">
              <a:solidFill>
                <a:schemeClr val="accent5"/>
              </a:solidFill>
              <a:latin typeface="Consolas" panose="020B0609020204030204" pitchFamily="49" charset="0"/>
            </a:endParaRPr>
          </a:p>
        </p:txBody>
      </p:sp>
      <p:sp>
        <p:nvSpPr>
          <p:cNvPr id="12" name="文本框 11"/>
          <p:cNvSpPr txBox="1"/>
          <p:nvPr/>
        </p:nvSpPr>
        <p:spPr>
          <a:xfrm>
            <a:off x="6096000" y="4396262"/>
            <a:ext cx="5399773" cy="369332"/>
          </a:xfrm>
          <a:prstGeom prst="rect">
            <a:avLst/>
          </a:prstGeom>
          <a:noFill/>
        </p:spPr>
        <p:txBody>
          <a:bodyPr wrap="square" rtlCol="0">
            <a:spAutoFit/>
          </a:bodyPr>
          <a:lstStyle/>
          <a:p>
            <a:r>
              <a:rPr lang="zh-CN" altLang="en-US" dirty="0">
                <a:solidFill>
                  <a:srgbClr val="C00000"/>
                </a:solidFill>
              </a:rPr>
              <a:t>解码并执行该指令，返回指令长度</a:t>
            </a:r>
            <a:endParaRPr lang="zh-CN" altLang="en-US" dirty="0">
              <a:solidFill>
                <a:srgbClr val="C00000"/>
              </a:solidFill>
            </a:endParaRPr>
          </a:p>
        </p:txBody>
      </p:sp>
      <p:cxnSp>
        <p:nvCxnSpPr>
          <p:cNvPr id="13" name="直接箭头连接符 12"/>
          <p:cNvCxnSpPr/>
          <p:nvPr/>
        </p:nvCxnSpPr>
        <p:spPr>
          <a:xfrm flipH="1">
            <a:off x="7632834" y="4765594"/>
            <a:ext cx="423511" cy="730431"/>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9882153" y="4319318"/>
            <a:ext cx="1735539" cy="584775"/>
          </a:xfrm>
          <a:prstGeom prst="rect">
            <a:avLst/>
          </a:prstGeom>
          <a:noFill/>
        </p:spPr>
        <p:txBody>
          <a:bodyPr wrap="square" rtlCol="0">
            <a:spAutoFit/>
          </a:bodyPr>
          <a:lstStyle/>
          <a:p>
            <a:r>
              <a:rPr lang="en-US" altLang="zh-CN" sz="3200" dirty="0"/>
              <a:t>how to?</a:t>
            </a:r>
            <a:endParaRPr lang="zh-CN" altLang="en-US" sz="3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指令的解码</a:t>
            </a:r>
            <a:endParaRPr lang="zh-CN" altLang="en-US" dirty="0"/>
          </a:p>
        </p:txBody>
      </p:sp>
      <p:sp>
        <p:nvSpPr>
          <p:cNvPr id="4" name="日期占位符 3"/>
          <p:cNvSpPr>
            <a:spLocks noGrp="1"/>
          </p:cNvSpPr>
          <p:nvPr>
            <p:ph type="dt" sz="half" idx="10"/>
          </p:nvPr>
        </p:nvSpPr>
        <p:spPr/>
        <p:txBody>
          <a:bodyPr/>
          <a:lstStyle/>
          <a:p>
            <a:fld id="{41D2AEF5-D648-4728-8573-61956C55922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sp>
        <p:nvSpPr>
          <p:cNvPr id="7" name="矩形 6"/>
          <p:cNvSpPr/>
          <p:nvPr/>
        </p:nvSpPr>
        <p:spPr>
          <a:xfrm>
            <a:off x="1240220" y="2755280"/>
            <a:ext cx="9158276" cy="584775"/>
          </a:xfrm>
          <a:prstGeom prst="rect">
            <a:avLst/>
          </a:prstGeom>
        </p:spPr>
        <p:txBody>
          <a:bodyPr wrap="none">
            <a:spAutoFit/>
          </a:bodyPr>
          <a:lstStyle/>
          <a:p>
            <a:pPr algn="ctr">
              <a:spcBef>
                <a:spcPts val="600"/>
              </a:spcBef>
              <a:spcAft>
                <a:spcPts val="0"/>
              </a:spcAft>
            </a:pPr>
            <a:r>
              <a:rPr lang="zh-CN" altLang="en-US" sz="3200" kern="100" dirty="0">
                <a:latin typeface="等线" panose="02010600030101010101" charset="-122"/>
                <a:cs typeface="Times New Roman" panose="02020603050405020304" pitchFamily="18" charset="0"/>
              </a:rPr>
              <a:t>内存中的指令数据：</a:t>
            </a:r>
            <a:r>
              <a:rPr lang="en-US" altLang="zh-CN" sz="3200" kern="100" dirty="0">
                <a:latin typeface="等线" panose="02010600030101010101" charset="-122"/>
                <a:cs typeface="Times New Roman" panose="02020603050405020304" pitchFamily="18" charset="0"/>
              </a:rPr>
              <a:t>8b 94 83 00 11 00 00 8b 45 f4</a:t>
            </a:r>
            <a:endParaRPr lang="zh-CN" altLang="zh-CN" sz="3200" kern="100" dirty="0">
              <a:latin typeface="等线" panose="02010600030101010101" charset="-122"/>
              <a:cs typeface="Times New Roman" panose="02020603050405020304" pitchFamily="18" charset="0"/>
            </a:endParaRPr>
          </a:p>
        </p:txBody>
      </p:sp>
      <p:sp>
        <p:nvSpPr>
          <p:cNvPr id="8" name="等腰三角形 7"/>
          <p:cNvSpPr/>
          <p:nvPr/>
        </p:nvSpPr>
        <p:spPr>
          <a:xfrm rot="10800000">
            <a:off x="5123026" y="2536730"/>
            <a:ext cx="253518" cy="218550"/>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9" name="文本框 8"/>
          <p:cNvSpPr txBox="1"/>
          <p:nvPr/>
        </p:nvSpPr>
        <p:spPr>
          <a:xfrm>
            <a:off x="5013181" y="2160158"/>
            <a:ext cx="473206" cy="369332"/>
          </a:xfrm>
          <a:prstGeom prst="rect">
            <a:avLst/>
          </a:prstGeom>
          <a:noFill/>
        </p:spPr>
        <p:txBody>
          <a:bodyPr wrap="none" rtlCol="0">
            <a:spAutoFit/>
          </a:bodyPr>
          <a:lstStyle/>
          <a:p>
            <a:r>
              <a:rPr lang="en-US" altLang="zh-CN" dirty="0"/>
              <a:t>EIP</a:t>
            </a:r>
            <a:endParaRPr lang="zh-CN" altLang="en-US" dirty="0"/>
          </a:p>
        </p:txBody>
      </p:sp>
      <p:sp>
        <p:nvSpPr>
          <p:cNvPr id="10" name="文本框 9"/>
          <p:cNvSpPr txBox="1"/>
          <p:nvPr/>
        </p:nvSpPr>
        <p:spPr>
          <a:xfrm>
            <a:off x="5013181" y="3518902"/>
            <a:ext cx="4288474" cy="584775"/>
          </a:xfrm>
          <a:prstGeom prst="rect">
            <a:avLst/>
          </a:prstGeom>
          <a:noFill/>
        </p:spPr>
        <p:txBody>
          <a:bodyPr wrap="square" rtlCol="0">
            <a:spAutoFit/>
          </a:bodyPr>
          <a:lstStyle/>
          <a:p>
            <a:r>
              <a:rPr lang="zh-CN" altLang="en-US" sz="3200" dirty="0"/>
              <a:t>如何理解？怎么模拟？</a:t>
            </a:r>
            <a:endParaRPr lang="zh-CN" altLang="en-US" sz="3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指令的解码</a:t>
            </a:r>
            <a:endParaRPr lang="zh-CN" altLang="en-US" dirty="0"/>
          </a:p>
        </p:txBody>
      </p:sp>
      <p:sp>
        <p:nvSpPr>
          <p:cNvPr id="4" name="日期占位符 3"/>
          <p:cNvSpPr>
            <a:spLocks noGrp="1"/>
          </p:cNvSpPr>
          <p:nvPr>
            <p:ph type="dt" sz="half" idx="10"/>
          </p:nvPr>
        </p:nvSpPr>
        <p:spPr/>
        <p:txBody>
          <a:bodyPr/>
          <a:lstStyle/>
          <a:p>
            <a:fld id="{41D2AEF5-D648-4728-8573-61956C55922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sp>
        <p:nvSpPr>
          <p:cNvPr id="7" name="矩形 6"/>
          <p:cNvSpPr/>
          <p:nvPr/>
        </p:nvSpPr>
        <p:spPr>
          <a:xfrm>
            <a:off x="1261241" y="1107823"/>
            <a:ext cx="9158276" cy="584775"/>
          </a:xfrm>
          <a:prstGeom prst="rect">
            <a:avLst/>
          </a:prstGeom>
        </p:spPr>
        <p:txBody>
          <a:bodyPr wrap="none">
            <a:spAutoFit/>
          </a:bodyPr>
          <a:lstStyle/>
          <a:p>
            <a:pPr algn="ctr">
              <a:spcBef>
                <a:spcPts val="600"/>
              </a:spcBef>
              <a:spcAft>
                <a:spcPts val="0"/>
              </a:spcAft>
            </a:pPr>
            <a:r>
              <a:rPr lang="zh-CN" altLang="en-US" sz="3200" kern="100" dirty="0">
                <a:latin typeface="等线" panose="02010600030101010101" charset="-122"/>
                <a:cs typeface="Times New Roman" panose="02020603050405020304" pitchFamily="18" charset="0"/>
              </a:rPr>
              <a:t>内存中的指令数据：</a:t>
            </a:r>
            <a:r>
              <a:rPr lang="en-US" altLang="zh-CN" sz="3200" kern="100" dirty="0">
                <a:latin typeface="等线" panose="02010600030101010101" charset="-122"/>
                <a:cs typeface="Times New Roman" panose="02020603050405020304" pitchFamily="18" charset="0"/>
              </a:rPr>
              <a:t>8b 94 83 00 11 00 00 8b 45 f4</a:t>
            </a:r>
            <a:endParaRPr lang="zh-CN" altLang="zh-CN" sz="3200" kern="100" dirty="0">
              <a:latin typeface="等线" panose="02010600030101010101" charset="-122"/>
              <a:cs typeface="Times New Roman" panose="02020603050405020304" pitchFamily="18" charset="0"/>
            </a:endParaRPr>
          </a:p>
        </p:txBody>
      </p:sp>
      <p:sp>
        <p:nvSpPr>
          <p:cNvPr id="8" name="等腰三角形 7"/>
          <p:cNvSpPr/>
          <p:nvPr/>
        </p:nvSpPr>
        <p:spPr>
          <a:xfrm rot="10800000">
            <a:off x="5144047" y="889273"/>
            <a:ext cx="253518" cy="218550"/>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9" name="文本框 8"/>
          <p:cNvSpPr txBox="1"/>
          <p:nvPr/>
        </p:nvSpPr>
        <p:spPr>
          <a:xfrm>
            <a:off x="5034202" y="512701"/>
            <a:ext cx="473206" cy="369332"/>
          </a:xfrm>
          <a:prstGeom prst="rect">
            <a:avLst/>
          </a:prstGeom>
          <a:noFill/>
        </p:spPr>
        <p:txBody>
          <a:bodyPr wrap="none" rtlCol="0">
            <a:spAutoFit/>
          </a:bodyPr>
          <a:lstStyle/>
          <a:p>
            <a:r>
              <a:rPr lang="en-US" altLang="zh-CN" dirty="0"/>
              <a:t>EIP</a:t>
            </a:r>
            <a:endParaRPr lang="zh-CN" altLang="en-US" dirty="0"/>
          </a:p>
        </p:txBody>
      </p:sp>
      <p:sp>
        <p:nvSpPr>
          <p:cNvPr id="12" name="矩形 11"/>
          <p:cNvSpPr/>
          <p:nvPr/>
        </p:nvSpPr>
        <p:spPr>
          <a:xfrm>
            <a:off x="1756887" y="3732115"/>
            <a:ext cx="11001676" cy="1938992"/>
          </a:xfrm>
          <a:prstGeom prst="rect">
            <a:avLst/>
          </a:prstGeom>
        </p:spPr>
        <p:txBody>
          <a:bodyPr wrap="square">
            <a:spAutoFit/>
          </a:bodyPr>
          <a:lstStyle/>
          <a:p>
            <a:pPr algn="just">
              <a:spcAft>
                <a:spcPts val="0"/>
              </a:spcAft>
            </a:pPr>
            <a:r>
              <a:rPr lang="en-US" altLang="zh-CN" sz="1500" kern="100" dirty="0">
                <a:effectLst/>
                <a:latin typeface="MS Gothic" panose="020B0609070205080204" pitchFamily="49" charset="-128"/>
                <a:ea typeface="MS Gothic" panose="020B0609070205080204" pitchFamily="49" charset="-128"/>
                <a:cs typeface="Times New Roman" panose="02020603050405020304" pitchFamily="18" charset="0"/>
              </a:rPr>
              <a:t>+-----------+-----------+-----------+--------+------+------+------+------------+-----------+</a:t>
            </a:r>
            <a:endParaRPr lang="zh-CN" altLang="zh-CN" sz="1500" kern="100" dirty="0">
              <a:effectLst/>
              <a:latin typeface="MS Gothic" panose="020B0609070205080204" pitchFamily="49" charset="-128"/>
              <a:ea typeface="MS Gothic" panose="020B0609070205080204" pitchFamily="49" charset="-128"/>
              <a:cs typeface="Times New Roman" panose="02020603050405020304" pitchFamily="18" charset="0"/>
            </a:endParaRPr>
          </a:p>
          <a:p>
            <a:pPr algn="just">
              <a:spcAft>
                <a:spcPts val="0"/>
              </a:spcAft>
            </a:pPr>
            <a:r>
              <a:rPr lang="en-US" altLang="zh-CN" sz="1500" kern="100" dirty="0">
                <a:effectLst/>
                <a:latin typeface="MS Gothic" panose="020B0609070205080204" pitchFamily="49" charset="-128"/>
                <a:ea typeface="MS Gothic" panose="020B0609070205080204" pitchFamily="49" charset="-128"/>
                <a:cs typeface="Times New Roman" panose="02020603050405020304" pitchFamily="18" charset="0"/>
              </a:rPr>
              <a:t>|instruction| address-  | </a:t>
            </a:r>
            <a:r>
              <a:rPr lang="en-US" altLang="zh-CN" sz="1500" b="1" kern="100" dirty="0">
                <a:solidFill>
                  <a:srgbClr val="00B050"/>
                </a:solidFill>
                <a:effectLst/>
                <a:latin typeface="MS Gothic" panose="020B0609070205080204" pitchFamily="49" charset="-128"/>
                <a:ea typeface="MS Gothic" panose="020B0609070205080204" pitchFamily="49" charset="-128"/>
                <a:cs typeface="Times New Roman" panose="02020603050405020304" pitchFamily="18" charset="0"/>
              </a:rPr>
              <a:t>operand-</a:t>
            </a:r>
            <a:r>
              <a:rPr lang="en-US" altLang="zh-CN" sz="1500" kern="100" dirty="0">
                <a:effectLst/>
                <a:latin typeface="MS Gothic" panose="020B0609070205080204" pitchFamily="49" charset="-128"/>
                <a:ea typeface="MS Gothic" panose="020B0609070205080204" pitchFamily="49" charset="-128"/>
                <a:cs typeface="Times New Roman" panose="02020603050405020304" pitchFamily="18" charset="0"/>
              </a:rPr>
              <a:t>  |segment |</a:t>
            </a:r>
            <a:r>
              <a:rPr lang="en-US" altLang="zh-CN" sz="1500" b="1" kern="100" dirty="0" err="1">
                <a:solidFill>
                  <a:srgbClr val="FF0000"/>
                </a:solidFill>
                <a:effectLst/>
                <a:latin typeface="MS Gothic" panose="020B0609070205080204" pitchFamily="49" charset="-128"/>
                <a:ea typeface="MS Gothic" panose="020B0609070205080204" pitchFamily="49" charset="-128"/>
                <a:cs typeface="Times New Roman" panose="02020603050405020304" pitchFamily="18" charset="0"/>
              </a:rPr>
              <a:t>opcode</a:t>
            </a:r>
            <a:r>
              <a:rPr lang="en-US" altLang="zh-CN" sz="1500" kern="100" dirty="0" err="1">
                <a:effectLst/>
                <a:latin typeface="MS Gothic" panose="020B0609070205080204" pitchFamily="49" charset="-128"/>
                <a:ea typeface="MS Gothic" panose="020B0609070205080204" pitchFamily="49" charset="-128"/>
                <a:cs typeface="Times New Roman" panose="02020603050405020304" pitchFamily="18" charset="0"/>
              </a:rPr>
              <a:t>|</a:t>
            </a:r>
            <a:r>
              <a:rPr lang="en-US" altLang="zh-CN" sz="1500" b="1" kern="100" dirty="0" err="1">
                <a:solidFill>
                  <a:srgbClr val="00B0F0"/>
                </a:solidFill>
                <a:effectLst/>
                <a:latin typeface="MS Gothic" panose="020B0609070205080204" pitchFamily="49" charset="-128"/>
                <a:ea typeface="MS Gothic" panose="020B0609070205080204" pitchFamily="49" charset="-128"/>
                <a:cs typeface="Times New Roman" panose="02020603050405020304" pitchFamily="18" charset="0"/>
              </a:rPr>
              <a:t>ModR</a:t>
            </a:r>
            <a:r>
              <a:rPr lang="en-US" altLang="zh-CN" sz="1500" b="1" kern="100" dirty="0">
                <a:solidFill>
                  <a:srgbClr val="00B0F0"/>
                </a:solidFill>
                <a:effectLst/>
                <a:latin typeface="MS Gothic" panose="020B0609070205080204" pitchFamily="49" charset="-128"/>
                <a:ea typeface="MS Gothic" panose="020B0609070205080204" pitchFamily="49" charset="-128"/>
                <a:cs typeface="Times New Roman" panose="02020603050405020304" pitchFamily="18" charset="0"/>
              </a:rPr>
              <a:t>/M</a:t>
            </a:r>
            <a:r>
              <a:rPr lang="en-US" altLang="zh-CN" sz="1500" kern="100" dirty="0">
                <a:effectLst/>
                <a:latin typeface="MS Gothic" panose="020B0609070205080204" pitchFamily="49" charset="-128"/>
                <a:ea typeface="MS Gothic" panose="020B0609070205080204" pitchFamily="49" charset="-128"/>
                <a:cs typeface="Times New Roman" panose="02020603050405020304" pitchFamily="18" charset="0"/>
              </a:rPr>
              <a:t>| </a:t>
            </a:r>
            <a:r>
              <a:rPr lang="en-US" altLang="zh-CN" sz="1500" b="1" kern="100" dirty="0">
                <a:solidFill>
                  <a:srgbClr val="00B0F0"/>
                </a:solidFill>
                <a:effectLst/>
                <a:latin typeface="MS Gothic" panose="020B0609070205080204" pitchFamily="49" charset="-128"/>
                <a:ea typeface="MS Gothic" panose="020B0609070205080204" pitchFamily="49" charset="-128"/>
                <a:cs typeface="Times New Roman" panose="02020603050405020304" pitchFamily="18" charset="0"/>
              </a:rPr>
              <a:t>SIB</a:t>
            </a:r>
            <a:r>
              <a:rPr lang="en-US" altLang="zh-CN" sz="1500" kern="100" dirty="0">
                <a:effectLst/>
                <a:latin typeface="MS Gothic" panose="020B0609070205080204" pitchFamily="49" charset="-128"/>
                <a:ea typeface="MS Gothic" panose="020B0609070205080204" pitchFamily="49" charset="-128"/>
                <a:cs typeface="Times New Roman" panose="02020603050405020304" pitchFamily="18" charset="0"/>
              </a:rPr>
              <a:t>  |</a:t>
            </a:r>
            <a:r>
              <a:rPr lang="en-US" altLang="zh-CN" sz="1500" b="1" kern="100" dirty="0">
                <a:solidFill>
                  <a:srgbClr val="00B0F0"/>
                </a:solidFill>
                <a:effectLst/>
                <a:latin typeface="MS Gothic" panose="020B0609070205080204" pitchFamily="49" charset="-128"/>
                <a:ea typeface="MS Gothic" panose="020B0609070205080204" pitchFamily="49" charset="-128"/>
                <a:cs typeface="Times New Roman" panose="02020603050405020304" pitchFamily="18" charset="0"/>
              </a:rPr>
              <a:t>displacement</a:t>
            </a:r>
            <a:r>
              <a:rPr lang="en-US" altLang="zh-CN" sz="1500" kern="100" dirty="0">
                <a:effectLst/>
                <a:latin typeface="MS Gothic" panose="020B0609070205080204" pitchFamily="49" charset="-128"/>
                <a:ea typeface="MS Gothic" panose="020B0609070205080204" pitchFamily="49" charset="-128"/>
                <a:cs typeface="Times New Roman" panose="02020603050405020304" pitchFamily="18" charset="0"/>
              </a:rPr>
              <a:t>| </a:t>
            </a:r>
            <a:r>
              <a:rPr lang="en-US" altLang="zh-CN" sz="1500" b="1" kern="100" dirty="0">
                <a:solidFill>
                  <a:srgbClr val="00B0F0"/>
                </a:solidFill>
                <a:effectLst/>
                <a:latin typeface="MS Gothic" panose="020B0609070205080204" pitchFamily="49" charset="-128"/>
                <a:ea typeface="MS Gothic" panose="020B0609070205080204" pitchFamily="49" charset="-128"/>
                <a:cs typeface="Times New Roman" panose="02020603050405020304" pitchFamily="18" charset="0"/>
              </a:rPr>
              <a:t>immediate</a:t>
            </a:r>
            <a:r>
              <a:rPr lang="en-US" altLang="zh-CN" sz="1500" kern="100" dirty="0">
                <a:effectLst/>
                <a:latin typeface="MS Gothic" panose="020B0609070205080204" pitchFamily="49" charset="-128"/>
                <a:ea typeface="MS Gothic" panose="020B0609070205080204" pitchFamily="49" charset="-128"/>
                <a:cs typeface="Times New Roman" panose="02020603050405020304" pitchFamily="18" charset="0"/>
              </a:rPr>
              <a:t> |</a:t>
            </a:r>
            <a:endParaRPr lang="zh-CN" altLang="zh-CN" sz="1500" kern="100" dirty="0">
              <a:effectLst/>
              <a:latin typeface="MS Gothic" panose="020B0609070205080204" pitchFamily="49" charset="-128"/>
              <a:ea typeface="MS Gothic" panose="020B0609070205080204" pitchFamily="49" charset="-128"/>
              <a:cs typeface="Times New Roman" panose="02020603050405020304" pitchFamily="18" charset="0"/>
            </a:endParaRPr>
          </a:p>
          <a:p>
            <a:pPr algn="just">
              <a:spcAft>
                <a:spcPts val="0"/>
              </a:spcAft>
            </a:pPr>
            <a:r>
              <a:rPr lang="en-US" altLang="zh-CN" sz="1500" kern="100" dirty="0">
                <a:effectLst/>
                <a:latin typeface="MS Gothic" panose="020B0609070205080204" pitchFamily="49" charset="-128"/>
                <a:ea typeface="MS Gothic" panose="020B0609070205080204" pitchFamily="49" charset="-128"/>
                <a:cs typeface="Times New Roman" panose="02020603050405020304" pitchFamily="18" charset="0"/>
              </a:rPr>
              <a:t>|  prefix   |size </a:t>
            </a:r>
            <a:r>
              <a:rPr lang="en-US" altLang="zh-CN" sz="1500" kern="100" dirty="0" err="1">
                <a:effectLst/>
                <a:latin typeface="MS Gothic" panose="020B0609070205080204" pitchFamily="49" charset="-128"/>
                <a:ea typeface="MS Gothic" panose="020B0609070205080204" pitchFamily="49" charset="-128"/>
                <a:cs typeface="Times New Roman" panose="02020603050405020304" pitchFamily="18" charset="0"/>
              </a:rPr>
              <a:t>prefix|</a:t>
            </a:r>
            <a:r>
              <a:rPr lang="en-US" altLang="zh-CN" sz="1500" b="1" kern="100" dirty="0" err="1">
                <a:solidFill>
                  <a:srgbClr val="00B050"/>
                </a:solidFill>
                <a:effectLst/>
                <a:latin typeface="MS Gothic" panose="020B0609070205080204" pitchFamily="49" charset="-128"/>
                <a:ea typeface="MS Gothic" panose="020B0609070205080204" pitchFamily="49" charset="-128"/>
                <a:cs typeface="Times New Roman" panose="02020603050405020304" pitchFamily="18" charset="0"/>
              </a:rPr>
              <a:t>size</a:t>
            </a:r>
            <a:r>
              <a:rPr lang="en-US" altLang="zh-CN" sz="1500" b="1" kern="100" dirty="0">
                <a:solidFill>
                  <a:srgbClr val="00B050"/>
                </a:solidFill>
                <a:effectLst/>
                <a:latin typeface="MS Gothic" panose="020B0609070205080204" pitchFamily="49" charset="-128"/>
                <a:ea typeface="MS Gothic" panose="020B0609070205080204" pitchFamily="49" charset="-128"/>
                <a:cs typeface="Times New Roman" panose="02020603050405020304" pitchFamily="18" charset="0"/>
              </a:rPr>
              <a:t> </a:t>
            </a:r>
            <a:r>
              <a:rPr lang="en-US" altLang="zh-CN" sz="1500" b="1" kern="100" dirty="0" err="1">
                <a:solidFill>
                  <a:srgbClr val="00B050"/>
                </a:solidFill>
                <a:effectLst/>
                <a:latin typeface="MS Gothic" panose="020B0609070205080204" pitchFamily="49" charset="-128"/>
                <a:ea typeface="MS Gothic" panose="020B0609070205080204" pitchFamily="49" charset="-128"/>
                <a:cs typeface="Times New Roman" panose="02020603050405020304" pitchFamily="18" charset="0"/>
              </a:rPr>
              <a:t>prefix</a:t>
            </a:r>
            <a:r>
              <a:rPr lang="en-US" altLang="zh-CN" sz="1500" kern="100" dirty="0" err="1">
                <a:effectLst/>
                <a:latin typeface="MS Gothic" panose="020B0609070205080204" pitchFamily="49" charset="-128"/>
                <a:ea typeface="MS Gothic" panose="020B0609070205080204" pitchFamily="49" charset="-128"/>
                <a:cs typeface="Times New Roman" panose="02020603050405020304" pitchFamily="18" charset="0"/>
              </a:rPr>
              <a:t>|override</a:t>
            </a:r>
            <a:r>
              <a:rPr lang="en-US" altLang="zh-CN" sz="1500" kern="100" dirty="0">
                <a:effectLst/>
                <a:latin typeface="MS Gothic" panose="020B0609070205080204" pitchFamily="49" charset="-128"/>
                <a:ea typeface="MS Gothic" panose="020B0609070205080204" pitchFamily="49" charset="-128"/>
                <a:cs typeface="Times New Roman" panose="02020603050405020304" pitchFamily="18" charset="0"/>
              </a:rPr>
              <a:t>|      |      |      |            |           |</a:t>
            </a:r>
            <a:endParaRPr lang="zh-CN" altLang="zh-CN" sz="1500" kern="100" dirty="0">
              <a:effectLst/>
              <a:latin typeface="MS Gothic" panose="020B0609070205080204" pitchFamily="49" charset="-128"/>
              <a:ea typeface="MS Gothic" panose="020B0609070205080204" pitchFamily="49" charset="-128"/>
              <a:cs typeface="Times New Roman" panose="02020603050405020304" pitchFamily="18" charset="0"/>
            </a:endParaRPr>
          </a:p>
          <a:p>
            <a:pPr algn="just">
              <a:spcAft>
                <a:spcPts val="0"/>
              </a:spcAft>
            </a:pPr>
            <a:r>
              <a:rPr lang="en-US" altLang="zh-CN" sz="1500" kern="100" dirty="0">
                <a:effectLst/>
                <a:latin typeface="MS Gothic" panose="020B0609070205080204" pitchFamily="49" charset="-128"/>
                <a:ea typeface="MS Gothic" panose="020B0609070205080204" pitchFamily="49" charset="-128"/>
                <a:cs typeface="Times New Roman" panose="02020603050405020304" pitchFamily="18" charset="0"/>
              </a:rPr>
              <a:t>|-----------+-----------+-----------+--------+------+------+------+------------+-----------|</a:t>
            </a:r>
            <a:endParaRPr lang="zh-CN" altLang="zh-CN" sz="1500" kern="100" dirty="0">
              <a:effectLst/>
              <a:latin typeface="MS Gothic" panose="020B0609070205080204" pitchFamily="49" charset="-128"/>
              <a:ea typeface="MS Gothic" panose="020B0609070205080204" pitchFamily="49" charset="-128"/>
              <a:cs typeface="Times New Roman" panose="02020603050405020304" pitchFamily="18" charset="0"/>
            </a:endParaRPr>
          </a:p>
          <a:p>
            <a:pPr algn="just">
              <a:spcAft>
                <a:spcPts val="0"/>
              </a:spcAft>
            </a:pPr>
            <a:r>
              <a:rPr lang="en-US" altLang="zh-CN" sz="1500" kern="100" dirty="0">
                <a:effectLst/>
                <a:latin typeface="MS Gothic" panose="020B0609070205080204" pitchFamily="49" charset="-128"/>
                <a:ea typeface="MS Gothic" panose="020B0609070205080204" pitchFamily="49" charset="-128"/>
                <a:cs typeface="Times New Roman" panose="02020603050405020304" pitchFamily="18" charset="0"/>
              </a:rPr>
              <a:t>|   0 OR 1  |   0 OR 1  |   0 OR 1  | 0 OR 1 |1 OR 2|0 OR 1|0 OR 1| 0,1,2 OR 4 |0,1,2 OR 4 |</a:t>
            </a:r>
            <a:endParaRPr lang="zh-CN" altLang="zh-CN" sz="1500" kern="100" dirty="0">
              <a:effectLst/>
              <a:latin typeface="MS Gothic" panose="020B0609070205080204" pitchFamily="49" charset="-128"/>
              <a:ea typeface="MS Gothic" panose="020B0609070205080204" pitchFamily="49" charset="-128"/>
              <a:cs typeface="Times New Roman" panose="02020603050405020304" pitchFamily="18" charset="0"/>
            </a:endParaRPr>
          </a:p>
          <a:p>
            <a:pPr algn="just">
              <a:spcAft>
                <a:spcPts val="0"/>
              </a:spcAft>
            </a:pPr>
            <a:r>
              <a:rPr lang="en-US" altLang="zh-CN" sz="1500" kern="100" dirty="0">
                <a:effectLst/>
                <a:latin typeface="MS Gothic" panose="020B0609070205080204" pitchFamily="49" charset="-128"/>
                <a:ea typeface="MS Gothic" panose="020B0609070205080204" pitchFamily="49" charset="-128"/>
                <a:cs typeface="Times New Roman" panose="02020603050405020304" pitchFamily="18" charset="0"/>
              </a:rPr>
              <a:t>| - - - - - - - - - - - - - - - - - - - - - - - - - - - - - - - - - - - - - - - - - - - - -|</a:t>
            </a:r>
            <a:endParaRPr lang="zh-CN" altLang="zh-CN" sz="1500" kern="100" dirty="0">
              <a:effectLst/>
              <a:latin typeface="MS Gothic" panose="020B0609070205080204" pitchFamily="49" charset="-128"/>
              <a:ea typeface="MS Gothic" panose="020B0609070205080204" pitchFamily="49" charset="-128"/>
              <a:cs typeface="Times New Roman" panose="02020603050405020304" pitchFamily="18" charset="0"/>
            </a:endParaRPr>
          </a:p>
          <a:p>
            <a:pPr algn="just">
              <a:spcAft>
                <a:spcPts val="0"/>
              </a:spcAft>
            </a:pPr>
            <a:r>
              <a:rPr lang="en-US" altLang="zh-CN" sz="1500" kern="100" dirty="0">
                <a:effectLst/>
                <a:latin typeface="MS Gothic" panose="020B0609070205080204" pitchFamily="49" charset="-128"/>
                <a:ea typeface="MS Gothic" panose="020B0609070205080204" pitchFamily="49" charset="-128"/>
                <a:cs typeface="Times New Roman" panose="02020603050405020304" pitchFamily="18" charset="0"/>
              </a:rPr>
              <a:t>|                                       number of bytes                                    |</a:t>
            </a:r>
            <a:endParaRPr lang="zh-CN" altLang="zh-CN" sz="1500" kern="100" dirty="0">
              <a:effectLst/>
              <a:latin typeface="MS Gothic" panose="020B0609070205080204" pitchFamily="49" charset="-128"/>
              <a:ea typeface="MS Gothic" panose="020B0609070205080204" pitchFamily="49" charset="-128"/>
              <a:cs typeface="Times New Roman" panose="02020603050405020304" pitchFamily="18" charset="0"/>
            </a:endParaRPr>
          </a:p>
          <a:p>
            <a:pPr algn="just">
              <a:spcAft>
                <a:spcPts val="0"/>
              </a:spcAft>
            </a:pPr>
            <a:r>
              <a:rPr lang="en-US" altLang="zh-CN" sz="1500" kern="100" dirty="0">
                <a:effectLst/>
                <a:latin typeface="MS Gothic" panose="020B0609070205080204" pitchFamily="49" charset="-128"/>
                <a:ea typeface="MS Gothic" panose="020B0609070205080204" pitchFamily="49" charset="-128"/>
                <a:cs typeface="Times New Roman" panose="02020603050405020304" pitchFamily="18" charset="0"/>
              </a:rPr>
              <a:t>+------------------------------------------------------------------------------------------+</a:t>
            </a:r>
            <a:endParaRPr lang="zh-CN" altLang="zh-CN" sz="1500" kern="100" dirty="0">
              <a:effectLst/>
              <a:latin typeface="MS Gothic" panose="020B0609070205080204" pitchFamily="49" charset="-128"/>
              <a:ea typeface="MS Gothic" panose="020B0609070205080204" pitchFamily="49" charset="-128"/>
              <a:cs typeface="Times New Roman" panose="02020603050405020304" pitchFamily="18" charset="0"/>
            </a:endParaRPr>
          </a:p>
        </p:txBody>
      </p:sp>
      <p:sp>
        <p:nvSpPr>
          <p:cNvPr id="13" name="左大括号 12"/>
          <p:cNvSpPr/>
          <p:nvPr/>
        </p:nvSpPr>
        <p:spPr>
          <a:xfrm rot="5400000">
            <a:off x="3908533" y="1494375"/>
            <a:ext cx="237067" cy="4238413"/>
          </a:xfrm>
          <a:prstGeom prst="leftBrace">
            <a:avLst/>
          </a:prstGeom>
          <a:ln w="1270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文本框 13"/>
          <p:cNvSpPr txBox="1"/>
          <p:nvPr/>
        </p:nvSpPr>
        <p:spPr>
          <a:xfrm>
            <a:off x="2333732" y="2645802"/>
            <a:ext cx="3520530" cy="646331"/>
          </a:xfrm>
          <a:prstGeom prst="rect">
            <a:avLst/>
          </a:prstGeom>
          <a:noFill/>
        </p:spPr>
        <p:txBody>
          <a:bodyPr wrap="square" rtlCol="0">
            <a:spAutoFit/>
          </a:bodyPr>
          <a:lstStyle/>
          <a:p>
            <a:r>
              <a:rPr lang="zh-CN" altLang="en-US" dirty="0">
                <a:solidFill>
                  <a:srgbClr val="00B050"/>
                </a:solidFill>
              </a:rPr>
              <a:t>各种前缀，我们只模拟</a:t>
            </a:r>
            <a:r>
              <a:rPr lang="en-US" altLang="zh-CN" dirty="0">
                <a:solidFill>
                  <a:srgbClr val="00B050"/>
                </a:solidFill>
              </a:rPr>
              <a:t>operand-size prefix</a:t>
            </a:r>
            <a:r>
              <a:rPr lang="zh-CN" altLang="en-US" dirty="0">
                <a:solidFill>
                  <a:srgbClr val="00B050"/>
                </a:solidFill>
              </a:rPr>
              <a:t>，其值为</a:t>
            </a:r>
            <a:r>
              <a:rPr lang="en-US" altLang="zh-CN" dirty="0">
                <a:solidFill>
                  <a:srgbClr val="00B050"/>
                </a:solidFill>
              </a:rPr>
              <a:t>0x66</a:t>
            </a:r>
            <a:endParaRPr lang="zh-CN" altLang="en-US" dirty="0">
              <a:solidFill>
                <a:srgbClr val="00B050"/>
              </a:solidFill>
            </a:endParaRPr>
          </a:p>
        </p:txBody>
      </p:sp>
      <p:sp>
        <p:nvSpPr>
          <p:cNvPr id="15" name="文本框 14"/>
          <p:cNvSpPr txBox="1"/>
          <p:nvPr/>
        </p:nvSpPr>
        <p:spPr>
          <a:xfrm>
            <a:off x="5320997" y="1888496"/>
            <a:ext cx="3025187" cy="646331"/>
          </a:xfrm>
          <a:prstGeom prst="rect">
            <a:avLst/>
          </a:prstGeom>
          <a:noFill/>
        </p:spPr>
        <p:txBody>
          <a:bodyPr wrap="none" rtlCol="0">
            <a:spAutoFit/>
          </a:bodyPr>
          <a:lstStyle/>
          <a:p>
            <a:r>
              <a:rPr lang="zh-CN" altLang="en-US" dirty="0">
                <a:solidFill>
                  <a:srgbClr val="FF0000"/>
                </a:solidFill>
              </a:rPr>
              <a:t>操作码</a:t>
            </a:r>
            <a:endParaRPr lang="en-US" altLang="zh-CN" dirty="0">
              <a:solidFill>
                <a:srgbClr val="FF0000"/>
              </a:solidFill>
            </a:endParaRPr>
          </a:p>
          <a:p>
            <a:r>
              <a:rPr lang="en-US" altLang="zh-CN" dirty="0">
                <a:solidFill>
                  <a:srgbClr val="FF0000"/>
                </a:solidFill>
              </a:rPr>
              <a:t>(</a:t>
            </a:r>
            <a:r>
              <a:rPr lang="en-US" altLang="zh-CN" dirty="0" err="1">
                <a:solidFill>
                  <a:srgbClr val="00B0F0"/>
                </a:solidFill>
              </a:rPr>
              <a:t>ModR</a:t>
            </a:r>
            <a:r>
              <a:rPr lang="en-US" altLang="zh-CN" dirty="0">
                <a:solidFill>
                  <a:srgbClr val="00B0F0"/>
                </a:solidFill>
              </a:rPr>
              <a:t>/M</a:t>
            </a:r>
            <a:r>
              <a:rPr lang="zh-CN" altLang="en-US" dirty="0">
                <a:solidFill>
                  <a:srgbClr val="FF0000"/>
                </a:solidFill>
              </a:rPr>
              <a:t>中也可能包含一点</a:t>
            </a:r>
            <a:r>
              <a:rPr lang="en-US" altLang="zh-CN" dirty="0">
                <a:solidFill>
                  <a:srgbClr val="FF0000"/>
                </a:solidFill>
              </a:rPr>
              <a:t>)</a:t>
            </a:r>
            <a:endParaRPr lang="zh-CN" altLang="en-US" dirty="0">
              <a:solidFill>
                <a:srgbClr val="FF0000"/>
              </a:solidFill>
            </a:endParaRPr>
          </a:p>
        </p:txBody>
      </p:sp>
      <p:cxnSp>
        <p:nvCxnSpPr>
          <p:cNvPr id="16" name="直接箭头连接符 15"/>
          <p:cNvCxnSpPr/>
          <p:nvPr/>
        </p:nvCxnSpPr>
        <p:spPr>
          <a:xfrm flipH="1" flipV="1">
            <a:off x="6509917" y="2602885"/>
            <a:ext cx="432" cy="112922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左大括号 16"/>
          <p:cNvSpPr/>
          <p:nvPr/>
        </p:nvSpPr>
        <p:spPr>
          <a:xfrm rot="5400000">
            <a:off x="8587430" y="1781611"/>
            <a:ext cx="237066" cy="3663941"/>
          </a:xfrm>
          <a:prstGeom prst="leftBrace">
            <a:avLst/>
          </a:prstGeom>
          <a:ln w="1270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文本框 17"/>
          <p:cNvSpPr txBox="1"/>
          <p:nvPr/>
        </p:nvSpPr>
        <p:spPr>
          <a:xfrm>
            <a:off x="6978801" y="2886351"/>
            <a:ext cx="3416320" cy="369332"/>
          </a:xfrm>
          <a:prstGeom prst="rect">
            <a:avLst/>
          </a:prstGeom>
          <a:noFill/>
        </p:spPr>
        <p:txBody>
          <a:bodyPr wrap="none" rtlCol="0">
            <a:spAutoFit/>
          </a:bodyPr>
          <a:lstStyle/>
          <a:p>
            <a:r>
              <a:rPr lang="zh-CN" altLang="en-US" dirty="0">
                <a:solidFill>
                  <a:srgbClr val="00B0F0"/>
                </a:solidFill>
              </a:rPr>
              <a:t>各种找到操作数（寻址）的办法</a:t>
            </a:r>
            <a:endParaRPr lang="zh-CN" altLang="en-US" dirty="0">
              <a:solidFill>
                <a:srgbClr val="00B0F0"/>
              </a:solidFill>
            </a:endParaRPr>
          </a:p>
        </p:txBody>
      </p:sp>
      <p:sp>
        <p:nvSpPr>
          <p:cNvPr id="19" name="文本框 18"/>
          <p:cNvSpPr txBox="1"/>
          <p:nvPr/>
        </p:nvSpPr>
        <p:spPr>
          <a:xfrm>
            <a:off x="7421840" y="5923199"/>
            <a:ext cx="3074881" cy="369332"/>
          </a:xfrm>
          <a:prstGeom prst="rect">
            <a:avLst/>
          </a:prstGeom>
          <a:noFill/>
        </p:spPr>
        <p:txBody>
          <a:bodyPr wrap="none" rtlCol="0">
            <a:spAutoFit/>
          </a:bodyPr>
          <a:lstStyle/>
          <a:p>
            <a:r>
              <a:rPr lang="zh-CN" altLang="en-US" dirty="0">
                <a:solidFill>
                  <a:srgbClr val="0070C0"/>
                </a:solidFill>
              </a:rPr>
              <a:t>最大是</a:t>
            </a:r>
            <a:r>
              <a:rPr lang="en-US" altLang="zh-CN" dirty="0">
                <a:solidFill>
                  <a:srgbClr val="0070C0"/>
                </a:solidFill>
              </a:rPr>
              <a:t>4</a:t>
            </a:r>
            <a:r>
              <a:rPr lang="zh-CN" altLang="en-US" dirty="0">
                <a:solidFill>
                  <a:srgbClr val="0070C0"/>
                </a:solidFill>
              </a:rPr>
              <a:t>，体现我们是</a:t>
            </a:r>
            <a:r>
              <a:rPr lang="en-US" altLang="zh-CN" dirty="0">
                <a:solidFill>
                  <a:srgbClr val="0070C0"/>
                </a:solidFill>
              </a:rPr>
              <a:t>32</a:t>
            </a:r>
            <a:r>
              <a:rPr lang="zh-CN" altLang="en-US" dirty="0">
                <a:solidFill>
                  <a:srgbClr val="0070C0"/>
                </a:solidFill>
              </a:rPr>
              <a:t>位机</a:t>
            </a:r>
            <a:endParaRPr lang="zh-CN" altLang="en-US" dirty="0">
              <a:solidFill>
                <a:srgbClr val="0070C0"/>
              </a:solidFill>
            </a:endParaRPr>
          </a:p>
        </p:txBody>
      </p:sp>
      <p:cxnSp>
        <p:nvCxnSpPr>
          <p:cNvPr id="20" name="直接箭头连接符 19"/>
          <p:cNvCxnSpPr>
            <a:stCxn id="19" idx="0"/>
          </p:cNvCxnSpPr>
          <p:nvPr/>
        </p:nvCxnSpPr>
        <p:spPr>
          <a:xfrm flipV="1">
            <a:off x="8959281" y="4958574"/>
            <a:ext cx="235214" cy="9646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a:stCxn id="19" idx="0"/>
          </p:cNvCxnSpPr>
          <p:nvPr/>
        </p:nvCxnSpPr>
        <p:spPr>
          <a:xfrm flipV="1">
            <a:off x="8959281" y="4929403"/>
            <a:ext cx="1338457" cy="9937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386938" y="5657433"/>
            <a:ext cx="2381674" cy="830997"/>
          </a:xfrm>
          <a:prstGeom prst="rect">
            <a:avLst/>
          </a:prstGeom>
          <a:noFill/>
        </p:spPr>
        <p:txBody>
          <a:bodyPr wrap="square" rtlCol="0">
            <a:spAutoFit/>
          </a:bodyPr>
          <a:lstStyle/>
          <a:p>
            <a:r>
              <a:rPr lang="zh-CN" altLang="en-US" sz="2400" dirty="0"/>
              <a:t>按</a:t>
            </a:r>
            <a:r>
              <a:rPr lang="en-US" altLang="zh-CN" sz="2400" dirty="0"/>
              <a:t>i386</a:t>
            </a:r>
            <a:r>
              <a:rPr lang="zh-CN" altLang="en-US" sz="2400" dirty="0"/>
              <a:t>指令集体系结构的规定</a:t>
            </a:r>
            <a:endParaRPr lang="zh-CN" alt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指令的解码</a:t>
            </a:r>
            <a:endParaRPr lang="zh-CN" altLang="en-US" dirty="0"/>
          </a:p>
        </p:txBody>
      </p:sp>
      <p:sp>
        <p:nvSpPr>
          <p:cNvPr id="4" name="日期占位符 3"/>
          <p:cNvSpPr>
            <a:spLocks noGrp="1"/>
          </p:cNvSpPr>
          <p:nvPr>
            <p:ph type="dt" sz="half" idx="10"/>
          </p:nvPr>
        </p:nvSpPr>
        <p:spPr/>
        <p:txBody>
          <a:bodyPr/>
          <a:lstStyle/>
          <a:p>
            <a:fld id="{41D2AEF5-D648-4728-8573-61956C55922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sp>
        <p:nvSpPr>
          <p:cNvPr id="7" name="矩形 6"/>
          <p:cNvSpPr/>
          <p:nvPr/>
        </p:nvSpPr>
        <p:spPr>
          <a:xfrm>
            <a:off x="2911575" y="1577589"/>
            <a:ext cx="5464959" cy="584775"/>
          </a:xfrm>
          <a:prstGeom prst="rect">
            <a:avLst/>
          </a:prstGeom>
        </p:spPr>
        <p:txBody>
          <a:bodyPr wrap="none">
            <a:spAutoFit/>
          </a:bodyPr>
          <a:lstStyle/>
          <a:p>
            <a:pPr algn="ctr">
              <a:spcBef>
                <a:spcPts val="600"/>
              </a:spcBef>
              <a:spcAft>
                <a:spcPts val="0"/>
              </a:spcAft>
            </a:pPr>
            <a:r>
              <a:rPr lang="en-US" altLang="zh-CN" sz="3200" kern="100" dirty="0">
                <a:latin typeface="等线" panose="02010600030101010101" charset="-122"/>
                <a:cs typeface="Times New Roman" panose="02020603050405020304" pitchFamily="18" charset="0"/>
              </a:rPr>
              <a:t>8b 94 83 00 11 00 00 8b 45 f4</a:t>
            </a:r>
            <a:endParaRPr lang="zh-CN" altLang="zh-CN" sz="3200" kern="100" dirty="0">
              <a:latin typeface="等线" panose="02010600030101010101" charset="-122"/>
              <a:cs typeface="Times New Roman" panose="02020603050405020304" pitchFamily="18" charset="0"/>
            </a:endParaRPr>
          </a:p>
        </p:txBody>
      </p:sp>
      <p:sp>
        <p:nvSpPr>
          <p:cNvPr id="8" name="等腰三角形 7"/>
          <p:cNvSpPr/>
          <p:nvPr/>
        </p:nvSpPr>
        <p:spPr>
          <a:xfrm rot="10800000">
            <a:off x="3094530" y="1390024"/>
            <a:ext cx="253518" cy="218550"/>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9" name="直接连接符 8"/>
          <p:cNvCxnSpPr/>
          <p:nvPr/>
        </p:nvCxnSpPr>
        <p:spPr>
          <a:xfrm>
            <a:off x="1961055" y="2577390"/>
            <a:ext cx="6840000" cy="1"/>
          </a:xfrm>
          <a:prstGeom prst="line">
            <a:avLst/>
          </a:prstGeom>
        </p:spPr>
        <p:style>
          <a:lnRef idx="3">
            <a:schemeClr val="dk1"/>
          </a:lnRef>
          <a:fillRef idx="0">
            <a:schemeClr val="dk1"/>
          </a:fillRef>
          <a:effectRef idx="2">
            <a:schemeClr val="dk1"/>
          </a:effectRef>
          <a:fontRef idx="minor">
            <a:schemeClr val="tx1"/>
          </a:fontRef>
        </p:style>
      </p:cxnSp>
      <p:sp>
        <p:nvSpPr>
          <p:cNvPr id="10" name="文本框 9"/>
          <p:cNvSpPr txBox="1"/>
          <p:nvPr/>
        </p:nvSpPr>
        <p:spPr>
          <a:xfrm>
            <a:off x="1072055" y="2987317"/>
            <a:ext cx="9144000" cy="1908215"/>
          </a:xfrm>
          <a:prstGeom prst="rect">
            <a:avLst/>
          </a:prstGeom>
          <a:noFill/>
        </p:spPr>
        <p:txBody>
          <a:bodyPr wrap="square" rtlCol="0">
            <a:spAutoFit/>
          </a:bodyPr>
          <a:lstStyle/>
          <a:p>
            <a:pPr marL="342900" indent="-342900">
              <a:buAutoNum type="arabicPeriod"/>
            </a:pPr>
            <a:r>
              <a:rPr lang="zh-CN" altLang="en-US" dirty="0"/>
              <a:t>不是</a:t>
            </a:r>
            <a:r>
              <a:rPr lang="en-US" altLang="zh-CN" dirty="0"/>
              <a:t>0x66</a:t>
            </a:r>
            <a:r>
              <a:rPr lang="zh-CN" altLang="en-US" dirty="0"/>
              <a:t>，操作数</a:t>
            </a:r>
            <a:r>
              <a:rPr lang="en-US" altLang="zh-CN" dirty="0"/>
              <a:t>32</a:t>
            </a:r>
            <a:r>
              <a:rPr lang="zh-CN" altLang="en-US" dirty="0"/>
              <a:t>位，</a:t>
            </a:r>
            <a:r>
              <a:rPr lang="en-US" altLang="zh-CN" dirty="0"/>
              <a:t>0x8b</a:t>
            </a:r>
            <a:r>
              <a:rPr lang="zh-CN" altLang="en-US" dirty="0"/>
              <a:t>为操作码</a:t>
            </a:r>
            <a:endParaRPr lang="en-US" altLang="zh-CN" dirty="0"/>
          </a:p>
          <a:p>
            <a:pPr marL="342900" indent="-342900">
              <a:buAutoNum type="arabicPeriod"/>
            </a:pPr>
            <a:r>
              <a:rPr lang="zh-CN" altLang="en-US" dirty="0"/>
              <a:t>查</a:t>
            </a:r>
            <a:r>
              <a:rPr lang="en-US" altLang="zh-CN" dirty="0"/>
              <a:t>i386</a:t>
            </a:r>
            <a:r>
              <a:rPr lang="zh-CN" altLang="en-US" dirty="0"/>
              <a:t>手册 </a:t>
            </a:r>
            <a:r>
              <a:rPr lang="en-US" altLang="zh-CN" dirty="0"/>
              <a:t>– Appendix A – 0x8b</a:t>
            </a:r>
            <a:r>
              <a:rPr lang="zh-CN" altLang="en-US" dirty="0"/>
              <a:t>对应</a:t>
            </a:r>
            <a:r>
              <a:rPr lang="en-US" altLang="zh-CN" dirty="0">
                <a:solidFill>
                  <a:srgbClr val="FF0000"/>
                </a:solidFill>
              </a:rPr>
              <a:t>MOV</a:t>
            </a:r>
            <a:r>
              <a:rPr lang="en-US" altLang="zh-CN" dirty="0"/>
              <a:t> </a:t>
            </a:r>
            <a:r>
              <a:rPr lang="en-US" altLang="zh-CN" dirty="0" err="1">
                <a:solidFill>
                  <a:srgbClr val="00B0F0"/>
                </a:solidFill>
              </a:rPr>
              <a:t>Gv</a:t>
            </a:r>
            <a:r>
              <a:rPr lang="en-US" altLang="zh-CN" dirty="0">
                <a:solidFill>
                  <a:srgbClr val="00B0F0"/>
                </a:solidFill>
              </a:rPr>
              <a:t>, </a:t>
            </a:r>
            <a:r>
              <a:rPr lang="en-US" altLang="zh-CN" dirty="0" err="1">
                <a:solidFill>
                  <a:srgbClr val="00B0F0"/>
                </a:solidFill>
              </a:rPr>
              <a:t>Ev</a:t>
            </a:r>
            <a:endParaRPr lang="en-US" altLang="zh-CN" dirty="0">
              <a:solidFill>
                <a:srgbClr val="00B0F0"/>
              </a:solidFill>
            </a:endParaRPr>
          </a:p>
          <a:p>
            <a:pPr marL="342900" indent="-342900">
              <a:buFont typeface="+mj-lt"/>
              <a:buAutoNum type="arabicPeriod"/>
            </a:pPr>
            <a:r>
              <a:rPr lang="en-US" altLang="zh-CN" dirty="0" err="1"/>
              <a:t>Ev</a:t>
            </a:r>
            <a:r>
              <a:rPr lang="zh-CN" altLang="en-US" dirty="0"/>
              <a:t>和</a:t>
            </a:r>
            <a:r>
              <a:rPr lang="en-US" altLang="zh-CN" dirty="0" err="1"/>
              <a:t>Gv</a:t>
            </a:r>
            <a:r>
              <a:rPr lang="zh-CN" altLang="en-US" dirty="0"/>
              <a:t>都说明后面跟</a:t>
            </a:r>
            <a:r>
              <a:rPr lang="en-US" altLang="zh-CN" dirty="0" err="1"/>
              <a:t>ModR</a:t>
            </a:r>
            <a:r>
              <a:rPr lang="en-US" altLang="zh-CN" dirty="0"/>
              <a:t>/M</a:t>
            </a:r>
            <a:r>
              <a:rPr lang="zh-CN" altLang="en-US" dirty="0"/>
              <a:t>字节</a:t>
            </a:r>
            <a:endParaRPr lang="en-US" altLang="zh-CN" dirty="0"/>
          </a:p>
          <a:p>
            <a:pPr marL="342900" indent="-342900">
              <a:buFont typeface="+mj-lt"/>
              <a:buAutoNum type="arabicPeriod"/>
            </a:pPr>
            <a:r>
              <a:rPr lang="zh-CN" altLang="en-US" dirty="0"/>
              <a:t>根据</a:t>
            </a:r>
            <a:r>
              <a:rPr lang="en-US" altLang="zh-CN" dirty="0"/>
              <a:t>Mod + R/M</a:t>
            </a:r>
            <a:r>
              <a:rPr lang="zh-CN" altLang="en-US" dirty="0"/>
              <a:t>域决定有</a:t>
            </a:r>
            <a:r>
              <a:rPr lang="en-US" altLang="zh-CN" dirty="0"/>
              <a:t>SIB</a:t>
            </a:r>
            <a:r>
              <a:rPr lang="zh-CN" altLang="en-US" dirty="0"/>
              <a:t>字节（内存地址</a:t>
            </a:r>
            <a:r>
              <a:rPr lang="en-US" altLang="zh-CN" dirty="0"/>
              <a:t>disp32[--][--]</a:t>
            </a:r>
            <a:r>
              <a:rPr lang="zh-CN" altLang="en-US" dirty="0"/>
              <a:t>）</a:t>
            </a:r>
            <a:endParaRPr lang="en-US" altLang="zh-CN" dirty="0"/>
          </a:p>
          <a:p>
            <a:pPr marL="342900" indent="-342900">
              <a:buFont typeface="+mj-lt"/>
              <a:buAutoNum type="arabicPeriod"/>
            </a:pPr>
            <a:r>
              <a:rPr lang="en-US" altLang="zh-CN" dirty="0"/>
              <a:t>SIB</a:t>
            </a:r>
            <a:r>
              <a:rPr lang="zh-CN" altLang="en-US" dirty="0"/>
              <a:t>字节后面自然还有</a:t>
            </a:r>
            <a:r>
              <a:rPr lang="en-US" altLang="zh-CN" dirty="0"/>
              <a:t>disp32 – 32</a:t>
            </a:r>
            <a:r>
              <a:rPr lang="zh-CN" altLang="en-US" dirty="0"/>
              <a:t>位的偏移量（小端方式）</a:t>
            </a:r>
            <a:endParaRPr lang="en-US" altLang="zh-CN" dirty="0"/>
          </a:p>
          <a:p>
            <a:pPr marL="342900" indent="-342900">
              <a:buFont typeface="+mj-lt"/>
              <a:buAutoNum type="arabicPeriod"/>
            </a:pPr>
            <a:r>
              <a:rPr lang="zh-CN" altLang="en-US" sz="2800" dirty="0"/>
              <a:t>该指令所有需要的信息已经获得，对应</a:t>
            </a:r>
            <a:r>
              <a:rPr lang="en-US" altLang="zh-CN" sz="2800" dirty="0"/>
              <a:t>AT&amp;T</a:t>
            </a:r>
            <a:r>
              <a:rPr lang="zh-CN" altLang="en-US" sz="2800" dirty="0"/>
              <a:t>格式汇编：</a:t>
            </a:r>
            <a:endParaRPr lang="zh-CN" altLang="en-US" sz="2800" dirty="0"/>
          </a:p>
        </p:txBody>
      </p:sp>
      <p:sp>
        <p:nvSpPr>
          <p:cNvPr id="11" name="等腰三角形 10"/>
          <p:cNvSpPr/>
          <p:nvPr/>
        </p:nvSpPr>
        <p:spPr>
          <a:xfrm rot="10800000">
            <a:off x="3682963" y="1390025"/>
            <a:ext cx="253518" cy="218550"/>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2" name="文本框 11"/>
          <p:cNvSpPr txBox="1"/>
          <p:nvPr/>
        </p:nvSpPr>
        <p:spPr>
          <a:xfrm>
            <a:off x="2590045" y="1013452"/>
            <a:ext cx="883255" cy="369332"/>
          </a:xfrm>
          <a:prstGeom prst="rect">
            <a:avLst/>
          </a:prstGeom>
          <a:noFill/>
        </p:spPr>
        <p:txBody>
          <a:bodyPr wrap="none" rtlCol="0">
            <a:spAutoFit/>
          </a:bodyPr>
          <a:lstStyle/>
          <a:p>
            <a:r>
              <a:rPr lang="en-US" altLang="zh-CN" dirty="0"/>
              <a:t>opcode</a:t>
            </a:r>
            <a:endParaRPr lang="zh-CN" altLang="en-US" dirty="0"/>
          </a:p>
        </p:txBody>
      </p:sp>
      <p:sp>
        <p:nvSpPr>
          <p:cNvPr id="13" name="文本框 12"/>
          <p:cNvSpPr txBox="1"/>
          <p:nvPr/>
        </p:nvSpPr>
        <p:spPr>
          <a:xfrm>
            <a:off x="3417853" y="997846"/>
            <a:ext cx="966931" cy="369332"/>
          </a:xfrm>
          <a:prstGeom prst="rect">
            <a:avLst/>
          </a:prstGeom>
          <a:noFill/>
        </p:spPr>
        <p:txBody>
          <a:bodyPr wrap="none" rtlCol="0">
            <a:spAutoFit/>
          </a:bodyPr>
          <a:lstStyle/>
          <a:p>
            <a:r>
              <a:rPr lang="en-US" altLang="zh-CN" dirty="0" err="1"/>
              <a:t>modr</a:t>
            </a:r>
            <a:r>
              <a:rPr lang="en-US" altLang="zh-CN" dirty="0"/>
              <a:t>/m</a:t>
            </a:r>
            <a:endParaRPr lang="zh-CN" altLang="en-US" dirty="0"/>
          </a:p>
        </p:txBody>
      </p:sp>
      <p:sp>
        <p:nvSpPr>
          <p:cNvPr id="14" name="等腰三角形 13"/>
          <p:cNvSpPr/>
          <p:nvPr/>
        </p:nvSpPr>
        <p:spPr>
          <a:xfrm>
            <a:off x="4216363" y="2097178"/>
            <a:ext cx="253518" cy="218550"/>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5" name="文本框 14"/>
          <p:cNvSpPr txBox="1"/>
          <p:nvPr/>
        </p:nvSpPr>
        <p:spPr>
          <a:xfrm>
            <a:off x="4118541" y="2263663"/>
            <a:ext cx="449162" cy="369332"/>
          </a:xfrm>
          <a:prstGeom prst="rect">
            <a:avLst/>
          </a:prstGeom>
          <a:noFill/>
        </p:spPr>
        <p:txBody>
          <a:bodyPr wrap="none" rtlCol="0">
            <a:spAutoFit/>
          </a:bodyPr>
          <a:lstStyle/>
          <a:p>
            <a:r>
              <a:rPr lang="en-US" altLang="zh-CN" dirty="0"/>
              <a:t>sib</a:t>
            </a:r>
            <a:endParaRPr lang="zh-CN" altLang="en-US" dirty="0"/>
          </a:p>
        </p:txBody>
      </p:sp>
      <p:sp>
        <p:nvSpPr>
          <p:cNvPr id="16" name="等腰三角形 15"/>
          <p:cNvSpPr/>
          <p:nvPr/>
        </p:nvSpPr>
        <p:spPr>
          <a:xfrm rot="10800000">
            <a:off x="4737163" y="1390025"/>
            <a:ext cx="253518" cy="218550"/>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7" name="等腰三角形 16"/>
          <p:cNvSpPr/>
          <p:nvPr/>
        </p:nvSpPr>
        <p:spPr>
          <a:xfrm rot="10800000">
            <a:off x="5254296" y="1390025"/>
            <a:ext cx="253518" cy="218550"/>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8" name="等腰三角形 17"/>
          <p:cNvSpPr/>
          <p:nvPr/>
        </p:nvSpPr>
        <p:spPr>
          <a:xfrm rot="10800000">
            <a:off x="5845220" y="1390025"/>
            <a:ext cx="253518" cy="218550"/>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9" name="等腰三角形 18"/>
          <p:cNvSpPr/>
          <p:nvPr/>
        </p:nvSpPr>
        <p:spPr>
          <a:xfrm rot="10800000">
            <a:off x="6362353" y="1390025"/>
            <a:ext cx="253518" cy="218550"/>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20" name="矩形 19"/>
          <p:cNvSpPr/>
          <p:nvPr/>
        </p:nvSpPr>
        <p:spPr>
          <a:xfrm>
            <a:off x="4850305" y="1390024"/>
            <a:ext cx="1631950" cy="9434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21" name="文本框 20"/>
          <p:cNvSpPr txBox="1"/>
          <p:nvPr/>
        </p:nvSpPr>
        <p:spPr>
          <a:xfrm>
            <a:off x="5254296" y="994980"/>
            <a:ext cx="805029" cy="369332"/>
          </a:xfrm>
          <a:prstGeom prst="rect">
            <a:avLst/>
          </a:prstGeom>
          <a:noFill/>
        </p:spPr>
        <p:txBody>
          <a:bodyPr wrap="none" rtlCol="0">
            <a:spAutoFit/>
          </a:bodyPr>
          <a:lstStyle/>
          <a:p>
            <a:r>
              <a:rPr lang="en-US" altLang="zh-CN" dirty="0"/>
              <a:t>disp32</a:t>
            </a:r>
            <a:endParaRPr lang="zh-CN" altLang="en-US" dirty="0"/>
          </a:p>
        </p:txBody>
      </p:sp>
      <p:sp>
        <p:nvSpPr>
          <p:cNvPr id="22" name="文本框 21"/>
          <p:cNvSpPr txBox="1"/>
          <p:nvPr/>
        </p:nvSpPr>
        <p:spPr>
          <a:xfrm>
            <a:off x="1709222" y="5266449"/>
            <a:ext cx="8773556" cy="584775"/>
          </a:xfrm>
          <a:prstGeom prst="rect">
            <a:avLst/>
          </a:prstGeom>
          <a:noFill/>
        </p:spPr>
        <p:txBody>
          <a:bodyPr wrap="none" rtlCol="0">
            <a:spAutoFit/>
          </a:bodyPr>
          <a:lstStyle/>
          <a:p>
            <a:r>
              <a:rPr lang="en-US" altLang="zh-CN" sz="3200" b="1" dirty="0" err="1">
                <a:latin typeface="Consolas" panose="020B0609020204030204" pitchFamily="49" charset="0"/>
              </a:rPr>
              <a:t>movl</a:t>
            </a:r>
            <a:r>
              <a:rPr lang="en-US" altLang="zh-CN" sz="3200" b="1" dirty="0">
                <a:latin typeface="Consolas" panose="020B0609020204030204" pitchFamily="49" charset="0"/>
              </a:rPr>
              <a:t>    0x1100(%</a:t>
            </a:r>
            <a:r>
              <a:rPr lang="en-US" altLang="zh-CN" sz="3200" b="1" dirty="0" err="1">
                <a:latin typeface="Consolas" panose="020B0609020204030204" pitchFamily="49" charset="0"/>
              </a:rPr>
              <a:t>ebx</a:t>
            </a:r>
            <a:r>
              <a:rPr lang="en-US" altLang="zh-CN" sz="3200" b="1" dirty="0">
                <a:latin typeface="Consolas" panose="020B0609020204030204" pitchFamily="49" charset="0"/>
              </a:rPr>
              <a:t>, %</a:t>
            </a:r>
            <a:r>
              <a:rPr lang="en-US" altLang="zh-CN" sz="3200" b="1" dirty="0" err="1">
                <a:latin typeface="Consolas" panose="020B0609020204030204" pitchFamily="49" charset="0"/>
              </a:rPr>
              <a:t>eax</a:t>
            </a:r>
            <a:r>
              <a:rPr lang="en-US" altLang="zh-CN" sz="3200" b="1" dirty="0">
                <a:latin typeface="Consolas" panose="020B0609020204030204" pitchFamily="49" charset="0"/>
              </a:rPr>
              <a:t>, 4),    %</a:t>
            </a:r>
            <a:r>
              <a:rPr lang="en-US" altLang="zh-CN" sz="3200" b="1" dirty="0" err="1">
                <a:latin typeface="Consolas" panose="020B0609020204030204" pitchFamily="49" charset="0"/>
              </a:rPr>
              <a:t>edx</a:t>
            </a:r>
            <a:endParaRPr lang="zh-CN" altLang="en-US" sz="3200" b="1" dirty="0">
              <a:latin typeface="Consolas" panose="020B0609020204030204" pitchFamily="49" charset="0"/>
            </a:endParaRPr>
          </a:p>
        </p:txBody>
      </p:sp>
      <p:cxnSp>
        <p:nvCxnSpPr>
          <p:cNvPr id="23" name="直接连接符 22"/>
          <p:cNvCxnSpPr/>
          <p:nvPr/>
        </p:nvCxnSpPr>
        <p:spPr>
          <a:xfrm flipV="1">
            <a:off x="6774355" y="1224017"/>
            <a:ext cx="0" cy="1181100"/>
          </a:xfrm>
          <a:prstGeom prst="line">
            <a:avLst/>
          </a:prstGeom>
        </p:spPr>
        <p:style>
          <a:lnRef idx="3">
            <a:schemeClr val="dk1"/>
          </a:lnRef>
          <a:fillRef idx="0">
            <a:schemeClr val="dk1"/>
          </a:fillRef>
          <a:effectRef idx="2">
            <a:schemeClr val="dk1"/>
          </a:effectRef>
          <a:fontRef idx="minor">
            <a:schemeClr val="tx1"/>
          </a:fontRef>
        </p:style>
      </p:cxnSp>
      <p:sp>
        <p:nvSpPr>
          <p:cNvPr id="24" name="右箭头 23"/>
          <p:cNvSpPr/>
          <p:nvPr/>
        </p:nvSpPr>
        <p:spPr>
          <a:xfrm>
            <a:off x="7074922" y="1287517"/>
            <a:ext cx="1422400" cy="290072"/>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25" name="文本框 24"/>
          <p:cNvSpPr txBox="1"/>
          <p:nvPr/>
        </p:nvSpPr>
        <p:spPr>
          <a:xfrm>
            <a:off x="7221936" y="990561"/>
            <a:ext cx="1107996" cy="369332"/>
          </a:xfrm>
          <a:prstGeom prst="rect">
            <a:avLst/>
          </a:prstGeom>
          <a:noFill/>
        </p:spPr>
        <p:txBody>
          <a:bodyPr wrap="none" rtlCol="0">
            <a:spAutoFit/>
          </a:bodyPr>
          <a:lstStyle/>
          <a:p>
            <a:r>
              <a:rPr lang="zh-CN" altLang="en-US" dirty="0"/>
              <a:t>后续指令</a:t>
            </a:r>
            <a:endParaRPr lang="zh-CN" altLang="en-US" dirty="0"/>
          </a:p>
        </p:txBody>
      </p:sp>
      <p:sp>
        <p:nvSpPr>
          <p:cNvPr id="26" name="等腰三角形 25"/>
          <p:cNvSpPr/>
          <p:nvPr/>
        </p:nvSpPr>
        <p:spPr>
          <a:xfrm>
            <a:off x="6932840" y="2092702"/>
            <a:ext cx="253518" cy="218550"/>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27" name="文本框 26"/>
          <p:cNvSpPr txBox="1"/>
          <p:nvPr/>
        </p:nvSpPr>
        <p:spPr>
          <a:xfrm>
            <a:off x="6838319" y="2247068"/>
            <a:ext cx="2089033" cy="369332"/>
          </a:xfrm>
          <a:prstGeom prst="rect">
            <a:avLst/>
          </a:prstGeom>
          <a:noFill/>
        </p:spPr>
        <p:txBody>
          <a:bodyPr wrap="none" rtlCol="0">
            <a:spAutoFit/>
          </a:bodyPr>
          <a:lstStyle/>
          <a:p>
            <a:r>
              <a:rPr lang="en-US" altLang="zh-CN" dirty="0"/>
              <a:t>EIP</a:t>
            </a:r>
            <a:r>
              <a:rPr lang="zh-CN" altLang="en-US" dirty="0"/>
              <a:t>指向下一条指令</a:t>
            </a:r>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41D2AEF5-D648-4728-8573-61956C55922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sp>
        <p:nvSpPr>
          <p:cNvPr id="8" name="文本框 7"/>
          <p:cNvSpPr txBox="1"/>
          <p:nvPr/>
        </p:nvSpPr>
        <p:spPr>
          <a:xfrm>
            <a:off x="3912798" y="732127"/>
            <a:ext cx="6807753" cy="5632311"/>
          </a:xfrm>
          <a:prstGeom prst="rect">
            <a:avLst/>
          </a:prstGeom>
          <a:solidFill>
            <a:schemeClr val="bg1"/>
          </a:solidFill>
          <a:ln>
            <a:solidFill>
              <a:schemeClr val="tx1"/>
            </a:solidFill>
          </a:ln>
        </p:spPr>
        <p:txBody>
          <a:bodyPr wrap="square" rtlCol="0">
            <a:spAutoFit/>
          </a:bodyPr>
          <a:lstStyle/>
          <a:p>
            <a:r>
              <a:rPr lang="en-US" altLang="zh-CN" dirty="0"/>
              <a:t>void </a:t>
            </a:r>
            <a:r>
              <a:rPr lang="en-US" altLang="zh-CN" dirty="0">
                <a:solidFill>
                  <a:srgbClr val="FF0000"/>
                </a:solidFill>
              </a:rPr>
              <a:t>exec</a:t>
            </a:r>
            <a:r>
              <a:rPr lang="en-US" altLang="zh-CN" dirty="0"/>
              <a:t>(uint32_t n) {</a:t>
            </a:r>
            <a:endParaRPr lang="en-US" altLang="zh-CN" dirty="0"/>
          </a:p>
          <a:p>
            <a:r>
              <a:rPr lang="en-US" altLang="zh-CN"/>
              <a:t>	…</a:t>
            </a:r>
            <a:endParaRPr lang="en-US" altLang="zh-CN" dirty="0"/>
          </a:p>
          <a:p>
            <a:r>
              <a:rPr lang="en-US" altLang="zh-CN"/>
              <a:t>	while</a:t>
            </a:r>
            <a:r>
              <a:rPr lang="en-US" altLang="zh-CN" dirty="0"/>
              <a:t>( n &gt; 0 &amp;&amp; </a:t>
            </a:r>
            <a:r>
              <a:rPr lang="en-US" altLang="zh-CN" dirty="0" err="1"/>
              <a:t>nemu_state</a:t>
            </a:r>
            <a:r>
              <a:rPr lang="en-US" altLang="zh-CN" dirty="0"/>
              <a:t> == NEMU_RUN) {</a:t>
            </a:r>
            <a:endParaRPr lang="en-US" altLang="zh-CN" dirty="0"/>
          </a:p>
          <a:p>
            <a:r>
              <a:rPr lang="en-US" altLang="zh-CN"/>
              <a:t>		…</a:t>
            </a:r>
            <a:endParaRPr lang="en-US" altLang="zh-CN" dirty="0"/>
          </a:p>
          <a:p>
            <a:r>
              <a:rPr lang="en-US" altLang="zh-CN"/>
              <a:t>		instr_len </a:t>
            </a:r>
            <a:r>
              <a:rPr lang="en-US" altLang="zh-CN" dirty="0"/>
              <a:t>= </a:t>
            </a:r>
            <a:r>
              <a:rPr lang="en-US" altLang="zh-CN" dirty="0" err="1">
                <a:solidFill>
                  <a:srgbClr val="FF0000"/>
                </a:solidFill>
              </a:rPr>
              <a:t>exec_inst</a:t>
            </a:r>
            <a:r>
              <a:rPr lang="en-US" altLang="zh-CN" dirty="0"/>
              <a:t>();</a:t>
            </a:r>
            <a:endParaRPr lang="en-US" altLang="zh-CN" dirty="0"/>
          </a:p>
          <a:p>
            <a:r>
              <a:rPr lang="en-US" altLang="zh-CN"/>
              <a:t>		cpu.eip </a:t>
            </a:r>
            <a:r>
              <a:rPr lang="en-US" altLang="zh-CN" dirty="0"/>
              <a:t>+= </a:t>
            </a:r>
            <a:r>
              <a:rPr lang="en-US" altLang="zh-CN" dirty="0" err="1"/>
              <a:t>instr_len</a:t>
            </a:r>
            <a:r>
              <a:rPr lang="en-US" altLang="zh-CN" dirty="0"/>
              <a:t>;</a:t>
            </a:r>
            <a:endParaRPr lang="en-US" altLang="zh-CN" dirty="0"/>
          </a:p>
          <a:p>
            <a:r>
              <a:rPr lang="en-US" altLang="zh-CN"/>
              <a:t>		n-</a:t>
            </a:r>
            <a:r>
              <a:rPr lang="en-US" altLang="zh-CN" dirty="0"/>
              <a:t>-;</a:t>
            </a:r>
            <a:endParaRPr lang="en-US" altLang="zh-CN" dirty="0"/>
          </a:p>
          <a:p>
            <a:r>
              <a:rPr lang="en-US" altLang="zh-CN"/>
              <a:t>		…</a:t>
            </a:r>
            <a:endParaRPr lang="en-US" altLang="zh-CN" dirty="0"/>
          </a:p>
          <a:p>
            <a:r>
              <a:rPr lang="en-US" altLang="zh-CN"/>
              <a:t>	}</a:t>
            </a:r>
            <a:endParaRPr lang="en-US" altLang="zh-CN" dirty="0"/>
          </a:p>
          <a:p>
            <a:r>
              <a:rPr lang="en-US" altLang="zh-CN"/>
              <a:t>	…</a:t>
            </a:r>
            <a:endParaRPr lang="en-US" altLang="zh-CN" dirty="0"/>
          </a:p>
          <a:p>
            <a:r>
              <a:rPr lang="en-US" altLang="zh-CN" dirty="0"/>
              <a:t>}</a:t>
            </a:r>
            <a:endParaRPr lang="en-US" altLang="zh-CN" dirty="0"/>
          </a:p>
          <a:p>
            <a:endParaRPr lang="en-US" altLang="zh-CN" dirty="0"/>
          </a:p>
          <a:p>
            <a:r>
              <a:rPr lang="zh-CN" altLang="en-US" dirty="0"/>
              <a:t>int </a:t>
            </a:r>
            <a:r>
              <a:rPr lang="zh-CN" altLang="en-US" dirty="0">
                <a:solidFill>
                  <a:srgbClr val="FF0000"/>
                </a:solidFill>
              </a:rPr>
              <a:t>exec_inst</a:t>
            </a:r>
            <a:r>
              <a:rPr lang="zh-CN" altLang="en-US" dirty="0"/>
              <a:t>() {</a:t>
            </a:r>
            <a:endParaRPr lang="zh-CN" altLang="en-US" dirty="0"/>
          </a:p>
          <a:p>
            <a:r>
              <a:rPr lang="zh-CN" altLang="en-US"/>
              <a:t>	uint</a:t>
            </a:r>
            <a:r>
              <a:rPr lang="zh-CN" altLang="en-US" dirty="0"/>
              <a:t>8_t opcode = 0;</a:t>
            </a:r>
            <a:endParaRPr lang="zh-CN" altLang="en-US" dirty="0"/>
          </a:p>
          <a:p>
            <a:r>
              <a:rPr lang="zh-CN" altLang="en-US"/>
              <a:t>	</a:t>
            </a:r>
            <a:r>
              <a:rPr lang="zh-CN" altLang="en-US">
                <a:solidFill>
                  <a:srgbClr val="00B050"/>
                </a:solidFill>
              </a:rPr>
              <a:t>// </a:t>
            </a:r>
            <a:r>
              <a:rPr lang="zh-CN" altLang="en-US" dirty="0">
                <a:solidFill>
                  <a:srgbClr val="00B050"/>
                </a:solidFill>
              </a:rPr>
              <a:t>get the opcode， 取操作数</a:t>
            </a:r>
            <a:endParaRPr lang="zh-CN" altLang="en-US" dirty="0">
              <a:solidFill>
                <a:srgbClr val="00B050"/>
              </a:solidFill>
            </a:endParaRPr>
          </a:p>
          <a:p>
            <a:r>
              <a:rPr lang="zh-CN" altLang="en-US"/>
              <a:t>	opcode </a:t>
            </a:r>
            <a:r>
              <a:rPr lang="zh-CN" altLang="en-US" dirty="0"/>
              <a:t>= instr_fetch(cpu.eip, 1);</a:t>
            </a:r>
            <a:endParaRPr lang="zh-CN" altLang="en-US" dirty="0"/>
          </a:p>
          <a:p>
            <a:r>
              <a:rPr lang="zh-CN" altLang="en-US"/>
              <a:t>	</a:t>
            </a:r>
            <a:r>
              <a:rPr lang="zh-CN" altLang="en-US">
                <a:solidFill>
                  <a:srgbClr val="00B050"/>
                </a:solidFill>
              </a:rPr>
              <a:t>// </a:t>
            </a:r>
            <a:r>
              <a:rPr lang="zh-CN" altLang="en-US" dirty="0">
                <a:solidFill>
                  <a:srgbClr val="00B050"/>
                </a:solidFill>
              </a:rPr>
              <a:t>instruction decode and execution，执行这条指令</a:t>
            </a:r>
            <a:endParaRPr lang="zh-CN" altLang="en-US" dirty="0">
              <a:solidFill>
                <a:srgbClr val="00B050"/>
              </a:solidFill>
            </a:endParaRPr>
          </a:p>
          <a:p>
            <a:r>
              <a:rPr lang="zh-CN" altLang="en-US"/>
              <a:t>	int </a:t>
            </a:r>
            <a:r>
              <a:rPr lang="zh-CN" altLang="en-US" dirty="0"/>
              <a:t>len = </a:t>
            </a:r>
            <a:r>
              <a:rPr lang="zh-CN" altLang="en-US" dirty="0">
                <a:solidFill>
                  <a:srgbClr val="FF0000"/>
                </a:solidFill>
              </a:rPr>
              <a:t>opcode_entry</a:t>
            </a:r>
            <a:r>
              <a:rPr lang="zh-CN" altLang="en-US" dirty="0"/>
              <a:t>[opcode](cpu.eip, opcode);</a:t>
            </a:r>
            <a:endParaRPr lang="zh-CN" altLang="en-US" dirty="0"/>
          </a:p>
          <a:p>
            <a:r>
              <a:rPr lang="zh-CN" altLang="en-US"/>
              <a:t>	return </a:t>
            </a:r>
            <a:r>
              <a:rPr lang="zh-CN" altLang="en-US" dirty="0"/>
              <a:t>len;  </a:t>
            </a:r>
            <a:r>
              <a:rPr lang="en-US" altLang="zh-CN" dirty="0">
                <a:solidFill>
                  <a:srgbClr val="00B050"/>
                </a:solidFill>
              </a:rPr>
              <a:t>// </a:t>
            </a:r>
            <a:r>
              <a:rPr lang="zh-CN" altLang="en-US" dirty="0">
                <a:solidFill>
                  <a:srgbClr val="00B050"/>
                </a:solidFill>
              </a:rPr>
              <a:t>返回指令长度</a:t>
            </a:r>
            <a:endParaRPr lang="zh-CN" altLang="en-US" dirty="0">
              <a:solidFill>
                <a:srgbClr val="00B050"/>
              </a:solidFill>
            </a:endParaRPr>
          </a:p>
          <a:p>
            <a:r>
              <a:rPr lang="zh-CN" altLang="en-US" dirty="0"/>
              <a:t>}</a:t>
            </a:r>
            <a:endParaRPr lang="zh-CN" altLang="en-US" dirty="0"/>
          </a:p>
        </p:txBody>
      </p:sp>
      <p:sp>
        <p:nvSpPr>
          <p:cNvPr id="9" name="矩形 8"/>
          <p:cNvSpPr/>
          <p:nvPr/>
        </p:nvSpPr>
        <p:spPr>
          <a:xfrm>
            <a:off x="4603531" y="5360276"/>
            <a:ext cx="5454869" cy="462455"/>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2118156" y="5361066"/>
            <a:ext cx="2322786" cy="461665"/>
          </a:xfrm>
          <a:prstGeom prst="rect">
            <a:avLst/>
          </a:prstGeom>
          <a:solidFill>
            <a:schemeClr val="bg1"/>
          </a:solidFill>
        </p:spPr>
        <p:txBody>
          <a:bodyPr wrap="square" rtlCol="0">
            <a:spAutoFit/>
          </a:bodyPr>
          <a:lstStyle/>
          <a:p>
            <a:r>
              <a:rPr lang="zh-CN" altLang="en-US" sz="2400" dirty="0">
                <a:solidFill>
                  <a:srgbClr val="C00000"/>
                </a:solidFill>
              </a:rPr>
              <a:t>指令解码与执行</a:t>
            </a:r>
            <a:endParaRPr lang="zh-CN" altLang="en-US" sz="2400" dirty="0">
              <a:solidFill>
                <a:srgbClr val="C00000"/>
              </a:solidFill>
            </a:endParaRPr>
          </a:p>
        </p:txBody>
      </p:sp>
      <p:sp>
        <p:nvSpPr>
          <p:cNvPr id="12" name="标题 1"/>
          <p:cNvSpPr>
            <a:spLocks noGrp="1"/>
          </p:cNvSpPr>
          <p:nvPr>
            <p:ph type="title"/>
          </p:nvPr>
        </p:nvSpPr>
        <p:spPr>
          <a:xfrm>
            <a:off x="838200" y="-1875"/>
            <a:ext cx="10515600" cy="734002"/>
          </a:xfrm>
        </p:spPr>
        <p:txBody>
          <a:bodyPr/>
          <a:lstStyle/>
          <a:p>
            <a:r>
              <a:rPr lang="en-US" altLang="zh-CN" dirty="0"/>
              <a:t>NEMU</a:t>
            </a:r>
            <a:r>
              <a:rPr lang="zh-CN" altLang="en-US" dirty="0"/>
              <a:t>模拟指令解码和执行</a:t>
            </a:r>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目录</a:t>
            </a:r>
            <a:endParaRPr lang="zh-CN" altLang="en-US" dirty="0"/>
          </a:p>
        </p:txBody>
      </p:sp>
      <p:sp>
        <p:nvSpPr>
          <p:cNvPr id="3" name="内容占位符 2"/>
          <p:cNvSpPr>
            <a:spLocks noGrp="1"/>
          </p:cNvSpPr>
          <p:nvPr>
            <p:ph idx="1"/>
          </p:nvPr>
        </p:nvSpPr>
        <p:spPr/>
        <p:txBody>
          <a:bodyPr/>
          <a:lstStyle/>
          <a:p>
            <a:pPr>
              <a:lnSpc>
                <a:spcPct val="200000"/>
              </a:lnSpc>
            </a:pPr>
            <a:r>
              <a:rPr lang="zh-CN" altLang="en-US" b="1" dirty="0"/>
              <a:t>程序执行的宏观过程与模拟</a:t>
            </a:r>
            <a:endParaRPr lang="zh-CN" altLang="en-US" b="1" dirty="0"/>
          </a:p>
          <a:p>
            <a:pPr>
              <a:lnSpc>
                <a:spcPct val="200000"/>
              </a:lnSpc>
            </a:pPr>
            <a:r>
              <a:rPr lang="zh-CN" altLang="en-US" b="1" dirty="0"/>
              <a:t>单条指令的解码与</a:t>
            </a:r>
            <a:r>
              <a:rPr lang="en-US" altLang="zh-CN" b="1" dirty="0">
                <a:solidFill>
                  <a:srgbClr val="C00000"/>
                </a:solidFill>
              </a:rPr>
              <a:t>NEMU</a:t>
            </a:r>
            <a:r>
              <a:rPr lang="zh-CN" altLang="en-US" b="1" dirty="0">
                <a:solidFill>
                  <a:srgbClr val="C00000"/>
                </a:solidFill>
              </a:rPr>
              <a:t>实现</a:t>
            </a:r>
            <a:endParaRPr lang="en-US" altLang="zh-CN" b="1" dirty="0">
              <a:solidFill>
                <a:srgbClr val="C00000"/>
              </a:solidFill>
            </a:endParaRPr>
          </a:p>
          <a:p>
            <a:pPr lvl="1">
              <a:lnSpc>
                <a:spcPct val="200000"/>
              </a:lnSpc>
            </a:pPr>
            <a:r>
              <a:rPr lang="zh-CN" altLang="en-US" b="1" dirty="0">
                <a:solidFill>
                  <a:srgbClr val="C00000"/>
                </a:solidFill>
              </a:rPr>
              <a:t>操作码的解码方式</a:t>
            </a:r>
            <a:endParaRPr lang="en-US" altLang="zh-CN" b="1" dirty="0">
              <a:solidFill>
                <a:srgbClr val="C00000"/>
              </a:solidFill>
            </a:endParaRPr>
          </a:p>
          <a:p>
            <a:pPr lvl="1">
              <a:lnSpc>
                <a:spcPct val="200000"/>
              </a:lnSpc>
            </a:pPr>
            <a:r>
              <a:rPr lang="zh-CN" altLang="en-US" b="1" dirty="0"/>
              <a:t>单条指令的实现方法</a:t>
            </a:r>
            <a:endParaRPr lang="en-US" altLang="zh-CN" b="1" dirty="0"/>
          </a:p>
          <a:p>
            <a:pPr lvl="1">
              <a:lnSpc>
                <a:spcPct val="200000"/>
              </a:lnSpc>
            </a:pPr>
            <a:r>
              <a:rPr lang="zh-CN" altLang="en-US" b="1" dirty="0"/>
              <a:t>利用框架代码中的宏来高效、简洁地实现多条指令</a:t>
            </a:r>
            <a:endParaRPr lang="zh-CN" altLang="en-US" b="1" dirty="0"/>
          </a:p>
        </p:txBody>
      </p:sp>
      <p:sp>
        <p:nvSpPr>
          <p:cNvPr id="4" name="日期占位符 3"/>
          <p:cNvSpPr>
            <a:spLocks noGrp="1"/>
          </p:cNvSpPr>
          <p:nvPr>
            <p:ph type="dt" sz="half" idx="10"/>
          </p:nvPr>
        </p:nvSpPr>
        <p:spPr/>
        <p:txBody>
          <a:bodyPr/>
          <a:lstStyle/>
          <a:p>
            <a:fld id="{41D2AEF5-D648-4728-8573-61956C55922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sp>
        <p:nvSpPr>
          <p:cNvPr id="7" name="文本框 6"/>
          <p:cNvSpPr txBox="1"/>
          <p:nvPr/>
        </p:nvSpPr>
        <p:spPr>
          <a:xfrm>
            <a:off x="6047508" y="2687782"/>
            <a:ext cx="3366655" cy="181588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342900" indent="-342900">
              <a:buAutoNum type="arabicPeriod"/>
            </a:pPr>
            <a:r>
              <a:rPr lang="zh-CN" altLang="en-US" sz="2800" dirty="0"/>
              <a:t>解码操作码</a:t>
            </a:r>
            <a:endParaRPr lang="en-US" altLang="zh-CN" sz="2800" dirty="0"/>
          </a:p>
          <a:p>
            <a:pPr marL="342900" indent="-342900">
              <a:buAutoNum type="arabicPeriod"/>
            </a:pPr>
            <a:r>
              <a:rPr lang="zh-CN" altLang="en-US" sz="2800" dirty="0"/>
              <a:t>解码操作数</a:t>
            </a:r>
            <a:endParaRPr lang="en-US" altLang="zh-CN" sz="2800" dirty="0"/>
          </a:p>
          <a:p>
            <a:pPr marL="342900" indent="-342900">
              <a:buAutoNum type="arabicPeriod"/>
            </a:pPr>
            <a:r>
              <a:rPr lang="zh-CN" altLang="en-US" sz="2800" dirty="0"/>
              <a:t>执行指令的操作</a:t>
            </a:r>
            <a:endParaRPr lang="en-US" altLang="zh-CN" sz="2800" dirty="0"/>
          </a:p>
          <a:p>
            <a:pPr marL="342900" indent="-342900">
              <a:buAutoNum type="arabicPeriod"/>
            </a:pPr>
            <a:r>
              <a:rPr lang="zh-CN" altLang="en-US" sz="2800" dirty="0"/>
              <a:t>返回指令长度</a:t>
            </a:r>
            <a:endParaRPr lang="zh-CN" altLang="en-US"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41D2AEF5-D648-4728-8573-61956C55922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sp>
        <p:nvSpPr>
          <p:cNvPr id="8" name="文本框 7"/>
          <p:cNvSpPr txBox="1"/>
          <p:nvPr/>
        </p:nvSpPr>
        <p:spPr>
          <a:xfrm>
            <a:off x="3912798" y="732127"/>
            <a:ext cx="6807753" cy="5632311"/>
          </a:xfrm>
          <a:prstGeom prst="rect">
            <a:avLst/>
          </a:prstGeom>
          <a:solidFill>
            <a:schemeClr val="bg1"/>
          </a:solidFill>
          <a:ln>
            <a:solidFill>
              <a:schemeClr val="tx1"/>
            </a:solidFill>
          </a:ln>
        </p:spPr>
        <p:txBody>
          <a:bodyPr wrap="square" rtlCol="0">
            <a:spAutoFit/>
          </a:bodyPr>
          <a:lstStyle/>
          <a:p>
            <a:r>
              <a:rPr lang="en-US" altLang="zh-CN" dirty="0"/>
              <a:t>void </a:t>
            </a:r>
            <a:r>
              <a:rPr lang="en-US" altLang="zh-CN" dirty="0">
                <a:solidFill>
                  <a:srgbClr val="FF0000"/>
                </a:solidFill>
              </a:rPr>
              <a:t>exec</a:t>
            </a:r>
            <a:r>
              <a:rPr lang="en-US" altLang="zh-CN" dirty="0"/>
              <a:t>(uint32_t n) {</a:t>
            </a:r>
            <a:endParaRPr lang="en-US" altLang="zh-CN" dirty="0"/>
          </a:p>
          <a:p>
            <a:r>
              <a:rPr lang="en-US" altLang="zh-CN"/>
              <a:t>	…</a:t>
            </a:r>
            <a:endParaRPr lang="en-US" altLang="zh-CN" dirty="0"/>
          </a:p>
          <a:p>
            <a:r>
              <a:rPr lang="en-US" altLang="zh-CN"/>
              <a:t>	while</a:t>
            </a:r>
            <a:r>
              <a:rPr lang="en-US" altLang="zh-CN" dirty="0"/>
              <a:t>( n &gt; 0 &amp;&amp; </a:t>
            </a:r>
            <a:r>
              <a:rPr lang="en-US" altLang="zh-CN" dirty="0" err="1"/>
              <a:t>nemu_state</a:t>
            </a:r>
            <a:r>
              <a:rPr lang="en-US" altLang="zh-CN" dirty="0"/>
              <a:t> == NEMU_RUN) {</a:t>
            </a:r>
            <a:endParaRPr lang="en-US" altLang="zh-CN" dirty="0"/>
          </a:p>
          <a:p>
            <a:r>
              <a:rPr lang="en-US" altLang="zh-CN"/>
              <a:t>		…</a:t>
            </a:r>
            <a:endParaRPr lang="en-US" altLang="zh-CN" dirty="0"/>
          </a:p>
          <a:p>
            <a:r>
              <a:rPr lang="en-US" altLang="zh-CN"/>
              <a:t>		instr_len </a:t>
            </a:r>
            <a:r>
              <a:rPr lang="en-US" altLang="zh-CN" dirty="0"/>
              <a:t>= </a:t>
            </a:r>
            <a:r>
              <a:rPr lang="en-US" altLang="zh-CN" dirty="0" err="1">
                <a:solidFill>
                  <a:srgbClr val="FF0000"/>
                </a:solidFill>
              </a:rPr>
              <a:t>exec_inst</a:t>
            </a:r>
            <a:r>
              <a:rPr lang="en-US" altLang="zh-CN" dirty="0"/>
              <a:t>();</a:t>
            </a:r>
            <a:endParaRPr lang="en-US" altLang="zh-CN" dirty="0"/>
          </a:p>
          <a:p>
            <a:r>
              <a:rPr lang="en-US" altLang="zh-CN"/>
              <a:t>		cpu.eip </a:t>
            </a:r>
            <a:r>
              <a:rPr lang="en-US" altLang="zh-CN" dirty="0"/>
              <a:t>+= </a:t>
            </a:r>
            <a:r>
              <a:rPr lang="en-US" altLang="zh-CN" dirty="0" err="1"/>
              <a:t>instr_len</a:t>
            </a:r>
            <a:r>
              <a:rPr lang="en-US" altLang="zh-CN" dirty="0"/>
              <a:t>;</a:t>
            </a:r>
            <a:endParaRPr lang="en-US" altLang="zh-CN" dirty="0"/>
          </a:p>
          <a:p>
            <a:r>
              <a:rPr lang="en-US" altLang="zh-CN"/>
              <a:t>		n-</a:t>
            </a:r>
            <a:r>
              <a:rPr lang="en-US" altLang="zh-CN" dirty="0"/>
              <a:t>-;</a:t>
            </a:r>
            <a:endParaRPr lang="en-US" altLang="zh-CN" dirty="0"/>
          </a:p>
          <a:p>
            <a:r>
              <a:rPr lang="en-US" altLang="zh-CN"/>
              <a:t>		…</a:t>
            </a:r>
            <a:endParaRPr lang="en-US" altLang="zh-CN" dirty="0"/>
          </a:p>
          <a:p>
            <a:r>
              <a:rPr lang="en-US" altLang="zh-CN"/>
              <a:t>	}</a:t>
            </a:r>
            <a:endParaRPr lang="en-US" altLang="zh-CN" dirty="0"/>
          </a:p>
          <a:p>
            <a:r>
              <a:rPr lang="en-US" altLang="zh-CN"/>
              <a:t>	…</a:t>
            </a:r>
            <a:endParaRPr lang="en-US" altLang="zh-CN" dirty="0"/>
          </a:p>
          <a:p>
            <a:r>
              <a:rPr lang="en-US" altLang="zh-CN" dirty="0"/>
              <a:t>}</a:t>
            </a:r>
            <a:endParaRPr lang="en-US" altLang="zh-CN" dirty="0"/>
          </a:p>
          <a:p>
            <a:endParaRPr lang="en-US" altLang="zh-CN" dirty="0"/>
          </a:p>
          <a:p>
            <a:r>
              <a:rPr lang="zh-CN" altLang="en-US" dirty="0"/>
              <a:t>int </a:t>
            </a:r>
            <a:r>
              <a:rPr lang="zh-CN" altLang="en-US" dirty="0">
                <a:solidFill>
                  <a:srgbClr val="FF0000"/>
                </a:solidFill>
              </a:rPr>
              <a:t>exec_inst</a:t>
            </a:r>
            <a:r>
              <a:rPr lang="zh-CN" altLang="en-US" dirty="0"/>
              <a:t>() {</a:t>
            </a:r>
            <a:endParaRPr lang="zh-CN" altLang="en-US" dirty="0"/>
          </a:p>
          <a:p>
            <a:r>
              <a:rPr lang="zh-CN" altLang="en-US"/>
              <a:t>	uint</a:t>
            </a:r>
            <a:r>
              <a:rPr lang="zh-CN" altLang="en-US" dirty="0"/>
              <a:t>8_t opcode = 0;</a:t>
            </a:r>
            <a:endParaRPr lang="zh-CN" altLang="en-US" dirty="0"/>
          </a:p>
          <a:p>
            <a:r>
              <a:rPr lang="zh-CN" altLang="en-US"/>
              <a:t>	</a:t>
            </a:r>
            <a:r>
              <a:rPr lang="zh-CN" altLang="en-US">
                <a:solidFill>
                  <a:srgbClr val="00B050"/>
                </a:solidFill>
              </a:rPr>
              <a:t>// </a:t>
            </a:r>
            <a:r>
              <a:rPr lang="zh-CN" altLang="en-US" dirty="0">
                <a:solidFill>
                  <a:srgbClr val="00B050"/>
                </a:solidFill>
              </a:rPr>
              <a:t>get the opcode， 取操作数</a:t>
            </a:r>
            <a:endParaRPr lang="zh-CN" altLang="en-US" dirty="0">
              <a:solidFill>
                <a:srgbClr val="00B050"/>
              </a:solidFill>
            </a:endParaRPr>
          </a:p>
          <a:p>
            <a:r>
              <a:rPr lang="zh-CN" altLang="en-US"/>
              <a:t>	opcode </a:t>
            </a:r>
            <a:r>
              <a:rPr lang="zh-CN" altLang="en-US" dirty="0"/>
              <a:t>= instr_fetch(cpu.eip, 1);</a:t>
            </a:r>
            <a:endParaRPr lang="zh-CN" altLang="en-US" dirty="0"/>
          </a:p>
          <a:p>
            <a:r>
              <a:rPr lang="zh-CN" altLang="en-US"/>
              <a:t>	</a:t>
            </a:r>
            <a:r>
              <a:rPr lang="zh-CN" altLang="en-US">
                <a:solidFill>
                  <a:srgbClr val="00B050"/>
                </a:solidFill>
              </a:rPr>
              <a:t>// </a:t>
            </a:r>
            <a:r>
              <a:rPr lang="zh-CN" altLang="en-US" dirty="0">
                <a:solidFill>
                  <a:srgbClr val="00B050"/>
                </a:solidFill>
              </a:rPr>
              <a:t>instruction decode and execution，执行这条指令</a:t>
            </a:r>
            <a:endParaRPr lang="zh-CN" altLang="en-US" dirty="0">
              <a:solidFill>
                <a:srgbClr val="00B050"/>
              </a:solidFill>
            </a:endParaRPr>
          </a:p>
          <a:p>
            <a:r>
              <a:rPr lang="zh-CN" altLang="en-US"/>
              <a:t>	int </a:t>
            </a:r>
            <a:r>
              <a:rPr lang="zh-CN" altLang="en-US" dirty="0"/>
              <a:t>len = </a:t>
            </a:r>
            <a:r>
              <a:rPr lang="zh-CN" altLang="en-US" dirty="0">
                <a:solidFill>
                  <a:srgbClr val="FF0000"/>
                </a:solidFill>
              </a:rPr>
              <a:t>opcode_entry</a:t>
            </a:r>
            <a:r>
              <a:rPr lang="zh-CN" altLang="en-US" dirty="0"/>
              <a:t>[opcode](cpu.eip, opcode);</a:t>
            </a:r>
            <a:endParaRPr lang="zh-CN" altLang="en-US" dirty="0"/>
          </a:p>
          <a:p>
            <a:r>
              <a:rPr lang="zh-CN" altLang="en-US"/>
              <a:t>	return </a:t>
            </a:r>
            <a:r>
              <a:rPr lang="zh-CN" altLang="en-US" dirty="0"/>
              <a:t>len;  </a:t>
            </a:r>
            <a:r>
              <a:rPr lang="en-US" altLang="zh-CN" dirty="0">
                <a:solidFill>
                  <a:srgbClr val="00B050"/>
                </a:solidFill>
              </a:rPr>
              <a:t>// </a:t>
            </a:r>
            <a:r>
              <a:rPr lang="zh-CN" altLang="en-US" dirty="0">
                <a:solidFill>
                  <a:srgbClr val="00B050"/>
                </a:solidFill>
              </a:rPr>
              <a:t>返回指令长度</a:t>
            </a:r>
            <a:endParaRPr lang="zh-CN" altLang="en-US" dirty="0">
              <a:solidFill>
                <a:srgbClr val="00B050"/>
              </a:solidFill>
            </a:endParaRPr>
          </a:p>
          <a:p>
            <a:r>
              <a:rPr lang="zh-CN" altLang="en-US" dirty="0"/>
              <a:t>}</a:t>
            </a:r>
            <a:endParaRPr lang="zh-CN" altLang="en-US" dirty="0"/>
          </a:p>
        </p:txBody>
      </p:sp>
      <p:sp>
        <p:nvSpPr>
          <p:cNvPr id="9" name="矩形 8"/>
          <p:cNvSpPr/>
          <p:nvPr/>
        </p:nvSpPr>
        <p:spPr>
          <a:xfrm>
            <a:off x="4603531" y="5360276"/>
            <a:ext cx="5454869" cy="462455"/>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标题 1"/>
          <p:cNvSpPr>
            <a:spLocks noGrp="1"/>
          </p:cNvSpPr>
          <p:nvPr>
            <p:ph type="title"/>
          </p:nvPr>
        </p:nvSpPr>
        <p:spPr>
          <a:xfrm>
            <a:off x="838200" y="-1875"/>
            <a:ext cx="10515600" cy="734002"/>
          </a:xfrm>
        </p:spPr>
        <p:txBody>
          <a:bodyPr/>
          <a:lstStyle/>
          <a:p>
            <a:r>
              <a:rPr lang="en-US" altLang="zh-CN" dirty="0"/>
              <a:t>NEMU</a:t>
            </a:r>
            <a:r>
              <a:rPr lang="zh-CN" altLang="en-US" dirty="0"/>
              <a:t>模拟指令解码和执行</a:t>
            </a:r>
            <a:endParaRPr lang="zh-CN" altLang="en-US" dirty="0"/>
          </a:p>
        </p:txBody>
      </p:sp>
      <p:sp>
        <p:nvSpPr>
          <p:cNvPr id="2" name="文本框 1"/>
          <p:cNvSpPr txBox="1"/>
          <p:nvPr/>
        </p:nvSpPr>
        <p:spPr>
          <a:xfrm>
            <a:off x="147637" y="747956"/>
            <a:ext cx="3655623" cy="3416320"/>
          </a:xfrm>
          <a:prstGeom prst="rect">
            <a:avLst/>
          </a:prstGeom>
          <a:ln w="25400">
            <a:solidFill>
              <a:srgbClr val="C00000"/>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zh-CN" dirty="0"/>
              <a:t>switch(</a:t>
            </a:r>
            <a:r>
              <a:rPr lang="en-US" altLang="zh-CN" dirty="0">
                <a:solidFill>
                  <a:srgbClr val="7030A0"/>
                </a:solidFill>
              </a:rPr>
              <a:t>opcode</a:t>
            </a:r>
            <a:r>
              <a:rPr lang="en-US" altLang="zh-CN" dirty="0"/>
              <a:t>)</a:t>
            </a:r>
            <a:endParaRPr lang="en-US" altLang="zh-CN" dirty="0"/>
          </a:p>
          <a:p>
            <a:r>
              <a:rPr lang="en-US" altLang="zh-CN" dirty="0"/>
              <a:t>{</a:t>
            </a:r>
            <a:endParaRPr lang="en-US" altLang="zh-CN" dirty="0"/>
          </a:p>
          <a:p>
            <a:r>
              <a:rPr lang="en-US" altLang="zh-CN" dirty="0">
                <a:solidFill>
                  <a:srgbClr val="7030A0"/>
                </a:solidFill>
              </a:rPr>
              <a:t>case 0x00</a:t>
            </a:r>
            <a:r>
              <a:rPr lang="en-US" altLang="zh-CN" dirty="0"/>
              <a:t>: add_r2rm_b(); break;</a:t>
            </a:r>
            <a:endParaRPr lang="en-US" altLang="zh-CN" dirty="0"/>
          </a:p>
          <a:p>
            <a:r>
              <a:rPr lang="en-US" altLang="zh-CN" dirty="0">
                <a:solidFill>
                  <a:srgbClr val="7030A0"/>
                </a:solidFill>
              </a:rPr>
              <a:t>case 0x01</a:t>
            </a:r>
            <a:r>
              <a:rPr lang="en-US" altLang="zh-CN" dirty="0"/>
              <a:t>: add_r2rm_v(); break;</a:t>
            </a:r>
            <a:endParaRPr lang="en-US" altLang="zh-CN" dirty="0"/>
          </a:p>
          <a:p>
            <a:r>
              <a:rPr lang="en-US" altLang="zh-CN" dirty="0"/>
              <a:t>…</a:t>
            </a:r>
            <a:endParaRPr lang="en-US" altLang="zh-CN" dirty="0"/>
          </a:p>
          <a:p>
            <a:r>
              <a:rPr lang="en-US" altLang="zh-CN" dirty="0">
                <a:solidFill>
                  <a:srgbClr val="7030A0"/>
                </a:solidFill>
              </a:rPr>
              <a:t>case 0x10</a:t>
            </a:r>
            <a:r>
              <a:rPr lang="en-US" altLang="zh-CN" dirty="0"/>
              <a:t>: adc_r2rm_b(); break;</a:t>
            </a:r>
            <a:endParaRPr lang="en-US" altLang="zh-CN" dirty="0"/>
          </a:p>
          <a:p>
            <a:r>
              <a:rPr lang="en-US" altLang="zh-CN" dirty="0"/>
              <a:t>…</a:t>
            </a:r>
            <a:endParaRPr lang="en-US" altLang="zh-CN" dirty="0"/>
          </a:p>
          <a:p>
            <a:r>
              <a:rPr lang="en-US" altLang="zh-CN" dirty="0">
                <a:solidFill>
                  <a:srgbClr val="7030A0"/>
                </a:solidFill>
              </a:rPr>
              <a:t>case 0x8b</a:t>
            </a:r>
            <a:r>
              <a:rPr lang="en-US" altLang="zh-CN" dirty="0"/>
              <a:t>: mov_rm2r_v(); break;</a:t>
            </a:r>
            <a:endParaRPr lang="en-US" altLang="zh-CN" dirty="0"/>
          </a:p>
          <a:p>
            <a:r>
              <a:rPr lang="en-US" altLang="zh-CN" dirty="0"/>
              <a:t>…</a:t>
            </a:r>
            <a:endParaRPr lang="en-US" altLang="zh-CN" dirty="0"/>
          </a:p>
          <a:p>
            <a:r>
              <a:rPr lang="en-US" altLang="zh-CN" dirty="0">
                <a:solidFill>
                  <a:srgbClr val="7030A0"/>
                </a:solidFill>
              </a:rPr>
              <a:t>case 0xc7</a:t>
            </a:r>
            <a:r>
              <a:rPr lang="en-US" altLang="zh-CN" dirty="0"/>
              <a:t>: mov_i2rm_v(); break;</a:t>
            </a:r>
            <a:endParaRPr lang="en-US" altLang="zh-CN" dirty="0"/>
          </a:p>
          <a:p>
            <a:r>
              <a:rPr lang="en-US" altLang="zh-CN" dirty="0"/>
              <a:t>…</a:t>
            </a:r>
            <a:endParaRPr lang="en-US" altLang="zh-CN" dirty="0"/>
          </a:p>
          <a:p>
            <a:r>
              <a:rPr lang="en-US" altLang="zh-CN" dirty="0"/>
              <a:t>};</a:t>
            </a:r>
            <a:endParaRPr lang="zh-CN" altLang="en-US" dirty="0"/>
          </a:p>
        </p:txBody>
      </p:sp>
      <p:pic>
        <p:nvPicPr>
          <p:cNvPr id="3" name="图片 2"/>
          <p:cNvPicPr>
            <a:picLocks noChangeAspect="1"/>
          </p:cNvPicPr>
          <p:nvPr/>
        </p:nvPicPr>
        <p:blipFill>
          <a:blip r:embed="rId1"/>
          <a:stretch>
            <a:fillRect/>
          </a:stretch>
        </p:blipFill>
        <p:spPr>
          <a:xfrm>
            <a:off x="147637" y="4439945"/>
            <a:ext cx="3260813" cy="1988134"/>
          </a:xfrm>
          <a:prstGeom prst="rect">
            <a:avLst/>
          </a:prstGeom>
          <a:ln w="25400">
            <a:solidFill>
              <a:srgbClr val="7030A0"/>
            </a:solidFill>
          </a:ln>
        </p:spPr>
      </p:pic>
      <p:cxnSp>
        <p:nvCxnSpPr>
          <p:cNvPr id="11" name="直接箭头连接符 10"/>
          <p:cNvCxnSpPr/>
          <p:nvPr/>
        </p:nvCxnSpPr>
        <p:spPr>
          <a:xfrm>
            <a:off x="838200" y="3807089"/>
            <a:ext cx="0" cy="917311"/>
          </a:xfrm>
          <a:prstGeom prst="straightConnector1">
            <a:avLst/>
          </a:prstGeom>
          <a:ln w="63500">
            <a:solidFill>
              <a:srgbClr val="7030A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947739" y="3733952"/>
            <a:ext cx="646331" cy="369332"/>
          </a:xfrm>
          <a:prstGeom prst="rect">
            <a:avLst/>
          </a:prstGeom>
          <a:noFill/>
        </p:spPr>
        <p:txBody>
          <a:bodyPr wrap="none" rtlCol="0">
            <a:spAutoFit/>
          </a:bodyPr>
          <a:lstStyle/>
          <a:p>
            <a:r>
              <a:rPr lang="zh-CN" altLang="en-US" dirty="0"/>
              <a:t>对应</a:t>
            </a:r>
            <a:endParaRPr lang="zh-CN" altLang="en-US" dirty="0"/>
          </a:p>
        </p:txBody>
      </p:sp>
      <p:cxnSp>
        <p:nvCxnSpPr>
          <p:cNvPr id="16" name="直接箭头连接符 15"/>
          <p:cNvCxnSpPr/>
          <p:nvPr/>
        </p:nvCxnSpPr>
        <p:spPr>
          <a:xfrm>
            <a:off x="3576461" y="3734270"/>
            <a:ext cx="815552" cy="1521044"/>
          </a:xfrm>
          <a:prstGeom prst="straightConnector1">
            <a:avLst/>
          </a:prstGeom>
          <a:ln w="6350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3392269" y="4411502"/>
            <a:ext cx="646331" cy="369332"/>
          </a:xfrm>
          <a:prstGeom prst="rect">
            <a:avLst/>
          </a:prstGeom>
          <a:noFill/>
        </p:spPr>
        <p:txBody>
          <a:bodyPr wrap="none" rtlCol="0">
            <a:spAutoFit/>
          </a:bodyPr>
          <a:lstStyle/>
          <a:p>
            <a:r>
              <a:rPr lang="zh-CN" altLang="en-US" dirty="0"/>
              <a:t>等价</a:t>
            </a:r>
            <a:endParaRPr lang="zh-CN" altLang="en-US" dirty="0"/>
          </a:p>
        </p:txBody>
      </p:sp>
      <p:pic>
        <p:nvPicPr>
          <p:cNvPr id="22" name="图片 2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50806" y="792478"/>
            <a:ext cx="779506" cy="47969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NEMU</a:t>
            </a:r>
            <a:r>
              <a:rPr lang="zh-CN" altLang="en-US" dirty="0"/>
              <a:t>模拟指令解码和执行</a:t>
            </a:r>
            <a:endParaRPr lang="zh-CN" altLang="en-US" dirty="0"/>
          </a:p>
        </p:txBody>
      </p:sp>
      <p:sp>
        <p:nvSpPr>
          <p:cNvPr id="3" name="内容占位符 2"/>
          <p:cNvSpPr>
            <a:spLocks noGrp="1"/>
          </p:cNvSpPr>
          <p:nvPr>
            <p:ph idx="1"/>
          </p:nvPr>
        </p:nvSpPr>
        <p:spPr>
          <a:xfrm>
            <a:off x="2152650" y="1182255"/>
            <a:ext cx="7886700" cy="1103116"/>
          </a:xfrm>
        </p:spPr>
        <p:txBody>
          <a:bodyPr/>
          <a:lstStyle/>
          <a:p>
            <a:r>
              <a:rPr lang="zh-CN" altLang="en-US" sz="2400" dirty="0">
                <a:solidFill>
                  <a:srgbClr val="FF0000"/>
                </a:solidFill>
              </a:rPr>
              <a:t>opcode_entry</a:t>
            </a:r>
            <a:r>
              <a:rPr lang="zh-CN" altLang="en-US" sz="2400" dirty="0"/>
              <a:t>是一个函数指针数组</a:t>
            </a:r>
            <a:endParaRPr lang="en-US" altLang="zh-CN" sz="2400" dirty="0"/>
          </a:p>
          <a:p>
            <a:pPr lvl="1"/>
            <a:r>
              <a:rPr lang="zh-CN" altLang="en-US" dirty="0"/>
              <a:t>其中每一个元素指向一条指令的模拟函数</a:t>
            </a:r>
            <a:endParaRPr lang="zh-CN" altLang="en-US" dirty="0"/>
          </a:p>
        </p:txBody>
      </p:sp>
      <p:sp>
        <p:nvSpPr>
          <p:cNvPr id="4" name="日期占位符 3"/>
          <p:cNvSpPr>
            <a:spLocks noGrp="1"/>
          </p:cNvSpPr>
          <p:nvPr>
            <p:ph type="dt" sz="half" idx="10"/>
          </p:nvPr>
        </p:nvSpPr>
        <p:spPr/>
        <p:txBody>
          <a:bodyPr/>
          <a:lstStyle/>
          <a:p>
            <a:fld id="{8D7AD215-1418-4E81-96D3-6CA3A3A27D46}" type="datetime3">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a:t>Programming Assignment</a:t>
            </a:r>
            <a:endParaRPr lang="zh-CN" altLang="en-US"/>
          </a:p>
        </p:txBody>
      </p:sp>
      <p:sp>
        <p:nvSpPr>
          <p:cNvPr id="6" name="灯片编号占位符 5"/>
          <p:cNvSpPr>
            <a:spLocks noGrp="1"/>
          </p:cNvSpPr>
          <p:nvPr>
            <p:ph type="sldNum" sz="quarter" idx="12"/>
          </p:nvPr>
        </p:nvSpPr>
        <p:spPr/>
        <p:txBody>
          <a:bodyPr/>
          <a:lstStyle/>
          <a:p>
            <a:fld id="{A40E146E-410D-4448-BCD3-F60DE2B98E6B}" type="slidenum">
              <a:rPr lang="zh-CN" altLang="en-US" smtClean="0"/>
            </a:fld>
            <a:endParaRPr lang="zh-CN" altLang="en-US"/>
          </a:p>
        </p:txBody>
      </p:sp>
      <p:sp>
        <p:nvSpPr>
          <p:cNvPr id="7" name="文本框 6"/>
          <p:cNvSpPr txBox="1"/>
          <p:nvPr/>
        </p:nvSpPr>
        <p:spPr>
          <a:xfrm>
            <a:off x="2037903" y="2252313"/>
            <a:ext cx="8520281" cy="461665"/>
          </a:xfrm>
          <a:prstGeom prst="rect">
            <a:avLst/>
          </a:prstGeom>
          <a:noFill/>
        </p:spPr>
        <p:txBody>
          <a:bodyPr wrap="none" rtlCol="0">
            <a:spAutoFit/>
          </a:bodyPr>
          <a:lstStyle/>
          <a:p>
            <a:r>
              <a:rPr lang="zh-CN" altLang="en-US" sz="2400" dirty="0"/>
              <a:t>访问 opcode_entry[opcode]     </a:t>
            </a:r>
            <a:r>
              <a:rPr lang="en-US" altLang="zh-CN" sz="2400" dirty="0"/>
              <a:t>==     </a:t>
            </a:r>
            <a:r>
              <a:rPr lang="zh-CN" altLang="en-US" sz="2400" dirty="0"/>
              <a:t>调用对应位置指向的函数</a:t>
            </a:r>
            <a:endParaRPr lang="zh-CN" altLang="en-US" sz="2400" dirty="0"/>
          </a:p>
        </p:txBody>
      </p:sp>
      <p:sp>
        <p:nvSpPr>
          <p:cNvPr id="8" name="矩形 7"/>
          <p:cNvSpPr/>
          <p:nvPr/>
        </p:nvSpPr>
        <p:spPr>
          <a:xfrm>
            <a:off x="2037903" y="2756446"/>
            <a:ext cx="5165197" cy="523220"/>
          </a:xfrm>
          <a:prstGeom prst="rect">
            <a:avLst/>
          </a:prstGeom>
        </p:spPr>
        <p:txBody>
          <a:bodyPr wrap="none">
            <a:spAutoFit/>
          </a:bodyPr>
          <a:lstStyle/>
          <a:p>
            <a:r>
              <a:rPr lang="en-US" altLang="zh-CN" sz="2800" i="1" dirty="0" err="1">
                <a:solidFill>
                  <a:srgbClr val="0070C0"/>
                </a:solidFill>
              </a:rPr>
              <a:t>nemu</a:t>
            </a:r>
            <a:r>
              <a:rPr lang="en-US" altLang="zh-CN" sz="2800" i="1" dirty="0">
                <a:solidFill>
                  <a:srgbClr val="0070C0"/>
                </a:solidFill>
              </a:rPr>
              <a:t>/</a:t>
            </a:r>
            <a:r>
              <a:rPr lang="en-US" altLang="zh-CN" sz="2800" i="1" dirty="0" err="1">
                <a:solidFill>
                  <a:srgbClr val="0070C0"/>
                </a:solidFill>
              </a:rPr>
              <a:t>src</a:t>
            </a:r>
            <a:r>
              <a:rPr lang="en-US" altLang="zh-CN" sz="2800" i="1" dirty="0">
                <a:solidFill>
                  <a:srgbClr val="0070C0"/>
                </a:solidFill>
              </a:rPr>
              <a:t>/</a:t>
            </a:r>
            <a:r>
              <a:rPr lang="en-US" altLang="zh-CN" sz="2800" i="1" dirty="0" err="1">
                <a:solidFill>
                  <a:srgbClr val="0070C0"/>
                </a:solidFill>
              </a:rPr>
              <a:t>cpu</a:t>
            </a:r>
            <a:r>
              <a:rPr lang="en-US" altLang="zh-CN" sz="2800" i="1" dirty="0">
                <a:solidFill>
                  <a:srgbClr val="0070C0"/>
                </a:solidFill>
              </a:rPr>
              <a:t>/decode/</a:t>
            </a:r>
            <a:r>
              <a:rPr lang="en-US" altLang="zh-CN" sz="2800" i="1" dirty="0" err="1">
                <a:solidFill>
                  <a:srgbClr val="0070C0"/>
                </a:solidFill>
              </a:rPr>
              <a:t>opcode.c</a:t>
            </a:r>
            <a:endParaRPr lang="en-US" altLang="zh-CN" sz="2800" i="1" dirty="0">
              <a:solidFill>
                <a:srgbClr val="0070C0"/>
              </a:solidFill>
            </a:endParaRPr>
          </a:p>
        </p:txBody>
      </p:sp>
      <p:sp>
        <p:nvSpPr>
          <p:cNvPr id="9" name="矩形 8"/>
          <p:cNvSpPr/>
          <p:nvPr/>
        </p:nvSpPr>
        <p:spPr>
          <a:xfrm>
            <a:off x="3719902" y="3322370"/>
            <a:ext cx="4945585" cy="830997"/>
          </a:xfrm>
          <a:prstGeom prst="rect">
            <a:avLst/>
          </a:prstGeom>
          <a:ln>
            <a:solidFill>
              <a:schemeClr val="tx1"/>
            </a:solidFill>
          </a:ln>
        </p:spPr>
        <p:txBody>
          <a:bodyPr wrap="none">
            <a:spAutoFit/>
          </a:bodyPr>
          <a:lstStyle/>
          <a:p>
            <a:r>
              <a:rPr lang="en-US" altLang="zh-CN" sz="2400" dirty="0"/>
              <a:t>#include "</a:t>
            </a:r>
            <a:r>
              <a:rPr lang="en-US" altLang="zh-CN" sz="2400" dirty="0" err="1"/>
              <a:t>cpu</a:t>
            </a:r>
            <a:r>
              <a:rPr lang="en-US" altLang="zh-CN" sz="2400" dirty="0"/>
              <a:t>/</a:t>
            </a:r>
            <a:r>
              <a:rPr lang="en-US" altLang="zh-CN" sz="2400" dirty="0" err="1"/>
              <a:t>instr.h</a:t>
            </a:r>
            <a:r>
              <a:rPr lang="en-US" altLang="zh-CN" sz="2400" dirty="0"/>
              <a:t>"</a:t>
            </a:r>
            <a:endParaRPr lang="en-US" altLang="zh-CN" sz="2400" dirty="0"/>
          </a:p>
          <a:p>
            <a:r>
              <a:rPr lang="zh-CN" altLang="en-US" sz="2400" dirty="0">
                <a:solidFill>
                  <a:srgbClr val="FF0000"/>
                </a:solidFill>
              </a:rPr>
              <a:t>instr_func</a:t>
            </a:r>
            <a:r>
              <a:rPr lang="zh-CN" altLang="en-US" sz="2400" dirty="0"/>
              <a:t> opcode_entry[256] = { </a:t>
            </a:r>
            <a:r>
              <a:rPr lang="en-US" altLang="zh-CN" sz="2400" dirty="0"/>
              <a:t>… }</a:t>
            </a:r>
            <a:endParaRPr lang="zh-CN" altLang="en-US" sz="2400" dirty="0"/>
          </a:p>
        </p:txBody>
      </p:sp>
      <p:sp>
        <p:nvSpPr>
          <p:cNvPr id="10" name="矩形 9"/>
          <p:cNvSpPr/>
          <p:nvPr/>
        </p:nvSpPr>
        <p:spPr>
          <a:xfrm>
            <a:off x="3020728" y="4758181"/>
            <a:ext cx="7204511" cy="830997"/>
          </a:xfrm>
          <a:prstGeom prst="rect">
            <a:avLst/>
          </a:prstGeom>
          <a:ln>
            <a:solidFill>
              <a:schemeClr val="tx1"/>
            </a:solidFill>
          </a:ln>
        </p:spPr>
        <p:txBody>
          <a:bodyPr wrap="square">
            <a:spAutoFit/>
          </a:bodyPr>
          <a:lstStyle/>
          <a:p>
            <a:r>
              <a:rPr lang="zh-CN" altLang="en-US" sz="2400" dirty="0"/>
              <a:t>// the type of an instruction entry</a:t>
            </a:r>
            <a:endParaRPr lang="zh-CN" altLang="en-US" sz="2400" dirty="0"/>
          </a:p>
          <a:p>
            <a:r>
              <a:rPr lang="zh-CN" altLang="en-US" sz="2400" dirty="0"/>
              <a:t>typedef int (*</a:t>
            </a:r>
            <a:r>
              <a:rPr lang="zh-CN" altLang="en-US" sz="2400" dirty="0">
                <a:solidFill>
                  <a:srgbClr val="FF0000"/>
                </a:solidFill>
              </a:rPr>
              <a:t>instr_func</a:t>
            </a:r>
            <a:r>
              <a:rPr lang="zh-CN" altLang="en-US" sz="2400" dirty="0"/>
              <a:t>)(uint32_t eip, uint8_t opcode);</a:t>
            </a:r>
            <a:endParaRPr lang="zh-CN" altLang="en-US" sz="2400" dirty="0"/>
          </a:p>
        </p:txBody>
      </p:sp>
      <p:sp>
        <p:nvSpPr>
          <p:cNvPr id="11" name="矩形 10"/>
          <p:cNvSpPr/>
          <p:nvPr/>
        </p:nvSpPr>
        <p:spPr>
          <a:xfrm>
            <a:off x="2037903" y="4116495"/>
            <a:ext cx="5205271" cy="523220"/>
          </a:xfrm>
          <a:prstGeom prst="rect">
            <a:avLst/>
          </a:prstGeom>
        </p:spPr>
        <p:txBody>
          <a:bodyPr wrap="none">
            <a:spAutoFit/>
          </a:bodyPr>
          <a:lstStyle/>
          <a:p>
            <a:r>
              <a:rPr lang="en-US" altLang="zh-CN" sz="2800" i="1" dirty="0" err="1">
                <a:solidFill>
                  <a:srgbClr val="0070C0"/>
                </a:solidFill>
              </a:rPr>
              <a:t>nemu</a:t>
            </a:r>
            <a:r>
              <a:rPr lang="en-US" altLang="zh-CN" sz="2800" i="1" dirty="0">
                <a:solidFill>
                  <a:srgbClr val="0070C0"/>
                </a:solidFill>
              </a:rPr>
              <a:t>/include/</a:t>
            </a:r>
            <a:r>
              <a:rPr lang="en-US" altLang="zh-CN" sz="2800" i="1" dirty="0" err="1">
                <a:solidFill>
                  <a:srgbClr val="0070C0"/>
                </a:solidFill>
              </a:rPr>
              <a:t>cpu</a:t>
            </a:r>
            <a:r>
              <a:rPr lang="en-US" altLang="zh-CN" sz="2800" i="1" dirty="0">
                <a:solidFill>
                  <a:srgbClr val="0070C0"/>
                </a:solidFill>
              </a:rPr>
              <a:t>/</a:t>
            </a:r>
            <a:r>
              <a:rPr lang="en-US" altLang="zh-CN" sz="2800" i="1" dirty="0" err="1">
                <a:solidFill>
                  <a:srgbClr val="0070C0"/>
                </a:solidFill>
              </a:rPr>
              <a:t>instr_helper.h</a:t>
            </a:r>
            <a:endParaRPr lang="en-US" altLang="zh-CN" sz="2800" i="1" dirty="0">
              <a:solidFill>
                <a:srgbClr val="0070C0"/>
              </a:solidFill>
            </a:endParaRPr>
          </a:p>
        </p:txBody>
      </p:sp>
      <p:sp>
        <p:nvSpPr>
          <p:cNvPr id="12" name="文本框 11"/>
          <p:cNvSpPr txBox="1"/>
          <p:nvPr/>
        </p:nvSpPr>
        <p:spPr>
          <a:xfrm>
            <a:off x="7599293" y="2648724"/>
            <a:ext cx="2492990" cy="369332"/>
          </a:xfrm>
          <a:prstGeom prst="rect">
            <a:avLst/>
          </a:prstGeom>
          <a:noFill/>
        </p:spPr>
        <p:txBody>
          <a:bodyPr wrap="none" rtlCol="0">
            <a:spAutoFit/>
          </a:bodyPr>
          <a:lstStyle/>
          <a:p>
            <a:r>
              <a:rPr lang="zh-CN" altLang="en-US" dirty="0"/>
              <a:t>实现某一条指令的功能</a:t>
            </a:r>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41D2AEF5-D648-4728-8573-61956C55922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sp>
        <p:nvSpPr>
          <p:cNvPr id="8" name="文本框 7"/>
          <p:cNvSpPr txBox="1"/>
          <p:nvPr/>
        </p:nvSpPr>
        <p:spPr>
          <a:xfrm>
            <a:off x="3912798" y="4003977"/>
            <a:ext cx="6807753" cy="2308324"/>
          </a:xfrm>
          <a:prstGeom prst="rect">
            <a:avLst/>
          </a:prstGeom>
          <a:solidFill>
            <a:schemeClr val="bg1"/>
          </a:solidFill>
          <a:ln>
            <a:solidFill>
              <a:schemeClr val="tx1"/>
            </a:solidFill>
          </a:ln>
        </p:spPr>
        <p:txBody>
          <a:bodyPr wrap="square" rtlCol="0">
            <a:spAutoFit/>
          </a:bodyPr>
          <a:lstStyle/>
          <a:p>
            <a:r>
              <a:rPr lang="zh-CN" altLang="en-US" dirty="0"/>
              <a:t>int </a:t>
            </a:r>
            <a:r>
              <a:rPr lang="zh-CN" altLang="en-US" dirty="0">
                <a:solidFill>
                  <a:srgbClr val="FF0000"/>
                </a:solidFill>
              </a:rPr>
              <a:t>exec_inst</a:t>
            </a:r>
            <a:r>
              <a:rPr lang="zh-CN" altLang="en-US" dirty="0"/>
              <a:t>() {</a:t>
            </a:r>
            <a:endParaRPr lang="zh-CN" altLang="en-US" dirty="0"/>
          </a:p>
          <a:p>
            <a:r>
              <a:rPr lang="zh-CN" altLang="en-US"/>
              <a:t>	uint</a:t>
            </a:r>
            <a:r>
              <a:rPr lang="zh-CN" altLang="en-US" dirty="0"/>
              <a:t>8_t opcode = 0;</a:t>
            </a:r>
            <a:endParaRPr lang="zh-CN" altLang="en-US" dirty="0"/>
          </a:p>
          <a:p>
            <a:r>
              <a:rPr lang="zh-CN" altLang="en-US"/>
              <a:t>	</a:t>
            </a:r>
            <a:r>
              <a:rPr lang="zh-CN" altLang="en-US">
                <a:solidFill>
                  <a:srgbClr val="00B050"/>
                </a:solidFill>
              </a:rPr>
              <a:t>// </a:t>
            </a:r>
            <a:r>
              <a:rPr lang="zh-CN" altLang="en-US" dirty="0">
                <a:solidFill>
                  <a:srgbClr val="00B050"/>
                </a:solidFill>
              </a:rPr>
              <a:t>get the opcode， 取操作数</a:t>
            </a:r>
            <a:endParaRPr lang="zh-CN" altLang="en-US" dirty="0">
              <a:solidFill>
                <a:srgbClr val="00B050"/>
              </a:solidFill>
            </a:endParaRPr>
          </a:p>
          <a:p>
            <a:r>
              <a:rPr lang="zh-CN" altLang="en-US"/>
              <a:t>	opcode </a:t>
            </a:r>
            <a:r>
              <a:rPr lang="zh-CN" altLang="en-US" dirty="0"/>
              <a:t>= instr_fetch(cpu.eip, 1);</a:t>
            </a:r>
            <a:endParaRPr lang="zh-CN" altLang="en-US" dirty="0"/>
          </a:p>
          <a:p>
            <a:r>
              <a:rPr lang="zh-CN" altLang="en-US"/>
              <a:t>	</a:t>
            </a:r>
            <a:r>
              <a:rPr lang="zh-CN" altLang="en-US">
                <a:solidFill>
                  <a:srgbClr val="00B050"/>
                </a:solidFill>
              </a:rPr>
              <a:t>// </a:t>
            </a:r>
            <a:r>
              <a:rPr lang="zh-CN" altLang="en-US" dirty="0">
                <a:solidFill>
                  <a:srgbClr val="00B050"/>
                </a:solidFill>
              </a:rPr>
              <a:t>instruction decode and execution，执行这条指令</a:t>
            </a:r>
            <a:endParaRPr lang="zh-CN" altLang="en-US" dirty="0">
              <a:solidFill>
                <a:srgbClr val="00B050"/>
              </a:solidFill>
            </a:endParaRPr>
          </a:p>
          <a:p>
            <a:r>
              <a:rPr lang="zh-CN" altLang="en-US"/>
              <a:t>	int </a:t>
            </a:r>
            <a:r>
              <a:rPr lang="zh-CN" altLang="en-US" dirty="0"/>
              <a:t>len = </a:t>
            </a:r>
            <a:r>
              <a:rPr lang="zh-CN" altLang="en-US" dirty="0">
                <a:solidFill>
                  <a:srgbClr val="FF0000"/>
                </a:solidFill>
              </a:rPr>
              <a:t>opcode_entry</a:t>
            </a:r>
            <a:r>
              <a:rPr lang="zh-CN" altLang="en-US" dirty="0"/>
              <a:t>[opcode](cpu.eip, opcode);</a:t>
            </a:r>
            <a:endParaRPr lang="zh-CN" altLang="en-US" dirty="0"/>
          </a:p>
          <a:p>
            <a:r>
              <a:rPr lang="zh-CN" altLang="en-US"/>
              <a:t>	return </a:t>
            </a:r>
            <a:r>
              <a:rPr lang="zh-CN" altLang="en-US" dirty="0"/>
              <a:t>len;  </a:t>
            </a:r>
            <a:r>
              <a:rPr lang="en-US" altLang="zh-CN" dirty="0">
                <a:solidFill>
                  <a:srgbClr val="00B050"/>
                </a:solidFill>
              </a:rPr>
              <a:t>// </a:t>
            </a:r>
            <a:r>
              <a:rPr lang="zh-CN" altLang="en-US" dirty="0">
                <a:solidFill>
                  <a:srgbClr val="00B050"/>
                </a:solidFill>
              </a:rPr>
              <a:t>返回指令长度</a:t>
            </a:r>
            <a:endParaRPr lang="zh-CN" altLang="en-US" dirty="0">
              <a:solidFill>
                <a:srgbClr val="00B050"/>
              </a:solidFill>
            </a:endParaRPr>
          </a:p>
          <a:p>
            <a:r>
              <a:rPr lang="zh-CN" altLang="en-US" dirty="0"/>
              <a:t>}</a:t>
            </a:r>
            <a:endParaRPr lang="zh-CN" altLang="en-US" dirty="0"/>
          </a:p>
        </p:txBody>
      </p:sp>
      <p:sp>
        <p:nvSpPr>
          <p:cNvPr id="9" name="矩形 8"/>
          <p:cNvSpPr/>
          <p:nvPr/>
        </p:nvSpPr>
        <p:spPr>
          <a:xfrm>
            <a:off x="4603531" y="5360276"/>
            <a:ext cx="5454869" cy="462455"/>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标题 1"/>
          <p:cNvSpPr>
            <a:spLocks noGrp="1"/>
          </p:cNvSpPr>
          <p:nvPr>
            <p:ph type="title"/>
          </p:nvPr>
        </p:nvSpPr>
        <p:spPr>
          <a:xfrm>
            <a:off x="838200" y="-1875"/>
            <a:ext cx="10515600" cy="734002"/>
          </a:xfrm>
        </p:spPr>
        <p:txBody>
          <a:bodyPr/>
          <a:lstStyle/>
          <a:p>
            <a:r>
              <a:rPr lang="en-US" altLang="zh-CN" dirty="0"/>
              <a:t>NEMU</a:t>
            </a:r>
            <a:r>
              <a:rPr lang="zh-CN" altLang="en-US" dirty="0"/>
              <a:t>模拟指令解码和执行</a:t>
            </a:r>
            <a:endParaRPr lang="zh-CN" altLang="en-US" dirty="0"/>
          </a:p>
        </p:txBody>
      </p:sp>
      <p:sp>
        <p:nvSpPr>
          <p:cNvPr id="14" name="矩形 13"/>
          <p:cNvSpPr/>
          <p:nvPr/>
        </p:nvSpPr>
        <p:spPr>
          <a:xfrm>
            <a:off x="4131162" y="779503"/>
            <a:ext cx="7752443" cy="646331"/>
          </a:xfrm>
          <a:prstGeom prst="rect">
            <a:avLst/>
          </a:prstGeom>
        </p:spPr>
        <p:txBody>
          <a:bodyPr wrap="none">
            <a:spAutoFit/>
          </a:bodyPr>
          <a:lstStyle/>
          <a:p>
            <a:pPr algn="ctr">
              <a:spcBef>
                <a:spcPts val="600"/>
              </a:spcBef>
            </a:pPr>
            <a:r>
              <a:rPr lang="zh-CN" altLang="en-US" sz="3600" kern="100" dirty="0">
                <a:latin typeface="等线" panose="02010600030101010101" charset="-122"/>
                <a:cs typeface="Times New Roman" panose="02020603050405020304" pitchFamily="18" charset="0"/>
              </a:rPr>
              <a:t>内存： </a:t>
            </a:r>
            <a:r>
              <a:rPr lang="en-US" altLang="zh-CN" sz="3600" kern="100" dirty="0">
                <a:latin typeface="等线" panose="02010600030101010101" charset="-122"/>
                <a:cs typeface="Times New Roman" panose="02020603050405020304" pitchFamily="18" charset="0"/>
              </a:rPr>
              <a:t>C7 05 48 11 10 00 02 00 00 00</a:t>
            </a:r>
            <a:endParaRPr lang="zh-CN" altLang="zh-CN" sz="3600" kern="100" dirty="0">
              <a:latin typeface="等线" panose="02010600030101010101" charset="-122"/>
              <a:cs typeface="Times New Roman" panose="02020603050405020304" pitchFamily="18" charset="0"/>
            </a:endParaRPr>
          </a:p>
        </p:txBody>
      </p:sp>
      <p:sp>
        <p:nvSpPr>
          <p:cNvPr id="15" name="文本框 14"/>
          <p:cNvSpPr txBox="1"/>
          <p:nvPr/>
        </p:nvSpPr>
        <p:spPr>
          <a:xfrm>
            <a:off x="147637" y="747956"/>
            <a:ext cx="3655623" cy="3416320"/>
          </a:xfrm>
          <a:prstGeom prst="rect">
            <a:avLst/>
          </a:prstGeom>
          <a:ln w="25400">
            <a:solidFill>
              <a:srgbClr val="C00000"/>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zh-CN" dirty="0"/>
              <a:t>switch(</a:t>
            </a:r>
            <a:r>
              <a:rPr lang="en-US" altLang="zh-CN" dirty="0">
                <a:solidFill>
                  <a:srgbClr val="7030A0"/>
                </a:solidFill>
              </a:rPr>
              <a:t>opcode</a:t>
            </a:r>
            <a:r>
              <a:rPr lang="en-US" altLang="zh-CN" dirty="0"/>
              <a:t>)</a:t>
            </a:r>
            <a:endParaRPr lang="en-US" altLang="zh-CN" dirty="0"/>
          </a:p>
          <a:p>
            <a:r>
              <a:rPr lang="en-US" altLang="zh-CN" dirty="0"/>
              <a:t>{</a:t>
            </a:r>
            <a:endParaRPr lang="en-US" altLang="zh-CN" dirty="0"/>
          </a:p>
          <a:p>
            <a:r>
              <a:rPr lang="en-US" altLang="zh-CN" dirty="0">
                <a:solidFill>
                  <a:srgbClr val="7030A0"/>
                </a:solidFill>
              </a:rPr>
              <a:t>case 0x00</a:t>
            </a:r>
            <a:r>
              <a:rPr lang="en-US" altLang="zh-CN" dirty="0"/>
              <a:t>: add_r2rm_b(); break;</a:t>
            </a:r>
            <a:endParaRPr lang="en-US" altLang="zh-CN" dirty="0"/>
          </a:p>
          <a:p>
            <a:r>
              <a:rPr lang="en-US" altLang="zh-CN" dirty="0">
                <a:solidFill>
                  <a:srgbClr val="7030A0"/>
                </a:solidFill>
              </a:rPr>
              <a:t>case 0x01</a:t>
            </a:r>
            <a:r>
              <a:rPr lang="en-US" altLang="zh-CN" dirty="0"/>
              <a:t>: add_r2rm_v(); break;</a:t>
            </a:r>
            <a:endParaRPr lang="en-US" altLang="zh-CN" dirty="0"/>
          </a:p>
          <a:p>
            <a:r>
              <a:rPr lang="en-US" altLang="zh-CN" dirty="0"/>
              <a:t>…</a:t>
            </a:r>
            <a:endParaRPr lang="en-US" altLang="zh-CN" dirty="0"/>
          </a:p>
          <a:p>
            <a:r>
              <a:rPr lang="en-US" altLang="zh-CN" dirty="0">
                <a:solidFill>
                  <a:srgbClr val="7030A0"/>
                </a:solidFill>
              </a:rPr>
              <a:t>case 0x10</a:t>
            </a:r>
            <a:r>
              <a:rPr lang="en-US" altLang="zh-CN" dirty="0"/>
              <a:t>: adc_r2rm_b(); break;</a:t>
            </a:r>
            <a:endParaRPr lang="en-US" altLang="zh-CN" dirty="0"/>
          </a:p>
          <a:p>
            <a:r>
              <a:rPr lang="en-US" altLang="zh-CN" dirty="0"/>
              <a:t>…</a:t>
            </a:r>
            <a:endParaRPr lang="en-US" altLang="zh-CN" dirty="0"/>
          </a:p>
          <a:p>
            <a:r>
              <a:rPr lang="en-US" altLang="zh-CN" dirty="0">
                <a:solidFill>
                  <a:srgbClr val="7030A0"/>
                </a:solidFill>
              </a:rPr>
              <a:t>case 0x8b</a:t>
            </a:r>
            <a:r>
              <a:rPr lang="en-US" altLang="zh-CN" dirty="0"/>
              <a:t>: mov_rm2r_v(); break;</a:t>
            </a:r>
            <a:endParaRPr lang="en-US" altLang="zh-CN" dirty="0"/>
          </a:p>
          <a:p>
            <a:r>
              <a:rPr lang="en-US" altLang="zh-CN" dirty="0"/>
              <a:t>…</a:t>
            </a:r>
            <a:endParaRPr lang="en-US" altLang="zh-CN" dirty="0"/>
          </a:p>
          <a:p>
            <a:r>
              <a:rPr lang="en-US" altLang="zh-CN" dirty="0">
                <a:solidFill>
                  <a:srgbClr val="7030A0"/>
                </a:solidFill>
              </a:rPr>
              <a:t>case 0xc7</a:t>
            </a:r>
            <a:r>
              <a:rPr lang="en-US" altLang="zh-CN" dirty="0"/>
              <a:t>: mov_i2rm_v(); break;</a:t>
            </a:r>
            <a:endParaRPr lang="en-US" altLang="zh-CN" dirty="0"/>
          </a:p>
          <a:p>
            <a:r>
              <a:rPr lang="en-US" altLang="zh-CN" dirty="0"/>
              <a:t>…</a:t>
            </a:r>
            <a:endParaRPr lang="en-US" altLang="zh-CN" dirty="0"/>
          </a:p>
          <a:p>
            <a:r>
              <a:rPr lang="en-US" altLang="zh-CN" dirty="0"/>
              <a:t>};</a:t>
            </a:r>
            <a:endParaRPr lang="zh-CN" altLang="en-US" dirty="0"/>
          </a:p>
        </p:txBody>
      </p:sp>
      <p:pic>
        <p:nvPicPr>
          <p:cNvPr id="17" name="图片 16"/>
          <p:cNvPicPr>
            <a:picLocks noChangeAspect="1"/>
          </p:cNvPicPr>
          <p:nvPr/>
        </p:nvPicPr>
        <p:blipFill>
          <a:blip r:embed="rId1"/>
          <a:stretch>
            <a:fillRect/>
          </a:stretch>
        </p:blipFill>
        <p:spPr>
          <a:xfrm>
            <a:off x="147637" y="4439945"/>
            <a:ext cx="3260813" cy="1988134"/>
          </a:xfrm>
          <a:prstGeom prst="rect">
            <a:avLst/>
          </a:prstGeom>
          <a:ln w="25400">
            <a:solidFill>
              <a:srgbClr val="7030A0"/>
            </a:solidFill>
          </a:ln>
        </p:spPr>
      </p:pic>
      <p:cxnSp>
        <p:nvCxnSpPr>
          <p:cNvPr id="18" name="直接箭头连接符 17"/>
          <p:cNvCxnSpPr/>
          <p:nvPr/>
        </p:nvCxnSpPr>
        <p:spPr>
          <a:xfrm>
            <a:off x="838200" y="3807089"/>
            <a:ext cx="0" cy="917311"/>
          </a:xfrm>
          <a:prstGeom prst="straightConnector1">
            <a:avLst/>
          </a:prstGeom>
          <a:ln w="63500">
            <a:solidFill>
              <a:srgbClr val="7030A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947739" y="3733952"/>
            <a:ext cx="646331" cy="369332"/>
          </a:xfrm>
          <a:prstGeom prst="rect">
            <a:avLst/>
          </a:prstGeom>
          <a:noFill/>
        </p:spPr>
        <p:txBody>
          <a:bodyPr wrap="none" rtlCol="0">
            <a:spAutoFit/>
          </a:bodyPr>
          <a:lstStyle/>
          <a:p>
            <a:r>
              <a:rPr lang="zh-CN" altLang="en-US" dirty="0"/>
              <a:t>对应</a:t>
            </a:r>
            <a:endParaRPr lang="zh-CN" altLang="en-US" dirty="0"/>
          </a:p>
        </p:txBody>
      </p:sp>
      <p:cxnSp>
        <p:nvCxnSpPr>
          <p:cNvPr id="21" name="直接箭头连接符 20"/>
          <p:cNvCxnSpPr/>
          <p:nvPr/>
        </p:nvCxnSpPr>
        <p:spPr>
          <a:xfrm>
            <a:off x="3576461" y="3734270"/>
            <a:ext cx="815552" cy="1521044"/>
          </a:xfrm>
          <a:prstGeom prst="straightConnector1">
            <a:avLst/>
          </a:prstGeom>
          <a:ln w="6350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3392269" y="4411502"/>
            <a:ext cx="646331" cy="369332"/>
          </a:xfrm>
          <a:prstGeom prst="rect">
            <a:avLst/>
          </a:prstGeom>
          <a:noFill/>
        </p:spPr>
        <p:txBody>
          <a:bodyPr wrap="none" rtlCol="0">
            <a:spAutoFit/>
          </a:bodyPr>
          <a:lstStyle/>
          <a:p>
            <a:r>
              <a:rPr lang="zh-CN" altLang="en-US" dirty="0"/>
              <a:t>等价</a:t>
            </a:r>
            <a:endParaRPr lang="zh-CN" altLang="en-US" dirty="0"/>
          </a:p>
        </p:txBody>
      </p:sp>
      <p:sp>
        <p:nvSpPr>
          <p:cNvPr id="10" name="矩形 9"/>
          <p:cNvSpPr/>
          <p:nvPr/>
        </p:nvSpPr>
        <p:spPr>
          <a:xfrm>
            <a:off x="4219575" y="1560743"/>
            <a:ext cx="7972425" cy="2308324"/>
          </a:xfrm>
          <a:prstGeom prst="rect">
            <a:avLst/>
          </a:prstGeom>
        </p:spPr>
        <p:txBody>
          <a:bodyPr wrap="square">
            <a:spAutoFit/>
          </a:bodyPr>
          <a:lstStyle/>
          <a:p>
            <a:r>
              <a:rPr lang="en-US" altLang="zh-CN" dirty="0" err="1"/>
              <a:t>instr_func</a:t>
            </a:r>
            <a:r>
              <a:rPr lang="en-US" altLang="zh-CN" dirty="0"/>
              <a:t> </a:t>
            </a:r>
            <a:r>
              <a:rPr lang="en-US" altLang="zh-CN" dirty="0" err="1"/>
              <a:t>opcode_entry</a:t>
            </a:r>
            <a:r>
              <a:rPr lang="en-US" altLang="zh-CN" dirty="0"/>
              <a:t>[256] = {</a:t>
            </a:r>
            <a:endParaRPr lang="en-US" altLang="zh-CN" dirty="0"/>
          </a:p>
          <a:p>
            <a:r>
              <a:rPr lang="en-US" altLang="zh-CN" dirty="0"/>
              <a:t>    …</a:t>
            </a:r>
            <a:endParaRPr lang="en-US" altLang="zh-CN" dirty="0"/>
          </a:p>
          <a:p>
            <a:r>
              <a:rPr lang="en-US" altLang="zh-CN" dirty="0"/>
              <a:t>    /* 0xbc - 0xbf*/ mov_i2r_v, mov_i2r_v, mov_i2r_v, mov_i2r_v,</a:t>
            </a:r>
            <a:endParaRPr lang="en-US" altLang="zh-CN" dirty="0"/>
          </a:p>
          <a:p>
            <a:r>
              <a:rPr lang="en-US" altLang="zh-CN" dirty="0"/>
              <a:t>    /* 0xc0 - 0xc3*/ group_2_b, group_2_v, </a:t>
            </a:r>
            <a:r>
              <a:rPr lang="en-US" altLang="zh-CN" dirty="0" err="1"/>
              <a:t>inv</a:t>
            </a:r>
            <a:r>
              <a:rPr lang="en-US" altLang="zh-CN" dirty="0"/>
              <a:t>, </a:t>
            </a:r>
            <a:r>
              <a:rPr lang="en-US" altLang="zh-CN" dirty="0" err="1"/>
              <a:t>inv</a:t>
            </a:r>
            <a:r>
              <a:rPr lang="en-US" altLang="zh-CN" dirty="0"/>
              <a:t>,</a:t>
            </a:r>
            <a:endParaRPr lang="en-US" altLang="zh-CN" dirty="0"/>
          </a:p>
          <a:p>
            <a:r>
              <a:rPr lang="en-US" altLang="zh-CN" dirty="0"/>
              <a:t>    /* 0xc4 - 0xc7*/ </a:t>
            </a:r>
            <a:r>
              <a:rPr lang="en-US" altLang="zh-CN" dirty="0" err="1"/>
              <a:t>inv</a:t>
            </a:r>
            <a:r>
              <a:rPr lang="en-US" altLang="zh-CN" dirty="0"/>
              <a:t>, </a:t>
            </a:r>
            <a:r>
              <a:rPr lang="en-US" altLang="zh-CN" dirty="0" err="1"/>
              <a:t>inv</a:t>
            </a:r>
            <a:r>
              <a:rPr lang="en-US" altLang="zh-CN" dirty="0"/>
              <a:t>, mov_i2rm_b, mov_i2rm_v,</a:t>
            </a:r>
            <a:endParaRPr lang="en-US" altLang="zh-CN" dirty="0"/>
          </a:p>
          <a:p>
            <a:r>
              <a:rPr lang="en-US" altLang="zh-CN" dirty="0"/>
              <a:t>    /* 0xc8 - 0xcb*/ </a:t>
            </a:r>
            <a:r>
              <a:rPr lang="en-US" altLang="zh-CN" dirty="0" err="1"/>
              <a:t>inv</a:t>
            </a:r>
            <a:r>
              <a:rPr lang="en-US" altLang="zh-CN" dirty="0"/>
              <a:t>, </a:t>
            </a:r>
            <a:r>
              <a:rPr lang="en-US" altLang="zh-CN" dirty="0" err="1"/>
              <a:t>inv</a:t>
            </a:r>
            <a:r>
              <a:rPr lang="en-US" altLang="zh-CN" dirty="0"/>
              <a:t>, </a:t>
            </a:r>
            <a:r>
              <a:rPr lang="en-US" altLang="zh-CN" dirty="0" err="1"/>
              <a:t>inv</a:t>
            </a:r>
            <a:r>
              <a:rPr lang="en-US" altLang="zh-CN" dirty="0"/>
              <a:t>, </a:t>
            </a:r>
            <a:r>
              <a:rPr lang="en-US" altLang="zh-CN" dirty="0" err="1"/>
              <a:t>inv</a:t>
            </a:r>
            <a:r>
              <a:rPr lang="en-US" altLang="zh-CN" dirty="0"/>
              <a:t>,</a:t>
            </a:r>
            <a:endParaRPr lang="en-US" altLang="zh-CN" dirty="0"/>
          </a:p>
          <a:p>
            <a:r>
              <a:rPr lang="en-US" altLang="zh-CN" dirty="0"/>
              <a:t>    …</a:t>
            </a:r>
            <a:endParaRPr lang="en-US" altLang="zh-CN" dirty="0"/>
          </a:p>
          <a:p>
            <a:r>
              <a:rPr lang="en-US" altLang="zh-CN" dirty="0"/>
              <a:t>};</a:t>
            </a:r>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383325" y="109316"/>
            <a:ext cx="7752443" cy="646331"/>
          </a:xfrm>
          <a:prstGeom prst="rect">
            <a:avLst/>
          </a:prstGeom>
        </p:spPr>
        <p:txBody>
          <a:bodyPr wrap="none">
            <a:spAutoFit/>
          </a:bodyPr>
          <a:lstStyle/>
          <a:p>
            <a:pPr algn="ctr">
              <a:spcBef>
                <a:spcPts val="600"/>
              </a:spcBef>
            </a:pPr>
            <a:r>
              <a:rPr lang="zh-CN" altLang="en-US" sz="3600" kern="100" dirty="0">
                <a:latin typeface="等线" panose="02010600030101010101" charset="-122"/>
                <a:cs typeface="Times New Roman" panose="02020603050405020304" pitchFamily="18" charset="0"/>
              </a:rPr>
              <a:t>内存： </a:t>
            </a:r>
            <a:r>
              <a:rPr lang="en-US" altLang="zh-CN" sz="3600" kern="100" dirty="0">
                <a:latin typeface="等线" panose="02010600030101010101" charset="-122"/>
                <a:cs typeface="Times New Roman" panose="02020603050405020304" pitchFamily="18" charset="0"/>
              </a:rPr>
              <a:t>C7 05 48 11 10 00 02 00 00 00</a:t>
            </a:r>
            <a:endParaRPr lang="zh-CN" altLang="zh-CN" sz="3600" kern="100" dirty="0">
              <a:latin typeface="等线" panose="02010600030101010101" charset="-122"/>
              <a:cs typeface="Times New Roman" panose="02020603050405020304" pitchFamily="18" charset="0"/>
            </a:endParaRPr>
          </a:p>
        </p:txBody>
      </p:sp>
      <p:sp>
        <p:nvSpPr>
          <p:cNvPr id="8" name="矩形 7"/>
          <p:cNvSpPr/>
          <p:nvPr/>
        </p:nvSpPr>
        <p:spPr>
          <a:xfrm>
            <a:off x="7057515" y="1054896"/>
            <a:ext cx="3275256" cy="523220"/>
          </a:xfrm>
          <a:prstGeom prst="rect">
            <a:avLst/>
          </a:prstGeom>
        </p:spPr>
        <p:txBody>
          <a:bodyPr wrap="none">
            <a:spAutoFit/>
          </a:bodyPr>
          <a:lstStyle/>
          <a:p>
            <a:r>
              <a:rPr lang="en-US" altLang="zh-CN" sz="2800" i="1" dirty="0" err="1">
                <a:solidFill>
                  <a:srgbClr val="0070C0"/>
                </a:solidFill>
              </a:rPr>
              <a:t>nemu</a:t>
            </a:r>
            <a:r>
              <a:rPr lang="en-US" altLang="zh-CN" sz="2800" i="1" dirty="0">
                <a:solidFill>
                  <a:srgbClr val="0070C0"/>
                </a:solidFill>
              </a:rPr>
              <a:t>/</a:t>
            </a:r>
            <a:r>
              <a:rPr lang="en-US" altLang="zh-CN" sz="2800" i="1" dirty="0" err="1">
                <a:solidFill>
                  <a:srgbClr val="0070C0"/>
                </a:solidFill>
              </a:rPr>
              <a:t>src</a:t>
            </a:r>
            <a:r>
              <a:rPr lang="en-US" altLang="zh-CN" sz="2800" i="1" dirty="0">
                <a:solidFill>
                  <a:srgbClr val="0070C0"/>
                </a:solidFill>
              </a:rPr>
              <a:t>/</a:t>
            </a:r>
            <a:r>
              <a:rPr lang="en-US" altLang="zh-CN" sz="2800" i="1" dirty="0" err="1">
                <a:solidFill>
                  <a:srgbClr val="0070C0"/>
                </a:solidFill>
              </a:rPr>
              <a:t>cpu</a:t>
            </a:r>
            <a:r>
              <a:rPr lang="en-US" altLang="zh-CN" sz="2800" i="1" dirty="0">
                <a:solidFill>
                  <a:srgbClr val="0070C0"/>
                </a:solidFill>
              </a:rPr>
              <a:t>/</a:t>
            </a:r>
            <a:r>
              <a:rPr lang="en-US" altLang="zh-CN" sz="2800" i="1" dirty="0" err="1">
                <a:solidFill>
                  <a:srgbClr val="0070C0"/>
                </a:solidFill>
              </a:rPr>
              <a:t>cpu.c</a:t>
            </a:r>
            <a:endParaRPr lang="en-US" altLang="zh-CN" sz="2800" i="1" dirty="0">
              <a:solidFill>
                <a:srgbClr val="0070C0"/>
              </a:solidFill>
            </a:endParaRPr>
          </a:p>
        </p:txBody>
      </p:sp>
      <p:sp>
        <p:nvSpPr>
          <p:cNvPr id="9" name="文本框 8"/>
          <p:cNvSpPr txBox="1"/>
          <p:nvPr/>
        </p:nvSpPr>
        <p:spPr>
          <a:xfrm>
            <a:off x="4959928" y="1122959"/>
            <a:ext cx="5582885" cy="3970318"/>
          </a:xfrm>
          <a:prstGeom prst="rect">
            <a:avLst/>
          </a:prstGeom>
          <a:noFill/>
          <a:ln>
            <a:solidFill>
              <a:schemeClr val="tx1"/>
            </a:solidFill>
          </a:ln>
        </p:spPr>
        <p:txBody>
          <a:bodyPr wrap="square" rtlCol="0">
            <a:spAutoFit/>
          </a:bodyPr>
          <a:lstStyle/>
          <a:p>
            <a:r>
              <a:rPr lang="en-US" altLang="zh-CN" sz="1400" dirty="0"/>
              <a:t>void </a:t>
            </a:r>
            <a:r>
              <a:rPr lang="en-US" altLang="zh-CN" sz="1400" dirty="0">
                <a:solidFill>
                  <a:srgbClr val="FF0000"/>
                </a:solidFill>
              </a:rPr>
              <a:t>exec</a:t>
            </a:r>
            <a:r>
              <a:rPr lang="en-US" altLang="zh-CN" sz="1400" dirty="0"/>
              <a:t>(uint32_t n) {</a:t>
            </a:r>
            <a:endParaRPr lang="en-US" altLang="zh-CN" sz="1400" dirty="0"/>
          </a:p>
          <a:p>
            <a:r>
              <a:rPr lang="en-US" altLang="zh-CN" sz="1400"/>
              <a:t>	…</a:t>
            </a:r>
            <a:endParaRPr lang="en-US" altLang="zh-CN" sz="1400" dirty="0"/>
          </a:p>
          <a:p>
            <a:r>
              <a:rPr lang="en-US" altLang="zh-CN" sz="1400"/>
              <a:t>	while</a:t>
            </a:r>
            <a:r>
              <a:rPr lang="en-US" altLang="zh-CN" sz="1400" dirty="0"/>
              <a:t>( n &gt; 0 &amp;&amp; </a:t>
            </a:r>
            <a:r>
              <a:rPr lang="en-US" altLang="zh-CN" sz="1400" dirty="0" err="1"/>
              <a:t>nemu_state</a:t>
            </a:r>
            <a:r>
              <a:rPr lang="en-US" altLang="zh-CN" sz="1400" dirty="0"/>
              <a:t> == NEMU_RUN) {</a:t>
            </a:r>
            <a:endParaRPr lang="en-US" altLang="zh-CN" sz="1400" dirty="0"/>
          </a:p>
          <a:p>
            <a:r>
              <a:rPr lang="en-US" altLang="zh-CN" sz="1400"/>
              <a:t>		…</a:t>
            </a:r>
            <a:endParaRPr lang="en-US" altLang="zh-CN" sz="1400" dirty="0"/>
          </a:p>
          <a:p>
            <a:r>
              <a:rPr lang="en-US" altLang="zh-CN" sz="1400"/>
              <a:t>		instr_len </a:t>
            </a:r>
            <a:r>
              <a:rPr lang="en-US" altLang="zh-CN" sz="1400" dirty="0"/>
              <a:t>= </a:t>
            </a:r>
            <a:r>
              <a:rPr lang="en-US" altLang="zh-CN" sz="1400" dirty="0" err="1">
                <a:solidFill>
                  <a:srgbClr val="FF0000"/>
                </a:solidFill>
              </a:rPr>
              <a:t>exec_inst</a:t>
            </a:r>
            <a:r>
              <a:rPr lang="en-US" altLang="zh-CN" sz="1400" dirty="0"/>
              <a:t>();</a:t>
            </a:r>
            <a:endParaRPr lang="en-US" altLang="zh-CN" sz="1400" dirty="0"/>
          </a:p>
          <a:p>
            <a:r>
              <a:rPr lang="en-US" altLang="zh-CN" sz="1400"/>
              <a:t>		cpu.eip </a:t>
            </a:r>
            <a:r>
              <a:rPr lang="en-US" altLang="zh-CN" sz="1400" dirty="0"/>
              <a:t>+= </a:t>
            </a:r>
            <a:r>
              <a:rPr lang="en-US" altLang="zh-CN" sz="1400" dirty="0" err="1"/>
              <a:t>instr_len</a:t>
            </a:r>
            <a:r>
              <a:rPr lang="en-US" altLang="zh-CN" sz="1400" dirty="0"/>
              <a:t>;</a:t>
            </a:r>
            <a:endParaRPr lang="en-US" altLang="zh-CN" sz="1400" dirty="0"/>
          </a:p>
          <a:p>
            <a:r>
              <a:rPr lang="en-US" altLang="zh-CN" sz="1400"/>
              <a:t>		n-</a:t>
            </a:r>
            <a:r>
              <a:rPr lang="en-US" altLang="zh-CN" sz="1400" dirty="0"/>
              <a:t>-;</a:t>
            </a:r>
            <a:endParaRPr lang="en-US" altLang="zh-CN" sz="1400" dirty="0"/>
          </a:p>
          <a:p>
            <a:r>
              <a:rPr lang="en-US" altLang="zh-CN" sz="1400"/>
              <a:t>		…</a:t>
            </a:r>
            <a:endParaRPr lang="en-US" altLang="zh-CN" sz="1400" dirty="0"/>
          </a:p>
          <a:p>
            <a:r>
              <a:rPr lang="en-US" altLang="zh-CN" sz="1400"/>
              <a:t>	}</a:t>
            </a:r>
            <a:endParaRPr lang="en-US" altLang="zh-CN" sz="1400" dirty="0"/>
          </a:p>
          <a:p>
            <a:r>
              <a:rPr lang="en-US" altLang="zh-CN" sz="1400"/>
              <a:t>	…</a:t>
            </a:r>
            <a:endParaRPr lang="en-US" altLang="zh-CN" sz="1400" dirty="0"/>
          </a:p>
          <a:p>
            <a:r>
              <a:rPr lang="en-US" altLang="zh-CN" sz="1400" dirty="0"/>
              <a:t>}</a:t>
            </a:r>
            <a:endParaRPr lang="en-US" altLang="zh-CN" sz="1400" dirty="0"/>
          </a:p>
          <a:p>
            <a:endParaRPr lang="en-US" altLang="zh-CN" sz="1400" dirty="0"/>
          </a:p>
          <a:p>
            <a:r>
              <a:rPr lang="zh-CN" altLang="en-US" sz="1400" dirty="0"/>
              <a:t>int </a:t>
            </a:r>
            <a:r>
              <a:rPr lang="zh-CN" altLang="en-US" sz="1400" dirty="0">
                <a:solidFill>
                  <a:srgbClr val="FF0000"/>
                </a:solidFill>
              </a:rPr>
              <a:t>exec_inst</a:t>
            </a:r>
            <a:r>
              <a:rPr lang="zh-CN" altLang="en-US" sz="1400" dirty="0"/>
              <a:t>() {</a:t>
            </a:r>
            <a:endParaRPr lang="zh-CN" altLang="en-US" sz="1400" dirty="0"/>
          </a:p>
          <a:p>
            <a:r>
              <a:rPr lang="zh-CN" altLang="en-US" sz="1400"/>
              <a:t>	uint</a:t>
            </a:r>
            <a:r>
              <a:rPr lang="zh-CN" altLang="en-US" sz="1400" dirty="0"/>
              <a:t>8_t opcode = 0;</a:t>
            </a:r>
            <a:endParaRPr lang="zh-CN" altLang="en-US" sz="1400" dirty="0"/>
          </a:p>
          <a:p>
            <a:r>
              <a:rPr lang="zh-CN" altLang="en-US" sz="1400"/>
              <a:t>	opcode </a:t>
            </a:r>
            <a:r>
              <a:rPr lang="zh-CN" altLang="en-US" sz="1400" dirty="0"/>
              <a:t>= instr_fetch(cpu.eip, 1);</a:t>
            </a:r>
            <a:endParaRPr lang="zh-CN" altLang="en-US" sz="1400" dirty="0"/>
          </a:p>
          <a:p>
            <a:r>
              <a:rPr lang="zh-CN" altLang="en-US" sz="1400"/>
              <a:t>	int </a:t>
            </a:r>
            <a:r>
              <a:rPr lang="zh-CN" altLang="en-US" sz="1400" dirty="0"/>
              <a:t>len = </a:t>
            </a:r>
            <a:r>
              <a:rPr lang="zh-CN" altLang="en-US" sz="1400" dirty="0">
                <a:solidFill>
                  <a:srgbClr val="FF0000"/>
                </a:solidFill>
              </a:rPr>
              <a:t>opcode_entry</a:t>
            </a:r>
            <a:r>
              <a:rPr lang="zh-CN" altLang="en-US" sz="1400" dirty="0"/>
              <a:t>[opcode](cpu.eip, opcode);</a:t>
            </a:r>
            <a:endParaRPr lang="zh-CN" altLang="en-US" sz="1400" dirty="0"/>
          </a:p>
          <a:p>
            <a:r>
              <a:rPr lang="zh-CN" altLang="en-US" sz="1400"/>
              <a:t>	return </a:t>
            </a:r>
            <a:r>
              <a:rPr lang="zh-CN" altLang="en-US" sz="1400" dirty="0"/>
              <a:t>len;  </a:t>
            </a:r>
            <a:r>
              <a:rPr lang="en-US" altLang="zh-CN" sz="1400" dirty="0">
                <a:solidFill>
                  <a:srgbClr val="00B050"/>
                </a:solidFill>
              </a:rPr>
              <a:t>// </a:t>
            </a:r>
            <a:r>
              <a:rPr lang="zh-CN" altLang="en-US" sz="1400" dirty="0">
                <a:solidFill>
                  <a:srgbClr val="00B050"/>
                </a:solidFill>
              </a:rPr>
              <a:t>返回指令长度</a:t>
            </a:r>
            <a:endParaRPr lang="zh-CN" altLang="en-US" sz="1400" dirty="0">
              <a:solidFill>
                <a:srgbClr val="00B050"/>
              </a:solidFill>
            </a:endParaRPr>
          </a:p>
          <a:p>
            <a:r>
              <a:rPr lang="zh-CN" altLang="en-US" sz="1400" dirty="0"/>
              <a:t>}</a:t>
            </a:r>
            <a:endParaRPr lang="zh-CN" altLang="en-US" sz="1400" dirty="0"/>
          </a:p>
        </p:txBody>
      </p:sp>
      <p:cxnSp>
        <p:nvCxnSpPr>
          <p:cNvPr id="11" name="直接箭头连接符 10"/>
          <p:cNvCxnSpPr/>
          <p:nvPr/>
        </p:nvCxnSpPr>
        <p:spPr>
          <a:xfrm>
            <a:off x="4489345" y="755646"/>
            <a:ext cx="3262025" cy="342897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7120082" y="3151030"/>
            <a:ext cx="1864613" cy="369332"/>
          </a:xfrm>
          <a:prstGeom prst="rect">
            <a:avLst/>
          </a:prstGeom>
          <a:noFill/>
        </p:spPr>
        <p:txBody>
          <a:bodyPr wrap="none" rtlCol="0">
            <a:spAutoFit/>
          </a:bodyPr>
          <a:lstStyle/>
          <a:p>
            <a:r>
              <a:rPr lang="en-US" altLang="zh-CN" dirty="0">
                <a:solidFill>
                  <a:srgbClr val="FF0000"/>
                </a:solidFill>
              </a:rPr>
              <a:t>1. </a:t>
            </a:r>
            <a:r>
              <a:rPr lang="en-US" altLang="zh-CN" dirty="0" err="1">
                <a:solidFill>
                  <a:srgbClr val="FF0000"/>
                </a:solidFill>
              </a:rPr>
              <a:t>cpu.eip</a:t>
            </a:r>
            <a:r>
              <a:rPr lang="zh-CN" altLang="en-US" dirty="0">
                <a:solidFill>
                  <a:srgbClr val="FF0000"/>
                </a:solidFill>
              </a:rPr>
              <a:t>指向</a:t>
            </a:r>
            <a:r>
              <a:rPr lang="en-US" altLang="zh-CN" dirty="0">
                <a:solidFill>
                  <a:srgbClr val="FF0000"/>
                </a:solidFill>
              </a:rPr>
              <a:t>C7</a:t>
            </a:r>
            <a:endParaRPr lang="zh-CN" altLang="en-US" dirty="0">
              <a:solidFill>
                <a:srgbClr val="FF0000"/>
              </a:solidFill>
            </a:endParaRPr>
          </a:p>
        </p:txBody>
      </p:sp>
      <p:sp>
        <p:nvSpPr>
          <p:cNvPr id="14" name="文本框 13"/>
          <p:cNvSpPr txBox="1"/>
          <p:nvPr/>
        </p:nvSpPr>
        <p:spPr>
          <a:xfrm>
            <a:off x="8355244" y="4122153"/>
            <a:ext cx="2173993" cy="369332"/>
          </a:xfrm>
          <a:prstGeom prst="rect">
            <a:avLst/>
          </a:prstGeom>
          <a:noFill/>
        </p:spPr>
        <p:txBody>
          <a:bodyPr wrap="none" rtlCol="0">
            <a:spAutoFit/>
          </a:bodyPr>
          <a:lstStyle/>
          <a:p>
            <a:r>
              <a:rPr lang="en-US" altLang="zh-CN" dirty="0">
                <a:solidFill>
                  <a:srgbClr val="FF0000"/>
                </a:solidFill>
              </a:rPr>
              <a:t>2. Opcode</a:t>
            </a:r>
            <a:r>
              <a:rPr lang="zh-CN" altLang="en-US" dirty="0">
                <a:solidFill>
                  <a:srgbClr val="FF0000"/>
                </a:solidFill>
              </a:rPr>
              <a:t>取出为</a:t>
            </a:r>
            <a:r>
              <a:rPr lang="en-US" altLang="zh-CN" dirty="0">
                <a:solidFill>
                  <a:srgbClr val="FF0000"/>
                </a:solidFill>
              </a:rPr>
              <a:t>C7</a:t>
            </a:r>
            <a:endParaRPr lang="zh-CN" altLang="en-US" dirty="0">
              <a:solidFill>
                <a:srgbClr val="FF0000"/>
              </a:solidFill>
            </a:endParaRPr>
          </a:p>
        </p:txBody>
      </p:sp>
      <p:sp>
        <p:nvSpPr>
          <p:cNvPr id="15" name="矩形 14"/>
          <p:cNvSpPr/>
          <p:nvPr/>
        </p:nvSpPr>
        <p:spPr>
          <a:xfrm>
            <a:off x="5500736" y="6296859"/>
            <a:ext cx="3389069" cy="369332"/>
          </a:xfrm>
          <a:prstGeom prst="rect">
            <a:avLst/>
          </a:prstGeom>
        </p:spPr>
        <p:txBody>
          <a:bodyPr wrap="none">
            <a:spAutoFit/>
          </a:bodyPr>
          <a:lstStyle/>
          <a:p>
            <a:r>
              <a:rPr lang="en-US" altLang="zh-CN" i="1" dirty="0" err="1">
                <a:solidFill>
                  <a:srgbClr val="0070C0"/>
                </a:solidFill>
              </a:rPr>
              <a:t>nemu</a:t>
            </a:r>
            <a:r>
              <a:rPr lang="en-US" altLang="zh-CN" i="1" dirty="0">
                <a:solidFill>
                  <a:srgbClr val="0070C0"/>
                </a:solidFill>
              </a:rPr>
              <a:t>/</a:t>
            </a:r>
            <a:r>
              <a:rPr lang="en-US" altLang="zh-CN" i="1" dirty="0" err="1">
                <a:solidFill>
                  <a:srgbClr val="0070C0"/>
                </a:solidFill>
              </a:rPr>
              <a:t>src</a:t>
            </a:r>
            <a:r>
              <a:rPr lang="en-US" altLang="zh-CN" i="1" dirty="0">
                <a:solidFill>
                  <a:srgbClr val="0070C0"/>
                </a:solidFill>
              </a:rPr>
              <a:t>/</a:t>
            </a:r>
            <a:r>
              <a:rPr lang="en-US" altLang="zh-CN" i="1" dirty="0" err="1">
                <a:solidFill>
                  <a:srgbClr val="0070C0"/>
                </a:solidFill>
              </a:rPr>
              <a:t>cpu</a:t>
            </a:r>
            <a:r>
              <a:rPr lang="en-US" altLang="zh-CN" i="1" dirty="0">
                <a:solidFill>
                  <a:srgbClr val="0070C0"/>
                </a:solidFill>
              </a:rPr>
              <a:t>/decode/</a:t>
            </a:r>
            <a:r>
              <a:rPr lang="en-US" altLang="zh-CN" i="1" dirty="0" err="1">
                <a:solidFill>
                  <a:srgbClr val="0070C0"/>
                </a:solidFill>
              </a:rPr>
              <a:t>opcode.c</a:t>
            </a:r>
            <a:endParaRPr lang="en-US" altLang="zh-CN" i="1" dirty="0">
              <a:solidFill>
                <a:srgbClr val="0070C0"/>
              </a:solidFill>
            </a:endParaRPr>
          </a:p>
        </p:txBody>
      </p:sp>
      <p:sp>
        <p:nvSpPr>
          <p:cNvPr id="16" name="矩形 15"/>
          <p:cNvSpPr/>
          <p:nvPr/>
        </p:nvSpPr>
        <p:spPr>
          <a:xfrm>
            <a:off x="4959927" y="5281197"/>
            <a:ext cx="4682692" cy="1384995"/>
          </a:xfrm>
          <a:prstGeom prst="rect">
            <a:avLst/>
          </a:prstGeom>
          <a:ln>
            <a:solidFill>
              <a:schemeClr val="tx1"/>
            </a:solidFill>
          </a:ln>
        </p:spPr>
        <p:txBody>
          <a:bodyPr wrap="none">
            <a:spAutoFit/>
          </a:bodyPr>
          <a:lstStyle/>
          <a:p>
            <a:r>
              <a:rPr lang="en-US" altLang="zh-CN" sz="1400" dirty="0"/>
              <a:t>#include "</a:t>
            </a:r>
            <a:r>
              <a:rPr lang="en-US" altLang="zh-CN" sz="1400" dirty="0" err="1"/>
              <a:t>cpu</a:t>
            </a:r>
            <a:r>
              <a:rPr lang="en-US" altLang="zh-CN" sz="1400" dirty="0"/>
              <a:t>/</a:t>
            </a:r>
            <a:r>
              <a:rPr lang="en-US" altLang="zh-CN" sz="1400" dirty="0" err="1"/>
              <a:t>instr.h</a:t>
            </a:r>
            <a:r>
              <a:rPr lang="en-US" altLang="zh-CN" sz="1400" dirty="0"/>
              <a:t>"</a:t>
            </a:r>
            <a:endParaRPr lang="en-US" altLang="zh-CN" sz="1400" dirty="0"/>
          </a:p>
          <a:p>
            <a:r>
              <a:rPr lang="zh-CN" altLang="en-US" sz="1400" dirty="0"/>
              <a:t>instr_func opcode_entry[256] = {</a:t>
            </a:r>
            <a:endParaRPr lang="en-US" altLang="zh-CN" sz="1400" dirty="0"/>
          </a:p>
          <a:p>
            <a:r>
              <a:rPr lang="zh-CN" altLang="en-US" sz="1400"/>
              <a:t> </a:t>
            </a:r>
            <a:r>
              <a:rPr lang="en-US" altLang="zh-CN" sz="1400"/>
              <a:t>	…</a:t>
            </a:r>
            <a:endParaRPr lang="en-US" altLang="zh-CN" sz="1400" dirty="0"/>
          </a:p>
          <a:p>
            <a:r>
              <a:rPr lang="en-US" altLang="zh-CN" sz="1400" dirty="0"/>
              <a:t>/* 0xc4 - </a:t>
            </a:r>
            <a:r>
              <a:rPr lang="en-US" altLang="zh-CN" sz="1400">
                <a:solidFill>
                  <a:srgbClr val="FF0000"/>
                </a:solidFill>
              </a:rPr>
              <a:t>0xc7</a:t>
            </a:r>
            <a:r>
              <a:rPr lang="en-US" altLang="zh-CN" sz="1400"/>
              <a:t>*/	inv</a:t>
            </a:r>
            <a:r>
              <a:rPr lang="en-US" altLang="zh-CN" sz="1400" dirty="0"/>
              <a:t>, </a:t>
            </a:r>
            <a:r>
              <a:rPr lang="en-US" altLang="zh-CN" sz="1400" dirty="0" err="1"/>
              <a:t>inv</a:t>
            </a:r>
            <a:r>
              <a:rPr lang="en-US" altLang="zh-CN" sz="1400" dirty="0"/>
              <a:t>, mov_i2rm_b,</a:t>
            </a:r>
            <a:r>
              <a:rPr lang="en-US" altLang="zh-CN" sz="1400" dirty="0">
                <a:solidFill>
                  <a:srgbClr val="FF0000"/>
                </a:solidFill>
              </a:rPr>
              <a:t> mov_i2rm_v</a:t>
            </a:r>
            <a:r>
              <a:rPr lang="en-US" altLang="zh-CN" sz="1400" dirty="0"/>
              <a:t>, </a:t>
            </a:r>
            <a:endParaRPr lang="en-US" altLang="zh-CN" sz="1400" dirty="0"/>
          </a:p>
          <a:p>
            <a:r>
              <a:rPr lang="en-US" altLang="zh-CN" sz="1400"/>
              <a:t>	…</a:t>
            </a:r>
            <a:endParaRPr lang="en-US" altLang="zh-CN" sz="1400" dirty="0"/>
          </a:p>
          <a:p>
            <a:r>
              <a:rPr lang="en-US" altLang="zh-CN" sz="1400" dirty="0"/>
              <a:t>}</a:t>
            </a:r>
            <a:endParaRPr lang="zh-CN" altLang="en-US" sz="1400" dirty="0"/>
          </a:p>
        </p:txBody>
      </p:sp>
      <p:cxnSp>
        <p:nvCxnSpPr>
          <p:cNvPr id="18" name="直接箭头连接符 17"/>
          <p:cNvCxnSpPr/>
          <p:nvPr/>
        </p:nvCxnSpPr>
        <p:spPr>
          <a:xfrm>
            <a:off x="8211127" y="4568673"/>
            <a:ext cx="420715" cy="139500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7618279" y="5325736"/>
            <a:ext cx="2489784" cy="369332"/>
          </a:xfrm>
          <a:prstGeom prst="rect">
            <a:avLst/>
          </a:prstGeom>
          <a:noFill/>
        </p:spPr>
        <p:txBody>
          <a:bodyPr wrap="none" rtlCol="0">
            <a:spAutoFit/>
          </a:bodyPr>
          <a:lstStyle/>
          <a:p>
            <a:r>
              <a:rPr lang="en-US" altLang="zh-CN" dirty="0">
                <a:solidFill>
                  <a:srgbClr val="FF0000"/>
                </a:solidFill>
              </a:rPr>
              <a:t>3. </a:t>
            </a:r>
            <a:r>
              <a:rPr lang="zh-CN" altLang="en-US" dirty="0">
                <a:solidFill>
                  <a:srgbClr val="FF0000"/>
                </a:solidFill>
              </a:rPr>
              <a:t>访问数组即函数调用</a:t>
            </a:r>
            <a:endParaRPr lang="zh-CN" altLang="en-US" dirty="0">
              <a:solidFill>
                <a:srgbClr val="FF0000"/>
              </a:solidFill>
            </a:endParaRPr>
          </a:p>
        </p:txBody>
      </p:sp>
      <p:sp>
        <p:nvSpPr>
          <p:cNvPr id="23" name="文本框 22"/>
          <p:cNvSpPr txBox="1"/>
          <p:nvPr/>
        </p:nvSpPr>
        <p:spPr>
          <a:xfrm>
            <a:off x="1437374" y="3013528"/>
            <a:ext cx="3188887" cy="353943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zh-CN" sz="1400" dirty="0" err="1"/>
              <a:t>make_instr_func</a:t>
            </a:r>
            <a:r>
              <a:rPr lang="en-US" altLang="zh-CN" sz="1400" dirty="0"/>
              <a:t>(</a:t>
            </a:r>
            <a:r>
              <a:rPr lang="en-US" altLang="zh-CN" sz="1400" dirty="0">
                <a:solidFill>
                  <a:srgbClr val="7030A0"/>
                </a:solidFill>
              </a:rPr>
              <a:t>mov_i2rm_v</a:t>
            </a:r>
            <a:r>
              <a:rPr lang="en-US" altLang="zh-CN" sz="1400" dirty="0"/>
              <a:t>) { </a:t>
            </a:r>
            <a:endParaRPr lang="zh-CN" altLang="zh-CN" sz="1400" dirty="0"/>
          </a:p>
          <a:p>
            <a:r>
              <a:rPr lang="en-US" altLang="zh-CN" sz="1400" dirty="0"/>
              <a:t>    OPERAND </a:t>
            </a:r>
            <a:r>
              <a:rPr lang="en-US" altLang="zh-CN" sz="1400" dirty="0" err="1"/>
              <a:t>rm</a:t>
            </a:r>
            <a:r>
              <a:rPr lang="en-US" altLang="zh-CN" sz="1400" dirty="0"/>
              <a:t>, </a:t>
            </a:r>
            <a:r>
              <a:rPr lang="en-US" altLang="zh-CN" sz="1400" dirty="0" err="1"/>
              <a:t>imm</a:t>
            </a:r>
            <a:r>
              <a:rPr lang="en-US" altLang="zh-CN" sz="1400" dirty="0"/>
              <a:t>; </a:t>
            </a:r>
            <a:endParaRPr lang="zh-CN" altLang="zh-CN" sz="1400" dirty="0"/>
          </a:p>
          <a:p>
            <a:r>
              <a:rPr lang="en-US" altLang="zh-CN" sz="1400" dirty="0"/>
              <a:t>    </a:t>
            </a:r>
            <a:r>
              <a:rPr lang="en-US" altLang="zh-CN" sz="1400" dirty="0" err="1"/>
              <a:t>rm.data_size</a:t>
            </a:r>
            <a:r>
              <a:rPr lang="en-US" altLang="zh-CN" sz="1400" dirty="0"/>
              <a:t> = </a:t>
            </a:r>
            <a:r>
              <a:rPr lang="en-US" altLang="zh-CN" sz="1400" dirty="0" err="1"/>
              <a:t>data_size</a:t>
            </a:r>
            <a:r>
              <a:rPr lang="en-US" altLang="zh-CN" sz="1400" dirty="0"/>
              <a:t>; </a:t>
            </a:r>
            <a:endParaRPr lang="zh-CN" altLang="zh-CN" sz="1400" dirty="0">
              <a:solidFill>
                <a:srgbClr val="FF0000"/>
              </a:solidFill>
            </a:endParaRPr>
          </a:p>
          <a:p>
            <a:r>
              <a:rPr lang="en-US" altLang="zh-CN" sz="1400" dirty="0"/>
              <a:t>    </a:t>
            </a:r>
            <a:r>
              <a:rPr lang="en-US" altLang="zh-CN" sz="1400" dirty="0" err="1"/>
              <a:t>int</a:t>
            </a:r>
            <a:r>
              <a:rPr lang="en-US" altLang="zh-CN" sz="1400" dirty="0"/>
              <a:t> </a:t>
            </a:r>
            <a:r>
              <a:rPr lang="en-US" altLang="zh-CN" sz="1400" dirty="0" err="1"/>
              <a:t>len</a:t>
            </a:r>
            <a:r>
              <a:rPr lang="en-US" altLang="zh-CN" sz="1400" dirty="0"/>
              <a:t> = 1;                        </a:t>
            </a:r>
            <a:endParaRPr lang="zh-CN" altLang="zh-CN" sz="1400" dirty="0">
              <a:solidFill>
                <a:srgbClr val="00B050"/>
              </a:solidFill>
            </a:endParaRPr>
          </a:p>
          <a:p>
            <a:r>
              <a:rPr lang="en-US" altLang="zh-CN" sz="1400" dirty="0"/>
              <a:t>    </a:t>
            </a:r>
            <a:r>
              <a:rPr lang="en-US" altLang="zh-CN" sz="1400" dirty="0" err="1"/>
              <a:t>len</a:t>
            </a:r>
            <a:r>
              <a:rPr lang="en-US" altLang="zh-CN" sz="1400" dirty="0"/>
              <a:t> += </a:t>
            </a:r>
            <a:r>
              <a:rPr lang="en-US" altLang="zh-CN" sz="1400" dirty="0" err="1"/>
              <a:t>modrm_rm</a:t>
            </a:r>
            <a:r>
              <a:rPr lang="en-US" altLang="zh-CN" sz="1400" dirty="0"/>
              <a:t>(</a:t>
            </a:r>
            <a:r>
              <a:rPr lang="en-US" altLang="zh-CN" sz="1400" dirty="0" err="1"/>
              <a:t>eip</a:t>
            </a:r>
            <a:r>
              <a:rPr lang="en-US" altLang="zh-CN" sz="1400" dirty="0"/>
              <a:t> + 1, &amp;</a:t>
            </a:r>
            <a:r>
              <a:rPr lang="en-US" altLang="zh-CN" sz="1400" dirty="0" err="1"/>
              <a:t>rm</a:t>
            </a:r>
            <a:r>
              <a:rPr lang="en-US" altLang="zh-CN" sz="1400" dirty="0"/>
              <a:t>);</a:t>
            </a:r>
            <a:r>
              <a:rPr lang="en-US" altLang="zh-CN" sz="1400" dirty="0">
                <a:solidFill>
                  <a:srgbClr val="FF0000"/>
                </a:solidFill>
              </a:rPr>
              <a:t> </a:t>
            </a:r>
            <a:endParaRPr lang="zh-CN" altLang="zh-CN" sz="1400" dirty="0">
              <a:solidFill>
                <a:srgbClr val="00B050"/>
              </a:solidFill>
            </a:endParaRPr>
          </a:p>
          <a:p>
            <a:r>
              <a:rPr lang="en-US" altLang="zh-CN" sz="1400" dirty="0"/>
              <a:t> </a:t>
            </a:r>
            <a:endParaRPr lang="zh-CN" altLang="zh-CN" sz="1400" dirty="0"/>
          </a:p>
          <a:p>
            <a:r>
              <a:rPr lang="en-US" altLang="zh-CN" sz="1400" dirty="0"/>
              <a:t>    </a:t>
            </a:r>
            <a:r>
              <a:rPr lang="en-US" altLang="zh-CN" sz="1400" dirty="0" err="1"/>
              <a:t>imm.type</a:t>
            </a:r>
            <a:r>
              <a:rPr lang="en-US" altLang="zh-CN" sz="1400" dirty="0"/>
              <a:t> = OPR_IMM;  </a:t>
            </a:r>
            <a:endParaRPr lang="zh-CN" altLang="zh-CN" sz="1400" dirty="0">
              <a:solidFill>
                <a:srgbClr val="00B050"/>
              </a:solidFill>
            </a:endParaRPr>
          </a:p>
          <a:p>
            <a:r>
              <a:rPr lang="en-US" altLang="zh-CN" sz="1400" dirty="0"/>
              <a:t>    </a:t>
            </a:r>
            <a:r>
              <a:rPr lang="en-US" altLang="zh-CN" sz="1400" dirty="0" err="1"/>
              <a:t>imm.addr</a:t>
            </a:r>
            <a:r>
              <a:rPr lang="en-US" altLang="zh-CN" sz="1400" dirty="0"/>
              <a:t> = </a:t>
            </a:r>
            <a:r>
              <a:rPr lang="en-US" altLang="zh-CN" sz="1400" dirty="0" err="1"/>
              <a:t>eip</a:t>
            </a:r>
            <a:r>
              <a:rPr lang="en-US" altLang="zh-CN" sz="1400" dirty="0"/>
              <a:t> + </a:t>
            </a:r>
            <a:r>
              <a:rPr lang="en-US" altLang="zh-CN" sz="1400" dirty="0" err="1"/>
              <a:t>len</a:t>
            </a:r>
            <a:r>
              <a:rPr lang="en-US" altLang="zh-CN" sz="1400" dirty="0"/>
              <a:t>; </a:t>
            </a:r>
            <a:endParaRPr lang="en-US" altLang="zh-CN" sz="1400" dirty="0"/>
          </a:p>
          <a:p>
            <a:r>
              <a:rPr lang="en-US" altLang="zh-CN" sz="1400" dirty="0"/>
              <a:t>    </a:t>
            </a:r>
            <a:r>
              <a:rPr lang="en-US" altLang="zh-CN" sz="1400" dirty="0" err="1"/>
              <a:t>imm.data_size</a:t>
            </a:r>
            <a:r>
              <a:rPr lang="en-US" altLang="zh-CN" sz="1400" dirty="0"/>
              <a:t> = </a:t>
            </a:r>
            <a:r>
              <a:rPr lang="en-US" altLang="zh-CN" sz="1400" dirty="0" err="1"/>
              <a:t>data_size</a:t>
            </a:r>
            <a:r>
              <a:rPr lang="en-US" altLang="zh-CN" sz="1400" dirty="0"/>
              <a:t>;       </a:t>
            </a:r>
            <a:endParaRPr lang="zh-CN" altLang="zh-CN" sz="1400" dirty="0"/>
          </a:p>
          <a:p>
            <a:r>
              <a:rPr lang="en-US" altLang="zh-CN" sz="1400" dirty="0"/>
              <a:t> </a:t>
            </a:r>
            <a:endParaRPr lang="zh-CN" altLang="zh-CN" sz="1400" dirty="0"/>
          </a:p>
          <a:p>
            <a:r>
              <a:rPr lang="en-US" altLang="zh-CN" sz="1400" dirty="0"/>
              <a:t>    </a:t>
            </a:r>
            <a:r>
              <a:rPr lang="en-US" altLang="zh-CN" sz="1400" dirty="0" err="1"/>
              <a:t>operand_read</a:t>
            </a:r>
            <a:r>
              <a:rPr lang="en-US" altLang="zh-CN" sz="1400" dirty="0"/>
              <a:t>(&amp;</a:t>
            </a:r>
            <a:r>
              <a:rPr lang="en-US" altLang="zh-CN" sz="1400" dirty="0" err="1"/>
              <a:t>imm</a:t>
            </a:r>
            <a:r>
              <a:rPr lang="en-US" altLang="zh-CN" sz="1400" dirty="0"/>
              <a:t>);  </a:t>
            </a:r>
            <a:endParaRPr lang="zh-CN" altLang="zh-CN" sz="1400" dirty="0">
              <a:solidFill>
                <a:srgbClr val="00B050"/>
              </a:solidFill>
            </a:endParaRPr>
          </a:p>
          <a:p>
            <a:r>
              <a:rPr lang="en-US" altLang="zh-CN" sz="1400" dirty="0"/>
              <a:t>    </a:t>
            </a:r>
            <a:r>
              <a:rPr lang="en-US" altLang="zh-CN" sz="1400" dirty="0" err="1"/>
              <a:t>rm.val</a:t>
            </a:r>
            <a:r>
              <a:rPr lang="en-US" altLang="zh-CN" sz="1400" dirty="0"/>
              <a:t> = </a:t>
            </a:r>
            <a:r>
              <a:rPr lang="en-US" altLang="zh-CN" sz="1400" dirty="0" err="1"/>
              <a:t>imm.val</a:t>
            </a:r>
            <a:r>
              <a:rPr lang="en-US" altLang="zh-CN" sz="1400" dirty="0"/>
              <a:t>;</a:t>
            </a:r>
            <a:endParaRPr lang="zh-CN" altLang="zh-CN" sz="1400" dirty="0"/>
          </a:p>
          <a:p>
            <a:r>
              <a:rPr lang="en-US" altLang="zh-CN" sz="1400" dirty="0"/>
              <a:t>    </a:t>
            </a:r>
            <a:r>
              <a:rPr lang="en-US" altLang="zh-CN" sz="1400" dirty="0" err="1"/>
              <a:t>operand_write</a:t>
            </a:r>
            <a:r>
              <a:rPr lang="en-US" altLang="zh-CN" sz="1400" dirty="0"/>
              <a:t>(&amp;</a:t>
            </a:r>
            <a:r>
              <a:rPr lang="en-US" altLang="zh-CN" sz="1400" dirty="0" err="1"/>
              <a:t>rm</a:t>
            </a:r>
            <a:r>
              <a:rPr lang="en-US" altLang="zh-CN" sz="1400" dirty="0"/>
              <a:t>);</a:t>
            </a:r>
            <a:endParaRPr lang="zh-CN" altLang="zh-CN" sz="1400" dirty="0"/>
          </a:p>
          <a:p>
            <a:r>
              <a:rPr lang="en-US" altLang="zh-CN" sz="1400" dirty="0"/>
              <a:t> </a:t>
            </a:r>
            <a:endParaRPr lang="zh-CN" altLang="zh-CN" sz="1400" dirty="0"/>
          </a:p>
          <a:p>
            <a:r>
              <a:rPr lang="en-US" altLang="zh-CN" sz="1400" dirty="0"/>
              <a:t>   </a:t>
            </a:r>
            <a:r>
              <a:rPr lang="en-US" altLang="zh-CN" sz="1400" dirty="0">
                <a:solidFill>
                  <a:srgbClr val="FF0000"/>
                </a:solidFill>
              </a:rPr>
              <a:t> return </a:t>
            </a:r>
            <a:r>
              <a:rPr lang="en-US" altLang="zh-CN" sz="1400" dirty="0" err="1">
                <a:solidFill>
                  <a:srgbClr val="FF0000"/>
                </a:solidFill>
              </a:rPr>
              <a:t>len</a:t>
            </a:r>
            <a:r>
              <a:rPr lang="en-US" altLang="zh-CN" sz="1400" dirty="0">
                <a:solidFill>
                  <a:srgbClr val="FF0000"/>
                </a:solidFill>
              </a:rPr>
              <a:t> + </a:t>
            </a:r>
            <a:r>
              <a:rPr lang="en-US" altLang="zh-CN" sz="1400" dirty="0" err="1">
                <a:solidFill>
                  <a:srgbClr val="FF0000"/>
                </a:solidFill>
              </a:rPr>
              <a:t>data_size</a:t>
            </a:r>
            <a:r>
              <a:rPr lang="en-US" altLang="zh-CN" sz="1400" dirty="0">
                <a:solidFill>
                  <a:srgbClr val="FF0000"/>
                </a:solidFill>
              </a:rPr>
              <a:t> / 8;</a:t>
            </a:r>
            <a:endParaRPr lang="zh-CN" altLang="zh-CN" sz="1400" dirty="0">
              <a:solidFill>
                <a:srgbClr val="00B050"/>
              </a:solidFill>
            </a:endParaRPr>
          </a:p>
          <a:p>
            <a:r>
              <a:rPr lang="en-US" altLang="zh-CN" sz="1400" dirty="0"/>
              <a:t>}</a:t>
            </a:r>
            <a:endParaRPr lang="zh-CN" altLang="en-US" sz="1400" dirty="0"/>
          </a:p>
        </p:txBody>
      </p:sp>
      <p:sp>
        <p:nvSpPr>
          <p:cNvPr id="24" name="文本框 23"/>
          <p:cNvSpPr txBox="1"/>
          <p:nvPr/>
        </p:nvSpPr>
        <p:spPr>
          <a:xfrm>
            <a:off x="1870296" y="2655756"/>
            <a:ext cx="2752677" cy="369332"/>
          </a:xfrm>
          <a:prstGeom prst="rect">
            <a:avLst/>
          </a:prstGeom>
          <a:noFill/>
        </p:spPr>
        <p:txBody>
          <a:bodyPr wrap="none" rtlCol="0">
            <a:spAutoFit/>
          </a:bodyPr>
          <a:lstStyle/>
          <a:p>
            <a:r>
              <a:rPr lang="en-US" altLang="zh-CN" dirty="0" err="1">
                <a:solidFill>
                  <a:srgbClr val="0070C0"/>
                </a:solidFill>
              </a:rPr>
              <a:t>nemu</a:t>
            </a:r>
            <a:r>
              <a:rPr lang="en-US" altLang="zh-CN" dirty="0">
                <a:solidFill>
                  <a:srgbClr val="0070C0"/>
                </a:solidFill>
              </a:rPr>
              <a:t>/</a:t>
            </a:r>
            <a:r>
              <a:rPr lang="en-US" altLang="zh-CN" dirty="0" err="1">
                <a:solidFill>
                  <a:srgbClr val="0070C0"/>
                </a:solidFill>
              </a:rPr>
              <a:t>src</a:t>
            </a:r>
            <a:r>
              <a:rPr lang="en-US" altLang="zh-CN" dirty="0">
                <a:solidFill>
                  <a:srgbClr val="0070C0"/>
                </a:solidFill>
              </a:rPr>
              <a:t>/</a:t>
            </a:r>
            <a:r>
              <a:rPr lang="en-US" altLang="zh-CN" dirty="0" err="1">
                <a:solidFill>
                  <a:srgbClr val="0070C0"/>
                </a:solidFill>
              </a:rPr>
              <a:t>cpu</a:t>
            </a:r>
            <a:r>
              <a:rPr lang="en-US" altLang="zh-CN" dirty="0">
                <a:solidFill>
                  <a:srgbClr val="0070C0"/>
                </a:solidFill>
              </a:rPr>
              <a:t>/</a:t>
            </a:r>
            <a:r>
              <a:rPr lang="en-US" altLang="zh-CN" dirty="0" err="1">
                <a:solidFill>
                  <a:srgbClr val="0070C0"/>
                </a:solidFill>
              </a:rPr>
              <a:t>instr</a:t>
            </a:r>
            <a:r>
              <a:rPr lang="en-US" altLang="zh-CN" dirty="0">
                <a:solidFill>
                  <a:srgbClr val="0070C0"/>
                </a:solidFill>
              </a:rPr>
              <a:t>/</a:t>
            </a:r>
            <a:r>
              <a:rPr lang="en-US" altLang="zh-CN" dirty="0" err="1">
                <a:solidFill>
                  <a:srgbClr val="0070C0"/>
                </a:solidFill>
              </a:rPr>
              <a:t>mov.c</a:t>
            </a:r>
            <a:endParaRPr lang="zh-CN" altLang="en-US" dirty="0">
              <a:solidFill>
                <a:srgbClr val="0070C0"/>
              </a:solidFill>
            </a:endParaRPr>
          </a:p>
        </p:txBody>
      </p:sp>
      <p:cxnSp>
        <p:nvCxnSpPr>
          <p:cNvPr id="26" name="直接箭头连接符 25"/>
          <p:cNvCxnSpPr/>
          <p:nvPr/>
        </p:nvCxnSpPr>
        <p:spPr>
          <a:xfrm flipH="1" flipV="1">
            <a:off x="3668739" y="3321270"/>
            <a:ext cx="4868869" cy="263082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a:xfrm flipV="1">
            <a:off x="3668739" y="4588861"/>
            <a:ext cx="2590807" cy="146509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a:xfrm>
            <a:off x="3752879" y="6053959"/>
            <a:ext cx="1797287" cy="369332"/>
          </a:xfrm>
          <a:prstGeom prst="rect">
            <a:avLst/>
          </a:prstGeom>
          <a:noFill/>
        </p:spPr>
        <p:txBody>
          <a:bodyPr wrap="none" rtlCol="0">
            <a:spAutoFit/>
          </a:bodyPr>
          <a:lstStyle/>
          <a:p>
            <a:r>
              <a:rPr lang="en-US" altLang="zh-CN" dirty="0">
                <a:solidFill>
                  <a:srgbClr val="FF0000"/>
                </a:solidFill>
              </a:rPr>
              <a:t>4. </a:t>
            </a:r>
            <a:r>
              <a:rPr lang="zh-CN" altLang="en-US" dirty="0">
                <a:solidFill>
                  <a:srgbClr val="FF0000"/>
                </a:solidFill>
              </a:rPr>
              <a:t>返回指令长度</a:t>
            </a:r>
            <a:endParaRPr lang="zh-CN" altLang="en-US" dirty="0">
              <a:solidFill>
                <a:srgbClr val="FF0000"/>
              </a:solidFill>
            </a:endParaRPr>
          </a:p>
        </p:txBody>
      </p:sp>
      <p:sp>
        <p:nvSpPr>
          <p:cNvPr id="35" name="任意多边形 34"/>
          <p:cNvSpPr/>
          <p:nvPr/>
        </p:nvSpPr>
        <p:spPr>
          <a:xfrm>
            <a:off x="5550166" y="2373745"/>
            <a:ext cx="1201617" cy="2327564"/>
          </a:xfrm>
          <a:custGeom>
            <a:avLst/>
            <a:gdLst>
              <a:gd name="connsiteX0" fmla="*/ 333399 w 1201617"/>
              <a:gd name="connsiteY0" fmla="*/ 2327564 h 2327564"/>
              <a:gd name="connsiteX1" fmla="*/ 47071 w 1201617"/>
              <a:gd name="connsiteY1" fmla="*/ 701964 h 2327564"/>
              <a:gd name="connsiteX2" fmla="*/ 1201617 w 1201617"/>
              <a:gd name="connsiteY2" fmla="*/ 0 h 2327564"/>
            </a:gdLst>
            <a:ahLst/>
            <a:cxnLst>
              <a:cxn ang="0">
                <a:pos x="connsiteX0" y="connsiteY0"/>
              </a:cxn>
              <a:cxn ang="0">
                <a:pos x="connsiteX1" y="connsiteY1"/>
              </a:cxn>
              <a:cxn ang="0">
                <a:pos x="connsiteX2" y="connsiteY2"/>
              </a:cxn>
            </a:cxnLst>
            <a:rect l="l" t="t" r="r" b="b"/>
            <a:pathLst>
              <a:path w="1201617" h="2327564">
                <a:moveTo>
                  <a:pt x="333399" y="2327564"/>
                </a:moveTo>
                <a:cubicBezTo>
                  <a:pt x="117883" y="1708727"/>
                  <a:pt x="-97632" y="1089891"/>
                  <a:pt x="47071" y="701964"/>
                </a:cubicBezTo>
                <a:cubicBezTo>
                  <a:pt x="191774" y="314037"/>
                  <a:pt x="696695" y="157018"/>
                  <a:pt x="1201617" y="0"/>
                </a:cubicBezTo>
              </a:path>
            </a:pathLst>
          </a:custGeom>
          <a:noFill/>
          <a:ln>
            <a:solidFill>
              <a:srgbClr val="FF000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p:cNvSpPr txBox="1"/>
          <p:nvPr/>
        </p:nvSpPr>
        <p:spPr>
          <a:xfrm>
            <a:off x="4489344" y="2196728"/>
            <a:ext cx="1960330" cy="646331"/>
          </a:xfrm>
          <a:prstGeom prst="rect">
            <a:avLst/>
          </a:prstGeom>
          <a:noFill/>
        </p:spPr>
        <p:txBody>
          <a:bodyPr wrap="square" rtlCol="0">
            <a:spAutoFit/>
          </a:bodyPr>
          <a:lstStyle/>
          <a:p>
            <a:r>
              <a:rPr lang="en-US" altLang="zh-CN" dirty="0">
                <a:solidFill>
                  <a:srgbClr val="FF0000"/>
                </a:solidFill>
              </a:rPr>
              <a:t>5. </a:t>
            </a:r>
            <a:r>
              <a:rPr lang="zh-CN" altLang="en-US" dirty="0">
                <a:solidFill>
                  <a:srgbClr val="FF0000"/>
                </a:solidFill>
              </a:rPr>
              <a:t>循环开启下一条指令</a:t>
            </a:r>
            <a:endParaRPr lang="en-US" altLang="zh-CN" dirty="0">
              <a:solidFill>
                <a:srgbClr val="FF0000"/>
              </a:solidFill>
            </a:endParaRPr>
          </a:p>
        </p:txBody>
      </p:sp>
      <p:sp>
        <p:nvSpPr>
          <p:cNvPr id="39" name="等腰三角形 38"/>
          <p:cNvSpPr/>
          <p:nvPr/>
        </p:nvSpPr>
        <p:spPr>
          <a:xfrm>
            <a:off x="4136174" y="755646"/>
            <a:ext cx="383372" cy="463554"/>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0" name="文本框 39"/>
          <p:cNvSpPr txBox="1"/>
          <p:nvPr/>
        </p:nvSpPr>
        <p:spPr>
          <a:xfrm>
            <a:off x="3668739" y="1271278"/>
            <a:ext cx="946093" cy="369332"/>
          </a:xfrm>
          <a:prstGeom prst="rect">
            <a:avLst/>
          </a:prstGeom>
          <a:noFill/>
        </p:spPr>
        <p:txBody>
          <a:bodyPr wrap="none" rtlCol="0">
            <a:spAutoFit/>
          </a:bodyPr>
          <a:lstStyle/>
          <a:p>
            <a:r>
              <a:rPr lang="zh-CN" altLang="en-US" dirty="0"/>
              <a:t>当前</a:t>
            </a:r>
            <a:r>
              <a:rPr lang="en-US" altLang="zh-CN" dirty="0"/>
              <a:t>EIP</a:t>
            </a:r>
            <a:endParaRPr lang="zh-CN" altLang="en-US" dirty="0"/>
          </a:p>
        </p:txBody>
      </p:sp>
      <p:sp>
        <p:nvSpPr>
          <p:cNvPr id="2" name="文本框 1"/>
          <p:cNvSpPr txBox="1"/>
          <p:nvPr/>
        </p:nvSpPr>
        <p:spPr>
          <a:xfrm>
            <a:off x="1959197" y="2044032"/>
            <a:ext cx="2161848" cy="646331"/>
          </a:xfrm>
          <a:prstGeom prst="rect">
            <a:avLst/>
          </a:prstGeom>
          <a:noFill/>
        </p:spPr>
        <p:txBody>
          <a:bodyPr wrap="square" rtlCol="0">
            <a:spAutoFit/>
          </a:bodyPr>
          <a:lstStyle/>
          <a:p>
            <a:r>
              <a:rPr lang="en-US" altLang="zh-CN" dirty="0">
                <a:solidFill>
                  <a:srgbClr val="7030A0"/>
                </a:solidFill>
              </a:rPr>
              <a:t>mov_i2rm_v</a:t>
            </a:r>
            <a:r>
              <a:rPr lang="zh-CN" altLang="en-US" dirty="0">
                <a:solidFill>
                  <a:srgbClr val="7030A0"/>
                </a:solidFill>
              </a:rPr>
              <a:t>是模拟</a:t>
            </a:r>
            <a:r>
              <a:rPr lang="en-US" altLang="zh-CN" dirty="0">
                <a:solidFill>
                  <a:srgbClr val="7030A0"/>
                </a:solidFill>
              </a:rPr>
              <a:t>C7</a:t>
            </a:r>
            <a:r>
              <a:rPr lang="zh-CN" altLang="en-US" dirty="0">
                <a:solidFill>
                  <a:srgbClr val="7030A0"/>
                </a:solidFill>
              </a:rPr>
              <a:t>指令的函数</a:t>
            </a:r>
            <a:endParaRPr lang="zh-CN" altLang="en-US" dirty="0">
              <a:solidFill>
                <a:srgbClr val="7030A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22" grpId="0"/>
      <p:bldP spid="34" grpId="0"/>
      <p:bldP spid="35" grpId="0" animBg="1"/>
      <p:bldP spid="3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特殊的操作码编码方式</a:t>
            </a:r>
            <a:endParaRPr lang="zh-CN" altLang="en-US" dirty="0"/>
          </a:p>
        </p:txBody>
      </p:sp>
      <p:sp>
        <p:nvSpPr>
          <p:cNvPr id="3" name="内容占位符 2"/>
          <p:cNvSpPr>
            <a:spLocks noGrp="1"/>
          </p:cNvSpPr>
          <p:nvPr>
            <p:ph idx="1"/>
          </p:nvPr>
        </p:nvSpPr>
        <p:spPr>
          <a:xfrm>
            <a:off x="42863" y="1248496"/>
            <a:ext cx="10515600" cy="694604"/>
          </a:xfrm>
        </p:spPr>
        <p:txBody>
          <a:bodyPr/>
          <a:lstStyle/>
          <a:p>
            <a:r>
              <a:rPr lang="zh-CN" altLang="en-US" dirty="0"/>
              <a:t>双字节</a:t>
            </a:r>
            <a:r>
              <a:rPr lang="en-US" altLang="zh-CN" dirty="0"/>
              <a:t>opcode</a:t>
            </a:r>
            <a:r>
              <a:rPr lang="zh-CN" altLang="en-US" dirty="0"/>
              <a:t>：第一个字节是</a:t>
            </a:r>
            <a:r>
              <a:rPr lang="en-US" altLang="zh-CN" dirty="0"/>
              <a:t>0x0f</a:t>
            </a:r>
            <a:endParaRPr lang="zh-CN" altLang="en-US" dirty="0"/>
          </a:p>
        </p:txBody>
      </p:sp>
      <p:sp>
        <p:nvSpPr>
          <p:cNvPr id="4" name="日期占位符 3"/>
          <p:cNvSpPr>
            <a:spLocks noGrp="1"/>
          </p:cNvSpPr>
          <p:nvPr>
            <p:ph type="dt" sz="half" idx="10"/>
          </p:nvPr>
        </p:nvSpPr>
        <p:spPr/>
        <p:txBody>
          <a:bodyPr/>
          <a:lstStyle/>
          <a:p>
            <a:fld id="{41D2AEF5-D648-4728-8573-61956C55922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sp>
        <p:nvSpPr>
          <p:cNvPr id="28" name="矩形 27"/>
          <p:cNvSpPr/>
          <p:nvPr/>
        </p:nvSpPr>
        <p:spPr>
          <a:xfrm>
            <a:off x="84907" y="1767069"/>
            <a:ext cx="6673622" cy="1323439"/>
          </a:xfrm>
          <a:prstGeom prst="rect">
            <a:avLst/>
          </a:prstGeom>
        </p:spPr>
        <p:txBody>
          <a:bodyPr wrap="none">
            <a:spAutoFit/>
          </a:bodyPr>
          <a:lstStyle/>
          <a:p>
            <a:r>
              <a:rPr lang="en-US" altLang="zh-CN" sz="4000" b="1" dirty="0">
                <a:latin typeface="Consolas" panose="020B0609020204030204" pitchFamily="49" charset="0"/>
              </a:rPr>
              <a:t>0f 20 c0  </a:t>
            </a:r>
            <a:r>
              <a:rPr lang="en-US" altLang="zh-CN" sz="4000" b="1" dirty="0" err="1">
                <a:latin typeface="Consolas" panose="020B0609020204030204" pitchFamily="49" charset="0"/>
              </a:rPr>
              <a:t>mov</a:t>
            </a:r>
            <a:r>
              <a:rPr lang="en-US" altLang="zh-CN" sz="4000" b="1" dirty="0">
                <a:latin typeface="Consolas" panose="020B0609020204030204" pitchFamily="49" charset="0"/>
              </a:rPr>
              <a:t> %cr0,%eax</a:t>
            </a:r>
            <a:endParaRPr lang="en-US" altLang="zh-CN" sz="4000" b="1" dirty="0">
              <a:latin typeface="Consolas" panose="020B0609020204030204" pitchFamily="49" charset="0"/>
            </a:endParaRPr>
          </a:p>
          <a:p>
            <a:r>
              <a:rPr lang="zh-CN" altLang="en-US" sz="4000" b="1" dirty="0">
                <a:latin typeface="Consolas" panose="020B0609020204030204" pitchFamily="49" charset="0"/>
              </a:rPr>
              <a:t>0f 22 c0  mov %eax,%cr0</a:t>
            </a:r>
            <a:endParaRPr lang="zh-CN" altLang="en-US" sz="4000" b="1" dirty="0">
              <a:latin typeface="Consolas" panose="020B0609020204030204" pitchFamily="49"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组合 23"/>
          <p:cNvGrpSpPr/>
          <p:nvPr/>
        </p:nvGrpSpPr>
        <p:grpSpPr>
          <a:xfrm>
            <a:off x="0" y="3338983"/>
            <a:ext cx="6709511" cy="3079319"/>
            <a:chOff x="42863" y="2283256"/>
            <a:chExt cx="6709511" cy="3079319"/>
          </a:xfrm>
        </p:grpSpPr>
        <p:grpSp>
          <p:nvGrpSpPr>
            <p:cNvPr id="9" name="组合 8"/>
            <p:cNvGrpSpPr/>
            <p:nvPr/>
          </p:nvGrpSpPr>
          <p:grpSpPr>
            <a:xfrm>
              <a:off x="42863" y="2568718"/>
              <a:ext cx="6709511" cy="2793857"/>
              <a:chOff x="5897352" y="1872032"/>
              <a:chExt cx="9059566" cy="3772426"/>
            </a:xfrm>
          </p:grpSpPr>
          <p:pic>
            <p:nvPicPr>
              <p:cNvPr id="7" name="图片 6"/>
              <p:cNvPicPr>
                <a:picLocks noChangeAspect="1"/>
              </p:cNvPicPr>
              <p:nvPr/>
            </p:nvPicPr>
            <p:blipFill rotWithShape="1">
              <a:blip r:embed="rId1"/>
              <a:srcRect r="97694"/>
              <a:stretch>
                <a:fillRect/>
              </a:stretch>
            </p:blipFill>
            <p:spPr>
              <a:xfrm>
                <a:off x="5897352" y="1872032"/>
                <a:ext cx="397295" cy="3772426"/>
              </a:xfrm>
              <a:prstGeom prst="rect">
                <a:avLst/>
              </a:prstGeom>
            </p:spPr>
          </p:pic>
          <p:pic>
            <p:nvPicPr>
              <p:cNvPr id="16" name="图片 15"/>
              <p:cNvPicPr>
                <a:picLocks noChangeAspect="1"/>
              </p:cNvPicPr>
              <p:nvPr/>
            </p:nvPicPr>
            <p:blipFill rotWithShape="1">
              <a:blip r:embed="rId1"/>
              <a:srcRect l="49770"/>
              <a:stretch>
                <a:fillRect/>
              </a:stretch>
            </p:blipFill>
            <p:spPr>
              <a:xfrm>
                <a:off x="6305550" y="1872032"/>
                <a:ext cx="8651368" cy="3772426"/>
              </a:xfrm>
              <a:prstGeom prst="rect">
                <a:avLst/>
              </a:prstGeom>
            </p:spPr>
          </p:pic>
        </p:grpSp>
        <p:pic>
          <p:nvPicPr>
            <p:cNvPr id="23" name="图片 22"/>
            <p:cNvPicPr>
              <a:picLocks noChangeAspect="1"/>
            </p:cNvPicPr>
            <p:nvPr/>
          </p:nvPicPr>
          <p:blipFill>
            <a:blip r:embed="rId2"/>
            <a:stretch>
              <a:fillRect/>
            </a:stretch>
          </p:blipFill>
          <p:spPr>
            <a:xfrm>
              <a:off x="308129" y="2283256"/>
              <a:ext cx="2160430" cy="285462"/>
            </a:xfrm>
            <a:prstGeom prst="rect">
              <a:avLst/>
            </a:prstGeom>
          </p:spPr>
        </p:pic>
      </p:grpSp>
      <p:sp>
        <p:nvSpPr>
          <p:cNvPr id="2" name="标题 1"/>
          <p:cNvSpPr>
            <a:spLocks noGrp="1"/>
          </p:cNvSpPr>
          <p:nvPr>
            <p:ph type="title"/>
          </p:nvPr>
        </p:nvSpPr>
        <p:spPr/>
        <p:txBody>
          <a:bodyPr/>
          <a:lstStyle/>
          <a:p>
            <a:r>
              <a:rPr lang="zh-CN" altLang="en-US" dirty="0"/>
              <a:t>特殊的操作码编码方式</a:t>
            </a:r>
            <a:endParaRPr lang="zh-CN" altLang="en-US" dirty="0"/>
          </a:p>
        </p:txBody>
      </p:sp>
      <p:sp>
        <p:nvSpPr>
          <p:cNvPr id="3" name="内容占位符 2"/>
          <p:cNvSpPr>
            <a:spLocks noGrp="1"/>
          </p:cNvSpPr>
          <p:nvPr>
            <p:ph idx="1"/>
          </p:nvPr>
        </p:nvSpPr>
        <p:spPr>
          <a:xfrm>
            <a:off x="42863" y="1248496"/>
            <a:ext cx="10515600" cy="694604"/>
          </a:xfrm>
        </p:spPr>
        <p:txBody>
          <a:bodyPr/>
          <a:lstStyle/>
          <a:p>
            <a:r>
              <a:rPr lang="zh-CN" altLang="en-US" dirty="0"/>
              <a:t>双字节</a:t>
            </a:r>
            <a:r>
              <a:rPr lang="en-US" altLang="zh-CN" dirty="0"/>
              <a:t>opcode</a:t>
            </a:r>
            <a:r>
              <a:rPr lang="zh-CN" altLang="en-US" dirty="0"/>
              <a:t>：第一个字节是</a:t>
            </a:r>
            <a:r>
              <a:rPr lang="en-US" altLang="zh-CN" dirty="0"/>
              <a:t>0x0f</a:t>
            </a:r>
            <a:endParaRPr lang="zh-CN" altLang="en-US" dirty="0"/>
          </a:p>
        </p:txBody>
      </p:sp>
      <p:sp>
        <p:nvSpPr>
          <p:cNvPr id="4" name="日期占位符 3"/>
          <p:cNvSpPr>
            <a:spLocks noGrp="1"/>
          </p:cNvSpPr>
          <p:nvPr>
            <p:ph type="dt" sz="half" idx="10"/>
          </p:nvPr>
        </p:nvSpPr>
        <p:spPr/>
        <p:txBody>
          <a:bodyPr/>
          <a:lstStyle/>
          <a:p>
            <a:fld id="{41D2AEF5-D648-4728-8573-61956C55922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sp>
        <p:nvSpPr>
          <p:cNvPr id="17" name="矩形 16"/>
          <p:cNvSpPr/>
          <p:nvPr/>
        </p:nvSpPr>
        <p:spPr>
          <a:xfrm>
            <a:off x="5608848" y="3932277"/>
            <a:ext cx="809625" cy="7239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8" name="图片 17"/>
          <p:cNvPicPr>
            <a:picLocks noChangeAspect="1"/>
          </p:cNvPicPr>
          <p:nvPr/>
        </p:nvPicPr>
        <p:blipFill>
          <a:blip r:embed="rId3"/>
          <a:stretch>
            <a:fillRect/>
          </a:stretch>
        </p:blipFill>
        <p:spPr>
          <a:xfrm>
            <a:off x="7023795" y="1715078"/>
            <a:ext cx="5204227" cy="4379374"/>
          </a:xfrm>
          <a:prstGeom prst="rect">
            <a:avLst/>
          </a:prstGeom>
        </p:spPr>
      </p:pic>
      <p:sp>
        <p:nvSpPr>
          <p:cNvPr id="19" name="矩形 18"/>
          <p:cNvSpPr/>
          <p:nvPr/>
        </p:nvSpPr>
        <p:spPr>
          <a:xfrm>
            <a:off x="7105683" y="1737660"/>
            <a:ext cx="2911264" cy="22943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84907" y="1767069"/>
            <a:ext cx="6673622" cy="1323439"/>
          </a:xfrm>
          <a:prstGeom prst="rect">
            <a:avLst/>
          </a:prstGeom>
        </p:spPr>
        <p:txBody>
          <a:bodyPr wrap="none">
            <a:spAutoFit/>
          </a:bodyPr>
          <a:lstStyle/>
          <a:p>
            <a:r>
              <a:rPr lang="en-US" altLang="zh-CN" sz="4000" b="1" dirty="0">
                <a:latin typeface="Consolas" panose="020B0609020204030204" pitchFamily="49" charset="0"/>
              </a:rPr>
              <a:t>0f 20 c0  </a:t>
            </a:r>
            <a:r>
              <a:rPr lang="en-US" altLang="zh-CN" sz="4000" b="1" dirty="0" err="1">
                <a:latin typeface="Consolas" panose="020B0609020204030204" pitchFamily="49" charset="0"/>
              </a:rPr>
              <a:t>mov</a:t>
            </a:r>
            <a:r>
              <a:rPr lang="en-US" altLang="zh-CN" sz="4000" b="1" dirty="0">
                <a:latin typeface="Consolas" panose="020B0609020204030204" pitchFamily="49" charset="0"/>
              </a:rPr>
              <a:t> %cr0,%eax</a:t>
            </a:r>
            <a:endParaRPr lang="en-US" altLang="zh-CN" sz="4000" b="1" dirty="0">
              <a:latin typeface="Consolas" panose="020B0609020204030204" pitchFamily="49" charset="0"/>
            </a:endParaRPr>
          </a:p>
          <a:p>
            <a:r>
              <a:rPr lang="zh-CN" altLang="en-US" sz="4000" b="1" dirty="0">
                <a:latin typeface="Consolas" panose="020B0609020204030204" pitchFamily="49" charset="0"/>
              </a:rPr>
              <a:t>0f 22 c0  mov %eax,%cr0</a:t>
            </a:r>
            <a:endParaRPr lang="zh-CN" altLang="en-US" sz="4000" b="1" dirty="0">
              <a:latin typeface="Consolas" panose="020B0609020204030204" pitchFamily="49" charset="0"/>
            </a:endParaRPr>
          </a:p>
        </p:txBody>
      </p:sp>
      <p:sp>
        <p:nvSpPr>
          <p:cNvPr id="29" name="任意多边形 28"/>
          <p:cNvSpPr/>
          <p:nvPr/>
        </p:nvSpPr>
        <p:spPr>
          <a:xfrm>
            <a:off x="7734317" y="3000262"/>
            <a:ext cx="1104900" cy="314438"/>
          </a:xfrm>
          <a:custGeom>
            <a:avLst/>
            <a:gdLst>
              <a:gd name="connsiteX0" fmla="*/ 0 w 1104900"/>
              <a:gd name="connsiteY0" fmla="*/ 285863 h 314438"/>
              <a:gd name="connsiteX1" fmla="*/ 552450 w 1104900"/>
              <a:gd name="connsiteY1" fmla="*/ 113 h 314438"/>
              <a:gd name="connsiteX2" fmla="*/ 1104900 w 1104900"/>
              <a:gd name="connsiteY2" fmla="*/ 314438 h 314438"/>
            </a:gdLst>
            <a:ahLst/>
            <a:cxnLst>
              <a:cxn ang="0">
                <a:pos x="connsiteX0" y="connsiteY0"/>
              </a:cxn>
              <a:cxn ang="0">
                <a:pos x="connsiteX1" y="connsiteY1"/>
              </a:cxn>
              <a:cxn ang="0">
                <a:pos x="connsiteX2" y="connsiteY2"/>
              </a:cxn>
            </a:cxnLst>
            <a:rect l="l" t="t" r="r" b="b"/>
            <a:pathLst>
              <a:path w="1104900" h="314438">
                <a:moveTo>
                  <a:pt x="0" y="285863"/>
                </a:moveTo>
                <a:cubicBezTo>
                  <a:pt x="184150" y="140607"/>
                  <a:pt x="368300" y="-4649"/>
                  <a:pt x="552450" y="113"/>
                </a:cubicBezTo>
                <a:cubicBezTo>
                  <a:pt x="736600" y="4875"/>
                  <a:pt x="920750" y="159656"/>
                  <a:pt x="1104900" y="314438"/>
                </a:cubicBezTo>
              </a:path>
            </a:pathLst>
          </a:custGeom>
          <a:noFill/>
          <a:ln>
            <a:solidFill>
              <a:srgbClr val="FF0000"/>
            </a:solidFill>
            <a:headEnd type="triangle" w="lg" len="lg"/>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特殊的操作码编码方式</a:t>
            </a:r>
            <a:endParaRPr lang="zh-CN" altLang="en-US" dirty="0"/>
          </a:p>
        </p:txBody>
      </p:sp>
      <p:sp>
        <p:nvSpPr>
          <p:cNvPr id="3" name="内容占位符 2"/>
          <p:cNvSpPr>
            <a:spLocks noGrp="1"/>
          </p:cNvSpPr>
          <p:nvPr>
            <p:ph idx="1"/>
          </p:nvPr>
        </p:nvSpPr>
        <p:spPr>
          <a:xfrm>
            <a:off x="42863" y="1248496"/>
            <a:ext cx="10515600" cy="694604"/>
          </a:xfrm>
        </p:spPr>
        <p:txBody>
          <a:bodyPr/>
          <a:lstStyle/>
          <a:p>
            <a:r>
              <a:rPr lang="zh-CN" altLang="en-US" dirty="0"/>
              <a:t>双字节</a:t>
            </a:r>
            <a:r>
              <a:rPr lang="en-US" altLang="zh-CN" dirty="0"/>
              <a:t>opcode</a:t>
            </a:r>
            <a:r>
              <a:rPr lang="zh-CN" altLang="en-US" dirty="0"/>
              <a:t>：第一个字节是</a:t>
            </a:r>
            <a:r>
              <a:rPr lang="en-US" altLang="zh-CN" dirty="0"/>
              <a:t>0x0f</a:t>
            </a:r>
            <a:endParaRPr lang="zh-CN" altLang="en-US" dirty="0"/>
          </a:p>
        </p:txBody>
      </p:sp>
      <p:sp>
        <p:nvSpPr>
          <p:cNvPr id="4" name="日期占位符 3"/>
          <p:cNvSpPr>
            <a:spLocks noGrp="1"/>
          </p:cNvSpPr>
          <p:nvPr>
            <p:ph type="dt" sz="half" idx="10"/>
          </p:nvPr>
        </p:nvSpPr>
        <p:spPr/>
        <p:txBody>
          <a:bodyPr/>
          <a:lstStyle/>
          <a:p>
            <a:fld id="{41D2AEF5-D648-4728-8573-61956C55922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sp>
        <p:nvSpPr>
          <p:cNvPr id="8" name="矩形 7"/>
          <p:cNvSpPr/>
          <p:nvPr/>
        </p:nvSpPr>
        <p:spPr>
          <a:xfrm>
            <a:off x="228600" y="2002455"/>
            <a:ext cx="5191125" cy="1754326"/>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zh-CN" altLang="en-US" dirty="0"/>
              <a:t>instr_func opcode_entry[256] = {</a:t>
            </a:r>
            <a:endParaRPr lang="zh-CN" altLang="en-US" dirty="0"/>
          </a:p>
          <a:p>
            <a:r>
              <a:rPr lang="zh-CN" altLang="en-US" dirty="0"/>
              <a:t>    /* 0x08 - 0x0b*/ inv, inv, inv, inv,</a:t>
            </a:r>
            <a:endParaRPr lang="zh-CN" altLang="en-US" dirty="0"/>
          </a:p>
          <a:p>
            <a:r>
              <a:rPr lang="zh-CN" altLang="en-US" dirty="0"/>
              <a:t>    /* 0x0c - 0x0f*/ inv, inv, inv, </a:t>
            </a:r>
            <a:r>
              <a:rPr lang="zh-CN" altLang="en-US" b="1" dirty="0">
                <a:solidFill>
                  <a:srgbClr val="C00000"/>
                </a:solidFill>
              </a:rPr>
              <a:t>opcode_2_byte</a:t>
            </a:r>
            <a:r>
              <a:rPr lang="zh-CN" altLang="en-US" dirty="0"/>
              <a:t>,</a:t>
            </a:r>
            <a:endParaRPr lang="zh-CN" altLang="en-US" dirty="0"/>
          </a:p>
          <a:p>
            <a:r>
              <a:rPr lang="zh-CN" altLang="en-US" dirty="0"/>
              <a:t>    /* 0x10 - 0x13*/ inv, inv, inv, inv,</a:t>
            </a:r>
            <a:endParaRPr lang="zh-CN" altLang="en-US" dirty="0"/>
          </a:p>
          <a:p>
            <a:r>
              <a:rPr lang="zh-CN" altLang="en-US" dirty="0"/>
              <a:t>    /* 0x14 - 0x17*/ inv, inv, inv, inv,</a:t>
            </a:r>
            <a:endParaRPr lang="zh-CN" altLang="en-US" dirty="0"/>
          </a:p>
          <a:p>
            <a:r>
              <a:rPr lang="zh-CN" altLang="en-US" dirty="0"/>
              <a:t>};</a:t>
            </a:r>
            <a:endParaRPr lang="zh-CN" altLang="en-US" dirty="0"/>
          </a:p>
        </p:txBody>
      </p:sp>
      <p:sp>
        <p:nvSpPr>
          <p:cNvPr id="10" name="矩形 9"/>
          <p:cNvSpPr/>
          <p:nvPr/>
        </p:nvSpPr>
        <p:spPr>
          <a:xfrm>
            <a:off x="5948362" y="1635920"/>
            <a:ext cx="6096000" cy="4801314"/>
          </a:xfrm>
          <a:prstGeom prst="rect">
            <a:avLst/>
          </a:prstGeom>
        </p:spPr>
        <p:style>
          <a:lnRef idx="2">
            <a:schemeClr val="dk1"/>
          </a:lnRef>
          <a:fillRef idx="1">
            <a:schemeClr val="lt1"/>
          </a:fillRef>
          <a:effectRef idx="0">
            <a:schemeClr val="dk1"/>
          </a:effectRef>
          <a:fontRef idx="minor">
            <a:schemeClr val="dk1"/>
          </a:fontRef>
        </p:style>
        <p:txBody>
          <a:bodyPr>
            <a:spAutoFit/>
          </a:bodyPr>
          <a:lstStyle/>
          <a:p>
            <a:r>
              <a:rPr lang="zh-CN" altLang="en-US" dirty="0"/>
              <a:t>#include "cpu/instr.h"</a:t>
            </a:r>
            <a:endParaRPr lang="zh-CN" altLang="en-US" dirty="0"/>
          </a:p>
          <a:p>
            <a:endParaRPr lang="zh-CN" altLang="en-US" dirty="0"/>
          </a:p>
          <a:p>
            <a:r>
              <a:rPr lang="zh-CN" altLang="en-US" dirty="0"/>
              <a:t>extern bool has_prefix;</a:t>
            </a:r>
            <a:endParaRPr lang="zh-CN" altLang="en-US" dirty="0"/>
          </a:p>
          <a:p>
            <a:endParaRPr lang="zh-CN" altLang="en-US" dirty="0"/>
          </a:p>
          <a:p>
            <a:r>
              <a:rPr lang="zh-CN" altLang="en-US" dirty="0"/>
              <a:t>make_instr_func(</a:t>
            </a:r>
            <a:r>
              <a:rPr lang="zh-CN" altLang="en-US" b="1" dirty="0">
                <a:solidFill>
                  <a:srgbClr val="C00000"/>
                </a:solidFill>
              </a:rPr>
              <a:t>opcode_2_byte</a:t>
            </a:r>
            <a:r>
              <a:rPr lang="zh-CN" altLang="en-US" dirty="0"/>
              <a:t>)</a:t>
            </a:r>
            <a:endParaRPr lang="zh-CN" altLang="en-US" dirty="0"/>
          </a:p>
          <a:p>
            <a:r>
              <a:rPr lang="zh-CN" altLang="en-US" dirty="0"/>
              <a:t>{</a:t>
            </a:r>
            <a:endParaRPr lang="zh-CN" altLang="en-US" dirty="0"/>
          </a:p>
          <a:p>
            <a:r>
              <a:rPr lang="zh-CN" altLang="en-US"/>
              <a:t>	int </a:t>
            </a:r>
            <a:r>
              <a:rPr lang="zh-CN" altLang="en-US" dirty="0"/>
              <a:t>len = 1;</a:t>
            </a:r>
            <a:endParaRPr lang="zh-CN" altLang="en-US" dirty="0"/>
          </a:p>
          <a:p>
            <a:r>
              <a:rPr lang="zh-CN" altLang="en-US"/>
              <a:t>	has</a:t>
            </a:r>
            <a:r>
              <a:rPr lang="zh-CN" altLang="en-US" dirty="0"/>
              <a:t>_prefix = true;</a:t>
            </a:r>
            <a:endParaRPr lang="zh-CN" altLang="en-US" dirty="0"/>
          </a:p>
          <a:p>
            <a:r>
              <a:rPr lang="zh-CN" altLang="en-US"/>
              <a:t>	uint</a:t>
            </a:r>
            <a:r>
              <a:rPr lang="zh-CN" altLang="en-US" dirty="0"/>
              <a:t>8_t op = instr_fetch(eip + 1, 1);</a:t>
            </a:r>
            <a:endParaRPr lang="zh-CN" altLang="en-US" dirty="0"/>
          </a:p>
          <a:p>
            <a:r>
              <a:rPr lang="zh-CN" altLang="en-US" dirty="0"/>
              <a:t>#ifdef NEMU_REF_INSTR</a:t>
            </a:r>
            <a:endParaRPr lang="zh-CN" altLang="en-US" dirty="0"/>
          </a:p>
          <a:p>
            <a:r>
              <a:rPr lang="zh-CN" altLang="en-US"/>
              <a:t>	len </a:t>
            </a:r>
            <a:r>
              <a:rPr lang="zh-CN" altLang="en-US" dirty="0"/>
              <a:t>+= __ref_opcode_2_byte_entry[op](eip + 1, op);</a:t>
            </a:r>
            <a:endParaRPr lang="zh-CN" altLang="en-US" dirty="0"/>
          </a:p>
          <a:p>
            <a:r>
              <a:rPr lang="zh-CN" altLang="en-US" dirty="0"/>
              <a:t>#else</a:t>
            </a:r>
            <a:endParaRPr lang="zh-CN" altLang="en-US" dirty="0"/>
          </a:p>
          <a:p>
            <a:r>
              <a:rPr lang="zh-CN" altLang="en-US"/>
              <a:t>	len </a:t>
            </a:r>
            <a:r>
              <a:rPr lang="zh-CN" altLang="en-US" dirty="0"/>
              <a:t>+= </a:t>
            </a:r>
            <a:r>
              <a:rPr lang="zh-CN" altLang="en-US" b="1" dirty="0">
                <a:solidFill>
                  <a:srgbClr val="7030A0"/>
                </a:solidFill>
              </a:rPr>
              <a:t>opcode_2_byte_entry[op](eip + 1, op)</a:t>
            </a:r>
            <a:r>
              <a:rPr lang="zh-CN" altLang="en-US" dirty="0"/>
              <a:t>;</a:t>
            </a:r>
            <a:endParaRPr lang="zh-CN" altLang="en-US" dirty="0"/>
          </a:p>
          <a:p>
            <a:r>
              <a:rPr lang="zh-CN" altLang="en-US" dirty="0"/>
              <a:t>#endif</a:t>
            </a:r>
            <a:endParaRPr lang="zh-CN" altLang="en-US" dirty="0"/>
          </a:p>
          <a:p>
            <a:r>
              <a:rPr lang="zh-CN" altLang="en-US"/>
              <a:t>	has</a:t>
            </a:r>
            <a:r>
              <a:rPr lang="zh-CN" altLang="en-US" dirty="0"/>
              <a:t>_prefix = false;</a:t>
            </a:r>
            <a:endParaRPr lang="zh-CN" altLang="en-US" dirty="0"/>
          </a:p>
          <a:p>
            <a:r>
              <a:rPr lang="zh-CN" altLang="en-US"/>
              <a:t>	return </a:t>
            </a:r>
            <a:r>
              <a:rPr lang="zh-CN" altLang="en-US" dirty="0"/>
              <a:t>len;</a:t>
            </a:r>
            <a:endParaRPr lang="zh-CN" altLang="en-US" dirty="0"/>
          </a:p>
          <a:p>
            <a:r>
              <a:rPr lang="zh-CN" altLang="en-US" dirty="0"/>
              <a:t>}</a:t>
            </a:r>
            <a:endParaRPr lang="zh-CN" altLang="en-US" dirty="0"/>
          </a:p>
        </p:txBody>
      </p:sp>
      <p:sp>
        <p:nvSpPr>
          <p:cNvPr id="11" name="矩形 10"/>
          <p:cNvSpPr/>
          <p:nvPr/>
        </p:nvSpPr>
        <p:spPr>
          <a:xfrm>
            <a:off x="228600" y="4036577"/>
            <a:ext cx="5191125" cy="2585323"/>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zh-CN" altLang="en-US" dirty="0"/>
              <a:t>instr_func </a:t>
            </a:r>
            <a:r>
              <a:rPr lang="zh-CN" altLang="en-US" b="1" dirty="0">
                <a:solidFill>
                  <a:srgbClr val="7030A0"/>
                </a:solidFill>
              </a:rPr>
              <a:t>opcode_2_byte_entry[256] </a:t>
            </a:r>
            <a:r>
              <a:rPr lang="zh-CN" altLang="en-US" dirty="0"/>
              <a:t>= {</a:t>
            </a:r>
            <a:endParaRPr lang="zh-CN" altLang="en-US" dirty="0"/>
          </a:p>
          <a:p>
            <a:r>
              <a:rPr lang="zh-CN" altLang="en-US" dirty="0"/>
              <a:t>    /* 0x00 - 0x03*/ inv, group_7, inv, inv,</a:t>
            </a:r>
            <a:endParaRPr lang="zh-CN" altLang="en-US" dirty="0"/>
          </a:p>
          <a:p>
            <a:r>
              <a:rPr lang="zh-CN" altLang="en-US" dirty="0"/>
              <a:t>    /* 0x04 - 0x07*/ inv, inv, inv, inv,</a:t>
            </a:r>
            <a:endParaRPr lang="zh-CN" altLang="en-US" dirty="0"/>
          </a:p>
          <a:p>
            <a:r>
              <a:rPr lang="zh-CN" altLang="en-US" dirty="0"/>
              <a:t>    /* 0x08 - 0x0b*/ inv, inv, inv, inv,</a:t>
            </a:r>
            <a:endParaRPr lang="zh-CN" altLang="en-US" dirty="0"/>
          </a:p>
          <a:p>
            <a:r>
              <a:rPr lang="zh-CN" altLang="en-US" dirty="0"/>
              <a:t>    /* 0x0c - 0x0f*/ inv, inv, inv, inv,</a:t>
            </a:r>
            <a:endParaRPr lang="zh-CN" altLang="en-US" dirty="0"/>
          </a:p>
          <a:p>
            <a:r>
              <a:rPr lang="zh-CN" altLang="en-US" dirty="0"/>
              <a:t>    /* 0x10 - 0x13*/ inv, inv, inv, inv,</a:t>
            </a:r>
            <a:endParaRPr lang="zh-CN" altLang="en-US" dirty="0"/>
          </a:p>
          <a:p>
            <a:r>
              <a:rPr lang="zh-CN" altLang="en-US" dirty="0"/>
              <a:t>    /* 0x14 - 0x17*/ inv, inv, inv, inv,</a:t>
            </a:r>
            <a:endParaRPr lang="zh-CN" altLang="en-US" dirty="0"/>
          </a:p>
          <a:p>
            <a:r>
              <a:rPr lang="zh-CN" altLang="en-US" dirty="0"/>
              <a:t>    ...</a:t>
            </a:r>
            <a:endParaRPr lang="zh-CN" altLang="en-US" dirty="0"/>
          </a:p>
          <a:p>
            <a:r>
              <a:rPr lang="zh-CN" altLang="en-US" dirty="0"/>
              <a:t>};</a:t>
            </a:r>
            <a:endParaRPr lang="zh-CN" altLang="en-US" dirty="0"/>
          </a:p>
        </p:txBody>
      </p:sp>
      <p:sp>
        <p:nvSpPr>
          <p:cNvPr id="12" name="任意多边形 11"/>
          <p:cNvSpPr/>
          <p:nvPr/>
        </p:nvSpPr>
        <p:spPr>
          <a:xfrm>
            <a:off x="4291013" y="2114233"/>
            <a:ext cx="3357562" cy="690880"/>
          </a:xfrm>
          <a:custGeom>
            <a:avLst/>
            <a:gdLst>
              <a:gd name="connsiteX0" fmla="*/ 0 w 3357562"/>
              <a:gd name="connsiteY0" fmla="*/ 433705 h 690880"/>
              <a:gd name="connsiteX1" fmla="*/ 1452562 w 3357562"/>
              <a:gd name="connsiteY1" fmla="*/ 5080 h 690880"/>
              <a:gd name="connsiteX2" fmla="*/ 3357562 w 3357562"/>
              <a:gd name="connsiteY2" fmla="*/ 690880 h 690880"/>
            </a:gdLst>
            <a:ahLst/>
            <a:cxnLst>
              <a:cxn ang="0">
                <a:pos x="connsiteX0" y="connsiteY0"/>
              </a:cxn>
              <a:cxn ang="0">
                <a:pos x="connsiteX1" y="connsiteY1"/>
              </a:cxn>
              <a:cxn ang="0">
                <a:pos x="connsiteX2" y="connsiteY2"/>
              </a:cxn>
            </a:cxnLst>
            <a:rect l="l" t="t" r="r" b="b"/>
            <a:pathLst>
              <a:path w="3357562" h="690880">
                <a:moveTo>
                  <a:pt x="0" y="433705"/>
                </a:moveTo>
                <a:cubicBezTo>
                  <a:pt x="446484" y="197961"/>
                  <a:pt x="892968" y="-37782"/>
                  <a:pt x="1452562" y="5080"/>
                </a:cubicBezTo>
                <a:cubicBezTo>
                  <a:pt x="2012156" y="47942"/>
                  <a:pt x="2684859" y="369411"/>
                  <a:pt x="3357562" y="690880"/>
                </a:cubicBezTo>
              </a:path>
            </a:pathLst>
          </a:custGeom>
          <a:noFill/>
          <a:ln>
            <a:solidFill>
              <a:srgbClr val="C00000"/>
            </a:solid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任意多边形 12"/>
          <p:cNvSpPr/>
          <p:nvPr/>
        </p:nvSpPr>
        <p:spPr>
          <a:xfrm>
            <a:off x="3919537" y="4385544"/>
            <a:ext cx="4233863" cy="1445012"/>
          </a:xfrm>
          <a:custGeom>
            <a:avLst/>
            <a:gdLst>
              <a:gd name="connsiteX0" fmla="*/ 4233863 w 4233863"/>
              <a:gd name="connsiteY0" fmla="*/ 923925 h 1445012"/>
              <a:gd name="connsiteX1" fmla="*/ 2038350 w 4233863"/>
              <a:gd name="connsiteY1" fmla="*/ 1404937 h 1445012"/>
              <a:gd name="connsiteX2" fmla="*/ 0 w 4233863"/>
              <a:gd name="connsiteY2" fmla="*/ 0 h 1445012"/>
            </a:gdLst>
            <a:ahLst/>
            <a:cxnLst>
              <a:cxn ang="0">
                <a:pos x="connsiteX0" y="connsiteY0"/>
              </a:cxn>
              <a:cxn ang="0">
                <a:pos x="connsiteX1" y="connsiteY1"/>
              </a:cxn>
              <a:cxn ang="0">
                <a:pos x="connsiteX2" y="connsiteY2"/>
              </a:cxn>
            </a:cxnLst>
            <a:rect l="l" t="t" r="r" b="b"/>
            <a:pathLst>
              <a:path w="4233863" h="1445012">
                <a:moveTo>
                  <a:pt x="4233863" y="923925"/>
                </a:moveTo>
                <a:cubicBezTo>
                  <a:pt x="3488928" y="1241425"/>
                  <a:pt x="2743994" y="1558925"/>
                  <a:pt x="2038350" y="1404937"/>
                </a:cubicBezTo>
                <a:cubicBezTo>
                  <a:pt x="1332706" y="1250950"/>
                  <a:pt x="666353" y="625475"/>
                  <a:pt x="0" y="0"/>
                </a:cubicBezTo>
              </a:path>
            </a:pathLst>
          </a:custGeom>
          <a:noFill/>
          <a:ln>
            <a:solidFill>
              <a:srgbClr val="7030A0"/>
            </a:solid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77127" y="3687943"/>
            <a:ext cx="3568606" cy="369332"/>
          </a:xfrm>
          <a:prstGeom prst="rect">
            <a:avLst/>
          </a:prstGeom>
        </p:spPr>
        <p:txBody>
          <a:bodyPr wrap="none">
            <a:spAutoFit/>
          </a:bodyPr>
          <a:lstStyle/>
          <a:p>
            <a:r>
              <a:rPr lang="zh-CN" altLang="en-US" b="1">
                <a:solidFill>
                  <a:srgbClr val="0070C0"/>
                </a:solidFill>
              </a:rPr>
              <a:t>nemu/src/cpu/decode/opcode.c</a:t>
            </a:r>
            <a:endParaRPr lang="zh-CN" altLang="en-US" b="1">
              <a:solidFill>
                <a:srgbClr val="0070C0"/>
              </a:solidFill>
            </a:endParaRPr>
          </a:p>
        </p:txBody>
      </p:sp>
      <p:sp>
        <p:nvSpPr>
          <p:cNvPr id="15" name="矩形 14"/>
          <p:cNvSpPr/>
          <p:nvPr/>
        </p:nvSpPr>
        <p:spPr>
          <a:xfrm>
            <a:off x="7960653" y="1226466"/>
            <a:ext cx="4043094" cy="369332"/>
          </a:xfrm>
          <a:prstGeom prst="rect">
            <a:avLst/>
          </a:prstGeom>
        </p:spPr>
        <p:txBody>
          <a:bodyPr wrap="none">
            <a:spAutoFit/>
          </a:bodyPr>
          <a:lstStyle/>
          <a:p>
            <a:r>
              <a:rPr lang="zh-CN" altLang="en-US" b="1" dirty="0">
                <a:solidFill>
                  <a:srgbClr val="0070C0"/>
                </a:solidFill>
              </a:rPr>
              <a:t>nemu/src/cpu/instr/opcode_2_byte.c</a:t>
            </a:r>
            <a:endParaRPr lang="zh-CN" altLang="en-US" b="1" dirty="0">
              <a:solidFill>
                <a:srgbClr val="0070C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特殊的操作码编码方式</a:t>
            </a:r>
            <a:endParaRPr lang="zh-CN" altLang="en-US" dirty="0"/>
          </a:p>
        </p:txBody>
      </p:sp>
      <p:sp>
        <p:nvSpPr>
          <p:cNvPr id="3" name="内容占位符 2"/>
          <p:cNvSpPr>
            <a:spLocks noGrp="1"/>
          </p:cNvSpPr>
          <p:nvPr>
            <p:ph idx="1"/>
          </p:nvPr>
        </p:nvSpPr>
        <p:spPr>
          <a:xfrm>
            <a:off x="42863" y="1248496"/>
            <a:ext cx="10515600" cy="694604"/>
          </a:xfrm>
        </p:spPr>
        <p:txBody>
          <a:bodyPr/>
          <a:lstStyle/>
          <a:p>
            <a:r>
              <a:rPr lang="en-US" altLang="zh-CN" dirty="0"/>
              <a:t>group</a:t>
            </a:r>
            <a:r>
              <a:rPr lang="zh-CN" altLang="en-US" dirty="0"/>
              <a:t>中的指令</a:t>
            </a:r>
            <a:endParaRPr lang="zh-CN" altLang="en-US" dirty="0"/>
          </a:p>
        </p:txBody>
      </p:sp>
      <p:sp>
        <p:nvSpPr>
          <p:cNvPr id="4" name="日期占位符 3"/>
          <p:cNvSpPr>
            <a:spLocks noGrp="1"/>
          </p:cNvSpPr>
          <p:nvPr>
            <p:ph type="dt" sz="half" idx="10"/>
          </p:nvPr>
        </p:nvSpPr>
        <p:spPr/>
        <p:txBody>
          <a:bodyPr/>
          <a:lstStyle/>
          <a:p>
            <a:fld id="{41D2AEF5-D648-4728-8573-61956C55922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pic>
        <p:nvPicPr>
          <p:cNvPr id="22" name="图片 21"/>
          <p:cNvPicPr>
            <a:picLocks noChangeAspect="1"/>
          </p:cNvPicPr>
          <p:nvPr/>
        </p:nvPicPr>
        <p:blipFill>
          <a:blip r:embed="rId1"/>
          <a:stretch>
            <a:fillRect/>
          </a:stretch>
        </p:blipFill>
        <p:spPr>
          <a:xfrm>
            <a:off x="7734300" y="462667"/>
            <a:ext cx="3694408" cy="1160813"/>
          </a:xfrm>
          <a:prstGeom prst="rect">
            <a:avLst/>
          </a:prstGeom>
        </p:spPr>
        <p:style>
          <a:lnRef idx="2">
            <a:schemeClr val="dk1"/>
          </a:lnRef>
          <a:fillRef idx="1">
            <a:schemeClr val="lt1"/>
          </a:fillRef>
          <a:effectRef idx="0">
            <a:schemeClr val="dk1"/>
          </a:effectRef>
          <a:fontRef idx="minor">
            <a:schemeClr val="dk1"/>
          </a:fontRef>
        </p:style>
      </p:pic>
      <p:pic>
        <p:nvPicPr>
          <p:cNvPr id="11" name="图片 10"/>
          <p:cNvPicPr>
            <a:picLocks noChangeAspect="1"/>
          </p:cNvPicPr>
          <p:nvPr/>
        </p:nvPicPr>
        <p:blipFill>
          <a:blip r:embed="rId2"/>
          <a:stretch>
            <a:fillRect/>
          </a:stretch>
        </p:blipFill>
        <p:spPr>
          <a:xfrm>
            <a:off x="6066661" y="3228533"/>
            <a:ext cx="5465538" cy="3077334"/>
          </a:xfrm>
          <a:prstGeom prst="rect">
            <a:avLst/>
          </a:prstGeom>
        </p:spPr>
      </p:pic>
      <p:sp>
        <p:nvSpPr>
          <p:cNvPr id="10" name="矩形 9"/>
          <p:cNvSpPr/>
          <p:nvPr/>
        </p:nvSpPr>
        <p:spPr>
          <a:xfrm>
            <a:off x="259546" y="1853431"/>
            <a:ext cx="7802136" cy="1323439"/>
          </a:xfrm>
          <a:prstGeom prst="rect">
            <a:avLst/>
          </a:prstGeom>
        </p:spPr>
        <p:txBody>
          <a:bodyPr wrap="none">
            <a:spAutoFit/>
          </a:bodyPr>
          <a:lstStyle/>
          <a:p>
            <a:r>
              <a:rPr lang="zh-CN" altLang="en-US" sz="4000" b="1" dirty="0">
                <a:solidFill>
                  <a:srgbClr val="00B0F0"/>
                </a:solidFill>
                <a:latin typeface="Consolas" panose="020B0609020204030204" pitchFamily="49" charset="0"/>
              </a:rPr>
              <a:t>80</a:t>
            </a:r>
            <a:r>
              <a:rPr lang="zh-CN" altLang="en-US" sz="4000" b="1" dirty="0">
                <a:latin typeface="Consolas" panose="020B0609020204030204" pitchFamily="49" charset="0"/>
              </a:rPr>
              <a:t> </a:t>
            </a:r>
            <a:r>
              <a:rPr lang="zh-CN" altLang="en-US" sz="4000" b="1" dirty="0">
                <a:solidFill>
                  <a:srgbClr val="FF0000"/>
                </a:solidFill>
                <a:latin typeface="Consolas" panose="020B0609020204030204" pitchFamily="49" charset="0"/>
              </a:rPr>
              <a:t>3b</a:t>
            </a:r>
            <a:r>
              <a:rPr lang="zh-CN" altLang="en-US" sz="4000" b="1" dirty="0">
                <a:latin typeface="Consolas" panose="020B0609020204030204" pitchFamily="49" charset="0"/>
              </a:rPr>
              <a:t> 00  cmpb $0x0 ,(%ebx)</a:t>
            </a:r>
            <a:endParaRPr lang="en-US" altLang="zh-CN" sz="4000" b="1" dirty="0">
              <a:latin typeface="Consolas" panose="020B0609020204030204" pitchFamily="49" charset="0"/>
            </a:endParaRPr>
          </a:p>
          <a:p>
            <a:r>
              <a:rPr lang="en-US" altLang="zh-CN" sz="4000" b="1" dirty="0">
                <a:solidFill>
                  <a:srgbClr val="00B0F0"/>
                </a:solidFill>
                <a:latin typeface="Consolas" panose="020B0609020204030204" pitchFamily="49" charset="0"/>
              </a:rPr>
              <a:t>80</a:t>
            </a:r>
            <a:r>
              <a:rPr lang="en-US" altLang="zh-CN" sz="4000" b="1" dirty="0">
                <a:latin typeface="Consolas" panose="020B0609020204030204" pitchFamily="49" charset="0"/>
              </a:rPr>
              <a:t> </a:t>
            </a:r>
            <a:r>
              <a:rPr lang="en-US" altLang="zh-CN" sz="4000" b="1" dirty="0">
                <a:solidFill>
                  <a:schemeClr val="accent6"/>
                </a:solidFill>
                <a:latin typeface="Consolas" panose="020B0609020204030204" pitchFamily="49" charset="0"/>
              </a:rPr>
              <a:t>e2</a:t>
            </a:r>
            <a:r>
              <a:rPr lang="en-US" altLang="zh-CN" sz="4000" b="1" dirty="0">
                <a:latin typeface="Consolas" panose="020B0609020204030204" pitchFamily="49" charset="0"/>
              </a:rPr>
              <a:t> 7f  </a:t>
            </a:r>
            <a:r>
              <a:rPr lang="en-US" altLang="zh-CN" sz="4000" b="1" dirty="0" err="1">
                <a:latin typeface="Consolas" panose="020B0609020204030204" pitchFamily="49" charset="0"/>
              </a:rPr>
              <a:t>andb</a:t>
            </a:r>
            <a:r>
              <a:rPr lang="en-US" altLang="zh-CN" sz="4000" b="1" dirty="0">
                <a:latin typeface="Consolas" panose="020B0609020204030204" pitchFamily="49" charset="0"/>
              </a:rPr>
              <a:t> $0x7f,%dl</a:t>
            </a:r>
            <a:endParaRPr lang="zh-CN" altLang="en-US" sz="4000" b="1" dirty="0">
              <a:latin typeface="Consolas" panose="020B0609020204030204" pitchFamily="49" charset="0"/>
            </a:endParaRPr>
          </a:p>
        </p:txBody>
      </p:sp>
      <p:sp>
        <p:nvSpPr>
          <p:cNvPr id="15" name="文本框 14"/>
          <p:cNvSpPr txBox="1"/>
          <p:nvPr/>
        </p:nvSpPr>
        <p:spPr>
          <a:xfrm>
            <a:off x="8153400" y="1824261"/>
            <a:ext cx="3409950" cy="1323439"/>
          </a:xfrm>
          <a:prstGeom prst="rect">
            <a:avLst/>
          </a:prstGeom>
          <a:noFill/>
        </p:spPr>
        <p:txBody>
          <a:bodyPr wrap="square" rtlCol="0">
            <a:spAutoFit/>
          </a:bodyPr>
          <a:lstStyle/>
          <a:p>
            <a:r>
              <a:rPr lang="en-US" altLang="zh-CN" sz="4000" dirty="0">
                <a:solidFill>
                  <a:srgbClr val="FF0000"/>
                </a:solidFill>
                <a:latin typeface="Consolas" panose="020B0609020204030204" pitchFamily="49" charset="0"/>
              </a:rPr>
              <a:t>00 111 011</a:t>
            </a:r>
            <a:endParaRPr lang="en-US" altLang="zh-CN" sz="4000" dirty="0">
              <a:solidFill>
                <a:srgbClr val="FF0000"/>
              </a:solidFill>
              <a:latin typeface="Consolas" panose="020B0609020204030204" pitchFamily="49" charset="0"/>
            </a:endParaRPr>
          </a:p>
          <a:p>
            <a:r>
              <a:rPr lang="en-US" altLang="zh-CN" sz="4000" dirty="0">
                <a:solidFill>
                  <a:schemeClr val="accent6"/>
                </a:solidFill>
                <a:latin typeface="Consolas" panose="020B0609020204030204" pitchFamily="49" charset="0"/>
              </a:rPr>
              <a:t>11 100 010</a:t>
            </a:r>
            <a:endParaRPr lang="zh-CN" altLang="en-US" sz="4000" dirty="0">
              <a:solidFill>
                <a:schemeClr val="accent6"/>
              </a:solidFill>
              <a:latin typeface="Consolas" panose="020B0609020204030204" pitchFamily="49" charset="0"/>
            </a:endParaRPr>
          </a:p>
        </p:txBody>
      </p:sp>
      <p:cxnSp>
        <p:nvCxnSpPr>
          <p:cNvPr id="24" name="直接箭头连接符 23"/>
          <p:cNvCxnSpPr/>
          <p:nvPr/>
        </p:nvCxnSpPr>
        <p:spPr>
          <a:xfrm flipH="1">
            <a:off x="9258300" y="3038475"/>
            <a:ext cx="171450" cy="948752"/>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nvCxnSpPr>
        <p:spPr>
          <a:xfrm>
            <a:off x="9858375" y="2485980"/>
            <a:ext cx="962025" cy="1501247"/>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7" name="文本框 26"/>
          <p:cNvSpPr txBox="1"/>
          <p:nvPr/>
        </p:nvSpPr>
        <p:spPr>
          <a:xfrm>
            <a:off x="1366433" y="5977892"/>
            <a:ext cx="2481262" cy="646331"/>
          </a:xfrm>
          <a:prstGeom prst="rect">
            <a:avLst/>
          </a:prstGeom>
          <a:noFill/>
        </p:spPr>
        <p:txBody>
          <a:bodyPr wrap="square" rtlCol="0">
            <a:spAutoFit/>
          </a:bodyPr>
          <a:lstStyle/>
          <a:p>
            <a:r>
              <a:rPr lang="zh-CN" altLang="en-US" dirty="0">
                <a:solidFill>
                  <a:srgbClr val="C00000"/>
                </a:solidFill>
              </a:rPr>
              <a:t>手册上指令格式有</a:t>
            </a:r>
            <a:r>
              <a:rPr lang="en-US" altLang="zh-CN" dirty="0">
                <a:solidFill>
                  <a:srgbClr val="C00000"/>
                </a:solidFill>
              </a:rPr>
              <a:t>bug</a:t>
            </a:r>
            <a:r>
              <a:rPr lang="zh-CN" altLang="en-US" dirty="0">
                <a:solidFill>
                  <a:srgbClr val="C00000"/>
                </a:solidFill>
              </a:rPr>
              <a:t>，以框架代码为准</a:t>
            </a:r>
            <a:endParaRPr lang="zh-CN" altLang="en-US" dirty="0">
              <a:solidFill>
                <a:srgbClr val="C00000"/>
              </a:solidFill>
            </a:endParaRPr>
          </a:p>
        </p:txBody>
      </p:sp>
      <p:grpSp>
        <p:nvGrpSpPr>
          <p:cNvPr id="28" name="组合 27"/>
          <p:cNvGrpSpPr/>
          <p:nvPr/>
        </p:nvGrpSpPr>
        <p:grpSpPr>
          <a:xfrm>
            <a:off x="122345" y="3820797"/>
            <a:ext cx="4848132" cy="2047761"/>
            <a:chOff x="8246680" y="283184"/>
            <a:chExt cx="3775838" cy="1594844"/>
          </a:xfrm>
        </p:grpSpPr>
        <p:pic>
          <p:nvPicPr>
            <p:cNvPr id="29" name="图片 28"/>
            <p:cNvPicPr>
              <a:picLocks noChangeAspect="1"/>
            </p:cNvPicPr>
            <p:nvPr/>
          </p:nvPicPr>
          <p:blipFill rotWithShape="1">
            <a:blip r:embed="rId3"/>
            <a:srcRect t="80263"/>
            <a:stretch>
              <a:fillRect/>
            </a:stretch>
          </p:blipFill>
          <p:spPr>
            <a:xfrm>
              <a:off x="8246680" y="750805"/>
              <a:ext cx="3775838" cy="1127223"/>
            </a:xfrm>
            <a:prstGeom prst="rect">
              <a:avLst/>
            </a:prstGeom>
          </p:spPr>
        </p:pic>
        <p:pic>
          <p:nvPicPr>
            <p:cNvPr id="30" name="图片 29"/>
            <p:cNvPicPr>
              <a:picLocks noChangeAspect="1"/>
            </p:cNvPicPr>
            <p:nvPr/>
          </p:nvPicPr>
          <p:blipFill rotWithShape="1">
            <a:blip r:embed="rId3"/>
            <a:srcRect b="91783"/>
            <a:stretch>
              <a:fillRect/>
            </a:stretch>
          </p:blipFill>
          <p:spPr>
            <a:xfrm>
              <a:off x="8246680" y="283184"/>
              <a:ext cx="3775838" cy="469291"/>
            </a:xfrm>
            <a:prstGeom prst="rect">
              <a:avLst/>
            </a:prstGeom>
          </p:spPr>
        </p:pic>
      </p:grpSp>
      <p:sp>
        <p:nvSpPr>
          <p:cNvPr id="13" name="矩形 12"/>
          <p:cNvSpPr/>
          <p:nvPr/>
        </p:nvSpPr>
        <p:spPr>
          <a:xfrm>
            <a:off x="122345" y="4122079"/>
            <a:ext cx="2215234" cy="1150611"/>
          </a:xfrm>
          <a:prstGeom prst="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特殊的操作码编码方式</a:t>
            </a:r>
            <a:endParaRPr lang="zh-CN" altLang="en-US" dirty="0"/>
          </a:p>
        </p:txBody>
      </p:sp>
      <p:sp>
        <p:nvSpPr>
          <p:cNvPr id="3" name="内容占位符 2"/>
          <p:cNvSpPr>
            <a:spLocks noGrp="1"/>
          </p:cNvSpPr>
          <p:nvPr>
            <p:ph idx="1"/>
          </p:nvPr>
        </p:nvSpPr>
        <p:spPr>
          <a:xfrm>
            <a:off x="42863" y="1248496"/>
            <a:ext cx="10515600" cy="694604"/>
          </a:xfrm>
        </p:spPr>
        <p:txBody>
          <a:bodyPr/>
          <a:lstStyle/>
          <a:p>
            <a:r>
              <a:rPr lang="en-US" altLang="zh-CN" dirty="0"/>
              <a:t>group</a:t>
            </a:r>
            <a:r>
              <a:rPr lang="zh-CN" altLang="en-US" dirty="0"/>
              <a:t>中的指令</a:t>
            </a:r>
            <a:endParaRPr lang="zh-CN" altLang="en-US" dirty="0"/>
          </a:p>
        </p:txBody>
      </p:sp>
      <p:sp>
        <p:nvSpPr>
          <p:cNvPr id="4" name="日期占位符 3"/>
          <p:cNvSpPr>
            <a:spLocks noGrp="1"/>
          </p:cNvSpPr>
          <p:nvPr>
            <p:ph type="dt" sz="half" idx="10"/>
          </p:nvPr>
        </p:nvSpPr>
        <p:spPr/>
        <p:txBody>
          <a:bodyPr/>
          <a:lstStyle/>
          <a:p>
            <a:fld id="{41D2AEF5-D648-4728-8573-61956C55922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sp>
        <p:nvSpPr>
          <p:cNvPr id="21" name="文本框 20"/>
          <p:cNvSpPr txBox="1"/>
          <p:nvPr/>
        </p:nvSpPr>
        <p:spPr>
          <a:xfrm>
            <a:off x="1366433" y="5977892"/>
            <a:ext cx="2481262" cy="646331"/>
          </a:xfrm>
          <a:prstGeom prst="rect">
            <a:avLst/>
          </a:prstGeom>
          <a:noFill/>
        </p:spPr>
        <p:txBody>
          <a:bodyPr wrap="square" rtlCol="0">
            <a:spAutoFit/>
          </a:bodyPr>
          <a:lstStyle/>
          <a:p>
            <a:r>
              <a:rPr lang="zh-CN" altLang="en-US" dirty="0">
                <a:solidFill>
                  <a:srgbClr val="C00000"/>
                </a:solidFill>
              </a:rPr>
              <a:t>手册上指令格式有</a:t>
            </a:r>
            <a:r>
              <a:rPr lang="en-US" altLang="zh-CN" dirty="0">
                <a:solidFill>
                  <a:srgbClr val="C00000"/>
                </a:solidFill>
              </a:rPr>
              <a:t>bug</a:t>
            </a:r>
            <a:r>
              <a:rPr lang="zh-CN" altLang="en-US" dirty="0">
                <a:solidFill>
                  <a:srgbClr val="C00000"/>
                </a:solidFill>
              </a:rPr>
              <a:t>，以框架代码为准</a:t>
            </a:r>
            <a:endParaRPr lang="zh-CN" altLang="en-US" dirty="0">
              <a:solidFill>
                <a:srgbClr val="C00000"/>
              </a:solidFill>
            </a:endParaRPr>
          </a:p>
        </p:txBody>
      </p:sp>
      <p:pic>
        <p:nvPicPr>
          <p:cNvPr id="22" name="图片 21"/>
          <p:cNvPicPr>
            <a:picLocks noChangeAspect="1"/>
          </p:cNvPicPr>
          <p:nvPr/>
        </p:nvPicPr>
        <p:blipFill>
          <a:blip r:embed="rId1"/>
          <a:stretch>
            <a:fillRect/>
          </a:stretch>
        </p:blipFill>
        <p:spPr>
          <a:xfrm>
            <a:off x="7734300" y="462667"/>
            <a:ext cx="3694408" cy="1160813"/>
          </a:xfrm>
          <a:prstGeom prst="rect">
            <a:avLst/>
          </a:prstGeom>
        </p:spPr>
        <p:style>
          <a:lnRef idx="2">
            <a:schemeClr val="dk1"/>
          </a:lnRef>
          <a:fillRef idx="1">
            <a:schemeClr val="lt1"/>
          </a:fillRef>
          <a:effectRef idx="0">
            <a:schemeClr val="dk1"/>
          </a:effectRef>
          <a:fontRef idx="minor">
            <a:schemeClr val="dk1"/>
          </a:fontRef>
        </p:style>
      </p:pic>
      <p:pic>
        <p:nvPicPr>
          <p:cNvPr id="11" name="图片 10"/>
          <p:cNvPicPr>
            <a:picLocks noChangeAspect="1"/>
          </p:cNvPicPr>
          <p:nvPr/>
        </p:nvPicPr>
        <p:blipFill>
          <a:blip r:embed="rId2"/>
          <a:stretch>
            <a:fillRect/>
          </a:stretch>
        </p:blipFill>
        <p:spPr>
          <a:xfrm>
            <a:off x="6066661" y="3228533"/>
            <a:ext cx="5465538" cy="3077334"/>
          </a:xfrm>
          <a:prstGeom prst="rect">
            <a:avLst/>
          </a:prstGeom>
        </p:spPr>
      </p:pic>
      <p:grpSp>
        <p:nvGrpSpPr>
          <p:cNvPr id="12" name="组合 11"/>
          <p:cNvGrpSpPr/>
          <p:nvPr/>
        </p:nvGrpSpPr>
        <p:grpSpPr>
          <a:xfrm>
            <a:off x="122345" y="3820797"/>
            <a:ext cx="4848132" cy="2047761"/>
            <a:chOff x="8246680" y="283184"/>
            <a:chExt cx="3775838" cy="1594844"/>
          </a:xfrm>
        </p:grpSpPr>
        <p:pic>
          <p:nvPicPr>
            <p:cNvPr id="7" name="图片 6"/>
            <p:cNvPicPr>
              <a:picLocks noChangeAspect="1"/>
            </p:cNvPicPr>
            <p:nvPr/>
          </p:nvPicPr>
          <p:blipFill rotWithShape="1">
            <a:blip r:embed="rId3"/>
            <a:srcRect t="80263"/>
            <a:stretch>
              <a:fillRect/>
            </a:stretch>
          </p:blipFill>
          <p:spPr>
            <a:xfrm>
              <a:off x="8246680" y="750805"/>
              <a:ext cx="3775838" cy="1127223"/>
            </a:xfrm>
            <a:prstGeom prst="rect">
              <a:avLst/>
            </a:prstGeom>
          </p:spPr>
        </p:pic>
        <p:pic>
          <p:nvPicPr>
            <p:cNvPr id="23" name="图片 22"/>
            <p:cNvPicPr>
              <a:picLocks noChangeAspect="1"/>
            </p:cNvPicPr>
            <p:nvPr/>
          </p:nvPicPr>
          <p:blipFill rotWithShape="1">
            <a:blip r:embed="rId3"/>
            <a:srcRect b="91783"/>
            <a:stretch>
              <a:fillRect/>
            </a:stretch>
          </p:blipFill>
          <p:spPr>
            <a:xfrm>
              <a:off x="8246680" y="283184"/>
              <a:ext cx="3775838" cy="469291"/>
            </a:xfrm>
            <a:prstGeom prst="rect">
              <a:avLst/>
            </a:prstGeom>
          </p:spPr>
        </p:pic>
      </p:grpSp>
      <p:sp>
        <p:nvSpPr>
          <p:cNvPr id="18" name="矩形 17"/>
          <p:cNvSpPr/>
          <p:nvPr/>
        </p:nvSpPr>
        <p:spPr>
          <a:xfrm>
            <a:off x="228600" y="2002455"/>
            <a:ext cx="6834188" cy="147732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zh-CN" altLang="en-US" dirty="0"/>
              <a:t>instr_func opcode_entry[256] = {</a:t>
            </a:r>
            <a:endParaRPr lang="zh-CN" altLang="en-US" dirty="0"/>
          </a:p>
          <a:p>
            <a:r>
              <a:rPr lang="en-US" altLang="zh-CN" dirty="0"/>
              <a:t>    /* 0x7c - 0x7f*/ </a:t>
            </a:r>
            <a:r>
              <a:rPr lang="en-US" altLang="zh-CN" dirty="0" err="1"/>
              <a:t>inv</a:t>
            </a:r>
            <a:r>
              <a:rPr lang="en-US" altLang="zh-CN" dirty="0"/>
              <a:t>, </a:t>
            </a:r>
            <a:r>
              <a:rPr lang="en-US" altLang="zh-CN" dirty="0" err="1"/>
              <a:t>inv</a:t>
            </a:r>
            <a:r>
              <a:rPr lang="en-US" altLang="zh-CN" dirty="0"/>
              <a:t>, </a:t>
            </a:r>
            <a:r>
              <a:rPr lang="en-US" altLang="zh-CN" dirty="0" err="1"/>
              <a:t>inv</a:t>
            </a:r>
            <a:r>
              <a:rPr lang="en-US" altLang="zh-CN" dirty="0"/>
              <a:t>, </a:t>
            </a:r>
            <a:r>
              <a:rPr lang="en-US" altLang="zh-CN" dirty="0" err="1"/>
              <a:t>inv</a:t>
            </a:r>
            <a:r>
              <a:rPr lang="en-US" altLang="zh-CN" dirty="0"/>
              <a:t>,</a:t>
            </a:r>
            <a:endParaRPr lang="en-US" altLang="zh-CN" dirty="0"/>
          </a:p>
          <a:p>
            <a:r>
              <a:rPr lang="en-US" altLang="zh-CN" dirty="0"/>
              <a:t>    /* 0x80 - 0x83*/ group_1_b, group_1_v, </a:t>
            </a:r>
            <a:r>
              <a:rPr lang="en-US" altLang="zh-CN" dirty="0" err="1"/>
              <a:t>nemu_trap</a:t>
            </a:r>
            <a:r>
              <a:rPr lang="en-US" altLang="zh-CN" dirty="0"/>
              <a:t>, group_1_bv,</a:t>
            </a:r>
            <a:endParaRPr lang="en-US" altLang="zh-CN" dirty="0"/>
          </a:p>
          <a:p>
            <a:r>
              <a:rPr lang="en-US" altLang="zh-CN" dirty="0"/>
              <a:t>    /* 0x84 - 0x87*/ </a:t>
            </a:r>
            <a:r>
              <a:rPr lang="en-US" altLang="zh-CN" dirty="0" err="1"/>
              <a:t>inv</a:t>
            </a:r>
            <a:r>
              <a:rPr lang="en-US" altLang="zh-CN" dirty="0"/>
              <a:t>, </a:t>
            </a:r>
            <a:r>
              <a:rPr lang="en-US" altLang="zh-CN" dirty="0" err="1"/>
              <a:t>inv</a:t>
            </a:r>
            <a:r>
              <a:rPr lang="en-US" altLang="zh-CN" dirty="0"/>
              <a:t>, </a:t>
            </a:r>
            <a:r>
              <a:rPr lang="en-US" altLang="zh-CN" dirty="0" err="1"/>
              <a:t>inv</a:t>
            </a:r>
            <a:r>
              <a:rPr lang="en-US" altLang="zh-CN" dirty="0"/>
              <a:t>, </a:t>
            </a:r>
            <a:r>
              <a:rPr lang="en-US" altLang="zh-CN" dirty="0" err="1"/>
              <a:t>inv</a:t>
            </a:r>
            <a:r>
              <a:rPr lang="en-US" altLang="zh-CN" dirty="0"/>
              <a:t>,</a:t>
            </a:r>
            <a:endParaRPr lang="en-US" altLang="zh-CN" dirty="0"/>
          </a:p>
          <a:p>
            <a:r>
              <a:rPr lang="zh-CN" altLang="en-US" dirty="0"/>
              <a:t>};</a:t>
            </a:r>
            <a:endParaRPr lang="zh-CN" altLang="en-US" dirty="0"/>
          </a:p>
        </p:txBody>
      </p:sp>
      <p:sp>
        <p:nvSpPr>
          <p:cNvPr id="25" name="矩形 24"/>
          <p:cNvSpPr/>
          <p:nvPr/>
        </p:nvSpPr>
        <p:spPr>
          <a:xfrm>
            <a:off x="5607844" y="2582723"/>
            <a:ext cx="1283494" cy="370027"/>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122345" y="4122079"/>
            <a:ext cx="2215234" cy="1150611"/>
          </a:xfrm>
          <a:prstGeom prst="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2195718" y="2575879"/>
            <a:ext cx="2215234" cy="357821"/>
          </a:xfrm>
          <a:prstGeom prst="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a:t>
            </a:r>
            <a:endParaRPr lang="zh-CN" altLang="en-US" dirty="0"/>
          </a:p>
        </p:txBody>
      </p:sp>
      <p:sp>
        <p:nvSpPr>
          <p:cNvPr id="29" name="矩形 28"/>
          <p:cNvSpPr/>
          <p:nvPr/>
        </p:nvSpPr>
        <p:spPr>
          <a:xfrm>
            <a:off x="2939653" y="4126869"/>
            <a:ext cx="1098947" cy="1145821"/>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863" y="1248496"/>
            <a:ext cx="10515600" cy="694604"/>
          </a:xfrm>
        </p:spPr>
        <p:txBody>
          <a:bodyPr/>
          <a:lstStyle/>
          <a:p>
            <a:r>
              <a:rPr lang="en-US" altLang="zh-CN" dirty="0"/>
              <a:t>group</a:t>
            </a:r>
            <a:r>
              <a:rPr lang="zh-CN" altLang="en-US" dirty="0"/>
              <a:t>中的指令</a:t>
            </a:r>
            <a:endParaRPr lang="zh-CN" altLang="en-US" dirty="0"/>
          </a:p>
        </p:txBody>
      </p:sp>
      <p:sp>
        <p:nvSpPr>
          <p:cNvPr id="4" name="日期占位符 3"/>
          <p:cNvSpPr>
            <a:spLocks noGrp="1"/>
          </p:cNvSpPr>
          <p:nvPr>
            <p:ph type="dt" sz="half" idx="10"/>
          </p:nvPr>
        </p:nvSpPr>
        <p:spPr/>
        <p:txBody>
          <a:bodyPr/>
          <a:lstStyle/>
          <a:p>
            <a:fld id="{41D2AEF5-D648-4728-8573-61956C55922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sp>
        <p:nvSpPr>
          <p:cNvPr id="8" name="矩形 7"/>
          <p:cNvSpPr/>
          <p:nvPr/>
        </p:nvSpPr>
        <p:spPr>
          <a:xfrm>
            <a:off x="228600" y="2002455"/>
            <a:ext cx="5191125" cy="1631216"/>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zh-CN" altLang="en-US" dirty="0"/>
              <a:t>instr_func opcode_entry[256] = {</a:t>
            </a:r>
            <a:endParaRPr lang="zh-CN" altLang="en-US" dirty="0"/>
          </a:p>
          <a:p>
            <a:r>
              <a:rPr lang="en-US" altLang="zh-CN" dirty="0"/>
              <a:t>    /* 0x7c - 0x7f*/ </a:t>
            </a:r>
            <a:r>
              <a:rPr lang="en-US" altLang="zh-CN" dirty="0" err="1"/>
              <a:t>inv</a:t>
            </a:r>
            <a:r>
              <a:rPr lang="en-US" altLang="zh-CN" dirty="0"/>
              <a:t>, </a:t>
            </a:r>
            <a:r>
              <a:rPr lang="en-US" altLang="zh-CN" dirty="0" err="1"/>
              <a:t>inv</a:t>
            </a:r>
            <a:r>
              <a:rPr lang="en-US" altLang="zh-CN" dirty="0"/>
              <a:t>, </a:t>
            </a:r>
            <a:r>
              <a:rPr lang="en-US" altLang="zh-CN" dirty="0" err="1"/>
              <a:t>inv</a:t>
            </a:r>
            <a:r>
              <a:rPr lang="en-US" altLang="zh-CN" dirty="0"/>
              <a:t>, </a:t>
            </a:r>
            <a:r>
              <a:rPr lang="en-US" altLang="zh-CN" dirty="0" err="1"/>
              <a:t>inv</a:t>
            </a:r>
            <a:r>
              <a:rPr lang="en-US" altLang="zh-CN" dirty="0"/>
              <a:t>,</a:t>
            </a:r>
            <a:endParaRPr lang="en-US" altLang="zh-CN" dirty="0"/>
          </a:p>
          <a:p>
            <a:r>
              <a:rPr lang="en-US" altLang="zh-CN" dirty="0"/>
              <a:t>    /* 0x80 - 0x83*/ </a:t>
            </a:r>
            <a:r>
              <a:rPr lang="en-US" altLang="zh-CN" sz="2800" dirty="0">
                <a:solidFill>
                  <a:srgbClr val="FF0000"/>
                </a:solidFill>
              </a:rPr>
              <a:t>group_1_b</a:t>
            </a:r>
            <a:r>
              <a:rPr lang="en-US" altLang="zh-CN" dirty="0"/>
              <a:t>, group_1_v, …,</a:t>
            </a:r>
            <a:endParaRPr lang="en-US" altLang="zh-CN" dirty="0"/>
          </a:p>
          <a:p>
            <a:r>
              <a:rPr lang="en-US" altLang="zh-CN" dirty="0"/>
              <a:t>    /* 0x84 - 0x87*/ </a:t>
            </a:r>
            <a:r>
              <a:rPr lang="en-US" altLang="zh-CN" dirty="0" err="1"/>
              <a:t>inv</a:t>
            </a:r>
            <a:r>
              <a:rPr lang="en-US" altLang="zh-CN" dirty="0"/>
              <a:t>, </a:t>
            </a:r>
            <a:r>
              <a:rPr lang="en-US" altLang="zh-CN" dirty="0" err="1"/>
              <a:t>inv</a:t>
            </a:r>
            <a:r>
              <a:rPr lang="en-US" altLang="zh-CN" dirty="0"/>
              <a:t>, </a:t>
            </a:r>
            <a:r>
              <a:rPr lang="en-US" altLang="zh-CN" dirty="0" err="1"/>
              <a:t>inv</a:t>
            </a:r>
            <a:r>
              <a:rPr lang="en-US" altLang="zh-CN" dirty="0"/>
              <a:t>, </a:t>
            </a:r>
            <a:r>
              <a:rPr lang="en-US" altLang="zh-CN" dirty="0" err="1"/>
              <a:t>inv</a:t>
            </a:r>
            <a:r>
              <a:rPr lang="en-US" altLang="zh-CN" dirty="0"/>
              <a:t>,</a:t>
            </a:r>
            <a:endParaRPr lang="en-US" altLang="zh-CN" dirty="0"/>
          </a:p>
          <a:p>
            <a:r>
              <a:rPr lang="zh-CN" altLang="en-US" dirty="0"/>
              <a:t>};</a:t>
            </a:r>
            <a:endParaRPr lang="zh-CN" altLang="en-US" dirty="0"/>
          </a:p>
        </p:txBody>
      </p:sp>
      <p:sp>
        <p:nvSpPr>
          <p:cNvPr id="10" name="矩形 9"/>
          <p:cNvSpPr/>
          <p:nvPr/>
        </p:nvSpPr>
        <p:spPr>
          <a:xfrm>
            <a:off x="5619750" y="160696"/>
            <a:ext cx="6338887" cy="421653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altLang="zh-CN" sz="1400" dirty="0"/>
              <a:t>#include "</a:t>
            </a:r>
            <a:r>
              <a:rPr lang="en-US" altLang="zh-CN" sz="1400" dirty="0" err="1"/>
              <a:t>cpu</a:t>
            </a:r>
            <a:r>
              <a:rPr lang="en-US" altLang="zh-CN" sz="1400" dirty="0"/>
              <a:t>/</a:t>
            </a:r>
            <a:r>
              <a:rPr lang="en-US" altLang="zh-CN" sz="1400" dirty="0" err="1"/>
              <a:t>instr.h</a:t>
            </a:r>
            <a:r>
              <a:rPr lang="en-US" altLang="zh-CN" sz="1400" dirty="0"/>
              <a:t>"</a:t>
            </a:r>
            <a:endParaRPr lang="en-US" altLang="zh-CN" sz="1400" dirty="0"/>
          </a:p>
          <a:p>
            <a:endParaRPr lang="en-US" altLang="zh-CN" sz="1400" dirty="0"/>
          </a:p>
          <a:p>
            <a:r>
              <a:rPr lang="en-US" altLang="zh-CN" sz="1400" dirty="0"/>
              <a:t>#define </a:t>
            </a:r>
            <a:r>
              <a:rPr lang="en-US" altLang="zh-CN" sz="1400" dirty="0" err="1"/>
              <a:t>make_group_impl</a:t>
            </a:r>
            <a:r>
              <a:rPr lang="en-US" altLang="zh-CN" sz="1400" dirty="0"/>
              <a:t>(name)                               \</a:t>
            </a:r>
            <a:endParaRPr lang="en-US" altLang="zh-CN" sz="1400" dirty="0"/>
          </a:p>
          <a:p>
            <a:r>
              <a:rPr lang="en-US" altLang="zh-CN" sz="1400" dirty="0"/>
              <a:t>  </a:t>
            </a:r>
            <a:r>
              <a:rPr lang="en-US" altLang="zh-CN" sz="1400" dirty="0" err="1"/>
              <a:t>make_instr_func</a:t>
            </a:r>
            <a:r>
              <a:rPr lang="en-US" altLang="zh-CN" sz="1400" dirty="0"/>
              <a:t>(name)                                   \</a:t>
            </a:r>
            <a:endParaRPr lang="en-US" altLang="zh-CN" sz="1400" dirty="0"/>
          </a:p>
          <a:p>
            <a:r>
              <a:rPr lang="en-US" altLang="zh-CN" sz="1400" dirty="0"/>
              <a:t>  {                                                       \</a:t>
            </a:r>
            <a:endParaRPr lang="en-US" altLang="zh-CN" sz="1400" dirty="0"/>
          </a:p>
          <a:p>
            <a:r>
              <a:rPr lang="en-US" altLang="zh-CN" sz="1400" dirty="0"/>
              <a:t>    </a:t>
            </a:r>
            <a:r>
              <a:rPr lang="en-US" altLang="zh-CN" sz="2000" dirty="0"/>
              <a:t>uint8_t </a:t>
            </a:r>
            <a:r>
              <a:rPr lang="en-US" altLang="zh-CN" sz="2000" dirty="0" err="1"/>
              <a:t>op_code</a:t>
            </a:r>
            <a:r>
              <a:rPr lang="en-US" altLang="zh-CN" sz="2000" dirty="0"/>
              <a:t>;</a:t>
            </a:r>
            <a:r>
              <a:rPr lang="en-US" altLang="zh-CN" sz="1400" dirty="0"/>
              <a:t>                                    \</a:t>
            </a:r>
            <a:endParaRPr lang="en-US" altLang="zh-CN" sz="1400" dirty="0"/>
          </a:p>
          <a:p>
            <a:r>
              <a:rPr lang="en-US" altLang="zh-CN" sz="1400" dirty="0"/>
              <a:t>    </a:t>
            </a:r>
            <a:r>
              <a:rPr lang="en-US" altLang="zh-CN" sz="2000" dirty="0" err="1"/>
              <a:t>modrm_opcode</a:t>
            </a:r>
            <a:r>
              <a:rPr lang="en-US" altLang="zh-CN" sz="2000" dirty="0"/>
              <a:t>(</a:t>
            </a:r>
            <a:r>
              <a:rPr lang="en-US" altLang="zh-CN" sz="2000" dirty="0" err="1"/>
              <a:t>eip</a:t>
            </a:r>
            <a:r>
              <a:rPr lang="en-US" altLang="zh-CN" sz="2000" dirty="0"/>
              <a:t> + 1, &amp;</a:t>
            </a:r>
            <a:r>
              <a:rPr lang="en-US" altLang="zh-CN" sz="2000" dirty="0" err="1"/>
              <a:t>op_code</a:t>
            </a:r>
            <a:r>
              <a:rPr lang="en-US" altLang="zh-CN" sz="2000" dirty="0"/>
              <a:t>);</a:t>
            </a:r>
            <a:r>
              <a:rPr lang="en-US" altLang="zh-CN" sz="1400" dirty="0"/>
              <a:t>                    \</a:t>
            </a:r>
            <a:endParaRPr lang="en-US" altLang="zh-CN" sz="1400" dirty="0"/>
          </a:p>
          <a:p>
            <a:r>
              <a:rPr lang="en-US" altLang="zh-CN" sz="1400" dirty="0"/>
              <a:t>    </a:t>
            </a:r>
            <a:r>
              <a:rPr lang="en-US" altLang="zh-CN" sz="2000" dirty="0"/>
              <a:t>return </a:t>
            </a:r>
            <a:r>
              <a:rPr lang="en-US" altLang="zh-CN" sz="2000" dirty="0" err="1">
                <a:solidFill>
                  <a:srgbClr val="7030A0"/>
                </a:solidFill>
              </a:rPr>
              <a:t>concat</a:t>
            </a:r>
            <a:r>
              <a:rPr lang="en-US" altLang="zh-CN" sz="2000" dirty="0">
                <a:solidFill>
                  <a:srgbClr val="7030A0"/>
                </a:solidFill>
              </a:rPr>
              <a:t>(name, _entry)[</a:t>
            </a:r>
            <a:r>
              <a:rPr lang="en-US" altLang="zh-CN" sz="2000" dirty="0" err="1">
                <a:solidFill>
                  <a:srgbClr val="7030A0"/>
                </a:solidFill>
              </a:rPr>
              <a:t>op_code</a:t>
            </a:r>
            <a:r>
              <a:rPr lang="en-US" altLang="zh-CN" sz="2000" dirty="0">
                <a:solidFill>
                  <a:srgbClr val="7030A0"/>
                </a:solidFill>
              </a:rPr>
              <a:t>](</a:t>
            </a:r>
            <a:r>
              <a:rPr lang="en-US" altLang="zh-CN" sz="2000" dirty="0" err="1">
                <a:solidFill>
                  <a:srgbClr val="7030A0"/>
                </a:solidFill>
              </a:rPr>
              <a:t>eip</a:t>
            </a:r>
            <a:r>
              <a:rPr lang="en-US" altLang="zh-CN" sz="2000" dirty="0">
                <a:solidFill>
                  <a:srgbClr val="7030A0"/>
                </a:solidFill>
              </a:rPr>
              <a:t>, </a:t>
            </a:r>
            <a:r>
              <a:rPr lang="en-US" altLang="zh-CN" sz="2000" dirty="0" err="1">
                <a:solidFill>
                  <a:srgbClr val="7030A0"/>
                </a:solidFill>
              </a:rPr>
              <a:t>op_code</a:t>
            </a:r>
            <a:r>
              <a:rPr lang="en-US" altLang="zh-CN" sz="2000" dirty="0">
                <a:solidFill>
                  <a:srgbClr val="7030A0"/>
                </a:solidFill>
              </a:rPr>
              <a:t>);</a:t>
            </a:r>
            <a:r>
              <a:rPr lang="en-US" altLang="zh-CN" sz="1400" dirty="0">
                <a:solidFill>
                  <a:srgbClr val="7030A0"/>
                </a:solidFill>
              </a:rPr>
              <a:t> </a:t>
            </a:r>
            <a:r>
              <a:rPr lang="en-US" altLang="zh-CN" sz="1400" dirty="0"/>
              <a:t>\</a:t>
            </a:r>
            <a:endParaRPr lang="en-US" altLang="zh-CN" sz="1400" dirty="0"/>
          </a:p>
          <a:p>
            <a:r>
              <a:rPr lang="en-US" altLang="zh-CN" sz="1400" dirty="0"/>
              <a:t>  }</a:t>
            </a:r>
            <a:endParaRPr lang="en-US" altLang="zh-CN" sz="1400" dirty="0"/>
          </a:p>
          <a:p>
            <a:endParaRPr lang="en-US" altLang="zh-CN" sz="1400" dirty="0"/>
          </a:p>
          <a:p>
            <a:r>
              <a:rPr lang="en-US" altLang="zh-CN" sz="1400" dirty="0"/>
              <a:t>#</a:t>
            </a:r>
            <a:r>
              <a:rPr lang="en-US" altLang="zh-CN" sz="1400" dirty="0" err="1"/>
              <a:t>ifdef</a:t>
            </a:r>
            <a:r>
              <a:rPr lang="en-US" altLang="zh-CN" sz="1400" dirty="0"/>
              <a:t> NEMU_REF_INSTR</a:t>
            </a:r>
            <a:endParaRPr lang="en-US" altLang="zh-CN" sz="1400" dirty="0"/>
          </a:p>
          <a:p>
            <a:r>
              <a:rPr lang="en-US" altLang="zh-CN" sz="1400" dirty="0"/>
              <a:t>#define </a:t>
            </a:r>
            <a:r>
              <a:rPr lang="en-US" altLang="zh-CN" sz="1400" dirty="0" err="1"/>
              <a:t>make_group_impl_cond</a:t>
            </a:r>
            <a:r>
              <a:rPr lang="en-US" altLang="zh-CN" sz="1400" dirty="0"/>
              <a:t> </a:t>
            </a:r>
            <a:r>
              <a:rPr lang="en-US" altLang="zh-CN" sz="1400" dirty="0" err="1"/>
              <a:t>make_group_impl_ref</a:t>
            </a:r>
            <a:endParaRPr lang="en-US" altLang="zh-CN" sz="1400" dirty="0"/>
          </a:p>
          <a:p>
            <a:r>
              <a:rPr lang="en-US" altLang="zh-CN" sz="1400" dirty="0"/>
              <a:t>#else</a:t>
            </a:r>
            <a:endParaRPr lang="en-US" altLang="zh-CN" sz="1400" dirty="0"/>
          </a:p>
          <a:p>
            <a:r>
              <a:rPr lang="en-US" altLang="zh-CN" sz="1400" dirty="0"/>
              <a:t>#define </a:t>
            </a:r>
            <a:r>
              <a:rPr lang="en-US" altLang="zh-CN" sz="1400" dirty="0" err="1"/>
              <a:t>make_group_impl_cond</a:t>
            </a:r>
            <a:r>
              <a:rPr lang="en-US" altLang="zh-CN" sz="1400" dirty="0"/>
              <a:t> </a:t>
            </a:r>
            <a:r>
              <a:rPr lang="en-US" altLang="zh-CN" sz="1400" dirty="0" err="1"/>
              <a:t>make_group_impl</a:t>
            </a:r>
            <a:endParaRPr lang="en-US" altLang="zh-CN" sz="1400" dirty="0"/>
          </a:p>
          <a:p>
            <a:r>
              <a:rPr lang="en-US" altLang="zh-CN" sz="1400" dirty="0"/>
              <a:t>#</a:t>
            </a:r>
            <a:r>
              <a:rPr lang="en-US" altLang="zh-CN" sz="1400" dirty="0" err="1"/>
              <a:t>endif</a:t>
            </a:r>
            <a:endParaRPr lang="en-US" altLang="zh-CN" sz="1400" dirty="0"/>
          </a:p>
          <a:p>
            <a:endParaRPr lang="en-US" altLang="zh-CN" sz="1400" dirty="0"/>
          </a:p>
          <a:p>
            <a:r>
              <a:rPr lang="en-US" altLang="zh-CN" sz="1400" dirty="0" err="1"/>
              <a:t>make_group_impl_cond</a:t>
            </a:r>
            <a:r>
              <a:rPr lang="en-US" altLang="zh-CN" sz="1400" dirty="0"/>
              <a:t>(group_1_b)</a:t>
            </a:r>
            <a:endParaRPr lang="en-US" altLang="zh-CN" sz="1400" dirty="0"/>
          </a:p>
          <a:p>
            <a:r>
              <a:rPr lang="en-US" altLang="zh-CN" sz="1400" dirty="0" err="1"/>
              <a:t>make_group_impl_cond</a:t>
            </a:r>
            <a:r>
              <a:rPr lang="en-US" altLang="zh-CN" sz="1400" dirty="0"/>
              <a:t>(group_1_v)</a:t>
            </a:r>
            <a:endParaRPr lang="zh-CN" altLang="en-US" sz="1400" dirty="0"/>
          </a:p>
        </p:txBody>
      </p:sp>
      <p:sp>
        <p:nvSpPr>
          <p:cNvPr id="11" name="矩形 10"/>
          <p:cNvSpPr/>
          <p:nvPr/>
        </p:nvSpPr>
        <p:spPr>
          <a:xfrm>
            <a:off x="228600" y="4417352"/>
            <a:ext cx="11158538" cy="181588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altLang="zh-CN" sz="2800" dirty="0"/>
              <a:t>/* 0x80 */</a:t>
            </a:r>
            <a:endParaRPr lang="en-US" altLang="zh-CN" sz="2800" dirty="0"/>
          </a:p>
          <a:p>
            <a:r>
              <a:rPr lang="en-US" altLang="zh-CN" sz="2800" dirty="0" err="1"/>
              <a:t>instr_func</a:t>
            </a:r>
            <a:r>
              <a:rPr lang="en-US" altLang="zh-CN" sz="2800" dirty="0"/>
              <a:t> group_1_b_entry[8] =    {</a:t>
            </a:r>
            <a:r>
              <a:rPr lang="en-US" altLang="zh-CN" sz="2800" dirty="0" err="1"/>
              <a:t>inv</a:t>
            </a:r>
            <a:r>
              <a:rPr lang="en-US" altLang="zh-CN" sz="2800" dirty="0"/>
              <a:t>, </a:t>
            </a:r>
            <a:r>
              <a:rPr lang="en-US" altLang="zh-CN" sz="2800" dirty="0" err="1"/>
              <a:t>inv</a:t>
            </a:r>
            <a:r>
              <a:rPr lang="en-US" altLang="zh-CN" sz="2800" dirty="0"/>
              <a:t>, </a:t>
            </a:r>
            <a:r>
              <a:rPr lang="en-US" altLang="zh-CN" sz="2800" dirty="0" err="1"/>
              <a:t>inv</a:t>
            </a:r>
            <a:r>
              <a:rPr lang="en-US" altLang="zh-CN" sz="2800" dirty="0"/>
              <a:t>, </a:t>
            </a:r>
            <a:r>
              <a:rPr lang="en-US" altLang="zh-CN" sz="2800" dirty="0" err="1"/>
              <a:t>inv</a:t>
            </a:r>
            <a:r>
              <a:rPr lang="en-US" altLang="zh-CN" sz="2800" dirty="0"/>
              <a:t>, </a:t>
            </a:r>
            <a:r>
              <a:rPr lang="en-US" altLang="zh-CN" sz="2800" dirty="0" err="1"/>
              <a:t>inv</a:t>
            </a:r>
            <a:r>
              <a:rPr lang="en-US" altLang="zh-CN" sz="2800" dirty="0"/>
              <a:t>, </a:t>
            </a:r>
            <a:r>
              <a:rPr lang="en-US" altLang="zh-CN" sz="2800" dirty="0" err="1"/>
              <a:t>inv</a:t>
            </a:r>
            <a:r>
              <a:rPr lang="en-US" altLang="zh-CN" sz="2800" dirty="0"/>
              <a:t>, </a:t>
            </a:r>
            <a:r>
              <a:rPr lang="en-US" altLang="zh-CN" sz="2800" dirty="0" err="1"/>
              <a:t>inv</a:t>
            </a:r>
            <a:r>
              <a:rPr lang="en-US" altLang="zh-CN" sz="2800" dirty="0"/>
              <a:t>, </a:t>
            </a:r>
            <a:r>
              <a:rPr lang="en-US" altLang="zh-CN" sz="2800" dirty="0" err="1"/>
              <a:t>inv</a:t>
            </a:r>
            <a:r>
              <a:rPr lang="en-US" altLang="zh-CN" sz="2800" dirty="0"/>
              <a:t>};</a:t>
            </a:r>
            <a:endParaRPr lang="en-US" altLang="zh-CN" sz="2800" dirty="0"/>
          </a:p>
          <a:p>
            <a:r>
              <a:rPr lang="en-US" altLang="zh-CN" sz="2800" dirty="0"/>
              <a:t>/* 0x81 */</a:t>
            </a:r>
            <a:endParaRPr lang="en-US" altLang="zh-CN" sz="2800" dirty="0"/>
          </a:p>
          <a:p>
            <a:r>
              <a:rPr lang="en-US" altLang="zh-CN" sz="2800" dirty="0" err="1"/>
              <a:t>instr_func</a:t>
            </a:r>
            <a:r>
              <a:rPr lang="en-US" altLang="zh-CN" sz="2800" dirty="0"/>
              <a:t> group_1_v_entry[8] =    {</a:t>
            </a:r>
            <a:r>
              <a:rPr lang="en-US" altLang="zh-CN" sz="2800" dirty="0" err="1"/>
              <a:t>inv</a:t>
            </a:r>
            <a:r>
              <a:rPr lang="en-US" altLang="zh-CN" sz="2800" dirty="0"/>
              <a:t>, </a:t>
            </a:r>
            <a:r>
              <a:rPr lang="en-US" altLang="zh-CN" sz="2800" dirty="0" err="1"/>
              <a:t>inv</a:t>
            </a:r>
            <a:r>
              <a:rPr lang="en-US" altLang="zh-CN" sz="2800" dirty="0"/>
              <a:t>, </a:t>
            </a:r>
            <a:r>
              <a:rPr lang="en-US" altLang="zh-CN" sz="2800" dirty="0" err="1"/>
              <a:t>inv</a:t>
            </a:r>
            <a:r>
              <a:rPr lang="en-US" altLang="zh-CN" sz="2800" dirty="0"/>
              <a:t>, </a:t>
            </a:r>
            <a:r>
              <a:rPr lang="en-US" altLang="zh-CN" sz="2800" dirty="0" err="1"/>
              <a:t>inv</a:t>
            </a:r>
            <a:r>
              <a:rPr lang="en-US" altLang="zh-CN" sz="2800" dirty="0"/>
              <a:t>, </a:t>
            </a:r>
            <a:r>
              <a:rPr lang="en-US" altLang="zh-CN" sz="2800" dirty="0" err="1"/>
              <a:t>inv</a:t>
            </a:r>
            <a:r>
              <a:rPr lang="en-US" altLang="zh-CN" sz="2800" dirty="0"/>
              <a:t>, </a:t>
            </a:r>
            <a:r>
              <a:rPr lang="en-US" altLang="zh-CN" sz="2800" dirty="0" err="1"/>
              <a:t>inv</a:t>
            </a:r>
            <a:r>
              <a:rPr lang="en-US" altLang="zh-CN" sz="2800" dirty="0"/>
              <a:t>, </a:t>
            </a:r>
            <a:r>
              <a:rPr lang="en-US" altLang="zh-CN" sz="2800" dirty="0" err="1"/>
              <a:t>inv</a:t>
            </a:r>
            <a:r>
              <a:rPr lang="en-US" altLang="zh-CN" sz="2800" dirty="0"/>
              <a:t>, </a:t>
            </a:r>
            <a:r>
              <a:rPr lang="en-US" altLang="zh-CN" sz="2800" dirty="0" err="1"/>
              <a:t>inv</a:t>
            </a:r>
            <a:r>
              <a:rPr lang="en-US" altLang="zh-CN" sz="2800" dirty="0"/>
              <a:t>};</a:t>
            </a:r>
            <a:endParaRPr lang="zh-CN" altLang="en-US" sz="2800" dirty="0"/>
          </a:p>
        </p:txBody>
      </p:sp>
      <p:sp>
        <p:nvSpPr>
          <p:cNvPr id="14" name="矩形 13"/>
          <p:cNvSpPr/>
          <p:nvPr/>
        </p:nvSpPr>
        <p:spPr>
          <a:xfrm>
            <a:off x="228600" y="3764254"/>
            <a:ext cx="3568606" cy="369332"/>
          </a:xfrm>
          <a:prstGeom prst="rect">
            <a:avLst/>
          </a:prstGeom>
        </p:spPr>
        <p:txBody>
          <a:bodyPr wrap="none">
            <a:spAutoFit/>
          </a:bodyPr>
          <a:lstStyle/>
          <a:p>
            <a:r>
              <a:rPr lang="zh-CN" altLang="en-US" b="1" dirty="0">
                <a:solidFill>
                  <a:srgbClr val="0070C0"/>
                </a:solidFill>
              </a:rPr>
              <a:t>nemu/src/cpu/decode/opcode.c</a:t>
            </a:r>
            <a:endParaRPr lang="zh-CN" altLang="en-US" b="1" dirty="0">
              <a:solidFill>
                <a:srgbClr val="0070C0"/>
              </a:solidFill>
            </a:endParaRPr>
          </a:p>
        </p:txBody>
      </p:sp>
      <p:sp>
        <p:nvSpPr>
          <p:cNvPr id="15" name="矩形 14"/>
          <p:cNvSpPr/>
          <p:nvPr/>
        </p:nvSpPr>
        <p:spPr>
          <a:xfrm>
            <a:off x="8789193" y="3704319"/>
            <a:ext cx="3108543" cy="369332"/>
          </a:xfrm>
          <a:prstGeom prst="rect">
            <a:avLst/>
          </a:prstGeom>
        </p:spPr>
        <p:txBody>
          <a:bodyPr wrap="none">
            <a:spAutoFit/>
          </a:bodyPr>
          <a:lstStyle/>
          <a:p>
            <a:r>
              <a:rPr lang="en-US" altLang="zh-CN" b="1" dirty="0" err="1">
                <a:solidFill>
                  <a:srgbClr val="0070C0"/>
                </a:solidFill>
              </a:rPr>
              <a:t>nemu</a:t>
            </a:r>
            <a:r>
              <a:rPr lang="en-US" altLang="zh-CN" b="1" dirty="0">
                <a:solidFill>
                  <a:srgbClr val="0070C0"/>
                </a:solidFill>
              </a:rPr>
              <a:t>/</a:t>
            </a:r>
            <a:r>
              <a:rPr lang="en-US" altLang="zh-CN" b="1" dirty="0" err="1">
                <a:solidFill>
                  <a:srgbClr val="0070C0"/>
                </a:solidFill>
              </a:rPr>
              <a:t>src</a:t>
            </a:r>
            <a:r>
              <a:rPr lang="en-US" altLang="zh-CN" b="1" dirty="0">
                <a:solidFill>
                  <a:srgbClr val="0070C0"/>
                </a:solidFill>
              </a:rPr>
              <a:t>/</a:t>
            </a:r>
            <a:r>
              <a:rPr lang="en-US" altLang="zh-CN" b="1" dirty="0" err="1">
                <a:solidFill>
                  <a:srgbClr val="0070C0"/>
                </a:solidFill>
              </a:rPr>
              <a:t>cpu</a:t>
            </a:r>
            <a:r>
              <a:rPr lang="en-US" altLang="zh-CN" b="1" dirty="0">
                <a:solidFill>
                  <a:srgbClr val="0070C0"/>
                </a:solidFill>
              </a:rPr>
              <a:t>/</a:t>
            </a:r>
            <a:r>
              <a:rPr lang="en-US" altLang="zh-CN" b="1" dirty="0" err="1">
                <a:solidFill>
                  <a:srgbClr val="0070C0"/>
                </a:solidFill>
              </a:rPr>
              <a:t>instr</a:t>
            </a:r>
            <a:r>
              <a:rPr lang="en-US" altLang="zh-CN" b="1" dirty="0">
                <a:solidFill>
                  <a:srgbClr val="0070C0"/>
                </a:solidFill>
              </a:rPr>
              <a:t>/</a:t>
            </a:r>
            <a:r>
              <a:rPr lang="en-US" altLang="zh-CN" b="1" dirty="0" err="1">
                <a:solidFill>
                  <a:srgbClr val="0070C0"/>
                </a:solidFill>
              </a:rPr>
              <a:t>group.c</a:t>
            </a:r>
            <a:endParaRPr lang="zh-CN" altLang="en-US" b="1" dirty="0">
              <a:solidFill>
                <a:srgbClr val="0070C0"/>
              </a:solidFill>
            </a:endParaRPr>
          </a:p>
        </p:txBody>
      </p:sp>
      <p:sp>
        <p:nvSpPr>
          <p:cNvPr id="12" name="任意多边形 11"/>
          <p:cNvSpPr/>
          <p:nvPr/>
        </p:nvSpPr>
        <p:spPr>
          <a:xfrm>
            <a:off x="3790950" y="1162050"/>
            <a:ext cx="1914525" cy="1466850"/>
          </a:xfrm>
          <a:custGeom>
            <a:avLst/>
            <a:gdLst>
              <a:gd name="connsiteX0" fmla="*/ 0 w 1914525"/>
              <a:gd name="connsiteY0" fmla="*/ 1466850 h 1466850"/>
              <a:gd name="connsiteX1" fmla="*/ 542925 w 1914525"/>
              <a:gd name="connsiteY1" fmla="*/ 533400 h 1466850"/>
              <a:gd name="connsiteX2" fmla="*/ 1914525 w 1914525"/>
              <a:gd name="connsiteY2" fmla="*/ 0 h 1466850"/>
            </a:gdLst>
            <a:ahLst/>
            <a:cxnLst>
              <a:cxn ang="0">
                <a:pos x="connsiteX0" y="connsiteY0"/>
              </a:cxn>
              <a:cxn ang="0">
                <a:pos x="connsiteX1" y="connsiteY1"/>
              </a:cxn>
              <a:cxn ang="0">
                <a:pos x="connsiteX2" y="connsiteY2"/>
              </a:cxn>
            </a:cxnLst>
            <a:rect l="l" t="t" r="r" b="b"/>
            <a:pathLst>
              <a:path w="1914525" h="1466850">
                <a:moveTo>
                  <a:pt x="0" y="1466850"/>
                </a:moveTo>
                <a:cubicBezTo>
                  <a:pt x="111919" y="1122362"/>
                  <a:pt x="223838" y="777875"/>
                  <a:pt x="542925" y="533400"/>
                </a:cubicBezTo>
                <a:cubicBezTo>
                  <a:pt x="862013" y="288925"/>
                  <a:pt x="1388269" y="144462"/>
                  <a:pt x="1914525" y="0"/>
                </a:cubicBezTo>
              </a:path>
            </a:pathLst>
          </a:custGeom>
          <a:noFill/>
          <a:ln w="25400">
            <a:solidFill>
              <a:srgbClr val="FF0000"/>
            </a:solid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任意多边形 12"/>
          <p:cNvSpPr/>
          <p:nvPr/>
        </p:nvSpPr>
        <p:spPr>
          <a:xfrm>
            <a:off x="3838575" y="2295525"/>
            <a:ext cx="4206531" cy="2628900"/>
          </a:xfrm>
          <a:custGeom>
            <a:avLst/>
            <a:gdLst>
              <a:gd name="connsiteX0" fmla="*/ 4191000 w 4206531"/>
              <a:gd name="connsiteY0" fmla="*/ 0 h 2628900"/>
              <a:gd name="connsiteX1" fmla="*/ 3676650 w 4206531"/>
              <a:gd name="connsiteY1" fmla="*/ 1381125 h 2628900"/>
              <a:gd name="connsiteX2" fmla="*/ 704850 w 4206531"/>
              <a:gd name="connsiteY2" fmla="*/ 2276475 h 2628900"/>
              <a:gd name="connsiteX3" fmla="*/ 0 w 4206531"/>
              <a:gd name="connsiteY3" fmla="*/ 2628900 h 2628900"/>
            </a:gdLst>
            <a:ahLst/>
            <a:cxnLst>
              <a:cxn ang="0">
                <a:pos x="connsiteX0" y="connsiteY0"/>
              </a:cxn>
              <a:cxn ang="0">
                <a:pos x="connsiteX1" y="connsiteY1"/>
              </a:cxn>
              <a:cxn ang="0">
                <a:pos x="connsiteX2" y="connsiteY2"/>
              </a:cxn>
              <a:cxn ang="0">
                <a:pos x="connsiteX3" y="connsiteY3"/>
              </a:cxn>
            </a:cxnLst>
            <a:rect l="l" t="t" r="r" b="b"/>
            <a:pathLst>
              <a:path w="4206531" h="2628900">
                <a:moveTo>
                  <a:pt x="4191000" y="0"/>
                </a:moveTo>
                <a:cubicBezTo>
                  <a:pt x="4224337" y="500856"/>
                  <a:pt x="4257675" y="1001713"/>
                  <a:pt x="3676650" y="1381125"/>
                </a:cubicBezTo>
                <a:cubicBezTo>
                  <a:pt x="3095625" y="1760537"/>
                  <a:pt x="1317625" y="2068512"/>
                  <a:pt x="704850" y="2276475"/>
                </a:cubicBezTo>
                <a:cubicBezTo>
                  <a:pt x="92075" y="2484438"/>
                  <a:pt x="46037" y="2556669"/>
                  <a:pt x="0" y="2628900"/>
                </a:cubicBezTo>
              </a:path>
            </a:pathLst>
          </a:custGeom>
          <a:noFill/>
          <a:ln w="25400">
            <a:solidFill>
              <a:srgbClr val="7030A0"/>
            </a:solid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特殊的操作码编码方式</a:t>
            </a:r>
            <a:endParaRPr lang="zh-CN" altLang="en-US" dirty="0"/>
          </a:p>
        </p:txBody>
      </p:sp>
      <p:sp>
        <p:nvSpPr>
          <p:cNvPr id="3" name="内容占位符 2"/>
          <p:cNvSpPr>
            <a:spLocks noGrp="1"/>
          </p:cNvSpPr>
          <p:nvPr>
            <p:ph idx="1"/>
          </p:nvPr>
        </p:nvSpPr>
        <p:spPr>
          <a:xfrm>
            <a:off x="42863" y="1248496"/>
            <a:ext cx="10515600" cy="694604"/>
          </a:xfrm>
        </p:spPr>
        <p:txBody>
          <a:bodyPr/>
          <a:lstStyle/>
          <a:p>
            <a:r>
              <a:rPr lang="en-US" altLang="zh-CN" dirty="0"/>
              <a:t>group</a:t>
            </a:r>
            <a:r>
              <a:rPr lang="zh-CN" altLang="en-US" dirty="0"/>
              <a:t>中的指令</a:t>
            </a:r>
            <a:endParaRPr lang="zh-CN" altLang="en-US" dirty="0"/>
          </a:p>
        </p:txBody>
      </p:sp>
      <p:sp>
        <p:nvSpPr>
          <p:cNvPr id="4" name="日期占位符 3"/>
          <p:cNvSpPr>
            <a:spLocks noGrp="1"/>
          </p:cNvSpPr>
          <p:nvPr>
            <p:ph type="dt" sz="half" idx="10"/>
          </p:nvPr>
        </p:nvSpPr>
        <p:spPr/>
        <p:txBody>
          <a:bodyPr/>
          <a:lstStyle/>
          <a:p>
            <a:fld id="{41D2AEF5-D648-4728-8573-61956C55922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sp>
        <p:nvSpPr>
          <p:cNvPr id="10" name="矩形 9"/>
          <p:cNvSpPr/>
          <p:nvPr/>
        </p:nvSpPr>
        <p:spPr>
          <a:xfrm>
            <a:off x="2316946" y="2518506"/>
            <a:ext cx="7802136" cy="1323439"/>
          </a:xfrm>
          <a:prstGeom prst="rect">
            <a:avLst/>
          </a:prstGeom>
        </p:spPr>
        <p:txBody>
          <a:bodyPr wrap="none">
            <a:spAutoFit/>
          </a:bodyPr>
          <a:lstStyle/>
          <a:p>
            <a:r>
              <a:rPr lang="zh-CN" altLang="en-US" sz="4000" b="1" dirty="0">
                <a:solidFill>
                  <a:srgbClr val="00B0F0"/>
                </a:solidFill>
                <a:latin typeface="Consolas" panose="020B0609020204030204" pitchFamily="49" charset="0"/>
              </a:rPr>
              <a:t>80</a:t>
            </a:r>
            <a:r>
              <a:rPr lang="zh-CN" altLang="en-US" sz="4000" b="1" dirty="0">
                <a:latin typeface="Consolas" panose="020B0609020204030204" pitchFamily="49" charset="0"/>
              </a:rPr>
              <a:t> </a:t>
            </a:r>
            <a:r>
              <a:rPr lang="zh-CN" altLang="en-US" sz="4000" b="1" dirty="0">
                <a:solidFill>
                  <a:srgbClr val="FF0000"/>
                </a:solidFill>
                <a:latin typeface="Consolas" panose="020B0609020204030204" pitchFamily="49" charset="0"/>
              </a:rPr>
              <a:t>3b</a:t>
            </a:r>
            <a:r>
              <a:rPr lang="zh-CN" altLang="en-US" sz="4000" b="1" dirty="0">
                <a:latin typeface="Consolas" panose="020B0609020204030204" pitchFamily="49" charset="0"/>
              </a:rPr>
              <a:t> 00  cmpb $0x0 ,(%ebx)</a:t>
            </a:r>
            <a:endParaRPr lang="en-US" altLang="zh-CN" sz="4000" b="1" dirty="0">
              <a:latin typeface="Consolas" panose="020B0609020204030204" pitchFamily="49" charset="0"/>
            </a:endParaRPr>
          </a:p>
          <a:p>
            <a:r>
              <a:rPr lang="en-US" altLang="zh-CN" sz="4000" b="1" dirty="0">
                <a:solidFill>
                  <a:srgbClr val="00B0F0"/>
                </a:solidFill>
                <a:latin typeface="Consolas" panose="020B0609020204030204" pitchFamily="49" charset="0"/>
              </a:rPr>
              <a:t>80</a:t>
            </a:r>
            <a:r>
              <a:rPr lang="en-US" altLang="zh-CN" sz="4000" b="1" dirty="0">
                <a:latin typeface="Consolas" panose="020B0609020204030204" pitchFamily="49" charset="0"/>
              </a:rPr>
              <a:t> </a:t>
            </a:r>
            <a:r>
              <a:rPr lang="en-US" altLang="zh-CN" sz="4000" b="1" dirty="0">
                <a:solidFill>
                  <a:schemeClr val="accent6"/>
                </a:solidFill>
                <a:latin typeface="Consolas" panose="020B0609020204030204" pitchFamily="49" charset="0"/>
              </a:rPr>
              <a:t>e2</a:t>
            </a:r>
            <a:r>
              <a:rPr lang="en-US" altLang="zh-CN" sz="4000" b="1" dirty="0">
                <a:latin typeface="Consolas" panose="020B0609020204030204" pitchFamily="49" charset="0"/>
              </a:rPr>
              <a:t> 7f  </a:t>
            </a:r>
            <a:r>
              <a:rPr lang="en-US" altLang="zh-CN" sz="4000" b="1" dirty="0" err="1">
                <a:latin typeface="Consolas" panose="020B0609020204030204" pitchFamily="49" charset="0"/>
              </a:rPr>
              <a:t>andb</a:t>
            </a:r>
            <a:r>
              <a:rPr lang="en-US" altLang="zh-CN" sz="4000" b="1" dirty="0">
                <a:latin typeface="Consolas" panose="020B0609020204030204" pitchFamily="49" charset="0"/>
              </a:rPr>
              <a:t> $0x7f,%dl</a:t>
            </a:r>
            <a:endParaRPr lang="zh-CN" altLang="en-US" sz="4000" b="1" dirty="0">
              <a:latin typeface="Consolas" panose="020B0609020204030204" pitchFamily="49" charset="0"/>
            </a:endParaRPr>
          </a:p>
        </p:txBody>
      </p:sp>
      <p:sp>
        <p:nvSpPr>
          <p:cNvPr id="18" name="矩形 17"/>
          <p:cNvSpPr/>
          <p:nvPr/>
        </p:nvSpPr>
        <p:spPr>
          <a:xfrm>
            <a:off x="228600" y="4417352"/>
            <a:ext cx="11158538" cy="181588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altLang="zh-CN" sz="2800" dirty="0"/>
              <a:t>/* 0x80 */</a:t>
            </a:r>
            <a:endParaRPr lang="en-US" altLang="zh-CN" sz="2800" dirty="0"/>
          </a:p>
          <a:p>
            <a:r>
              <a:rPr lang="en-US" altLang="zh-CN" sz="2800" dirty="0" err="1"/>
              <a:t>instr_func</a:t>
            </a:r>
            <a:r>
              <a:rPr lang="en-US" altLang="zh-CN" sz="2800" dirty="0"/>
              <a:t> group_1_b_entry[8] =    {</a:t>
            </a:r>
            <a:r>
              <a:rPr lang="en-US" altLang="zh-CN" sz="2800" dirty="0" err="1"/>
              <a:t>inv</a:t>
            </a:r>
            <a:r>
              <a:rPr lang="en-US" altLang="zh-CN" sz="2800" dirty="0"/>
              <a:t>, </a:t>
            </a:r>
            <a:r>
              <a:rPr lang="en-US" altLang="zh-CN" sz="2800" dirty="0" err="1"/>
              <a:t>inv</a:t>
            </a:r>
            <a:r>
              <a:rPr lang="en-US" altLang="zh-CN" sz="2800" dirty="0"/>
              <a:t>, </a:t>
            </a:r>
            <a:r>
              <a:rPr lang="en-US" altLang="zh-CN" sz="2800" dirty="0" err="1"/>
              <a:t>inv</a:t>
            </a:r>
            <a:r>
              <a:rPr lang="en-US" altLang="zh-CN" sz="2800" dirty="0"/>
              <a:t>, </a:t>
            </a:r>
            <a:r>
              <a:rPr lang="en-US" altLang="zh-CN" sz="2800" dirty="0" err="1"/>
              <a:t>inv</a:t>
            </a:r>
            <a:r>
              <a:rPr lang="en-US" altLang="zh-CN" sz="2800" dirty="0"/>
              <a:t>, </a:t>
            </a:r>
            <a:r>
              <a:rPr lang="en-US" altLang="zh-CN" sz="2800" dirty="0" err="1"/>
              <a:t>inv</a:t>
            </a:r>
            <a:r>
              <a:rPr lang="en-US" altLang="zh-CN" sz="2800" dirty="0"/>
              <a:t>, </a:t>
            </a:r>
            <a:r>
              <a:rPr lang="en-US" altLang="zh-CN" sz="2800" dirty="0" err="1"/>
              <a:t>inv</a:t>
            </a:r>
            <a:r>
              <a:rPr lang="en-US" altLang="zh-CN" sz="2800" dirty="0"/>
              <a:t>, </a:t>
            </a:r>
            <a:r>
              <a:rPr lang="en-US" altLang="zh-CN" sz="2800" dirty="0" err="1"/>
              <a:t>inv</a:t>
            </a:r>
            <a:r>
              <a:rPr lang="en-US" altLang="zh-CN" sz="2800" dirty="0"/>
              <a:t>, </a:t>
            </a:r>
            <a:r>
              <a:rPr lang="en-US" altLang="zh-CN" sz="2800" dirty="0" err="1"/>
              <a:t>inv</a:t>
            </a:r>
            <a:r>
              <a:rPr lang="en-US" altLang="zh-CN" sz="2800" dirty="0"/>
              <a:t>};</a:t>
            </a:r>
            <a:endParaRPr lang="en-US" altLang="zh-CN" sz="2800" dirty="0"/>
          </a:p>
          <a:p>
            <a:r>
              <a:rPr lang="en-US" altLang="zh-CN" sz="2800" dirty="0"/>
              <a:t>/* 0x81 */</a:t>
            </a:r>
            <a:endParaRPr lang="en-US" altLang="zh-CN" sz="2800" dirty="0"/>
          </a:p>
          <a:p>
            <a:r>
              <a:rPr lang="en-US" altLang="zh-CN" sz="2800" dirty="0" err="1"/>
              <a:t>instr_func</a:t>
            </a:r>
            <a:r>
              <a:rPr lang="en-US" altLang="zh-CN" sz="2800" dirty="0"/>
              <a:t> group_1_v_entry[8] =    {</a:t>
            </a:r>
            <a:r>
              <a:rPr lang="en-US" altLang="zh-CN" sz="2800" dirty="0" err="1"/>
              <a:t>inv</a:t>
            </a:r>
            <a:r>
              <a:rPr lang="en-US" altLang="zh-CN" sz="2800" dirty="0"/>
              <a:t>, </a:t>
            </a:r>
            <a:r>
              <a:rPr lang="en-US" altLang="zh-CN" sz="2800" dirty="0" err="1"/>
              <a:t>inv</a:t>
            </a:r>
            <a:r>
              <a:rPr lang="en-US" altLang="zh-CN" sz="2800" dirty="0"/>
              <a:t>, </a:t>
            </a:r>
            <a:r>
              <a:rPr lang="en-US" altLang="zh-CN" sz="2800" dirty="0" err="1"/>
              <a:t>inv</a:t>
            </a:r>
            <a:r>
              <a:rPr lang="en-US" altLang="zh-CN" sz="2800" dirty="0"/>
              <a:t>, </a:t>
            </a:r>
            <a:r>
              <a:rPr lang="en-US" altLang="zh-CN" sz="2800" dirty="0" err="1"/>
              <a:t>inv</a:t>
            </a:r>
            <a:r>
              <a:rPr lang="en-US" altLang="zh-CN" sz="2800" dirty="0"/>
              <a:t>, </a:t>
            </a:r>
            <a:r>
              <a:rPr lang="en-US" altLang="zh-CN" sz="2800" dirty="0" err="1"/>
              <a:t>inv</a:t>
            </a:r>
            <a:r>
              <a:rPr lang="en-US" altLang="zh-CN" sz="2800" dirty="0"/>
              <a:t>, </a:t>
            </a:r>
            <a:r>
              <a:rPr lang="en-US" altLang="zh-CN" sz="2800" dirty="0" err="1"/>
              <a:t>inv</a:t>
            </a:r>
            <a:r>
              <a:rPr lang="en-US" altLang="zh-CN" sz="2800" dirty="0"/>
              <a:t>, </a:t>
            </a:r>
            <a:r>
              <a:rPr lang="en-US" altLang="zh-CN" sz="2800" dirty="0" err="1"/>
              <a:t>inv</a:t>
            </a:r>
            <a:r>
              <a:rPr lang="en-US" altLang="zh-CN" sz="2800" dirty="0"/>
              <a:t>, </a:t>
            </a:r>
            <a:r>
              <a:rPr lang="en-US" altLang="zh-CN" sz="2800" dirty="0" err="1"/>
              <a:t>inv</a:t>
            </a:r>
            <a:r>
              <a:rPr lang="en-US" altLang="zh-CN" sz="2800" dirty="0"/>
              <a:t>};</a:t>
            </a:r>
            <a:endParaRPr lang="zh-CN" altLang="en-US" sz="2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特殊的操作码编码方式</a:t>
            </a:r>
            <a:endParaRPr lang="zh-CN" altLang="en-US" dirty="0"/>
          </a:p>
        </p:txBody>
      </p:sp>
      <p:sp>
        <p:nvSpPr>
          <p:cNvPr id="3" name="内容占位符 2"/>
          <p:cNvSpPr>
            <a:spLocks noGrp="1"/>
          </p:cNvSpPr>
          <p:nvPr>
            <p:ph idx="1"/>
          </p:nvPr>
        </p:nvSpPr>
        <p:spPr>
          <a:xfrm>
            <a:off x="42863" y="1248496"/>
            <a:ext cx="10515600" cy="694604"/>
          </a:xfrm>
        </p:spPr>
        <p:txBody>
          <a:bodyPr/>
          <a:lstStyle/>
          <a:p>
            <a:r>
              <a:rPr lang="en-US" altLang="zh-CN" dirty="0"/>
              <a:t>group</a:t>
            </a:r>
            <a:r>
              <a:rPr lang="zh-CN" altLang="en-US" dirty="0"/>
              <a:t>中的指令</a:t>
            </a:r>
            <a:endParaRPr lang="zh-CN" altLang="en-US" dirty="0"/>
          </a:p>
        </p:txBody>
      </p:sp>
      <p:sp>
        <p:nvSpPr>
          <p:cNvPr id="4" name="日期占位符 3"/>
          <p:cNvSpPr>
            <a:spLocks noGrp="1"/>
          </p:cNvSpPr>
          <p:nvPr>
            <p:ph type="dt" sz="half" idx="10"/>
          </p:nvPr>
        </p:nvSpPr>
        <p:spPr/>
        <p:txBody>
          <a:bodyPr/>
          <a:lstStyle/>
          <a:p>
            <a:fld id="{41D2AEF5-D648-4728-8573-61956C55922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sp>
        <p:nvSpPr>
          <p:cNvPr id="10" name="矩形 9"/>
          <p:cNvSpPr/>
          <p:nvPr/>
        </p:nvSpPr>
        <p:spPr>
          <a:xfrm>
            <a:off x="2316946" y="2518506"/>
            <a:ext cx="7802136" cy="1323439"/>
          </a:xfrm>
          <a:prstGeom prst="rect">
            <a:avLst/>
          </a:prstGeom>
        </p:spPr>
        <p:txBody>
          <a:bodyPr wrap="none">
            <a:spAutoFit/>
          </a:bodyPr>
          <a:lstStyle/>
          <a:p>
            <a:r>
              <a:rPr lang="zh-CN" altLang="en-US" sz="4000" b="1" dirty="0">
                <a:solidFill>
                  <a:srgbClr val="00B0F0"/>
                </a:solidFill>
                <a:latin typeface="Consolas" panose="020B0609020204030204" pitchFamily="49" charset="0"/>
              </a:rPr>
              <a:t>80</a:t>
            </a:r>
            <a:r>
              <a:rPr lang="zh-CN" altLang="en-US" sz="4000" b="1" dirty="0">
                <a:latin typeface="Consolas" panose="020B0609020204030204" pitchFamily="49" charset="0"/>
              </a:rPr>
              <a:t> </a:t>
            </a:r>
            <a:r>
              <a:rPr lang="zh-CN" altLang="en-US" sz="4000" b="1" dirty="0">
                <a:solidFill>
                  <a:srgbClr val="FF0000"/>
                </a:solidFill>
                <a:latin typeface="Consolas" panose="020B0609020204030204" pitchFamily="49" charset="0"/>
              </a:rPr>
              <a:t>3b</a:t>
            </a:r>
            <a:r>
              <a:rPr lang="zh-CN" altLang="en-US" sz="4000" b="1" dirty="0">
                <a:latin typeface="Consolas" panose="020B0609020204030204" pitchFamily="49" charset="0"/>
              </a:rPr>
              <a:t> 00  cmpb $0x0 ,(%ebx)</a:t>
            </a:r>
            <a:endParaRPr lang="en-US" altLang="zh-CN" sz="4000" b="1" dirty="0">
              <a:latin typeface="Consolas" panose="020B0609020204030204" pitchFamily="49" charset="0"/>
            </a:endParaRPr>
          </a:p>
          <a:p>
            <a:r>
              <a:rPr lang="en-US" altLang="zh-CN" sz="4000" b="1" dirty="0">
                <a:solidFill>
                  <a:srgbClr val="00B0F0"/>
                </a:solidFill>
                <a:latin typeface="Consolas" panose="020B0609020204030204" pitchFamily="49" charset="0"/>
              </a:rPr>
              <a:t>80</a:t>
            </a:r>
            <a:r>
              <a:rPr lang="en-US" altLang="zh-CN" sz="4000" b="1" dirty="0">
                <a:latin typeface="Consolas" panose="020B0609020204030204" pitchFamily="49" charset="0"/>
              </a:rPr>
              <a:t> </a:t>
            </a:r>
            <a:r>
              <a:rPr lang="en-US" altLang="zh-CN" sz="4000" b="1" dirty="0">
                <a:solidFill>
                  <a:schemeClr val="accent6"/>
                </a:solidFill>
                <a:latin typeface="Consolas" panose="020B0609020204030204" pitchFamily="49" charset="0"/>
              </a:rPr>
              <a:t>e2</a:t>
            </a:r>
            <a:r>
              <a:rPr lang="en-US" altLang="zh-CN" sz="4000" b="1" dirty="0">
                <a:latin typeface="Consolas" panose="020B0609020204030204" pitchFamily="49" charset="0"/>
              </a:rPr>
              <a:t> 7f  </a:t>
            </a:r>
            <a:r>
              <a:rPr lang="en-US" altLang="zh-CN" sz="4000" b="1" dirty="0" err="1">
                <a:latin typeface="Consolas" panose="020B0609020204030204" pitchFamily="49" charset="0"/>
              </a:rPr>
              <a:t>andb</a:t>
            </a:r>
            <a:r>
              <a:rPr lang="en-US" altLang="zh-CN" sz="4000" b="1" dirty="0">
                <a:latin typeface="Consolas" panose="020B0609020204030204" pitchFamily="49" charset="0"/>
              </a:rPr>
              <a:t> $0x7f,%dl</a:t>
            </a:r>
            <a:endParaRPr lang="zh-CN" altLang="en-US" sz="4000" b="1" dirty="0">
              <a:latin typeface="Consolas" panose="020B0609020204030204" pitchFamily="49" charset="0"/>
            </a:endParaRPr>
          </a:p>
        </p:txBody>
      </p:sp>
      <p:sp>
        <p:nvSpPr>
          <p:cNvPr id="18" name="矩形 17"/>
          <p:cNvSpPr/>
          <p:nvPr/>
        </p:nvSpPr>
        <p:spPr>
          <a:xfrm>
            <a:off x="123825" y="4417352"/>
            <a:ext cx="11963400" cy="156966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altLang="zh-CN" sz="3200" dirty="0">
                <a:solidFill>
                  <a:srgbClr val="00B0F0"/>
                </a:solidFill>
              </a:rPr>
              <a:t>/* 0x80 */</a:t>
            </a:r>
            <a:endParaRPr lang="en-US" altLang="zh-CN" sz="3200" dirty="0">
              <a:solidFill>
                <a:srgbClr val="00B0F0"/>
              </a:solidFill>
            </a:endParaRPr>
          </a:p>
          <a:p>
            <a:r>
              <a:rPr lang="en-US" altLang="zh-CN" sz="3200" dirty="0" err="1"/>
              <a:t>instr_func</a:t>
            </a:r>
            <a:r>
              <a:rPr lang="en-US" altLang="zh-CN" sz="3200" dirty="0"/>
              <a:t> </a:t>
            </a:r>
            <a:r>
              <a:rPr lang="en-US" altLang="zh-CN" sz="3200" dirty="0">
                <a:solidFill>
                  <a:srgbClr val="00B0F0"/>
                </a:solidFill>
              </a:rPr>
              <a:t>group_1_b_entry</a:t>
            </a:r>
            <a:r>
              <a:rPr lang="en-US" altLang="zh-CN" sz="3200" dirty="0"/>
              <a:t>[8] </a:t>
            </a:r>
            <a:endParaRPr lang="en-US" altLang="zh-CN" sz="3200" dirty="0"/>
          </a:p>
          <a:p>
            <a:r>
              <a:rPr lang="en-US" altLang="zh-CN" sz="3200" dirty="0"/>
              <a:t>                =    {</a:t>
            </a:r>
            <a:r>
              <a:rPr lang="en-US" altLang="zh-CN" sz="3200" dirty="0" err="1"/>
              <a:t>inv</a:t>
            </a:r>
            <a:r>
              <a:rPr lang="en-US" altLang="zh-CN" sz="3200" dirty="0"/>
              <a:t>, </a:t>
            </a:r>
            <a:r>
              <a:rPr lang="en-US" altLang="zh-CN" sz="3200" dirty="0" err="1"/>
              <a:t>inv</a:t>
            </a:r>
            <a:r>
              <a:rPr lang="en-US" altLang="zh-CN" sz="3200" dirty="0"/>
              <a:t>, </a:t>
            </a:r>
            <a:r>
              <a:rPr lang="en-US" altLang="zh-CN" sz="3200" dirty="0" err="1"/>
              <a:t>inv</a:t>
            </a:r>
            <a:r>
              <a:rPr lang="en-US" altLang="zh-CN" sz="3200" dirty="0"/>
              <a:t>, </a:t>
            </a:r>
            <a:r>
              <a:rPr lang="en-US" altLang="zh-CN" sz="3200" dirty="0" err="1"/>
              <a:t>inv</a:t>
            </a:r>
            <a:r>
              <a:rPr lang="en-US" altLang="zh-CN" sz="3200" dirty="0"/>
              <a:t>, </a:t>
            </a:r>
            <a:r>
              <a:rPr lang="en-US" altLang="zh-CN" sz="3200" dirty="0">
                <a:solidFill>
                  <a:schemeClr val="accent6"/>
                </a:solidFill>
              </a:rPr>
              <a:t>and_i2rm_b</a:t>
            </a:r>
            <a:r>
              <a:rPr lang="en-US" altLang="zh-CN" sz="3200" dirty="0"/>
              <a:t>, </a:t>
            </a:r>
            <a:r>
              <a:rPr lang="en-US" altLang="zh-CN" sz="3200" dirty="0" err="1"/>
              <a:t>inv</a:t>
            </a:r>
            <a:r>
              <a:rPr lang="en-US" altLang="zh-CN" sz="3200" dirty="0"/>
              <a:t>, </a:t>
            </a:r>
            <a:r>
              <a:rPr lang="en-US" altLang="zh-CN" sz="3200" dirty="0" err="1"/>
              <a:t>inv</a:t>
            </a:r>
            <a:r>
              <a:rPr lang="en-US" altLang="zh-CN" sz="3200" dirty="0"/>
              <a:t>, </a:t>
            </a:r>
            <a:r>
              <a:rPr lang="en-US" altLang="zh-CN" sz="3200" dirty="0">
                <a:solidFill>
                  <a:srgbClr val="FF0000"/>
                </a:solidFill>
              </a:rPr>
              <a:t>cmp_i2rm_b</a:t>
            </a:r>
            <a:r>
              <a:rPr lang="en-US" altLang="zh-CN" sz="3200" dirty="0"/>
              <a:t>};</a:t>
            </a:r>
            <a:endParaRPr lang="en-US" altLang="zh-CN" sz="3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383325" y="109316"/>
            <a:ext cx="7752443" cy="646331"/>
          </a:xfrm>
          <a:prstGeom prst="rect">
            <a:avLst/>
          </a:prstGeom>
        </p:spPr>
        <p:txBody>
          <a:bodyPr wrap="none">
            <a:spAutoFit/>
          </a:bodyPr>
          <a:lstStyle/>
          <a:p>
            <a:pPr algn="ctr">
              <a:spcBef>
                <a:spcPts val="600"/>
              </a:spcBef>
            </a:pPr>
            <a:r>
              <a:rPr lang="zh-CN" altLang="en-US" sz="3600" kern="100" dirty="0">
                <a:latin typeface="等线" panose="02010600030101010101" charset="-122"/>
                <a:cs typeface="Times New Roman" panose="02020603050405020304" pitchFamily="18" charset="0"/>
              </a:rPr>
              <a:t>内存： </a:t>
            </a:r>
            <a:r>
              <a:rPr lang="en-US" altLang="zh-CN" sz="3600" kern="100" dirty="0">
                <a:latin typeface="等线" panose="02010600030101010101" charset="-122"/>
                <a:cs typeface="Times New Roman" panose="02020603050405020304" pitchFamily="18" charset="0"/>
              </a:rPr>
              <a:t>C7 05 48 11 10 00 02 00 00 00</a:t>
            </a:r>
            <a:endParaRPr lang="zh-CN" altLang="zh-CN" sz="3600" kern="100" dirty="0">
              <a:latin typeface="等线" panose="02010600030101010101" charset="-122"/>
              <a:cs typeface="Times New Roman" panose="02020603050405020304" pitchFamily="18" charset="0"/>
            </a:endParaRPr>
          </a:p>
        </p:txBody>
      </p:sp>
      <p:sp>
        <p:nvSpPr>
          <p:cNvPr id="8" name="矩形 7"/>
          <p:cNvSpPr/>
          <p:nvPr/>
        </p:nvSpPr>
        <p:spPr>
          <a:xfrm>
            <a:off x="7057515" y="1054896"/>
            <a:ext cx="3275256" cy="523220"/>
          </a:xfrm>
          <a:prstGeom prst="rect">
            <a:avLst/>
          </a:prstGeom>
        </p:spPr>
        <p:txBody>
          <a:bodyPr wrap="none">
            <a:spAutoFit/>
          </a:bodyPr>
          <a:lstStyle/>
          <a:p>
            <a:r>
              <a:rPr lang="en-US" altLang="zh-CN" sz="2800" i="1" dirty="0" err="1">
                <a:solidFill>
                  <a:srgbClr val="0070C0"/>
                </a:solidFill>
              </a:rPr>
              <a:t>nemu</a:t>
            </a:r>
            <a:r>
              <a:rPr lang="en-US" altLang="zh-CN" sz="2800" i="1" dirty="0">
                <a:solidFill>
                  <a:srgbClr val="0070C0"/>
                </a:solidFill>
              </a:rPr>
              <a:t>/</a:t>
            </a:r>
            <a:r>
              <a:rPr lang="en-US" altLang="zh-CN" sz="2800" i="1" dirty="0" err="1">
                <a:solidFill>
                  <a:srgbClr val="0070C0"/>
                </a:solidFill>
              </a:rPr>
              <a:t>src</a:t>
            </a:r>
            <a:r>
              <a:rPr lang="en-US" altLang="zh-CN" sz="2800" i="1" dirty="0">
                <a:solidFill>
                  <a:srgbClr val="0070C0"/>
                </a:solidFill>
              </a:rPr>
              <a:t>/</a:t>
            </a:r>
            <a:r>
              <a:rPr lang="en-US" altLang="zh-CN" sz="2800" i="1" dirty="0" err="1">
                <a:solidFill>
                  <a:srgbClr val="0070C0"/>
                </a:solidFill>
              </a:rPr>
              <a:t>cpu</a:t>
            </a:r>
            <a:r>
              <a:rPr lang="en-US" altLang="zh-CN" sz="2800" i="1" dirty="0">
                <a:solidFill>
                  <a:srgbClr val="0070C0"/>
                </a:solidFill>
              </a:rPr>
              <a:t>/</a:t>
            </a:r>
            <a:r>
              <a:rPr lang="en-US" altLang="zh-CN" sz="2800" i="1" dirty="0" err="1">
                <a:solidFill>
                  <a:srgbClr val="0070C0"/>
                </a:solidFill>
              </a:rPr>
              <a:t>cpu.c</a:t>
            </a:r>
            <a:endParaRPr lang="en-US" altLang="zh-CN" sz="2800" i="1" dirty="0">
              <a:solidFill>
                <a:srgbClr val="0070C0"/>
              </a:solidFill>
            </a:endParaRPr>
          </a:p>
        </p:txBody>
      </p:sp>
      <p:sp>
        <p:nvSpPr>
          <p:cNvPr id="9" name="文本框 8"/>
          <p:cNvSpPr txBox="1"/>
          <p:nvPr/>
        </p:nvSpPr>
        <p:spPr>
          <a:xfrm>
            <a:off x="4959928" y="1122959"/>
            <a:ext cx="5582885" cy="3970318"/>
          </a:xfrm>
          <a:prstGeom prst="rect">
            <a:avLst/>
          </a:prstGeom>
          <a:noFill/>
          <a:ln>
            <a:solidFill>
              <a:schemeClr val="tx1"/>
            </a:solidFill>
          </a:ln>
        </p:spPr>
        <p:txBody>
          <a:bodyPr wrap="square" rtlCol="0">
            <a:spAutoFit/>
          </a:bodyPr>
          <a:lstStyle/>
          <a:p>
            <a:r>
              <a:rPr lang="en-US" altLang="zh-CN" sz="1400" dirty="0"/>
              <a:t>void </a:t>
            </a:r>
            <a:r>
              <a:rPr lang="en-US" altLang="zh-CN" sz="1400" dirty="0">
                <a:solidFill>
                  <a:srgbClr val="FF0000"/>
                </a:solidFill>
              </a:rPr>
              <a:t>exec</a:t>
            </a:r>
            <a:r>
              <a:rPr lang="en-US" altLang="zh-CN" sz="1400" dirty="0"/>
              <a:t>(uint32_t n) {</a:t>
            </a:r>
            <a:endParaRPr lang="en-US" altLang="zh-CN" sz="1400" dirty="0"/>
          </a:p>
          <a:p>
            <a:r>
              <a:rPr lang="en-US" altLang="zh-CN" sz="1400" dirty="0"/>
              <a:t>	…</a:t>
            </a:r>
            <a:endParaRPr lang="en-US" altLang="zh-CN" sz="1400" dirty="0"/>
          </a:p>
          <a:p>
            <a:r>
              <a:rPr lang="en-US" altLang="zh-CN" sz="1400" dirty="0"/>
              <a:t>	while( n &gt; 0 &amp;&amp; </a:t>
            </a:r>
            <a:r>
              <a:rPr lang="en-US" altLang="zh-CN" sz="1400" dirty="0" err="1"/>
              <a:t>nemu_state</a:t>
            </a:r>
            <a:r>
              <a:rPr lang="en-US" altLang="zh-CN" sz="1400" dirty="0"/>
              <a:t> == NEMU_RUN) {</a:t>
            </a:r>
            <a:endParaRPr lang="en-US" altLang="zh-CN" sz="1400" dirty="0"/>
          </a:p>
          <a:p>
            <a:r>
              <a:rPr lang="en-US" altLang="zh-CN" sz="1400" dirty="0"/>
              <a:t>		…</a:t>
            </a:r>
            <a:endParaRPr lang="en-US" altLang="zh-CN" sz="1400" dirty="0"/>
          </a:p>
          <a:p>
            <a:r>
              <a:rPr lang="en-US" altLang="zh-CN" sz="1400" dirty="0"/>
              <a:t>		</a:t>
            </a:r>
            <a:r>
              <a:rPr lang="en-US" altLang="zh-CN" sz="1400" dirty="0" err="1"/>
              <a:t>instr_len</a:t>
            </a:r>
            <a:r>
              <a:rPr lang="en-US" altLang="zh-CN" sz="1400" dirty="0"/>
              <a:t> = </a:t>
            </a:r>
            <a:r>
              <a:rPr lang="en-US" altLang="zh-CN" sz="1400" dirty="0" err="1">
                <a:solidFill>
                  <a:srgbClr val="FF0000"/>
                </a:solidFill>
              </a:rPr>
              <a:t>exec_inst</a:t>
            </a:r>
            <a:r>
              <a:rPr lang="en-US" altLang="zh-CN" sz="1400" dirty="0"/>
              <a:t>();</a:t>
            </a:r>
            <a:endParaRPr lang="en-US" altLang="zh-CN" sz="1400" dirty="0"/>
          </a:p>
          <a:p>
            <a:r>
              <a:rPr lang="en-US" altLang="zh-CN" sz="1400" dirty="0"/>
              <a:t>		</a:t>
            </a:r>
            <a:r>
              <a:rPr lang="en-US" altLang="zh-CN" sz="1400" dirty="0" err="1"/>
              <a:t>cpu.eip</a:t>
            </a:r>
            <a:r>
              <a:rPr lang="en-US" altLang="zh-CN" sz="1400" dirty="0"/>
              <a:t> += </a:t>
            </a:r>
            <a:r>
              <a:rPr lang="en-US" altLang="zh-CN" sz="1400" dirty="0" err="1"/>
              <a:t>instr_len</a:t>
            </a:r>
            <a:r>
              <a:rPr lang="en-US" altLang="zh-CN" sz="1400" dirty="0"/>
              <a:t>;</a:t>
            </a:r>
            <a:endParaRPr lang="en-US" altLang="zh-CN" sz="1400" dirty="0"/>
          </a:p>
          <a:p>
            <a:r>
              <a:rPr lang="en-US" altLang="zh-CN" sz="1400" dirty="0"/>
              <a:t>		n--;</a:t>
            </a:r>
            <a:endParaRPr lang="en-US" altLang="zh-CN" sz="1400" dirty="0"/>
          </a:p>
          <a:p>
            <a:r>
              <a:rPr lang="en-US" altLang="zh-CN" sz="1400" dirty="0"/>
              <a:t>		…</a:t>
            </a:r>
            <a:endParaRPr lang="en-US" altLang="zh-CN" sz="1400" dirty="0"/>
          </a:p>
          <a:p>
            <a:r>
              <a:rPr lang="en-US" altLang="zh-CN" sz="1400" dirty="0"/>
              <a:t>	}</a:t>
            </a:r>
            <a:endParaRPr lang="en-US" altLang="zh-CN" sz="1400" dirty="0"/>
          </a:p>
          <a:p>
            <a:r>
              <a:rPr lang="en-US" altLang="zh-CN" sz="1400" dirty="0"/>
              <a:t>	…</a:t>
            </a:r>
            <a:endParaRPr lang="en-US" altLang="zh-CN" sz="1400" dirty="0"/>
          </a:p>
          <a:p>
            <a:r>
              <a:rPr lang="en-US" altLang="zh-CN" sz="1400" dirty="0"/>
              <a:t>}</a:t>
            </a:r>
            <a:endParaRPr lang="en-US" altLang="zh-CN" sz="1400" dirty="0"/>
          </a:p>
          <a:p>
            <a:endParaRPr lang="en-US" altLang="zh-CN" sz="1400" dirty="0"/>
          </a:p>
          <a:p>
            <a:r>
              <a:rPr lang="zh-CN" altLang="en-US" sz="1400" dirty="0"/>
              <a:t>int </a:t>
            </a:r>
            <a:r>
              <a:rPr lang="zh-CN" altLang="en-US" sz="1400" dirty="0">
                <a:solidFill>
                  <a:srgbClr val="FF0000"/>
                </a:solidFill>
              </a:rPr>
              <a:t>exec_inst</a:t>
            </a:r>
            <a:r>
              <a:rPr lang="zh-CN" altLang="en-US" sz="1400" dirty="0"/>
              <a:t>() {</a:t>
            </a:r>
            <a:endParaRPr lang="zh-CN" altLang="en-US" sz="1400" dirty="0"/>
          </a:p>
          <a:p>
            <a:r>
              <a:rPr lang="zh-CN" altLang="en-US" sz="1400" dirty="0"/>
              <a:t>	uint8_t opcode = 0;</a:t>
            </a:r>
            <a:endParaRPr lang="zh-CN" altLang="en-US" sz="1400" dirty="0"/>
          </a:p>
          <a:p>
            <a:r>
              <a:rPr lang="zh-CN" altLang="en-US" sz="1400" dirty="0"/>
              <a:t>	opcode = instr_fetch(cpu.eip, 1);</a:t>
            </a:r>
            <a:endParaRPr lang="zh-CN" altLang="en-US" sz="1400" dirty="0"/>
          </a:p>
          <a:p>
            <a:r>
              <a:rPr lang="zh-CN" altLang="en-US" sz="1400" dirty="0"/>
              <a:t>	int len = </a:t>
            </a:r>
            <a:r>
              <a:rPr lang="zh-CN" altLang="en-US" sz="1400" dirty="0">
                <a:solidFill>
                  <a:srgbClr val="FF0000"/>
                </a:solidFill>
              </a:rPr>
              <a:t>opcode_entry</a:t>
            </a:r>
            <a:r>
              <a:rPr lang="zh-CN" altLang="en-US" sz="1400" dirty="0"/>
              <a:t>[opcode](cpu.eip, opcode);</a:t>
            </a:r>
            <a:endParaRPr lang="zh-CN" altLang="en-US" sz="1400" dirty="0"/>
          </a:p>
          <a:p>
            <a:r>
              <a:rPr lang="zh-CN" altLang="en-US" sz="1400" dirty="0"/>
              <a:t>	return len;  </a:t>
            </a:r>
            <a:r>
              <a:rPr lang="en-US" altLang="zh-CN" sz="1400" dirty="0">
                <a:solidFill>
                  <a:srgbClr val="00B050"/>
                </a:solidFill>
              </a:rPr>
              <a:t>// </a:t>
            </a:r>
            <a:r>
              <a:rPr lang="zh-CN" altLang="en-US" sz="1400" dirty="0">
                <a:solidFill>
                  <a:srgbClr val="00B050"/>
                </a:solidFill>
              </a:rPr>
              <a:t>返回指令长度</a:t>
            </a:r>
            <a:endParaRPr lang="zh-CN" altLang="en-US" sz="1400" dirty="0">
              <a:solidFill>
                <a:srgbClr val="00B050"/>
              </a:solidFill>
            </a:endParaRPr>
          </a:p>
          <a:p>
            <a:r>
              <a:rPr lang="zh-CN" altLang="en-US" sz="1400" dirty="0"/>
              <a:t>}</a:t>
            </a:r>
            <a:endParaRPr lang="zh-CN" altLang="en-US" sz="1400" dirty="0"/>
          </a:p>
        </p:txBody>
      </p:sp>
      <p:cxnSp>
        <p:nvCxnSpPr>
          <p:cNvPr id="11" name="直接箭头连接符 10"/>
          <p:cNvCxnSpPr/>
          <p:nvPr/>
        </p:nvCxnSpPr>
        <p:spPr>
          <a:xfrm>
            <a:off x="4489345" y="755646"/>
            <a:ext cx="3262025" cy="342897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7120082" y="3151030"/>
            <a:ext cx="1864613" cy="369332"/>
          </a:xfrm>
          <a:prstGeom prst="rect">
            <a:avLst/>
          </a:prstGeom>
          <a:noFill/>
        </p:spPr>
        <p:txBody>
          <a:bodyPr wrap="none" rtlCol="0">
            <a:spAutoFit/>
          </a:bodyPr>
          <a:lstStyle/>
          <a:p>
            <a:r>
              <a:rPr lang="en-US" altLang="zh-CN" dirty="0">
                <a:solidFill>
                  <a:srgbClr val="FF0000"/>
                </a:solidFill>
              </a:rPr>
              <a:t>1. </a:t>
            </a:r>
            <a:r>
              <a:rPr lang="en-US" altLang="zh-CN" dirty="0" err="1">
                <a:solidFill>
                  <a:srgbClr val="FF0000"/>
                </a:solidFill>
              </a:rPr>
              <a:t>cpu.eip</a:t>
            </a:r>
            <a:r>
              <a:rPr lang="zh-CN" altLang="en-US" dirty="0">
                <a:solidFill>
                  <a:srgbClr val="FF0000"/>
                </a:solidFill>
              </a:rPr>
              <a:t>指向</a:t>
            </a:r>
            <a:r>
              <a:rPr lang="en-US" altLang="zh-CN" dirty="0">
                <a:solidFill>
                  <a:srgbClr val="FF0000"/>
                </a:solidFill>
              </a:rPr>
              <a:t>C7</a:t>
            </a:r>
            <a:endParaRPr lang="zh-CN" altLang="en-US" dirty="0">
              <a:solidFill>
                <a:srgbClr val="FF0000"/>
              </a:solidFill>
            </a:endParaRPr>
          </a:p>
        </p:txBody>
      </p:sp>
      <p:sp>
        <p:nvSpPr>
          <p:cNvPr id="14" name="文本框 13"/>
          <p:cNvSpPr txBox="1"/>
          <p:nvPr/>
        </p:nvSpPr>
        <p:spPr>
          <a:xfrm>
            <a:off x="8355244" y="4122153"/>
            <a:ext cx="2173993" cy="369332"/>
          </a:xfrm>
          <a:prstGeom prst="rect">
            <a:avLst/>
          </a:prstGeom>
          <a:noFill/>
        </p:spPr>
        <p:txBody>
          <a:bodyPr wrap="none" rtlCol="0">
            <a:spAutoFit/>
          </a:bodyPr>
          <a:lstStyle/>
          <a:p>
            <a:r>
              <a:rPr lang="en-US" altLang="zh-CN" dirty="0">
                <a:solidFill>
                  <a:srgbClr val="FF0000"/>
                </a:solidFill>
              </a:rPr>
              <a:t>2. Opcode</a:t>
            </a:r>
            <a:r>
              <a:rPr lang="zh-CN" altLang="en-US" dirty="0">
                <a:solidFill>
                  <a:srgbClr val="FF0000"/>
                </a:solidFill>
              </a:rPr>
              <a:t>取出为</a:t>
            </a:r>
            <a:r>
              <a:rPr lang="en-US" altLang="zh-CN" dirty="0">
                <a:solidFill>
                  <a:srgbClr val="FF0000"/>
                </a:solidFill>
              </a:rPr>
              <a:t>C7</a:t>
            </a:r>
            <a:endParaRPr lang="zh-CN" altLang="en-US" dirty="0">
              <a:solidFill>
                <a:srgbClr val="FF0000"/>
              </a:solidFill>
            </a:endParaRPr>
          </a:p>
        </p:txBody>
      </p:sp>
      <p:sp>
        <p:nvSpPr>
          <p:cNvPr id="15" name="矩形 14"/>
          <p:cNvSpPr/>
          <p:nvPr/>
        </p:nvSpPr>
        <p:spPr>
          <a:xfrm>
            <a:off x="5500736" y="6296859"/>
            <a:ext cx="3389069" cy="369332"/>
          </a:xfrm>
          <a:prstGeom prst="rect">
            <a:avLst/>
          </a:prstGeom>
        </p:spPr>
        <p:txBody>
          <a:bodyPr wrap="none">
            <a:spAutoFit/>
          </a:bodyPr>
          <a:lstStyle/>
          <a:p>
            <a:r>
              <a:rPr lang="en-US" altLang="zh-CN" i="1" dirty="0" err="1">
                <a:solidFill>
                  <a:srgbClr val="0070C0"/>
                </a:solidFill>
              </a:rPr>
              <a:t>nemu</a:t>
            </a:r>
            <a:r>
              <a:rPr lang="en-US" altLang="zh-CN" i="1" dirty="0">
                <a:solidFill>
                  <a:srgbClr val="0070C0"/>
                </a:solidFill>
              </a:rPr>
              <a:t>/</a:t>
            </a:r>
            <a:r>
              <a:rPr lang="en-US" altLang="zh-CN" i="1" dirty="0" err="1">
                <a:solidFill>
                  <a:srgbClr val="0070C0"/>
                </a:solidFill>
              </a:rPr>
              <a:t>src</a:t>
            </a:r>
            <a:r>
              <a:rPr lang="en-US" altLang="zh-CN" i="1" dirty="0">
                <a:solidFill>
                  <a:srgbClr val="0070C0"/>
                </a:solidFill>
              </a:rPr>
              <a:t>/</a:t>
            </a:r>
            <a:r>
              <a:rPr lang="en-US" altLang="zh-CN" i="1" dirty="0" err="1">
                <a:solidFill>
                  <a:srgbClr val="0070C0"/>
                </a:solidFill>
              </a:rPr>
              <a:t>cpu</a:t>
            </a:r>
            <a:r>
              <a:rPr lang="en-US" altLang="zh-CN" i="1" dirty="0">
                <a:solidFill>
                  <a:srgbClr val="0070C0"/>
                </a:solidFill>
              </a:rPr>
              <a:t>/decode/</a:t>
            </a:r>
            <a:r>
              <a:rPr lang="en-US" altLang="zh-CN" i="1" dirty="0" err="1">
                <a:solidFill>
                  <a:srgbClr val="0070C0"/>
                </a:solidFill>
              </a:rPr>
              <a:t>opcode.c</a:t>
            </a:r>
            <a:endParaRPr lang="en-US" altLang="zh-CN" i="1" dirty="0">
              <a:solidFill>
                <a:srgbClr val="0070C0"/>
              </a:solidFill>
            </a:endParaRPr>
          </a:p>
        </p:txBody>
      </p:sp>
      <p:sp>
        <p:nvSpPr>
          <p:cNvPr id="16" name="矩形 15"/>
          <p:cNvSpPr/>
          <p:nvPr/>
        </p:nvSpPr>
        <p:spPr>
          <a:xfrm>
            <a:off x="4959927" y="5281197"/>
            <a:ext cx="4682692" cy="1384995"/>
          </a:xfrm>
          <a:prstGeom prst="rect">
            <a:avLst/>
          </a:prstGeom>
          <a:ln>
            <a:solidFill>
              <a:schemeClr val="tx1"/>
            </a:solidFill>
          </a:ln>
        </p:spPr>
        <p:txBody>
          <a:bodyPr wrap="none">
            <a:spAutoFit/>
          </a:bodyPr>
          <a:lstStyle/>
          <a:p>
            <a:r>
              <a:rPr lang="en-US" altLang="zh-CN" sz="1400" dirty="0"/>
              <a:t>#include "</a:t>
            </a:r>
            <a:r>
              <a:rPr lang="en-US" altLang="zh-CN" sz="1400" dirty="0" err="1"/>
              <a:t>cpu</a:t>
            </a:r>
            <a:r>
              <a:rPr lang="en-US" altLang="zh-CN" sz="1400" dirty="0"/>
              <a:t>/</a:t>
            </a:r>
            <a:r>
              <a:rPr lang="en-US" altLang="zh-CN" sz="1400" dirty="0" err="1"/>
              <a:t>instr.h</a:t>
            </a:r>
            <a:r>
              <a:rPr lang="en-US" altLang="zh-CN" sz="1400" dirty="0"/>
              <a:t>"</a:t>
            </a:r>
            <a:endParaRPr lang="en-US" altLang="zh-CN" sz="1400" dirty="0"/>
          </a:p>
          <a:p>
            <a:r>
              <a:rPr lang="zh-CN" altLang="en-US" sz="1400" dirty="0"/>
              <a:t>instr_func opcode_entry[256] = {</a:t>
            </a:r>
            <a:endParaRPr lang="en-US" altLang="zh-CN" sz="1400" dirty="0"/>
          </a:p>
          <a:p>
            <a:r>
              <a:rPr lang="zh-CN" altLang="en-US" sz="1400"/>
              <a:t> </a:t>
            </a:r>
            <a:r>
              <a:rPr lang="en-US" altLang="zh-CN" sz="1400"/>
              <a:t>	…</a:t>
            </a:r>
            <a:endParaRPr lang="en-US" altLang="zh-CN" sz="1400" dirty="0"/>
          </a:p>
          <a:p>
            <a:r>
              <a:rPr lang="en-US" altLang="zh-CN" sz="1400" dirty="0"/>
              <a:t>/* 0xc4 - </a:t>
            </a:r>
            <a:r>
              <a:rPr lang="en-US" altLang="zh-CN" sz="1400">
                <a:solidFill>
                  <a:srgbClr val="FF0000"/>
                </a:solidFill>
              </a:rPr>
              <a:t>0xc7</a:t>
            </a:r>
            <a:r>
              <a:rPr lang="en-US" altLang="zh-CN" sz="1400"/>
              <a:t>*/	inv</a:t>
            </a:r>
            <a:r>
              <a:rPr lang="en-US" altLang="zh-CN" sz="1400" dirty="0"/>
              <a:t>, </a:t>
            </a:r>
            <a:r>
              <a:rPr lang="en-US" altLang="zh-CN" sz="1400" dirty="0" err="1"/>
              <a:t>inv</a:t>
            </a:r>
            <a:r>
              <a:rPr lang="en-US" altLang="zh-CN" sz="1400" dirty="0"/>
              <a:t>, mov_i2rm_b,</a:t>
            </a:r>
            <a:r>
              <a:rPr lang="en-US" altLang="zh-CN" sz="1400" dirty="0">
                <a:solidFill>
                  <a:srgbClr val="FF0000"/>
                </a:solidFill>
              </a:rPr>
              <a:t> mov_i2rm_v</a:t>
            </a:r>
            <a:r>
              <a:rPr lang="en-US" altLang="zh-CN" sz="1400" dirty="0"/>
              <a:t>, </a:t>
            </a:r>
            <a:endParaRPr lang="en-US" altLang="zh-CN" sz="1400" dirty="0"/>
          </a:p>
          <a:p>
            <a:r>
              <a:rPr lang="en-US" altLang="zh-CN" sz="1400"/>
              <a:t>	…</a:t>
            </a:r>
            <a:endParaRPr lang="en-US" altLang="zh-CN" sz="1400" dirty="0"/>
          </a:p>
          <a:p>
            <a:r>
              <a:rPr lang="en-US" altLang="zh-CN" sz="1400" dirty="0"/>
              <a:t>}</a:t>
            </a:r>
            <a:endParaRPr lang="zh-CN" altLang="en-US" sz="1400" dirty="0"/>
          </a:p>
        </p:txBody>
      </p:sp>
      <p:cxnSp>
        <p:nvCxnSpPr>
          <p:cNvPr id="18" name="直接箭头连接符 17"/>
          <p:cNvCxnSpPr/>
          <p:nvPr/>
        </p:nvCxnSpPr>
        <p:spPr>
          <a:xfrm>
            <a:off x="8211127" y="4568673"/>
            <a:ext cx="420715" cy="139500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7618279" y="5325736"/>
            <a:ext cx="2489784" cy="369332"/>
          </a:xfrm>
          <a:prstGeom prst="rect">
            <a:avLst/>
          </a:prstGeom>
          <a:noFill/>
        </p:spPr>
        <p:txBody>
          <a:bodyPr wrap="none" rtlCol="0">
            <a:spAutoFit/>
          </a:bodyPr>
          <a:lstStyle/>
          <a:p>
            <a:r>
              <a:rPr lang="en-US" altLang="zh-CN" dirty="0">
                <a:solidFill>
                  <a:srgbClr val="FF0000"/>
                </a:solidFill>
              </a:rPr>
              <a:t>3. </a:t>
            </a:r>
            <a:r>
              <a:rPr lang="zh-CN" altLang="en-US" dirty="0">
                <a:solidFill>
                  <a:srgbClr val="FF0000"/>
                </a:solidFill>
              </a:rPr>
              <a:t>访问数组即函数调用</a:t>
            </a:r>
            <a:endParaRPr lang="zh-CN" altLang="en-US" dirty="0">
              <a:solidFill>
                <a:srgbClr val="FF0000"/>
              </a:solidFill>
            </a:endParaRPr>
          </a:p>
        </p:txBody>
      </p:sp>
      <p:sp>
        <p:nvSpPr>
          <p:cNvPr id="23" name="文本框 22"/>
          <p:cNvSpPr txBox="1"/>
          <p:nvPr/>
        </p:nvSpPr>
        <p:spPr>
          <a:xfrm>
            <a:off x="1437374" y="3013528"/>
            <a:ext cx="3188887" cy="353943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zh-CN" sz="1400" dirty="0" err="1"/>
              <a:t>make_instr_func</a:t>
            </a:r>
            <a:r>
              <a:rPr lang="en-US" altLang="zh-CN" sz="1400" dirty="0"/>
              <a:t>(</a:t>
            </a:r>
            <a:r>
              <a:rPr lang="en-US" altLang="zh-CN" sz="1400" dirty="0">
                <a:solidFill>
                  <a:srgbClr val="7030A0"/>
                </a:solidFill>
              </a:rPr>
              <a:t>mov_i2rm_v</a:t>
            </a:r>
            <a:r>
              <a:rPr lang="en-US" altLang="zh-CN" sz="1400" dirty="0"/>
              <a:t>) { </a:t>
            </a:r>
            <a:endParaRPr lang="zh-CN" altLang="zh-CN" sz="1400" dirty="0"/>
          </a:p>
          <a:p>
            <a:r>
              <a:rPr lang="en-US" altLang="zh-CN" sz="1400" dirty="0"/>
              <a:t>    OPERAND </a:t>
            </a:r>
            <a:r>
              <a:rPr lang="en-US" altLang="zh-CN" sz="1400" dirty="0" err="1"/>
              <a:t>rm</a:t>
            </a:r>
            <a:r>
              <a:rPr lang="en-US" altLang="zh-CN" sz="1400" dirty="0"/>
              <a:t>, </a:t>
            </a:r>
            <a:r>
              <a:rPr lang="en-US" altLang="zh-CN" sz="1400" dirty="0" err="1"/>
              <a:t>imm</a:t>
            </a:r>
            <a:r>
              <a:rPr lang="en-US" altLang="zh-CN" sz="1400" dirty="0"/>
              <a:t>; </a:t>
            </a:r>
            <a:endParaRPr lang="zh-CN" altLang="zh-CN" sz="1400" dirty="0"/>
          </a:p>
          <a:p>
            <a:r>
              <a:rPr lang="en-US" altLang="zh-CN" sz="1400" dirty="0"/>
              <a:t>    </a:t>
            </a:r>
            <a:r>
              <a:rPr lang="en-US" altLang="zh-CN" sz="1400" dirty="0" err="1"/>
              <a:t>rm.data_size</a:t>
            </a:r>
            <a:r>
              <a:rPr lang="en-US" altLang="zh-CN" sz="1400" dirty="0"/>
              <a:t> = </a:t>
            </a:r>
            <a:r>
              <a:rPr lang="en-US" altLang="zh-CN" sz="1400" dirty="0" err="1"/>
              <a:t>data_size</a:t>
            </a:r>
            <a:r>
              <a:rPr lang="en-US" altLang="zh-CN" sz="1400" dirty="0"/>
              <a:t>; </a:t>
            </a:r>
            <a:endParaRPr lang="zh-CN" altLang="zh-CN" sz="1400" dirty="0">
              <a:solidFill>
                <a:srgbClr val="FF0000"/>
              </a:solidFill>
            </a:endParaRPr>
          </a:p>
          <a:p>
            <a:r>
              <a:rPr lang="en-US" altLang="zh-CN" sz="1400" dirty="0"/>
              <a:t>    </a:t>
            </a:r>
            <a:r>
              <a:rPr lang="en-US" altLang="zh-CN" sz="1400" dirty="0" err="1"/>
              <a:t>int</a:t>
            </a:r>
            <a:r>
              <a:rPr lang="en-US" altLang="zh-CN" sz="1400" dirty="0"/>
              <a:t> </a:t>
            </a:r>
            <a:r>
              <a:rPr lang="en-US" altLang="zh-CN" sz="1400" dirty="0" err="1"/>
              <a:t>len</a:t>
            </a:r>
            <a:r>
              <a:rPr lang="en-US" altLang="zh-CN" sz="1400" dirty="0"/>
              <a:t> = 1;                        </a:t>
            </a:r>
            <a:endParaRPr lang="zh-CN" altLang="zh-CN" sz="1400" dirty="0">
              <a:solidFill>
                <a:srgbClr val="00B050"/>
              </a:solidFill>
            </a:endParaRPr>
          </a:p>
          <a:p>
            <a:r>
              <a:rPr lang="en-US" altLang="zh-CN" sz="1400" dirty="0"/>
              <a:t>    </a:t>
            </a:r>
            <a:r>
              <a:rPr lang="en-US" altLang="zh-CN" sz="1400" dirty="0" err="1"/>
              <a:t>len</a:t>
            </a:r>
            <a:r>
              <a:rPr lang="en-US" altLang="zh-CN" sz="1400" dirty="0"/>
              <a:t> += </a:t>
            </a:r>
            <a:r>
              <a:rPr lang="en-US" altLang="zh-CN" sz="1400" dirty="0" err="1"/>
              <a:t>modrm_rm</a:t>
            </a:r>
            <a:r>
              <a:rPr lang="en-US" altLang="zh-CN" sz="1400" dirty="0"/>
              <a:t>(</a:t>
            </a:r>
            <a:r>
              <a:rPr lang="en-US" altLang="zh-CN" sz="1400" dirty="0" err="1"/>
              <a:t>eip</a:t>
            </a:r>
            <a:r>
              <a:rPr lang="en-US" altLang="zh-CN" sz="1400" dirty="0"/>
              <a:t> + 1, &amp;</a:t>
            </a:r>
            <a:r>
              <a:rPr lang="en-US" altLang="zh-CN" sz="1400" dirty="0" err="1"/>
              <a:t>rm</a:t>
            </a:r>
            <a:r>
              <a:rPr lang="en-US" altLang="zh-CN" sz="1400" dirty="0"/>
              <a:t>);</a:t>
            </a:r>
            <a:r>
              <a:rPr lang="en-US" altLang="zh-CN" sz="1400" dirty="0">
                <a:solidFill>
                  <a:srgbClr val="FF0000"/>
                </a:solidFill>
              </a:rPr>
              <a:t> </a:t>
            </a:r>
            <a:endParaRPr lang="zh-CN" altLang="zh-CN" sz="1400" dirty="0">
              <a:solidFill>
                <a:srgbClr val="00B050"/>
              </a:solidFill>
            </a:endParaRPr>
          </a:p>
          <a:p>
            <a:r>
              <a:rPr lang="en-US" altLang="zh-CN" sz="1400" dirty="0"/>
              <a:t> </a:t>
            </a:r>
            <a:endParaRPr lang="zh-CN" altLang="zh-CN" sz="1400" dirty="0"/>
          </a:p>
          <a:p>
            <a:r>
              <a:rPr lang="en-US" altLang="zh-CN" sz="1400" dirty="0"/>
              <a:t>    </a:t>
            </a:r>
            <a:r>
              <a:rPr lang="en-US" altLang="zh-CN" sz="1400" dirty="0" err="1"/>
              <a:t>imm.type</a:t>
            </a:r>
            <a:r>
              <a:rPr lang="en-US" altLang="zh-CN" sz="1400" dirty="0"/>
              <a:t> = OPR_IMM;  </a:t>
            </a:r>
            <a:endParaRPr lang="zh-CN" altLang="zh-CN" sz="1400" dirty="0">
              <a:solidFill>
                <a:srgbClr val="00B050"/>
              </a:solidFill>
            </a:endParaRPr>
          </a:p>
          <a:p>
            <a:r>
              <a:rPr lang="en-US" altLang="zh-CN" sz="1400" dirty="0"/>
              <a:t>    </a:t>
            </a:r>
            <a:r>
              <a:rPr lang="en-US" altLang="zh-CN" sz="1400" dirty="0" err="1"/>
              <a:t>imm.addr</a:t>
            </a:r>
            <a:r>
              <a:rPr lang="en-US" altLang="zh-CN" sz="1400" dirty="0"/>
              <a:t> = </a:t>
            </a:r>
            <a:r>
              <a:rPr lang="en-US" altLang="zh-CN" sz="1400" dirty="0" err="1"/>
              <a:t>eip</a:t>
            </a:r>
            <a:r>
              <a:rPr lang="en-US" altLang="zh-CN" sz="1400" dirty="0"/>
              <a:t> + </a:t>
            </a:r>
            <a:r>
              <a:rPr lang="en-US" altLang="zh-CN" sz="1400" dirty="0" err="1"/>
              <a:t>len</a:t>
            </a:r>
            <a:r>
              <a:rPr lang="en-US" altLang="zh-CN" sz="1400" dirty="0"/>
              <a:t>; </a:t>
            </a:r>
            <a:endParaRPr lang="en-US" altLang="zh-CN" sz="1400" dirty="0"/>
          </a:p>
          <a:p>
            <a:r>
              <a:rPr lang="en-US" altLang="zh-CN" sz="1400" dirty="0"/>
              <a:t>    </a:t>
            </a:r>
            <a:r>
              <a:rPr lang="en-US" altLang="zh-CN" sz="1400" dirty="0" err="1"/>
              <a:t>imm.data_size</a:t>
            </a:r>
            <a:r>
              <a:rPr lang="en-US" altLang="zh-CN" sz="1400" dirty="0"/>
              <a:t> = </a:t>
            </a:r>
            <a:r>
              <a:rPr lang="en-US" altLang="zh-CN" sz="1400" dirty="0" err="1"/>
              <a:t>data_size</a:t>
            </a:r>
            <a:r>
              <a:rPr lang="en-US" altLang="zh-CN" sz="1400" dirty="0"/>
              <a:t>;       </a:t>
            </a:r>
            <a:endParaRPr lang="zh-CN" altLang="zh-CN" sz="1400" dirty="0"/>
          </a:p>
          <a:p>
            <a:r>
              <a:rPr lang="en-US" altLang="zh-CN" sz="1400" dirty="0"/>
              <a:t> </a:t>
            </a:r>
            <a:endParaRPr lang="zh-CN" altLang="zh-CN" sz="1400" dirty="0"/>
          </a:p>
          <a:p>
            <a:r>
              <a:rPr lang="en-US" altLang="zh-CN" sz="1400" dirty="0"/>
              <a:t>    </a:t>
            </a:r>
            <a:r>
              <a:rPr lang="en-US" altLang="zh-CN" sz="1400" dirty="0" err="1"/>
              <a:t>operand_read</a:t>
            </a:r>
            <a:r>
              <a:rPr lang="en-US" altLang="zh-CN" sz="1400" dirty="0"/>
              <a:t>(&amp;</a:t>
            </a:r>
            <a:r>
              <a:rPr lang="en-US" altLang="zh-CN" sz="1400" dirty="0" err="1"/>
              <a:t>imm</a:t>
            </a:r>
            <a:r>
              <a:rPr lang="en-US" altLang="zh-CN" sz="1400" dirty="0"/>
              <a:t>);  </a:t>
            </a:r>
            <a:endParaRPr lang="zh-CN" altLang="zh-CN" sz="1400" dirty="0">
              <a:solidFill>
                <a:srgbClr val="00B050"/>
              </a:solidFill>
            </a:endParaRPr>
          </a:p>
          <a:p>
            <a:r>
              <a:rPr lang="en-US" altLang="zh-CN" sz="1400" dirty="0"/>
              <a:t>    </a:t>
            </a:r>
            <a:r>
              <a:rPr lang="en-US" altLang="zh-CN" sz="1400" dirty="0" err="1"/>
              <a:t>rm.val</a:t>
            </a:r>
            <a:r>
              <a:rPr lang="en-US" altLang="zh-CN" sz="1400" dirty="0"/>
              <a:t> = </a:t>
            </a:r>
            <a:r>
              <a:rPr lang="en-US" altLang="zh-CN" sz="1400" dirty="0" err="1"/>
              <a:t>imm.val</a:t>
            </a:r>
            <a:r>
              <a:rPr lang="en-US" altLang="zh-CN" sz="1400" dirty="0"/>
              <a:t>;</a:t>
            </a:r>
            <a:endParaRPr lang="zh-CN" altLang="zh-CN" sz="1400" dirty="0"/>
          </a:p>
          <a:p>
            <a:r>
              <a:rPr lang="en-US" altLang="zh-CN" sz="1400" dirty="0"/>
              <a:t>    </a:t>
            </a:r>
            <a:r>
              <a:rPr lang="en-US" altLang="zh-CN" sz="1400" dirty="0" err="1"/>
              <a:t>operand_write</a:t>
            </a:r>
            <a:r>
              <a:rPr lang="en-US" altLang="zh-CN" sz="1400" dirty="0"/>
              <a:t>(&amp;</a:t>
            </a:r>
            <a:r>
              <a:rPr lang="en-US" altLang="zh-CN" sz="1400" dirty="0" err="1"/>
              <a:t>rm</a:t>
            </a:r>
            <a:r>
              <a:rPr lang="en-US" altLang="zh-CN" sz="1400" dirty="0"/>
              <a:t>);</a:t>
            </a:r>
            <a:endParaRPr lang="zh-CN" altLang="zh-CN" sz="1400" dirty="0"/>
          </a:p>
          <a:p>
            <a:r>
              <a:rPr lang="en-US" altLang="zh-CN" sz="1400" dirty="0"/>
              <a:t> </a:t>
            </a:r>
            <a:endParaRPr lang="zh-CN" altLang="zh-CN" sz="1400" dirty="0"/>
          </a:p>
          <a:p>
            <a:r>
              <a:rPr lang="en-US" altLang="zh-CN" sz="1400" dirty="0"/>
              <a:t>   </a:t>
            </a:r>
            <a:r>
              <a:rPr lang="en-US" altLang="zh-CN" sz="1400" dirty="0">
                <a:solidFill>
                  <a:srgbClr val="FF0000"/>
                </a:solidFill>
              </a:rPr>
              <a:t> return </a:t>
            </a:r>
            <a:r>
              <a:rPr lang="en-US" altLang="zh-CN" sz="1400" dirty="0" err="1">
                <a:solidFill>
                  <a:srgbClr val="FF0000"/>
                </a:solidFill>
              </a:rPr>
              <a:t>len</a:t>
            </a:r>
            <a:r>
              <a:rPr lang="en-US" altLang="zh-CN" sz="1400" dirty="0">
                <a:solidFill>
                  <a:srgbClr val="FF0000"/>
                </a:solidFill>
              </a:rPr>
              <a:t> + </a:t>
            </a:r>
            <a:r>
              <a:rPr lang="en-US" altLang="zh-CN" sz="1400" dirty="0" err="1">
                <a:solidFill>
                  <a:srgbClr val="FF0000"/>
                </a:solidFill>
              </a:rPr>
              <a:t>data_size</a:t>
            </a:r>
            <a:r>
              <a:rPr lang="en-US" altLang="zh-CN" sz="1400" dirty="0">
                <a:solidFill>
                  <a:srgbClr val="FF0000"/>
                </a:solidFill>
              </a:rPr>
              <a:t> / 8;</a:t>
            </a:r>
            <a:endParaRPr lang="zh-CN" altLang="zh-CN" sz="1400" dirty="0">
              <a:solidFill>
                <a:srgbClr val="00B050"/>
              </a:solidFill>
            </a:endParaRPr>
          </a:p>
          <a:p>
            <a:r>
              <a:rPr lang="en-US" altLang="zh-CN" sz="1400" dirty="0"/>
              <a:t>}</a:t>
            </a:r>
            <a:endParaRPr lang="zh-CN" altLang="en-US" sz="1400" dirty="0"/>
          </a:p>
        </p:txBody>
      </p:sp>
      <p:sp>
        <p:nvSpPr>
          <p:cNvPr id="24" name="文本框 23"/>
          <p:cNvSpPr txBox="1"/>
          <p:nvPr/>
        </p:nvSpPr>
        <p:spPr>
          <a:xfrm>
            <a:off x="1870296" y="2655756"/>
            <a:ext cx="2752677" cy="369332"/>
          </a:xfrm>
          <a:prstGeom prst="rect">
            <a:avLst/>
          </a:prstGeom>
          <a:noFill/>
        </p:spPr>
        <p:txBody>
          <a:bodyPr wrap="none" rtlCol="0">
            <a:spAutoFit/>
          </a:bodyPr>
          <a:lstStyle/>
          <a:p>
            <a:r>
              <a:rPr lang="en-US" altLang="zh-CN" dirty="0" err="1">
                <a:solidFill>
                  <a:srgbClr val="0070C0"/>
                </a:solidFill>
              </a:rPr>
              <a:t>nemu</a:t>
            </a:r>
            <a:r>
              <a:rPr lang="en-US" altLang="zh-CN" dirty="0">
                <a:solidFill>
                  <a:srgbClr val="0070C0"/>
                </a:solidFill>
              </a:rPr>
              <a:t>/</a:t>
            </a:r>
            <a:r>
              <a:rPr lang="en-US" altLang="zh-CN" dirty="0" err="1">
                <a:solidFill>
                  <a:srgbClr val="0070C0"/>
                </a:solidFill>
              </a:rPr>
              <a:t>src</a:t>
            </a:r>
            <a:r>
              <a:rPr lang="en-US" altLang="zh-CN" dirty="0">
                <a:solidFill>
                  <a:srgbClr val="0070C0"/>
                </a:solidFill>
              </a:rPr>
              <a:t>/</a:t>
            </a:r>
            <a:r>
              <a:rPr lang="en-US" altLang="zh-CN" dirty="0" err="1">
                <a:solidFill>
                  <a:srgbClr val="0070C0"/>
                </a:solidFill>
              </a:rPr>
              <a:t>cpu</a:t>
            </a:r>
            <a:r>
              <a:rPr lang="en-US" altLang="zh-CN" dirty="0">
                <a:solidFill>
                  <a:srgbClr val="0070C0"/>
                </a:solidFill>
              </a:rPr>
              <a:t>/</a:t>
            </a:r>
            <a:r>
              <a:rPr lang="en-US" altLang="zh-CN" dirty="0" err="1">
                <a:solidFill>
                  <a:srgbClr val="0070C0"/>
                </a:solidFill>
              </a:rPr>
              <a:t>instr</a:t>
            </a:r>
            <a:r>
              <a:rPr lang="en-US" altLang="zh-CN" dirty="0">
                <a:solidFill>
                  <a:srgbClr val="0070C0"/>
                </a:solidFill>
              </a:rPr>
              <a:t>/</a:t>
            </a:r>
            <a:r>
              <a:rPr lang="en-US" altLang="zh-CN" dirty="0" err="1">
                <a:solidFill>
                  <a:srgbClr val="0070C0"/>
                </a:solidFill>
              </a:rPr>
              <a:t>mov.c</a:t>
            </a:r>
            <a:endParaRPr lang="zh-CN" altLang="en-US" dirty="0">
              <a:solidFill>
                <a:srgbClr val="0070C0"/>
              </a:solidFill>
            </a:endParaRPr>
          </a:p>
        </p:txBody>
      </p:sp>
      <p:cxnSp>
        <p:nvCxnSpPr>
          <p:cNvPr id="26" name="直接箭头连接符 25"/>
          <p:cNvCxnSpPr/>
          <p:nvPr/>
        </p:nvCxnSpPr>
        <p:spPr>
          <a:xfrm flipH="1" flipV="1">
            <a:off x="3668739" y="3321270"/>
            <a:ext cx="4868869" cy="263082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a:xfrm flipV="1">
            <a:off x="3668739" y="4588861"/>
            <a:ext cx="2590807" cy="146509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a:xfrm>
            <a:off x="3752879" y="6053959"/>
            <a:ext cx="1797287" cy="369332"/>
          </a:xfrm>
          <a:prstGeom prst="rect">
            <a:avLst/>
          </a:prstGeom>
          <a:noFill/>
        </p:spPr>
        <p:txBody>
          <a:bodyPr wrap="none" rtlCol="0">
            <a:spAutoFit/>
          </a:bodyPr>
          <a:lstStyle/>
          <a:p>
            <a:r>
              <a:rPr lang="en-US" altLang="zh-CN" dirty="0">
                <a:solidFill>
                  <a:srgbClr val="FF0000"/>
                </a:solidFill>
              </a:rPr>
              <a:t>4. </a:t>
            </a:r>
            <a:r>
              <a:rPr lang="zh-CN" altLang="en-US" dirty="0">
                <a:solidFill>
                  <a:srgbClr val="FF0000"/>
                </a:solidFill>
              </a:rPr>
              <a:t>返回指令长度</a:t>
            </a:r>
            <a:endParaRPr lang="zh-CN" altLang="en-US" dirty="0">
              <a:solidFill>
                <a:srgbClr val="FF0000"/>
              </a:solidFill>
            </a:endParaRPr>
          </a:p>
        </p:txBody>
      </p:sp>
      <p:sp>
        <p:nvSpPr>
          <p:cNvPr id="35" name="任意多边形 34"/>
          <p:cNvSpPr/>
          <p:nvPr/>
        </p:nvSpPr>
        <p:spPr>
          <a:xfrm>
            <a:off x="5550166" y="2373745"/>
            <a:ext cx="1201617" cy="2327564"/>
          </a:xfrm>
          <a:custGeom>
            <a:avLst/>
            <a:gdLst>
              <a:gd name="connsiteX0" fmla="*/ 333399 w 1201617"/>
              <a:gd name="connsiteY0" fmla="*/ 2327564 h 2327564"/>
              <a:gd name="connsiteX1" fmla="*/ 47071 w 1201617"/>
              <a:gd name="connsiteY1" fmla="*/ 701964 h 2327564"/>
              <a:gd name="connsiteX2" fmla="*/ 1201617 w 1201617"/>
              <a:gd name="connsiteY2" fmla="*/ 0 h 2327564"/>
            </a:gdLst>
            <a:ahLst/>
            <a:cxnLst>
              <a:cxn ang="0">
                <a:pos x="connsiteX0" y="connsiteY0"/>
              </a:cxn>
              <a:cxn ang="0">
                <a:pos x="connsiteX1" y="connsiteY1"/>
              </a:cxn>
              <a:cxn ang="0">
                <a:pos x="connsiteX2" y="connsiteY2"/>
              </a:cxn>
            </a:cxnLst>
            <a:rect l="l" t="t" r="r" b="b"/>
            <a:pathLst>
              <a:path w="1201617" h="2327564">
                <a:moveTo>
                  <a:pt x="333399" y="2327564"/>
                </a:moveTo>
                <a:cubicBezTo>
                  <a:pt x="117883" y="1708727"/>
                  <a:pt x="-97632" y="1089891"/>
                  <a:pt x="47071" y="701964"/>
                </a:cubicBezTo>
                <a:cubicBezTo>
                  <a:pt x="191774" y="314037"/>
                  <a:pt x="696695" y="157018"/>
                  <a:pt x="1201617" y="0"/>
                </a:cubicBezTo>
              </a:path>
            </a:pathLst>
          </a:custGeom>
          <a:noFill/>
          <a:ln>
            <a:solidFill>
              <a:srgbClr val="FF000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p:cNvSpPr txBox="1"/>
          <p:nvPr/>
        </p:nvSpPr>
        <p:spPr>
          <a:xfrm>
            <a:off x="4489344" y="2196728"/>
            <a:ext cx="1960330" cy="646331"/>
          </a:xfrm>
          <a:prstGeom prst="rect">
            <a:avLst/>
          </a:prstGeom>
          <a:noFill/>
        </p:spPr>
        <p:txBody>
          <a:bodyPr wrap="square" rtlCol="0">
            <a:spAutoFit/>
          </a:bodyPr>
          <a:lstStyle/>
          <a:p>
            <a:r>
              <a:rPr lang="en-US" altLang="zh-CN" dirty="0">
                <a:solidFill>
                  <a:srgbClr val="FF0000"/>
                </a:solidFill>
              </a:rPr>
              <a:t>5. </a:t>
            </a:r>
            <a:r>
              <a:rPr lang="zh-CN" altLang="en-US" dirty="0">
                <a:solidFill>
                  <a:srgbClr val="FF0000"/>
                </a:solidFill>
              </a:rPr>
              <a:t>循环开启下一条指令</a:t>
            </a:r>
            <a:endParaRPr lang="en-US" altLang="zh-CN" dirty="0">
              <a:solidFill>
                <a:srgbClr val="FF0000"/>
              </a:solidFill>
            </a:endParaRPr>
          </a:p>
        </p:txBody>
      </p:sp>
      <p:sp>
        <p:nvSpPr>
          <p:cNvPr id="39" name="等腰三角形 38"/>
          <p:cNvSpPr/>
          <p:nvPr/>
        </p:nvSpPr>
        <p:spPr>
          <a:xfrm>
            <a:off x="4136174" y="755646"/>
            <a:ext cx="383372" cy="463554"/>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0" name="文本框 39"/>
          <p:cNvSpPr txBox="1"/>
          <p:nvPr/>
        </p:nvSpPr>
        <p:spPr>
          <a:xfrm>
            <a:off x="3668739" y="1271278"/>
            <a:ext cx="946093" cy="369332"/>
          </a:xfrm>
          <a:prstGeom prst="rect">
            <a:avLst/>
          </a:prstGeom>
          <a:noFill/>
        </p:spPr>
        <p:txBody>
          <a:bodyPr wrap="none" rtlCol="0">
            <a:spAutoFit/>
          </a:bodyPr>
          <a:lstStyle/>
          <a:p>
            <a:r>
              <a:rPr lang="zh-CN" altLang="en-US" dirty="0"/>
              <a:t>当前</a:t>
            </a:r>
            <a:r>
              <a:rPr lang="en-US" altLang="zh-CN" dirty="0"/>
              <a:t>EIP</a:t>
            </a:r>
            <a:endParaRPr lang="zh-CN" altLang="en-US" dirty="0"/>
          </a:p>
        </p:txBody>
      </p:sp>
      <p:sp>
        <p:nvSpPr>
          <p:cNvPr id="2" name="文本框 1"/>
          <p:cNvSpPr txBox="1"/>
          <p:nvPr/>
        </p:nvSpPr>
        <p:spPr>
          <a:xfrm>
            <a:off x="1959197" y="2044032"/>
            <a:ext cx="2161848" cy="646331"/>
          </a:xfrm>
          <a:prstGeom prst="rect">
            <a:avLst/>
          </a:prstGeom>
          <a:noFill/>
        </p:spPr>
        <p:txBody>
          <a:bodyPr wrap="square" rtlCol="0">
            <a:spAutoFit/>
          </a:bodyPr>
          <a:lstStyle/>
          <a:p>
            <a:r>
              <a:rPr lang="en-US" altLang="zh-CN" dirty="0">
                <a:solidFill>
                  <a:srgbClr val="7030A0"/>
                </a:solidFill>
              </a:rPr>
              <a:t>mov_i2rm_v</a:t>
            </a:r>
            <a:r>
              <a:rPr lang="zh-CN" altLang="en-US" dirty="0">
                <a:solidFill>
                  <a:srgbClr val="7030A0"/>
                </a:solidFill>
              </a:rPr>
              <a:t>是模拟</a:t>
            </a:r>
            <a:r>
              <a:rPr lang="en-US" altLang="zh-CN" dirty="0">
                <a:solidFill>
                  <a:srgbClr val="7030A0"/>
                </a:solidFill>
              </a:rPr>
              <a:t>C7</a:t>
            </a:r>
            <a:r>
              <a:rPr lang="zh-CN" altLang="en-US" dirty="0">
                <a:solidFill>
                  <a:srgbClr val="7030A0"/>
                </a:solidFill>
              </a:rPr>
              <a:t>指令的函数</a:t>
            </a:r>
            <a:endParaRPr lang="zh-CN" altLang="en-US" dirty="0">
              <a:solidFill>
                <a:srgbClr val="7030A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目录</a:t>
            </a:r>
            <a:endParaRPr lang="zh-CN" altLang="en-US" dirty="0"/>
          </a:p>
        </p:txBody>
      </p:sp>
      <p:sp>
        <p:nvSpPr>
          <p:cNvPr id="3" name="内容占位符 2"/>
          <p:cNvSpPr>
            <a:spLocks noGrp="1"/>
          </p:cNvSpPr>
          <p:nvPr>
            <p:ph idx="1"/>
          </p:nvPr>
        </p:nvSpPr>
        <p:spPr/>
        <p:txBody>
          <a:bodyPr/>
          <a:lstStyle/>
          <a:p>
            <a:pPr>
              <a:lnSpc>
                <a:spcPct val="200000"/>
              </a:lnSpc>
            </a:pPr>
            <a:r>
              <a:rPr lang="zh-CN" altLang="en-US" b="1" dirty="0"/>
              <a:t>程序执行的宏观过程与模拟</a:t>
            </a:r>
            <a:endParaRPr lang="zh-CN" altLang="en-US" b="1" dirty="0"/>
          </a:p>
          <a:p>
            <a:pPr>
              <a:lnSpc>
                <a:spcPct val="200000"/>
              </a:lnSpc>
            </a:pPr>
            <a:r>
              <a:rPr lang="zh-CN" altLang="en-US" b="1" dirty="0"/>
              <a:t>单条指令的解码与</a:t>
            </a:r>
            <a:r>
              <a:rPr lang="en-US" altLang="zh-CN" b="1" dirty="0">
                <a:solidFill>
                  <a:srgbClr val="C00000"/>
                </a:solidFill>
              </a:rPr>
              <a:t>NEMU</a:t>
            </a:r>
            <a:r>
              <a:rPr lang="zh-CN" altLang="en-US" b="1" dirty="0">
                <a:solidFill>
                  <a:srgbClr val="C00000"/>
                </a:solidFill>
              </a:rPr>
              <a:t>实现</a:t>
            </a:r>
            <a:endParaRPr lang="en-US" altLang="zh-CN" b="1" dirty="0">
              <a:solidFill>
                <a:srgbClr val="C00000"/>
              </a:solidFill>
            </a:endParaRPr>
          </a:p>
          <a:p>
            <a:pPr lvl="1">
              <a:lnSpc>
                <a:spcPct val="200000"/>
              </a:lnSpc>
            </a:pPr>
            <a:r>
              <a:rPr lang="zh-CN" altLang="en-US" b="1" dirty="0"/>
              <a:t>操作码的解码方式</a:t>
            </a:r>
            <a:endParaRPr lang="en-US" altLang="zh-CN" b="1" dirty="0"/>
          </a:p>
          <a:p>
            <a:pPr lvl="1">
              <a:lnSpc>
                <a:spcPct val="200000"/>
              </a:lnSpc>
            </a:pPr>
            <a:r>
              <a:rPr lang="zh-CN" altLang="en-US" b="1" dirty="0">
                <a:solidFill>
                  <a:srgbClr val="C00000"/>
                </a:solidFill>
              </a:rPr>
              <a:t>单条指令的实现方法</a:t>
            </a:r>
            <a:endParaRPr lang="en-US" altLang="zh-CN" b="1" dirty="0">
              <a:solidFill>
                <a:srgbClr val="C00000"/>
              </a:solidFill>
            </a:endParaRPr>
          </a:p>
          <a:p>
            <a:pPr lvl="1">
              <a:lnSpc>
                <a:spcPct val="200000"/>
              </a:lnSpc>
            </a:pPr>
            <a:r>
              <a:rPr lang="zh-CN" altLang="en-US" b="1" dirty="0"/>
              <a:t>利用框架代码中的宏来高效、简洁地实现多条指令</a:t>
            </a:r>
            <a:endParaRPr lang="zh-CN" altLang="en-US" b="1" dirty="0"/>
          </a:p>
        </p:txBody>
      </p:sp>
      <p:sp>
        <p:nvSpPr>
          <p:cNvPr id="4" name="日期占位符 3"/>
          <p:cNvSpPr>
            <a:spLocks noGrp="1"/>
          </p:cNvSpPr>
          <p:nvPr>
            <p:ph type="dt" sz="half" idx="10"/>
          </p:nvPr>
        </p:nvSpPr>
        <p:spPr/>
        <p:txBody>
          <a:bodyPr/>
          <a:lstStyle/>
          <a:p>
            <a:fld id="{41D2AEF5-D648-4728-8573-61956C55922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sp>
        <p:nvSpPr>
          <p:cNvPr id="7" name="文本框 6"/>
          <p:cNvSpPr txBox="1"/>
          <p:nvPr/>
        </p:nvSpPr>
        <p:spPr>
          <a:xfrm>
            <a:off x="6047508" y="2687782"/>
            <a:ext cx="3366655" cy="181588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342900" indent="-342900">
              <a:buAutoNum type="arabicPeriod"/>
            </a:pPr>
            <a:r>
              <a:rPr lang="zh-CN" altLang="en-US" sz="2800" dirty="0"/>
              <a:t>解码操作码</a:t>
            </a:r>
            <a:endParaRPr lang="en-US" altLang="zh-CN" sz="2800" dirty="0"/>
          </a:p>
          <a:p>
            <a:pPr marL="342900" indent="-342900">
              <a:buAutoNum type="arabicPeriod"/>
            </a:pPr>
            <a:r>
              <a:rPr lang="zh-CN" altLang="en-US" sz="2800" dirty="0"/>
              <a:t>解码操作数</a:t>
            </a:r>
            <a:endParaRPr lang="en-US" altLang="zh-CN" sz="2800" dirty="0"/>
          </a:p>
          <a:p>
            <a:pPr marL="342900" indent="-342900">
              <a:buAutoNum type="arabicPeriod"/>
            </a:pPr>
            <a:r>
              <a:rPr lang="zh-CN" altLang="en-US" sz="2800" dirty="0"/>
              <a:t>执行指令的操作</a:t>
            </a:r>
            <a:endParaRPr lang="en-US" altLang="zh-CN" sz="2800" dirty="0"/>
          </a:p>
          <a:p>
            <a:pPr marL="342900" indent="-342900">
              <a:buAutoNum type="arabicPeriod"/>
            </a:pPr>
            <a:r>
              <a:rPr lang="zh-CN" altLang="en-US" sz="2800" dirty="0"/>
              <a:t>返回指令长度</a:t>
            </a:r>
            <a:endParaRPr lang="zh-CN" altLang="en-US" sz="2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NEMU</a:t>
            </a:r>
            <a:r>
              <a:rPr lang="zh-CN" altLang="en-US" dirty="0"/>
              <a:t>模拟指令解码和执行</a:t>
            </a:r>
            <a:endParaRPr lang="zh-CN" altLang="en-US" dirty="0"/>
          </a:p>
        </p:txBody>
      </p:sp>
      <p:sp>
        <p:nvSpPr>
          <p:cNvPr id="3" name="内容占位符 2"/>
          <p:cNvSpPr>
            <a:spLocks noGrp="1"/>
          </p:cNvSpPr>
          <p:nvPr>
            <p:ph idx="1"/>
          </p:nvPr>
        </p:nvSpPr>
        <p:spPr>
          <a:xfrm>
            <a:off x="838199" y="1173813"/>
            <a:ext cx="11154103" cy="844173"/>
          </a:xfrm>
        </p:spPr>
        <p:txBody>
          <a:bodyPr/>
          <a:lstStyle/>
          <a:p>
            <a:r>
              <a:rPr lang="zh-CN" altLang="en-US" sz="2400" dirty="0"/>
              <a:t>怎么写某操作码对应的instr_func？</a:t>
            </a:r>
            <a:endParaRPr lang="zh-CN" altLang="en-US" dirty="0"/>
          </a:p>
        </p:txBody>
      </p:sp>
      <p:sp>
        <p:nvSpPr>
          <p:cNvPr id="4" name="日期占位符 3"/>
          <p:cNvSpPr>
            <a:spLocks noGrp="1"/>
          </p:cNvSpPr>
          <p:nvPr>
            <p:ph type="dt" sz="half" idx="10"/>
          </p:nvPr>
        </p:nvSpPr>
        <p:spPr/>
        <p:txBody>
          <a:bodyPr/>
          <a:lstStyle/>
          <a:p>
            <a:fld id="{960AD632-BA1E-4007-A689-FFA6C023ED74}" type="datetime3">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a:t>Programming Assignment</a:t>
            </a:r>
            <a:endParaRPr lang="zh-CN" altLang="en-US"/>
          </a:p>
        </p:txBody>
      </p:sp>
      <p:sp>
        <p:nvSpPr>
          <p:cNvPr id="6" name="灯片编号占位符 5"/>
          <p:cNvSpPr>
            <a:spLocks noGrp="1"/>
          </p:cNvSpPr>
          <p:nvPr>
            <p:ph type="sldNum" sz="quarter" idx="12"/>
          </p:nvPr>
        </p:nvSpPr>
        <p:spPr/>
        <p:txBody>
          <a:bodyPr/>
          <a:lstStyle/>
          <a:p>
            <a:fld id="{A40E146E-410D-4448-BCD3-F60DE2B98E6B}" type="slidenum">
              <a:rPr lang="zh-CN" altLang="en-US" smtClean="0"/>
            </a:fld>
            <a:endParaRPr lang="zh-CN" altLang="en-US"/>
          </a:p>
        </p:txBody>
      </p:sp>
      <p:sp>
        <p:nvSpPr>
          <p:cNvPr id="7" name="文本框 6"/>
          <p:cNvSpPr txBox="1"/>
          <p:nvPr/>
        </p:nvSpPr>
        <p:spPr>
          <a:xfrm>
            <a:off x="2025925" y="1585291"/>
            <a:ext cx="9327875" cy="5078313"/>
          </a:xfrm>
          <a:prstGeom prst="rect">
            <a:avLst/>
          </a:prstGeom>
          <a:noFill/>
        </p:spPr>
        <p:txBody>
          <a:bodyPr wrap="square" rtlCol="0">
            <a:spAutoFit/>
          </a:bodyPr>
          <a:lstStyle/>
          <a:p>
            <a:r>
              <a:rPr lang="en-US" altLang="zh-CN" dirty="0">
                <a:solidFill>
                  <a:srgbClr val="00B050"/>
                </a:solidFill>
              </a:rPr>
              <a:t>// </a:t>
            </a:r>
            <a:r>
              <a:rPr lang="zh-CN" altLang="zh-CN" dirty="0">
                <a:solidFill>
                  <a:srgbClr val="00B050"/>
                </a:solidFill>
              </a:rPr>
              <a:t>宏展开后这一行即为</a:t>
            </a:r>
            <a:r>
              <a:rPr lang="en-US" altLang="zh-CN" dirty="0">
                <a:solidFill>
                  <a:srgbClr val="00B050"/>
                </a:solidFill>
              </a:rPr>
              <a:t> </a:t>
            </a:r>
            <a:r>
              <a:rPr lang="en-US" altLang="zh-CN" dirty="0" err="1">
                <a:solidFill>
                  <a:srgbClr val="00B050"/>
                </a:solidFill>
              </a:rPr>
              <a:t>int</a:t>
            </a:r>
            <a:r>
              <a:rPr lang="en-US" altLang="zh-CN" dirty="0">
                <a:solidFill>
                  <a:srgbClr val="00B050"/>
                </a:solidFill>
              </a:rPr>
              <a:t> mov_i2rm_v(uint32_t </a:t>
            </a:r>
            <a:r>
              <a:rPr lang="en-US" altLang="zh-CN" dirty="0" err="1">
                <a:solidFill>
                  <a:srgbClr val="00B050"/>
                </a:solidFill>
              </a:rPr>
              <a:t>eip</a:t>
            </a:r>
            <a:r>
              <a:rPr lang="en-US" altLang="zh-CN" dirty="0">
                <a:solidFill>
                  <a:srgbClr val="00B050"/>
                </a:solidFill>
              </a:rPr>
              <a:t>, uint8_t opcode) {</a:t>
            </a:r>
            <a:endParaRPr lang="zh-CN" altLang="zh-CN" dirty="0">
              <a:solidFill>
                <a:srgbClr val="00B050"/>
              </a:solidFill>
            </a:endParaRPr>
          </a:p>
          <a:p>
            <a:r>
              <a:rPr lang="en-US" altLang="zh-CN" dirty="0" err="1"/>
              <a:t>make_instr_func</a:t>
            </a:r>
            <a:r>
              <a:rPr lang="en-US" altLang="zh-CN" dirty="0"/>
              <a:t>(</a:t>
            </a:r>
            <a:r>
              <a:rPr lang="en-US" altLang="zh-CN" dirty="0">
                <a:solidFill>
                  <a:srgbClr val="FF0000"/>
                </a:solidFill>
              </a:rPr>
              <a:t>mov_i2rm_v</a:t>
            </a:r>
            <a:r>
              <a:rPr lang="en-US" altLang="zh-CN" dirty="0"/>
              <a:t>) { </a:t>
            </a:r>
            <a:endParaRPr lang="zh-CN" altLang="zh-CN" dirty="0"/>
          </a:p>
          <a:p>
            <a:r>
              <a:rPr lang="en-US" altLang="zh-CN" dirty="0"/>
              <a:t>    OPERAND </a:t>
            </a:r>
            <a:r>
              <a:rPr lang="en-US" altLang="zh-CN" dirty="0" err="1"/>
              <a:t>rm</a:t>
            </a:r>
            <a:r>
              <a:rPr lang="en-US" altLang="zh-CN" dirty="0"/>
              <a:t>, </a:t>
            </a:r>
            <a:r>
              <a:rPr lang="en-US" altLang="zh-CN" dirty="0" err="1"/>
              <a:t>imm</a:t>
            </a:r>
            <a:r>
              <a:rPr lang="en-US" altLang="zh-CN" dirty="0"/>
              <a:t>;          </a:t>
            </a:r>
            <a:r>
              <a:rPr lang="en-US" altLang="zh-CN" dirty="0">
                <a:solidFill>
                  <a:srgbClr val="00B050"/>
                </a:solidFill>
              </a:rPr>
              <a:t>// OPERAND</a:t>
            </a:r>
            <a:r>
              <a:rPr lang="zh-CN" altLang="en-US" dirty="0">
                <a:solidFill>
                  <a:srgbClr val="00B050"/>
                </a:solidFill>
              </a:rPr>
              <a:t>定义在</a:t>
            </a:r>
            <a:r>
              <a:rPr lang="en-US" altLang="zh-CN" dirty="0" err="1">
                <a:solidFill>
                  <a:srgbClr val="00B050"/>
                </a:solidFill>
              </a:rPr>
              <a:t>nemu</a:t>
            </a:r>
            <a:r>
              <a:rPr lang="en-US" altLang="zh-CN" dirty="0">
                <a:solidFill>
                  <a:srgbClr val="00B050"/>
                </a:solidFill>
              </a:rPr>
              <a:t>/include/</a:t>
            </a:r>
            <a:r>
              <a:rPr lang="en-US" altLang="zh-CN" dirty="0" err="1">
                <a:solidFill>
                  <a:srgbClr val="00B050"/>
                </a:solidFill>
              </a:rPr>
              <a:t>cpu</a:t>
            </a:r>
            <a:r>
              <a:rPr lang="en-US" altLang="zh-CN" dirty="0">
                <a:solidFill>
                  <a:srgbClr val="00B050"/>
                </a:solidFill>
              </a:rPr>
              <a:t>/</a:t>
            </a:r>
            <a:r>
              <a:rPr lang="en-US" altLang="zh-CN" dirty="0" err="1">
                <a:solidFill>
                  <a:srgbClr val="00B050"/>
                </a:solidFill>
              </a:rPr>
              <a:t>operand.h</a:t>
            </a:r>
            <a:endParaRPr lang="en-US" altLang="zh-CN" dirty="0">
              <a:solidFill>
                <a:srgbClr val="00B050"/>
              </a:solidFill>
            </a:endParaRPr>
          </a:p>
          <a:p>
            <a:r>
              <a:rPr lang="en-US" altLang="zh-CN" dirty="0">
                <a:solidFill>
                  <a:srgbClr val="00B050"/>
                </a:solidFill>
              </a:rPr>
              <a:t>                                                 // </a:t>
            </a:r>
            <a:r>
              <a:rPr lang="zh-CN" altLang="en-US" dirty="0">
                <a:solidFill>
                  <a:srgbClr val="00B050"/>
                </a:solidFill>
              </a:rPr>
              <a:t>看教程</a:t>
            </a:r>
            <a:r>
              <a:rPr lang="en-US" altLang="zh-CN" dirty="0">
                <a:solidFill>
                  <a:srgbClr val="00B050"/>
                </a:solidFill>
              </a:rPr>
              <a:t>§2-1.2.3</a:t>
            </a:r>
            <a:r>
              <a:rPr lang="en-US" altLang="zh-CN" dirty="0"/>
              <a:t> </a:t>
            </a:r>
            <a:endParaRPr lang="zh-CN" altLang="zh-CN" dirty="0"/>
          </a:p>
          <a:p>
            <a:r>
              <a:rPr lang="en-US" altLang="zh-CN" dirty="0"/>
              <a:t>    </a:t>
            </a:r>
            <a:r>
              <a:rPr lang="en-US" altLang="zh-CN" dirty="0" err="1"/>
              <a:t>rm.data_size</a:t>
            </a:r>
            <a:r>
              <a:rPr lang="en-US" altLang="zh-CN" dirty="0"/>
              <a:t> = </a:t>
            </a:r>
            <a:r>
              <a:rPr lang="en-US" altLang="zh-CN" dirty="0" err="1"/>
              <a:t>data_size</a:t>
            </a:r>
            <a:r>
              <a:rPr lang="en-US" altLang="zh-CN" dirty="0"/>
              <a:t>; </a:t>
            </a:r>
            <a:r>
              <a:rPr lang="en-US" altLang="zh-CN" dirty="0">
                <a:solidFill>
                  <a:srgbClr val="00B050"/>
                </a:solidFill>
              </a:rPr>
              <a:t>// </a:t>
            </a:r>
            <a:r>
              <a:rPr lang="en-US" altLang="zh-CN" dirty="0" err="1"/>
              <a:t>data_size</a:t>
            </a:r>
            <a:r>
              <a:rPr lang="zh-CN" altLang="en-US" dirty="0">
                <a:solidFill>
                  <a:srgbClr val="00B050"/>
                </a:solidFill>
              </a:rPr>
              <a:t>是个全局变量，表示</a:t>
            </a:r>
            <a:r>
              <a:rPr lang="zh-CN" altLang="en-US" dirty="0">
                <a:solidFill>
                  <a:srgbClr val="00B0F0"/>
                </a:solidFill>
              </a:rPr>
              <a:t>操作数</a:t>
            </a:r>
            <a:r>
              <a:rPr lang="zh-CN" altLang="en-US" dirty="0">
                <a:solidFill>
                  <a:srgbClr val="00B050"/>
                </a:solidFill>
              </a:rPr>
              <a:t>的</a:t>
            </a:r>
            <a:r>
              <a:rPr lang="zh-CN" altLang="en-US" dirty="0">
                <a:solidFill>
                  <a:srgbClr val="FF0000"/>
                </a:solidFill>
              </a:rPr>
              <a:t>比特长度</a:t>
            </a:r>
            <a:endParaRPr lang="zh-CN" altLang="zh-CN" dirty="0">
              <a:solidFill>
                <a:srgbClr val="FF0000"/>
              </a:solidFill>
            </a:endParaRPr>
          </a:p>
          <a:p>
            <a:r>
              <a:rPr lang="en-US" altLang="zh-CN" dirty="0"/>
              <a:t>    </a:t>
            </a:r>
            <a:r>
              <a:rPr lang="en-US" altLang="zh-CN" dirty="0" err="1"/>
              <a:t>int</a:t>
            </a:r>
            <a:r>
              <a:rPr lang="en-US" altLang="zh-CN" dirty="0"/>
              <a:t> </a:t>
            </a:r>
            <a:r>
              <a:rPr lang="en-US" altLang="zh-CN" dirty="0" err="1"/>
              <a:t>len</a:t>
            </a:r>
            <a:r>
              <a:rPr lang="en-US" altLang="zh-CN" dirty="0"/>
              <a:t> = 1;                          </a:t>
            </a:r>
            <a:r>
              <a:rPr lang="en-US" altLang="zh-CN" dirty="0">
                <a:solidFill>
                  <a:srgbClr val="00B050"/>
                </a:solidFill>
              </a:rPr>
              <a:t>// opcode </a:t>
            </a:r>
            <a:r>
              <a:rPr lang="zh-CN" altLang="zh-CN" dirty="0">
                <a:solidFill>
                  <a:srgbClr val="00B050"/>
                </a:solidFill>
              </a:rPr>
              <a:t>长度</a:t>
            </a:r>
            <a:r>
              <a:rPr lang="en-US" altLang="zh-CN" dirty="0">
                <a:solidFill>
                  <a:srgbClr val="00B050"/>
                </a:solidFill>
              </a:rPr>
              <a:t>1</a:t>
            </a:r>
            <a:r>
              <a:rPr lang="zh-CN" altLang="zh-CN" dirty="0">
                <a:solidFill>
                  <a:srgbClr val="00B050"/>
                </a:solidFill>
              </a:rPr>
              <a:t>字节</a:t>
            </a:r>
            <a:endParaRPr lang="zh-CN" altLang="zh-CN" dirty="0">
              <a:solidFill>
                <a:srgbClr val="00B050"/>
              </a:solidFill>
            </a:endParaRPr>
          </a:p>
          <a:p>
            <a:r>
              <a:rPr lang="en-US" altLang="zh-CN" dirty="0"/>
              <a:t>    </a:t>
            </a:r>
            <a:r>
              <a:rPr lang="en-US" altLang="zh-CN" dirty="0" err="1"/>
              <a:t>len</a:t>
            </a:r>
            <a:r>
              <a:rPr lang="en-US" altLang="zh-CN" dirty="0"/>
              <a:t> += </a:t>
            </a:r>
            <a:r>
              <a:rPr lang="en-US" altLang="zh-CN" dirty="0" err="1"/>
              <a:t>modrm_rm</a:t>
            </a:r>
            <a:r>
              <a:rPr lang="en-US" altLang="zh-CN" dirty="0"/>
              <a:t>(</a:t>
            </a:r>
            <a:r>
              <a:rPr lang="en-US" altLang="zh-CN" dirty="0" err="1"/>
              <a:t>eip</a:t>
            </a:r>
            <a:r>
              <a:rPr lang="en-US" altLang="zh-CN" dirty="0"/>
              <a:t> + 1, &amp;</a:t>
            </a:r>
            <a:r>
              <a:rPr lang="en-US" altLang="zh-CN" dirty="0" err="1"/>
              <a:t>rm</a:t>
            </a:r>
            <a:r>
              <a:rPr lang="en-US" altLang="zh-CN" dirty="0"/>
              <a:t>);</a:t>
            </a:r>
            <a:r>
              <a:rPr lang="en-US" altLang="zh-CN" dirty="0">
                <a:solidFill>
                  <a:srgbClr val="FF0000"/>
                </a:solidFill>
              </a:rPr>
              <a:t> </a:t>
            </a:r>
            <a:r>
              <a:rPr lang="en-US" altLang="zh-CN" dirty="0">
                <a:solidFill>
                  <a:srgbClr val="00B050"/>
                </a:solidFill>
              </a:rPr>
              <a:t>// </a:t>
            </a:r>
            <a:r>
              <a:rPr lang="zh-CN" altLang="zh-CN" dirty="0">
                <a:solidFill>
                  <a:srgbClr val="00B050"/>
                </a:solidFill>
              </a:rPr>
              <a:t>读</a:t>
            </a:r>
            <a:r>
              <a:rPr lang="en-US" altLang="zh-CN" dirty="0" err="1">
                <a:solidFill>
                  <a:srgbClr val="00B050"/>
                </a:solidFill>
              </a:rPr>
              <a:t>ModR</a:t>
            </a:r>
            <a:r>
              <a:rPr lang="en-US" altLang="zh-CN" dirty="0">
                <a:solidFill>
                  <a:srgbClr val="00B050"/>
                </a:solidFill>
              </a:rPr>
              <a:t>/M</a:t>
            </a:r>
            <a:r>
              <a:rPr lang="zh-CN" altLang="zh-CN" dirty="0">
                <a:solidFill>
                  <a:srgbClr val="00B050"/>
                </a:solidFill>
              </a:rPr>
              <a:t>字节，</a:t>
            </a:r>
            <a:r>
              <a:rPr lang="en-US" altLang="zh-CN" dirty="0" err="1">
                <a:solidFill>
                  <a:srgbClr val="00B050"/>
                </a:solidFill>
              </a:rPr>
              <a:t>rm</a:t>
            </a:r>
            <a:r>
              <a:rPr lang="zh-CN" altLang="zh-CN" dirty="0">
                <a:solidFill>
                  <a:srgbClr val="00B050"/>
                </a:solidFill>
              </a:rPr>
              <a:t>的</a:t>
            </a:r>
            <a:r>
              <a:rPr lang="en-US" altLang="zh-CN" dirty="0">
                <a:solidFill>
                  <a:srgbClr val="00B050"/>
                </a:solidFill>
              </a:rPr>
              <a:t>type</a:t>
            </a:r>
            <a:r>
              <a:rPr lang="zh-CN" altLang="zh-CN" dirty="0">
                <a:solidFill>
                  <a:srgbClr val="00B050"/>
                </a:solidFill>
              </a:rPr>
              <a:t>和</a:t>
            </a:r>
            <a:r>
              <a:rPr lang="en-US" altLang="zh-CN" dirty="0" err="1">
                <a:solidFill>
                  <a:srgbClr val="00B050"/>
                </a:solidFill>
              </a:rPr>
              <a:t>addr</a:t>
            </a:r>
            <a:r>
              <a:rPr lang="zh-CN" altLang="zh-CN" dirty="0">
                <a:solidFill>
                  <a:srgbClr val="00B050"/>
                </a:solidFill>
              </a:rPr>
              <a:t>会被填写</a:t>
            </a:r>
            <a:endParaRPr lang="zh-CN" altLang="zh-CN" dirty="0">
              <a:solidFill>
                <a:srgbClr val="00B050"/>
              </a:solidFill>
            </a:endParaRPr>
          </a:p>
          <a:p>
            <a:r>
              <a:rPr lang="en-US" altLang="zh-CN" dirty="0"/>
              <a:t> </a:t>
            </a:r>
            <a:endParaRPr lang="zh-CN" altLang="zh-CN" dirty="0"/>
          </a:p>
          <a:p>
            <a:r>
              <a:rPr lang="en-US" altLang="zh-CN" dirty="0"/>
              <a:t>    </a:t>
            </a:r>
            <a:r>
              <a:rPr lang="en-US" altLang="zh-CN" dirty="0" err="1"/>
              <a:t>imm.type</a:t>
            </a:r>
            <a:r>
              <a:rPr lang="en-US" altLang="zh-CN" dirty="0"/>
              <a:t> = OPR_IMM;       </a:t>
            </a:r>
            <a:r>
              <a:rPr lang="en-US" altLang="zh-CN" dirty="0">
                <a:solidFill>
                  <a:srgbClr val="00B050"/>
                </a:solidFill>
              </a:rPr>
              <a:t> // </a:t>
            </a:r>
            <a:r>
              <a:rPr lang="zh-CN" altLang="zh-CN" dirty="0">
                <a:solidFill>
                  <a:srgbClr val="00B050"/>
                </a:solidFill>
              </a:rPr>
              <a:t>填入立即数类型</a:t>
            </a:r>
            <a:endParaRPr lang="zh-CN" altLang="zh-CN" dirty="0">
              <a:solidFill>
                <a:srgbClr val="00B050"/>
              </a:solidFill>
            </a:endParaRPr>
          </a:p>
          <a:p>
            <a:r>
              <a:rPr lang="en-US" altLang="zh-CN" dirty="0"/>
              <a:t>    </a:t>
            </a:r>
            <a:r>
              <a:rPr lang="en-US" altLang="zh-CN" dirty="0" err="1"/>
              <a:t>imm.addr</a:t>
            </a:r>
            <a:r>
              <a:rPr lang="en-US" altLang="zh-CN" dirty="0"/>
              <a:t> = </a:t>
            </a:r>
            <a:r>
              <a:rPr lang="en-US" altLang="zh-CN" dirty="0" err="1"/>
              <a:t>eip</a:t>
            </a:r>
            <a:r>
              <a:rPr lang="en-US" altLang="zh-CN" dirty="0"/>
              <a:t> + </a:t>
            </a:r>
            <a:r>
              <a:rPr lang="en-US" altLang="zh-CN" dirty="0" err="1"/>
              <a:t>len</a:t>
            </a:r>
            <a:r>
              <a:rPr lang="en-US" altLang="zh-CN" dirty="0"/>
              <a:t>;          </a:t>
            </a:r>
            <a:r>
              <a:rPr lang="en-US" altLang="zh-CN" dirty="0">
                <a:solidFill>
                  <a:srgbClr val="00B050"/>
                </a:solidFill>
              </a:rPr>
              <a:t> // </a:t>
            </a:r>
            <a:r>
              <a:rPr lang="zh-CN" altLang="zh-CN" dirty="0">
                <a:solidFill>
                  <a:srgbClr val="00B050"/>
                </a:solidFill>
              </a:rPr>
              <a:t>找到立即数的地址</a:t>
            </a:r>
            <a:endParaRPr lang="zh-CN" altLang="zh-CN" dirty="0">
              <a:solidFill>
                <a:srgbClr val="00B050"/>
              </a:solidFill>
            </a:endParaRPr>
          </a:p>
          <a:p>
            <a:r>
              <a:rPr lang="en-US" altLang="zh-CN" dirty="0"/>
              <a:t>    </a:t>
            </a:r>
            <a:r>
              <a:rPr lang="en-US" altLang="zh-CN" dirty="0" err="1"/>
              <a:t>imm.data_size</a:t>
            </a:r>
            <a:r>
              <a:rPr lang="en-US" altLang="zh-CN" dirty="0"/>
              <a:t> = </a:t>
            </a:r>
            <a:r>
              <a:rPr lang="en-US" altLang="zh-CN" dirty="0" err="1"/>
              <a:t>data_size</a:t>
            </a:r>
            <a:r>
              <a:rPr lang="en-US" altLang="zh-CN" dirty="0"/>
              <a:t>;       </a:t>
            </a:r>
            <a:endParaRPr lang="zh-CN" altLang="zh-CN" dirty="0"/>
          </a:p>
          <a:p>
            <a:r>
              <a:rPr lang="en-US" altLang="zh-CN" dirty="0"/>
              <a:t> </a:t>
            </a:r>
            <a:endParaRPr lang="zh-CN" altLang="zh-CN" dirty="0"/>
          </a:p>
          <a:p>
            <a:r>
              <a:rPr lang="en-US" altLang="zh-CN" dirty="0"/>
              <a:t>    </a:t>
            </a:r>
            <a:r>
              <a:rPr lang="en-US" altLang="zh-CN" dirty="0" err="1"/>
              <a:t>operand_read</a:t>
            </a:r>
            <a:r>
              <a:rPr lang="en-US" altLang="zh-CN" dirty="0"/>
              <a:t>(&amp;</a:t>
            </a:r>
            <a:r>
              <a:rPr lang="en-US" altLang="zh-CN" dirty="0" err="1"/>
              <a:t>imm</a:t>
            </a:r>
            <a:r>
              <a:rPr lang="en-US" altLang="zh-CN" dirty="0"/>
              <a:t>);        </a:t>
            </a:r>
            <a:r>
              <a:rPr lang="en-US" altLang="zh-CN" dirty="0">
                <a:solidFill>
                  <a:srgbClr val="00B050"/>
                </a:solidFill>
              </a:rPr>
              <a:t> // </a:t>
            </a:r>
            <a:r>
              <a:rPr lang="zh-CN" altLang="zh-CN" dirty="0">
                <a:solidFill>
                  <a:srgbClr val="00B050"/>
                </a:solidFill>
              </a:rPr>
              <a:t>执行</a:t>
            </a:r>
            <a:r>
              <a:rPr lang="en-US" altLang="zh-CN" dirty="0">
                <a:solidFill>
                  <a:srgbClr val="00B050"/>
                </a:solidFill>
              </a:rPr>
              <a:t> </a:t>
            </a:r>
            <a:r>
              <a:rPr lang="en-US" altLang="zh-CN" dirty="0" err="1">
                <a:solidFill>
                  <a:srgbClr val="00B050"/>
                </a:solidFill>
              </a:rPr>
              <a:t>mov</a:t>
            </a:r>
            <a:r>
              <a:rPr lang="en-US" altLang="zh-CN" dirty="0">
                <a:solidFill>
                  <a:srgbClr val="00B050"/>
                </a:solidFill>
              </a:rPr>
              <a:t> </a:t>
            </a:r>
            <a:r>
              <a:rPr lang="zh-CN" altLang="zh-CN" dirty="0">
                <a:solidFill>
                  <a:srgbClr val="00B050"/>
                </a:solidFill>
              </a:rPr>
              <a:t>操作</a:t>
            </a:r>
            <a:endParaRPr lang="zh-CN" altLang="zh-CN" dirty="0">
              <a:solidFill>
                <a:srgbClr val="00B050"/>
              </a:solidFill>
            </a:endParaRPr>
          </a:p>
          <a:p>
            <a:r>
              <a:rPr lang="en-US" altLang="zh-CN" dirty="0"/>
              <a:t>    </a:t>
            </a:r>
            <a:r>
              <a:rPr lang="en-US" altLang="zh-CN" dirty="0" err="1"/>
              <a:t>rm.val</a:t>
            </a:r>
            <a:r>
              <a:rPr lang="en-US" altLang="zh-CN" dirty="0"/>
              <a:t> = </a:t>
            </a:r>
            <a:r>
              <a:rPr lang="en-US" altLang="zh-CN" dirty="0" err="1"/>
              <a:t>imm.val</a:t>
            </a:r>
            <a:r>
              <a:rPr lang="en-US" altLang="zh-CN" dirty="0"/>
              <a:t>;</a:t>
            </a:r>
            <a:endParaRPr lang="zh-CN" altLang="zh-CN" dirty="0"/>
          </a:p>
          <a:p>
            <a:r>
              <a:rPr lang="en-US" altLang="zh-CN" dirty="0"/>
              <a:t>    </a:t>
            </a:r>
            <a:r>
              <a:rPr lang="en-US" altLang="zh-CN" dirty="0" err="1"/>
              <a:t>operand_write</a:t>
            </a:r>
            <a:r>
              <a:rPr lang="en-US" altLang="zh-CN" dirty="0"/>
              <a:t>(&amp;</a:t>
            </a:r>
            <a:r>
              <a:rPr lang="en-US" altLang="zh-CN" dirty="0" err="1"/>
              <a:t>rm</a:t>
            </a:r>
            <a:r>
              <a:rPr lang="en-US" altLang="zh-CN" dirty="0"/>
              <a:t>);</a:t>
            </a:r>
            <a:endParaRPr lang="zh-CN" altLang="zh-CN" dirty="0"/>
          </a:p>
          <a:p>
            <a:r>
              <a:rPr lang="en-US" altLang="zh-CN" dirty="0"/>
              <a:t> </a:t>
            </a:r>
            <a:endParaRPr lang="zh-CN" altLang="zh-CN" dirty="0"/>
          </a:p>
          <a:p>
            <a:r>
              <a:rPr lang="en-US" altLang="zh-CN" dirty="0"/>
              <a:t>    return </a:t>
            </a:r>
            <a:r>
              <a:rPr lang="en-US" altLang="zh-CN" dirty="0" err="1"/>
              <a:t>len</a:t>
            </a:r>
            <a:r>
              <a:rPr lang="en-US" altLang="zh-CN" dirty="0"/>
              <a:t> + </a:t>
            </a:r>
            <a:r>
              <a:rPr lang="en-US" altLang="zh-CN" dirty="0" err="1"/>
              <a:t>data_size</a:t>
            </a:r>
            <a:r>
              <a:rPr lang="en-US" altLang="zh-CN" dirty="0"/>
              <a:t> / 8;    </a:t>
            </a:r>
            <a:r>
              <a:rPr lang="en-US" altLang="zh-CN" dirty="0">
                <a:solidFill>
                  <a:srgbClr val="00B050"/>
                </a:solidFill>
              </a:rPr>
              <a:t>// opcode</a:t>
            </a:r>
            <a:r>
              <a:rPr lang="zh-CN" altLang="zh-CN" dirty="0">
                <a:solidFill>
                  <a:srgbClr val="00B050"/>
                </a:solidFill>
              </a:rPr>
              <a:t>长度</a:t>
            </a:r>
            <a:r>
              <a:rPr lang="en-US" altLang="zh-CN" dirty="0">
                <a:solidFill>
                  <a:srgbClr val="00B050"/>
                </a:solidFill>
              </a:rPr>
              <a:t> + </a:t>
            </a:r>
            <a:r>
              <a:rPr lang="en-US" altLang="zh-CN" dirty="0" err="1">
                <a:solidFill>
                  <a:srgbClr val="00B050"/>
                </a:solidFill>
              </a:rPr>
              <a:t>ModR</a:t>
            </a:r>
            <a:r>
              <a:rPr lang="en-US" altLang="zh-CN" dirty="0">
                <a:solidFill>
                  <a:srgbClr val="00B050"/>
                </a:solidFill>
              </a:rPr>
              <a:t>/M</a:t>
            </a:r>
            <a:r>
              <a:rPr lang="zh-CN" altLang="zh-CN" dirty="0">
                <a:solidFill>
                  <a:srgbClr val="00B050"/>
                </a:solidFill>
              </a:rPr>
              <a:t>字节扫描长度 </a:t>
            </a:r>
            <a:r>
              <a:rPr lang="en-US" altLang="zh-CN" dirty="0">
                <a:solidFill>
                  <a:srgbClr val="00B050"/>
                </a:solidFill>
              </a:rPr>
              <a:t>+ </a:t>
            </a:r>
            <a:r>
              <a:rPr lang="zh-CN" altLang="zh-CN" dirty="0">
                <a:solidFill>
                  <a:srgbClr val="00B050"/>
                </a:solidFill>
              </a:rPr>
              <a:t>立即数长度</a:t>
            </a:r>
            <a:endParaRPr lang="zh-CN" altLang="zh-CN" dirty="0">
              <a:solidFill>
                <a:srgbClr val="00B050"/>
              </a:solidFill>
            </a:endParaRPr>
          </a:p>
          <a:p>
            <a:r>
              <a:rPr lang="en-US" altLang="zh-CN" dirty="0"/>
              <a:t>}</a:t>
            </a:r>
            <a:endParaRPr lang="zh-CN" altLang="en-US" dirty="0"/>
          </a:p>
        </p:txBody>
      </p:sp>
      <p:sp>
        <p:nvSpPr>
          <p:cNvPr id="8" name="文本框 7"/>
          <p:cNvSpPr txBox="1"/>
          <p:nvPr/>
        </p:nvSpPr>
        <p:spPr>
          <a:xfrm>
            <a:off x="2835565" y="2817038"/>
            <a:ext cx="7075054" cy="2308324"/>
          </a:xfrm>
          <a:prstGeom prst="rect">
            <a:avLst/>
          </a:prstGeom>
          <a:solidFill>
            <a:schemeClr val="bg2"/>
          </a:solidFill>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sz="2400" dirty="0"/>
              <a:t>这是一条把一个立即数</a:t>
            </a:r>
            <a:r>
              <a:rPr lang="en-US" altLang="zh-CN" sz="2400" dirty="0" err="1"/>
              <a:t>mov</a:t>
            </a:r>
            <a:r>
              <a:rPr lang="zh-CN" altLang="en-US" sz="2400" dirty="0"/>
              <a:t>到</a:t>
            </a:r>
            <a:r>
              <a:rPr lang="en-US" altLang="zh-CN" sz="2400" dirty="0"/>
              <a:t>R/M</a:t>
            </a:r>
            <a:r>
              <a:rPr lang="zh-CN" altLang="en-US" sz="2400" dirty="0"/>
              <a:t>中的指令，操作数长度为</a:t>
            </a:r>
            <a:r>
              <a:rPr lang="en-US" altLang="zh-CN" sz="2400" dirty="0"/>
              <a:t>16</a:t>
            </a:r>
            <a:r>
              <a:rPr lang="zh-CN" altLang="en-US" sz="2400" dirty="0"/>
              <a:t>或</a:t>
            </a:r>
            <a:r>
              <a:rPr lang="en-US" altLang="zh-CN" sz="2400" dirty="0"/>
              <a:t>32</a:t>
            </a:r>
            <a:r>
              <a:rPr lang="zh-CN" altLang="en-US" sz="2400" dirty="0"/>
              <a:t>位</a:t>
            </a:r>
            <a:endParaRPr lang="en-US" altLang="zh-CN" sz="2400" dirty="0"/>
          </a:p>
          <a:p>
            <a:endParaRPr lang="en-US" altLang="zh-CN" sz="2400" dirty="0"/>
          </a:p>
          <a:p>
            <a:r>
              <a:rPr lang="zh-CN" altLang="en-US" sz="2400" dirty="0"/>
              <a:t>推荐命名规则：</a:t>
            </a:r>
            <a:endParaRPr lang="en-US" altLang="zh-CN" sz="2400" dirty="0"/>
          </a:p>
          <a:p>
            <a:endParaRPr lang="en-US" altLang="zh-CN" sz="2400" dirty="0"/>
          </a:p>
          <a:p>
            <a:r>
              <a:rPr lang="zh-CN" altLang="en-US" sz="2400" dirty="0">
                <a:solidFill>
                  <a:srgbClr val="FF0000"/>
                </a:solidFill>
              </a:rPr>
              <a:t>指令名</a:t>
            </a:r>
            <a:r>
              <a:rPr lang="en-US" altLang="zh-CN" sz="2400" dirty="0"/>
              <a:t>_</a:t>
            </a:r>
            <a:r>
              <a:rPr lang="zh-CN" altLang="en-US" sz="2400" dirty="0">
                <a:solidFill>
                  <a:srgbClr val="00B0F0"/>
                </a:solidFill>
              </a:rPr>
              <a:t>源操作数类型</a:t>
            </a:r>
            <a:r>
              <a:rPr lang="en-US" altLang="zh-CN" sz="2400" dirty="0"/>
              <a:t>2</a:t>
            </a:r>
            <a:r>
              <a:rPr lang="zh-CN" altLang="en-US" sz="2400" dirty="0">
                <a:solidFill>
                  <a:srgbClr val="00B0F0"/>
                </a:solidFill>
              </a:rPr>
              <a:t>目的操作数类型</a:t>
            </a:r>
            <a:r>
              <a:rPr lang="en-US" altLang="zh-CN" sz="2400" dirty="0"/>
              <a:t>_</a:t>
            </a:r>
            <a:r>
              <a:rPr lang="zh-CN" altLang="en-US" sz="2400" dirty="0">
                <a:solidFill>
                  <a:srgbClr val="00B050"/>
                </a:solidFill>
              </a:rPr>
              <a:t>长度后缀</a:t>
            </a:r>
            <a:endParaRPr lang="zh-CN" altLang="en-US" sz="2400" dirty="0">
              <a:solidFill>
                <a:srgbClr val="00B05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NEMU</a:t>
            </a:r>
            <a:r>
              <a:rPr lang="zh-CN" altLang="en-US" dirty="0"/>
              <a:t>模拟指令解码和执行</a:t>
            </a:r>
            <a:endParaRPr lang="zh-CN" altLang="en-US" dirty="0"/>
          </a:p>
        </p:txBody>
      </p:sp>
      <p:sp>
        <p:nvSpPr>
          <p:cNvPr id="3" name="内容占位符 2"/>
          <p:cNvSpPr>
            <a:spLocks noGrp="1"/>
          </p:cNvSpPr>
          <p:nvPr>
            <p:ph idx="1"/>
          </p:nvPr>
        </p:nvSpPr>
        <p:spPr>
          <a:xfrm>
            <a:off x="838200" y="1182255"/>
            <a:ext cx="10515600" cy="1078060"/>
          </a:xfrm>
        </p:spPr>
        <p:txBody>
          <a:bodyPr>
            <a:normAutofit/>
          </a:bodyPr>
          <a:lstStyle/>
          <a:p>
            <a:r>
              <a:rPr lang="zh-CN" altLang="en-US" dirty="0"/>
              <a:t>在</a:t>
            </a:r>
            <a:r>
              <a:rPr lang="en-US" altLang="zh-CN" dirty="0" err="1">
                <a:solidFill>
                  <a:srgbClr val="00B0F0"/>
                </a:solidFill>
              </a:rPr>
              <a:t>nemu</a:t>
            </a:r>
            <a:r>
              <a:rPr lang="en-US" altLang="zh-CN" dirty="0">
                <a:solidFill>
                  <a:srgbClr val="00B0F0"/>
                </a:solidFill>
              </a:rPr>
              <a:t>/include/</a:t>
            </a:r>
            <a:r>
              <a:rPr lang="en-US" altLang="zh-CN" dirty="0" err="1">
                <a:solidFill>
                  <a:srgbClr val="00B0F0"/>
                </a:solidFill>
              </a:rPr>
              <a:t>cpu</a:t>
            </a:r>
            <a:r>
              <a:rPr lang="en-US" altLang="zh-CN" dirty="0">
                <a:solidFill>
                  <a:srgbClr val="00B0F0"/>
                </a:solidFill>
              </a:rPr>
              <a:t>/</a:t>
            </a:r>
            <a:r>
              <a:rPr lang="en-US" altLang="zh-CN" dirty="0" err="1">
                <a:solidFill>
                  <a:srgbClr val="00B0F0"/>
                </a:solidFill>
              </a:rPr>
              <a:t>instr_helper.h</a:t>
            </a:r>
            <a:r>
              <a:rPr lang="zh-CN" altLang="en-US" dirty="0"/>
              <a:t>中我们给出了用于精简指令实现的宏，一些实用信息（详细用法参阅教程，比较详尽）</a:t>
            </a:r>
            <a:endParaRPr lang="zh-CN" altLang="en-US" dirty="0"/>
          </a:p>
        </p:txBody>
      </p:sp>
      <p:sp>
        <p:nvSpPr>
          <p:cNvPr id="4" name="日期占位符 3"/>
          <p:cNvSpPr>
            <a:spLocks noGrp="1"/>
          </p:cNvSpPr>
          <p:nvPr>
            <p:ph type="dt" sz="half" idx="10"/>
          </p:nvPr>
        </p:nvSpPr>
        <p:spPr/>
        <p:txBody>
          <a:bodyPr/>
          <a:lstStyle/>
          <a:p>
            <a:fld id="{8C336656-A3C5-419B-815B-44FDC47B6127}" type="datetime3">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a:t>Programming Assignment</a:t>
            </a:r>
            <a:endParaRPr lang="zh-CN" altLang="en-US"/>
          </a:p>
        </p:txBody>
      </p:sp>
      <p:sp>
        <p:nvSpPr>
          <p:cNvPr id="6" name="灯片编号占位符 5"/>
          <p:cNvSpPr>
            <a:spLocks noGrp="1"/>
          </p:cNvSpPr>
          <p:nvPr>
            <p:ph type="sldNum" sz="quarter" idx="12"/>
          </p:nvPr>
        </p:nvSpPr>
        <p:spPr/>
        <p:txBody>
          <a:bodyPr/>
          <a:lstStyle/>
          <a:p>
            <a:fld id="{A40E146E-410D-4448-BCD3-F60DE2B98E6B}" type="slidenum">
              <a:rPr lang="zh-CN" altLang="en-US" smtClean="0"/>
            </a:fld>
            <a:endParaRPr lang="zh-CN" altLang="en-US"/>
          </a:p>
        </p:txBody>
      </p:sp>
      <p:sp>
        <p:nvSpPr>
          <p:cNvPr id="10" name="矩形 9"/>
          <p:cNvSpPr/>
          <p:nvPr/>
        </p:nvSpPr>
        <p:spPr>
          <a:xfrm>
            <a:off x="2269068" y="1977569"/>
            <a:ext cx="7873999" cy="400110"/>
          </a:xfrm>
          <a:prstGeom prst="rect">
            <a:avLst/>
          </a:prstGeom>
        </p:spPr>
        <p:txBody>
          <a:bodyPr wrap="square">
            <a:spAutoFit/>
          </a:bodyPr>
          <a:lstStyle/>
          <a:p>
            <a:r>
              <a:rPr lang="en-US" altLang="zh-CN" sz="2000" dirty="0"/>
              <a:t>#define make_instr_impl_2op(</a:t>
            </a:r>
            <a:r>
              <a:rPr lang="en-US" altLang="zh-CN" sz="2000" dirty="0" err="1">
                <a:solidFill>
                  <a:srgbClr val="FF0000"/>
                </a:solidFill>
              </a:rPr>
              <a:t>inst_name</a:t>
            </a:r>
            <a:r>
              <a:rPr lang="en-US" altLang="zh-CN" sz="2000" dirty="0"/>
              <a:t>, </a:t>
            </a:r>
            <a:r>
              <a:rPr lang="en-US" altLang="zh-CN" sz="2000" dirty="0" err="1">
                <a:solidFill>
                  <a:srgbClr val="00B0F0"/>
                </a:solidFill>
              </a:rPr>
              <a:t>src_type</a:t>
            </a:r>
            <a:r>
              <a:rPr lang="en-US" altLang="zh-CN" sz="2000" dirty="0"/>
              <a:t>, </a:t>
            </a:r>
            <a:r>
              <a:rPr lang="en-US" altLang="zh-CN" sz="2000" dirty="0" err="1">
                <a:solidFill>
                  <a:srgbClr val="00B0F0"/>
                </a:solidFill>
              </a:rPr>
              <a:t>dest_type</a:t>
            </a:r>
            <a:r>
              <a:rPr lang="en-US" altLang="zh-CN" sz="2000" dirty="0"/>
              <a:t>, </a:t>
            </a:r>
            <a:r>
              <a:rPr lang="en-US" altLang="zh-CN" sz="2000" dirty="0">
                <a:solidFill>
                  <a:srgbClr val="00B050"/>
                </a:solidFill>
              </a:rPr>
              <a:t>suffix</a:t>
            </a:r>
            <a:r>
              <a:rPr lang="en-US" altLang="zh-CN" sz="2000" dirty="0"/>
              <a:t>) …</a:t>
            </a:r>
            <a:endParaRPr lang="en-US" altLang="zh-CN" sz="2000" dirty="0"/>
          </a:p>
        </p:txBody>
      </p:sp>
      <p:sp>
        <p:nvSpPr>
          <p:cNvPr id="11" name="文本框 10"/>
          <p:cNvSpPr txBox="1"/>
          <p:nvPr/>
        </p:nvSpPr>
        <p:spPr>
          <a:xfrm>
            <a:off x="2374901" y="2396431"/>
            <a:ext cx="8289449" cy="3693319"/>
          </a:xfrm>
          <a:prstGeom prst="rect">
            <a:avLst/>
          </a:prstGeom>
          <a:noFill/>
        </p:spPr>
        <p:txBody>
          <a:bodyPr wrap="none" rtlCol="0">
            <a:spAutoFit/>
          </a:bodyPr>
          <a:lstStyle/>
          <a:p>
            <a:pPr marL="285750" indent="-285750">
              <a:buFont typeface="Arial" panose="020B0604020202020204" pitchFamily="34" charset="0"/>
              <a:buChar char="•"/>
            </a:pPr>
            <a:r>
              <a:rPr lang="en-US" altLang="zh-CN" dirty="0" err="1">
                <a:solidFill>
                  <a:srgbClr val="FF0000"/>
                </a:solidFill>
              </a:rPr>
              <a:t>inst_name</a:t>
            </a:r>
            <a:r>
              <a:rPr lang="zh-CN" altLang="en-US" dirty="0"/>
              <a:t>就是指令的名称：</a:t>
            </a:r>
            <a:r>
              <a:rPr lang="en-US" altLang="zh-CN" dirty="0" err="1"/>
              <a:t>mov</a:t>
            </a:r>
            <a:r>
              <a:rPr lang="zh-CN" altLang="en-US" dirty="0"/>
              <a:t>，</a:t>
            </a:r>
            <a:r>
              <a:rPr lang="en-US" altLang="zh-CN" dirty="0"/>
              <a:t>add</a:t>
            </a:r>
            <a:r>
              <a:rPr lang="zh-CN" altLang="en-US" dirty="0"/>
              <a:t>，</a:t>
            </a:r>
            <a:r>
              <a:rPr lang="en-US" altLang="zh-CN" dirty="0"/>
              <a:t>sub</a:t>
            </a:r>
            <a:r>
              <a:rPr lang="zh-CN" altLang="en-US" dirty="0"/>
              <a:t>，</a:t>
            </a:r>
            <a:r>
              <a:rPr lang="en-US" altLang="zh-CN" dirty="0"/>
              <a:t>…</a:t>
            </a:r>
            <a:endParaRPr lang="en-US" altLang="zh-CN" dirty="0"/>
          </a:p>
          <a:p>
            <a:pPr marL="285750" indent="-285750">
              <a:buFont typeface="Arial" panose="020B0604020202020204" pitchFamily="34" charset="0"/>
              <a:buChar char="•"/>
            </a:pPr>
            <a:r>
              <a:rPr lang="en-US" altLang="zh-CN" dirty="0" err="1">
                <a:solidFill>
                  <a:srgbClr val="00B0F0"/>
                </a:solidFill>
              </a:rPr>
              <a:t>src_type</a:t>
            </a:r>
            <a:r>
              <a:rPr lang="zh-CN" altLang="en-US" dirty="0"/>
              <a:t>和</a:t>
            </a:r>
            <a:r>
              <a:rPr lang="en-US" altLang="zh-CN" dirty="0" err="1">
                <a:solidFill>
                  <a:srgbClr val="00B0F0"/>
                </a:solidFill>
              </a:rPr>
              <a:t>dest_type</a:t>
            </a:r>
            <a:r>
              <a:rPr lang="zh-CN" altLang="en-US" dirty="0"/>
              <a:t>是源和目的操作数类型，与</a:t>
            </a:r>
            <a:r>
              <a:rPr lang="en-US" altLang="zh-CN" dirty="0" err="1"/>
              <a:t>decode_operand</a:t>
            </a:r>
            <a:r>
              <a:rPr lang="zh-CN" altLang="en-US" dirty="0"/>
              <a:t>系列宏一致：</a:t>
            </a:r>
            <a:endParaRPr lang="en-US" altLang="zh-CN" dirty="0"/>
          </a:p>
          <a:p>
            <a:pPr marL="742950" lvl="1" indent="-285750">
              <a:buFont typeface="Arial" panose="020B0604020202020204" pitchFamily="34" charset="0"/>
              <a:buChar char="•"/>
            </a:pPr>
            <a:r>
              <a:rPr lang="en-US" altLang="zh-CN" dirty="0" err="1"/>
              <a:t>rm</a:t>
            </a:r>
            <a:r>
              <a:rPr lang="en-US" altLang="zh-CN" dirty="0"/>
              <a:t> – </a:t>
            </a:r>
            <a:r>
              <a:rPr lang="zh-CN" altLang="en-US" dirty="0"/>
              <a:t>寄存器或内存地址 </a:t>
            </a:r>
            <a:r>
              <a:rPr lang="en-US" altLang="zh-CN" dirty="0"/>
              <a:t>– </a:t>
            </a:r>
            <a:r>
              <a:rPr lang="zh-CN" altLang="en-US" dirty="0"/>
              <a:t>对应手册</a:t>
            </a:r>
            <a:r>
              <a:rPr lang="en-US" altLang="zh-CN" dirty="0"/>
              <a:t>E</a:t>
            </a:r>
            <a:r>
              <a:rPr lang="zh-CN" altLang="en-US" dirty="0"/>
              <a:t>类型</a:t>
            </a:r>
            <a:endParaRPr lang="en-US" altLang="zh-CN" dirty="0"/>
          </a:p>
          <a:p>
            <a:pPr marL="742950" lvl="1" indent="-285750">
              <a:buFont typeface="Arial" panose="020B0604020202020204" pitchFamily="34" charset="0"/>
              <a:buChar char="•"/>
            </a:pPr>
            <a:r>
              <a:rPr lang="en-US" altLang="zh-CN" dirty="0"/>
              <a:t>r – </a:t>
            </a:r>
            <a:r>
              <a:rPr lang="zh-CN" altLang="en-US" dirty="0"/>
              <a:t>寄存器地址 </a:t>
            </a:r>
            <a:r>
              <a:rPr lang="en-US" altLang="zh-CN" dirty="0"/>
              <a:t>– </a:t>
            </a:r>
            <a:r>
              <a:rPr lang="zh-CN" altLang="en-US" dirty="0"/>
              <a:t>对应手册</a:t>
            </a:r>
            <a:r>
              <a:rPr lang="en-US" altLang="zh-CN" dirty="0"/>
              <a:t>G</a:t>
            </a:r>
            <a:r>
              <a:rPr lang="zh-CN" altLang="en-US" dirty="0"/>
              <a:t>类型</a:t>
            </a:r>
            <a:endParaRPr lang="en-US" altLang="zh-CN" dirty="0"/>
          </a:p>
          <a:p>
            <a:pPr marL="742950" lvl="1" indent="-285750">
              <a:buFont typeface="Arial" panose="020B0604020202020204" pitchFamily="34" charset="0"/>
              <a:buChar char="•"/>
            </a:pPr>
            <a:r>
              <a:rPr lang="en-US" altLang="zh-CN" dirty="0" err="1"/>
              <a:t>i</a:t>
            </a:r>
            <a:r>
              <a:rPr lang="en-US" altLang="zh-CN" dirty="0"/>
              <a:t> – </a:t>
            </a:r>
            <a:r>
              <a:rPr lang="zh-CN" altLang="en-US" dirty="0"/>
              <a:t>立即数 </a:t>
            </a:r>
            <a:r>
              <a:rPr lang="en-US" altLang="zh-CN" dirty="0"/>
              <a:t>– </a:t>
            </a:r>
            <a:r>
              <a:rPr lang="zh-CN" altLang="en-US" dirty="0"/>
              <a:t>对应手册</a:t>
            </a:r>
            <a:r>
              <a:rPr lang="en-US" altLang="zh-CN" dirty="0"/>
              <a:t>I</a:t>
            </a:r>
            <a:r>
              <a:rPr lang="zh-CN" altLang="en-US" dirty="0"/>
              <a:t>类型</a:t>
            </a:r>
            <a:endParaRPr lang="en-US" altLang="zh-CN" dirty="0"/>
          </a:p>
          <a:p>
            <a:pPr marL="742950" lvl="1" indent="-285750">
              <a:buFont typeface="Arial" panose="020B0604020202020204" pitchFamily="34" charset="0"/>
              <a:buChar char="•"/>
            </a:pPr>
            <a:r>
              <a:rPr lang="en-US" altLang="zh-CN" dirty="0"/>
              <a:t>m – </a:t>
            </a:r>
            <a:r>
              <a:rPr lang="zh-CN" altLang="en-US" dirty="0"/>
              <a:t>内存地址 </a:t>
            </a:r>
            <a:r>
              <a:rPr lang="en-US" altLang="zh-CN" dirty="0"/>
              <a:t>– </a:t>
            </a:r>
            <a:r>
              <a:rPr lang="zh-CN" altLang="en-US" dirty="0"/>
              <a:t>差不多对应手册</a:t>
            </a:r>
            <a:r>
              <a:rPr lang="en-US" altLang="zh-CN" dirty="0"/>
              <a:t>M</a:t>
            </a:r>
            <a:r>
              <a:rPr lang="zh-CN" altLang="en-US" dirty="0"/>
              <a:t>类型</a:t>
            </a:r>
            <a:endParaRPr lang="en-US" altLang="zh-CN" dirty="0"/>
          </a:p>
          <a:p>
            <a:pPr marL="742950" lvl="1" indent="-285750">
              <a:buFont typeface="Arial" panose="020B0604020202020204" pitchFamily="34" charset="0"/>
              <a:buChar char="•"/>
            </a:pPr>
            <a:r>
              <a:rPr lang="en-US" altLang="zh-CN" dirty="0"/>
              <a:t>a – </a:t>
            </a:r>
            <a:r>
              <a:rPr lang="zh-CN" altLang="en-US" dirty="0"/>
              <a:t>根据操作数长度对应</a:t>
            </a:r>
            <a:r>
              <a:rPr lang="en-US" altLang="zh-CN" dirty="0"/>
              <a:t>al, ax, </a:t>
            </a:r>
            <a:r>
              <a:rPr lang="en-US" altLang="zh-CN" dirty="0" err="1"/>
              <a:t>eax</a:t>
            </a:r>
            <a:r>
              <a:rPr lang="en-US" altLang="zh-CN" dirty="0"/>
              <a:t> – </a:t>
            </a:r>
            <a:r>
              <a:rPr lang="zh-CN" altLang="en-US" dirty="0"/>
              <a:t>手册里没有</a:t>
            </a:r>
            <a:endParaRPr lang="en-US" altLang="zh-CN" dirty="0"/>
          </a:p>
          <a:p>
            <a:pPr marL="742950" lvl="1" indent="-285750">
              <a:buFont typeface="Arial" panose="020B0604020202020204" pitchFamily="34" charset="0"/>
              <a:buChar char="•"/>
            </a:pPr>
            <a:r>
              <a:rPr lang="en-US" altLang="zh-CN" dirty="0"/>
              <a:t>c – </a:t>
            </a:r>
            <a:r>
              <a:rPr lang="zh-CN" altLang="en-US" dirty="0"/>
              <a:t>根据操作数长度对应</a:t>
            </a:r>
            <a:r>
              <a:rPr lang="en-US" altLang="zh-CN" dirty="0"/>
              <a:t>cl, cx, </a:t>
            </a:r>
            <a:r>
              <a:rPr lang="en-US" altLang="zh-CN" dirty="0" err="1"/>
              <a:t>ecx</a:t>
            </a:r>
            <a:r>
              <a:rPr lang="en-US" altLang="zh-CN" dirty="0"/>
              <a:t> – </a:t>
            </a:r>
            <a:r>
              <a:rPr lang="zh-CN" altLang="en-US" dirty="0"/>
              <a:t>手册里没有</a:t>
            </a:r>
            <a:endParaRPr lang="zh-CN" altLang="en-US" dirty="0"/>
          </a:p>
          <a:p>
            <a:pPr marL="742950" lvl="1" indent="-285750">
              <a:buFont typeface="Arial" panose="020B0604020202020204" pitchFamily="34" charset="0"/>
              <a:buChar char="•"/>
            </a:pPr>
            <a:r>
              <a:rPr lang="en-US" altLang="zh-CN" dirty="0"/>
              <a:t>o – </a:t>
            </a:r>
            <a:r>
              <a:rPr lang="zh-CN" altLang="en-US" dirty="0"/>
              <a:t>偏移量 </a:t>
            </a:r>
            <a:r>
              <a:rPr lang="en-US" altLang="zh-CN" dirty="0"/>
              <a:t>– </a:t>
            </a:r>
            <a:r>
              <a:rPr lang="zh-CN" altLang="en-US" dirty="0"/>
              <a:t>对应手册里的</a:t>
            </a:r>
            <a:r>
              <a:rPr lang="en-US" altLang="zh-CN" dirty="0"/>
              <a:t>O</a:t>
            </a:r>
            <a:r>
              <a:rPr lang="zh-CN" altLang="en-US" dirty="0"/>
              <a:t>类型</a:t>
            </a:r>
            <a:endParaRPr lang="en-US" altLang="zh-CN" dirty="0"/>
          </a:p>
          <a:p>
            <a:pPr marL="285750" indent="-285750">
              <a:buFont typeface="Arial" panose="020B0604020202020204" pitchFamily="34" charset="0"/>
              <a:buChar char="•"/>
            </a:pPr>
            <a:r>
              <a:rPr lang="en-US" altLang="zh-CN" dirty="0">
                <a:solidFill>
                  <a:srgbClr val="00B050"/>
                </a:solidFill>
              </a:rPr>
              <a:t>suffix</a:t>
            </a:r>
            <a:r>
              <a:rPr lang="zh-CN" altLang="en-US" dirty="0"/>
              <a:t>是操作数长度后缀，与</a:t>
            </a:r>
            <a:r>
              <a:rPr lang="en-US" altLang="zh-CN" dirty="0" err="1"/>
              <a:t>decode_data_size</a:t>
            </a:r>
            <a:r>
              <a:rPr lang="zh-CN" altLang="en-US" dirty="0"/>
              <a:t>系列宏一致：</a:t>
            </a:r>
            <a:endParaRPr lang="en-US" altLang="zh-CN" dirty="0"/>
          </a:p>
          <a:p>
            <a:pPr marL="742950" lvl="1" indent="-285750">
              <a:buFont typeface="Arial" panose="020B0604020202020204" pitchFamily="34" charset="0"/>
              <a:buChar char="•"/>
            </a:pPr>
            <a:r>
              <a:rPr lang="en-US" altLang="zh-CN" dirty="0"/>
              <a:t>b, w, l, v – 8</a:t>
            </a:r>
            <a:r>
              <a:rPr lang="zh-CN" altLang="en-US" dirty="0"/>
              <a:t>，</a:t>
            </a:r>
            <a:r>
              <a:rPr lang="en-US" altLang="zh-CN" dirty="0"/>
              <a:t>16</a:t>
            </a:r>
            <a:r>
              <a:rPr lang="zh-CN" altLang="en-US" dirty="0"/>
              <a:t>，</a:t>
            </a:r>
            <a:r>
              <a:rPr lang="en-US" altLang="zh-CN" dirty="0"/>
              <a:t>32</a:t>
            </a:r>
            <a:r>
              <a:rPr lang="zh-CN" altLang="en-US" dirty="0"/>
              <a:t>，</a:t>
            </a:r>
            <a:r>
              <a:rPr lang="en-US" altLang="zh-CN" dirty="0"/>
              <a:t>16/32</a:t>
            </a:r>
            <a:r>
              <a:rPr lang="zh-CN" altLang="en-US" dirty="0"/>
              <a:t>位</a:t>
            </a:r>
            <a:endParaRPr lang="en-US" altLang="zh-CN" dirty="0"/>
          </a:p>
          <a:p>
            <a:pPr marL="742950" lvl="1" indent="-285750">
              <a:buFont typeface="Arial" panose="020B0604020202020204" pitchFamily="34" charset="0"/>
              <a:buChar char="•"/>
            </a:pPr>
            <a:r>
              <a:rPr lang="en-US" altLang="zh-CN" dirty="0" err="1"/>
              <a:t>bv</a:t>
            </a:r>
            <a:r>
              <a:rPr lang="en-US" altLang="zh-CN" dirty="0"/>
              <a:t> – </a:t>
            </a:r>
            <a:r>
              <a:rPr lang="zh-CN" altLang="en-US" dirty="0"/>
              <a:t>源操作数为</a:t>
            </a:r>
            <a:r>
              <a:rPr lang="en-US" altLang="zh-CN" dirty="0"/>
              <a:t>8</a:t>
            </a:r>
            <a:r>
              <a:rPr lang="zh-CN" altLang="en-US" dirty="0"/>
              <a:t>位，目的操作数为</a:t>
            </a:r>
            <a:r>
              <a:rPr lang="en-US" altLang="zh-CN" dirty="0"/>
              <a:t>16/32</a:t>
            </a:r>
            <a:r>
              <a:rPr lang="zh-CN" altLang="en-US" dirty="0"/>
              <a:t>位，特殊指令用到</a:t>
            </a:r>
            <a:endParaRPr lang="en-US" altLang="zh-CN" dirty="0"/>
          </a:p>
          <a:p>
            <a:pPr marL="742950" lvl="1" indent="-285750">
              <a:buFont typeface="Arial" panose="020B0604020202020204" pitchFamily="34" charset="0"/>
              <a:buChar char="•"/>
            </a:pPr>
            <a:r>
              <a:rPr lang="en-US" altLang="zh-CN" dirty="0"/>
              <a:t>short, near – </a:t>
            </a:r>
            <a:r>
              <a:rPr lang="en-US" altLang="zh-CN" dirty="0" err="1"/>
              <a:t>jmp</a:t>
            </a:r>
            <a:r>
              <a:rPr lang="zh-CN" altLang="en-US" dirty="0"/>
              <a:t>指令用到，分别指代</a:t>
            </a:r>
            <a:r>
              <a:rPr lang="en-US" altLang="zh-CN" dirty="0"/>
              <a:t>8</a:t>
            </a:r>
            <a:r>
              <a:rPr lang="zh-CN" altLang="en-US" dirty="0"/>
              <a:t>位和</a:t>
            </a:r>
            <a:r>
              <a:rPr lang="en-US" altLang="zh-CN" dirty="0"/>
              <a:t>32</a:t>
            </a:r>
            <a:r>
              <a:rPr lang="zh-CN" altLang="en-US" dirty="0"/>
              <a:t>位</a:t>
            </a:r>
            <a:endParaRPr lang="zh-CN" altLang="en-US" dirty="0"/>
          </a:p>
        </p:txBody>
      </p:sp>
      <p:sp>
        <p:nvSpPr>
          <p:cNvPr id="12" name="矩形 11"/>
          <p:cNvSpPr/>
          <p:nvPr/>
        </p:nvSpPr>
        <p:spPr>
          <a:xfrm>
            <a:off x="6974608" y="6157877"/>
            <a:ext cx="3588945" cy="646331"/>
          </a:xfrm>
          <a:prstGeom prst="rect">
            <a:avLst/>
          </a:prstGeom>
        </p:spPr>
        <p:txBody>
          <a:bodyPr wrap="square">
            <a:spAutoFit/>
          </a:bodyPr>
          <a:lstStyle/>
          <a:p>
            <a:pPr lvl="1"/>
            <a:r>
              <a:rPr lang="zh-CN" altLang="en-US" dirty="0">
                <a:solidFill>
                  <a:srgbClr val="FF0000"/>
                </a:solidFill>
              </a:rPr>
              <a:t>你可以根据实际需要添加其他的宏或改写已有的宏</a:t>
            </a:r>
            <a:endParaRPr lang="en-US" altLang="zh-CN" dirty="0">
              <a:solidFill>
                <a:srgbClr val="FF0000"/>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NEMU</a:t>
            </a:r>
            <a:r>
              <a:rPr lang="zh-CN" altLang="en-US" dirty="0"/>
              <a:t>模拟指令解码和执行</a:t>
            </a:r>
            <a:endParaRPr lang="zh-CN" altLang="en-US" dirty="0"/>
          </a:p>
        </p:txBody>
      </p:sp>
      <p:sp>
        <p:nvSpPr>
          <p:cNvPr id="4" name="日期占位符 3"/>
          <p:cNvSpPr>
            <a:spLocks noGrp="1"/>
          </p:cNvSpPr>
          <p:nvPr>
            <p:ph type="dt" sz="half" idx="10"/>
          </p:nvPr>
        </p:nvSpPr>
        <p:spPr/>
        <p:txBody>
          <a:bodyPr/>
          <a:lstStyle/>
          <a:p>
            <a:fld id="{960AD632-BA1E-4007-A689-FFA6C023ED74}" type="datetime3">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a:t>Programming Assignment</a:t>
            </a:r>
            <a:endParaRPr lang="zh-CN" altLang="en-US"/>
          </a:p>
        </p:txBody>
      </p:sp>
      <p:sp>
        <p:nvSpPr>
          <p:cNvPr id="6" name="灯片编号占位符 5"/>
          <p:cNvSpPr>
            <a:spLocks noGrp="1"/>
          </p:cNvSpPr>
          <p:nvPr>
            <p:ph type="sldNum" sz="quarter" idx="12"/>
          </p:nvPr>
        </p:nvSpPr>
        <p:spPr/>
        <p:txBody>
          <a:bodyPr/>
          <a:lstStyle/>
          <a:p>
            <a:fld id="{A40E146E-410D-4448-BCD3-F60DE2B98E6B}" type="slidenum">
              <a:rPr lang="zh-CN" altLang="en-US" smtClean="0"/>
            </a:fld>
            <a:endParaRPr lang="zh-CN" altLang="en-US"/>
          </a:p>
        </p:txBody>
      </p:sp>
      <p:sp>
        <p:nvSpPr>
          <p:cNvPr id="7" name="文本框 6"/>
          <p:cNvSpPr txBox="1"/>
          <p:nvPr/>
        </p:nvSpPr>
        <p:spPr>
          <a:xfrm>
            <a:off x="2025925" y="1585291"/>
            <a:ext cx="9327875" cy="5078313"/>
          </a:xfrm>
          <a:prstGeom prst="rect">
            <a:avLst/>
          </a:prstGeom>
          <a:noFill/>
        </p:spPr>
        <p:txBody>
          <a:bodyPr wrap="square" rtlCol="0">
            <a:spAutoFit/>
          </a:bodyPr>
          <a:lstStyle/>
          <a:p>
            <a:r>
              <a:rPr lang="en-US" altLang="zh-CN" dirty="0">
                <a:solidFill>
                  <a:srgbClr val="00B050"/>
                </a:solidFill>
              </a:rPr>
              <a:t>// </a:t>
            </a:r>
            <a:r>
              <a:rPr lang="zh-CN" altLang="zh-CN" dirty="0">
                <a:solidFill>
                  <a:srgbClr val="00B050"/>
                </a:solidFill>
              </a:rPr>
              <a:t>宏展开后这一行即为</a:t>
            </a:r>
            <a:r>
              <a:rPr lang="en-US" altLang="zh-CN" dirty="0">
                <a:solidFill>
                  <a:srgbClr val="00B050"/>
                </a:solidFill>
              </a:rPr>
              <a:t> </a:t>
            </a:r>
            <a:r>
              <a:rPr lang="en-US" altLang="zh-CN" dirty="0" err="1">
                <a:solidFill>
                  <a:srgbClr val="00B050"/>
                </a:solidFill>
              </a:rPr>
              <a:t>int</a:t>
            </a:r>
            <a:r>
              <a:rPr lang="en-US" altLang="zh-CN" dirty="0">
                <a:solidFill>
                  <a:srgbClr val="00B050"/>
                </a:solidFill>
              </a:rPr>
              <a:t> mov_i2rm_v(uint32_t </a:t>
            </a:r>
            <a:r>
              <a:rPr lang="en-US" altLang="zh-CN" dirty="0" err="1">
                <a:solidFill>
                  <a:srgbClr val="00B050"/>
                </a:solidFill>
              </a:rPr>
              <a:t>eip</a:t>
            </a:r>
            <a:r>
              <a:rPr lang="en-US" altLang="zh-CN" dirty="0">
                <a:solidFill>
                  <a:srgbClr val="00B050"/>
                </a:solidFill>
              </a:rPr>
              <a:t>, uint8_t opcode) {</a:t>
            </a:r>
            <a:endParaRPr lang="zh-CN" altLang="zh-CN" dirty="0">
              <a:solidFill>
                <a:srgbClr val="00B050"/>
              </a:solidFill>
            </a:endParaRPr>
          </a:p>
          <a:p>
            <a:r>
              <a:rPr lang="en-US" altLang="zh-CN" dirty="0" err="1">
                <a:solidFill>
                  <a:srgbClr val="FF0000"/>
                </a:solidFill>
              </a:rPr>
              <a:t>make_instr_func</a:t>
            </a:r>
            <a:r>
              <a:rPr lang="en-US" altLang="zh-CN" dirty="0">
                <a:solidFill>
                  <a:srgbClr val="FF0000"/>
                </a:solidFill>
              </a:rPr>
              <a:t>(mov_i2rm_v) </a:t>
            </a:r>
            <a:r>
              <a:rPr lang="en-US" altLang="zh-CN" dirty="0"/>
              <a:t>{ </a:t>
            </a:r>
            <a:endParaRPr lang="zh-CN" altLang="zh-CN" dirty="0"/>
          </a:p>
          <a:p>
            <a:r>
              <a:rPr lang="en-US" altLang="zh-CN" dirty="0"/>
              <a:t>    OPERAND </a:t>
            </a:r>
            <a:r>
              <a:rPr lang="en-US" altLang="zh-CN" dirty="0" err="1"/>
              <a:t>rm</a:t>
            </a:r>
            <a:r>
              <a:rPr lang="en-US" altLang="zh-CN" dirty="0"/>
              <a:t>, </a:t>
            </a:r>
            <a:r>
              <a:rPr lang="en-US" altLang="zh-CN" dirty="0" err="1"/>
              <a:t>imm</a:t>
            </a:r>
            <a:r>
              <a:rPr lang="en-US" altLang="zh-CN" dirty="0"/>
              <a:t>;          </a:t>
            </a:r>
            <a:r>
              <a:rPr lang="en-US" altLang="zh-CN" dirty="0">
                <a:solidFill>
                  <a:srgbClr val="00B050"/>
                </a:solidFill>
              </a:rPr>
              <a:t>// OPERAND</a:t>
            </a:r>
            <a:r>
              <a:rPr lang="zh-CN" altLang="en-US" dirty="0">
                <a:solidFill>
                  <a:srgbClr val="00B050"/>
                </a:solidFill>
              </a:rPr>
              <a:t>定义在</a:t>
            </a:r>
            <a:r>
              <a:rPr lang="en-US" altLang="zh-CN" dirty="0" err="1">
                <a:solidFill>
                  <a:srgbClr val="00B050"/>
                </a:solidFill>
              </a:rPr>
              <a:t>nemu</a:t>
            </a:r>
            <a:r>
              <a:rPr lang="en-US" altLang="zh-CN" dirty="0">
                <a:solidFill>
                  <a:srgbClr val="00B050"/>
                </a:solidFill>
              </a:rPr>
              <a:t>/include/</a:t>
            </a:r>
            <a:r>
              <a:rPr lang="en-US" altLang="zh-CN" dirty="0" err="1">
                <a:solidFill>
                  <a:srgbClr val="00B050"/>
                </a:solidFill>
              </a:rPr>
              <a:t>cpu</a:t>
            </a:r>
            <a:r>
              <a:rPr lang="en-US" altLang="zh-CN" dirty="0">
                <a:solidFill>
                  <a:srgbClr val="00B050"/>
                </a:solidFill>
              </a:rPr>
              <a:t>/</a:t>
            </a:r>
            <a:r>
              <a:rPr lang="en-US" altLang="zh-CN" dirty="0" err="1">
                <a:solidFill>
                  <a:srgbClr val="00B050"/>
                </a:solidFill>
              </a:rPr>
              <a:t>operand.h</a:t>
            </a:r>
            <a:endParaRPr lang="en-US" altLang="zh-CN" dirty="0">
              <a:solidFill>
                <a:srgbClr val="00B050"/>
              </a:solidFill>
            </a:endParaRPr>
          </a:p>
          <a:p>
            <a:r>
              <a:rPr lang="en-US" altLang="zh-CN" dirty="0">
                <a:solidFill>
                  <a:srgbClr val="00B050"/>
                </a:solidFill>
              </a:rPr>
              <a:t>                                                 // </a:t>
            </a:r>
            <a:r>
              <a:rPr lang="zh-CN" altLang="en-US" dirty="0">
                <a:solidFill>
                  <a:srgbClr val="00B050"/>
                </a:solidFill>
              </a:rPr>
              <a:t>看教程</a:t>
            </a:r>
            <a:r>
              <a:rPr lang="en-US" altLang="zh-CN" dirty="0">
                <a:solidFill>
                  <a:srgbClr val="00B050"/>
                </a:solidFill>
              </a:rPr>
              <a:t>§2-1.2.3</a:t>
            </a:r>
            <a:r>
              <a:rPr lang="en-US" altLang="zh-CN" dirty="0"/>
              <a:t> </a:t>
            </a:r>
            <a:endParaRPr lang="zh-CN" altLang="zh-CN" dirty="0"/>
          </a:p>
          <a:p>
            <a:r>
              <a:rPr lang="en-US" altLang="zh-CN" dirty="0"/>
              <a:t>    </a:t>
            </a:r>
            <a:r>
              <a:rPr lang="en-US" altLang="zh-CN" dirty="0" err="1"/>
              <a:t>rm.data_size</a:t>
            </a:r>
            <a:r>
              <a:rPr lang="en-US" altLang="zh-CN" dirty="0"/>
              <a:t> = </a:t>
            </a:r>
            <a:r>
              <a:rPr lang="en-US" altLang="zh-CN" dirty="0" err="1"/>
              <a:t>data_size</a:t>
            </a:r>
            <a:r>
              <a:rPr lang="en-US" altLang="zh-CN" dirty="0"/>
              <a:t>; </a:t>
            </a:r>
            <a:r>
              <a:rPr lang="en-US" altLang="zh-CN" dirty="0">
                <a:solidFill>
                  <a:srgbClr val="00B050"/>
                </a:solidFill>
              </a:rPr>
              <a:t>// </a:t>
            </a:r>
            <a:r>
              <a:rPr lang="en-US" altLang="zh-CN" dirty="0" err="1"/>
              <a:t>data_size</a:t>
            </a:r>
            <a:r>
              <a:rPr lang="zh-CN" altLang="en-US" dirty="0">
                <a:solidFill>
                  <a:srgbClr val="00B050"/>
                </a:solidFill>
              </a:rPr>
              <a:t>是个全局变量，表示</a:t>
            </a:r>
            <a:r>
              <a:rPr lang="zh-CN" altLang="en-US" dirty="0">
                <a:solidFill>
                  <a:srgbClr val="00B0F0"/>
                </a:solidFill>
              </a:rPr>
              <a:t>操作数</a:t>
            </a:r>
            <a:r>
              <a:rPr lang="zh-CN" altLang="en-US" dirty="0">
                <a:solidFill>
                  <a:srgbClr val="00B050"/>
                </a:solidFill>
              </a:rPr>
              <a:t>的</a:t>
            </a:r>
            <a:r>
              <a:rPr lang="zh-CN" altLang="en-US" dirty="0">
                <a:solidFill>
                  <a:srgbClr val="FF0000"/>
                </a:solidFill>
              </a:rPr>
              <a:t>比特长度</a:t>
            </a:r>
            <a:endParaRPr lang="zh-CN" altLang="zh-CN" dirty="0">
              <a:solidFill>
                <a:srgbClr val="FF0000"/>
              </a:solidFill>
            </a:endParaRPr>
          </a:p>
          <a:p>
            <a:r>
              <a:rPr lang="en-US" altLang="zh-CN" dirty="0"/>
              <a:t>    </a:t>
            </a:r>
            <a:r>
              <a:rPr lang="en-US" altLang="zh-CN" dirty="0" err="1"/>
              <a:t>int</a:t>
            </a:r>
            <a:r>
              <a:rPr lang="en-US" altLang="zh-CN" dirty="0"/>
              <a:t> </a:t>
            </a:r>
            <a:r>
              <a:rPr lang="en-US" altLang="zh-CN" dirty="0" err="1"/>
              <a:t>len</a:t>
            </a:r>
            <a:r>
              <a:rPr lang="en-US" altLang="zh-CN" dirty="0"/>
              <a:t> = 1;                          </a:t>
            </a:r>
            <a:r>
              <a:rPr lang="en-US" altLang="zh-CN" dirty="0">
                <a:solidFill>
                  <a:srgbClr val="00B050"/>
                </a:solidFill>
              </a:rPr>
              <a:t>// opcode </a:t>
            </a:r>
            <a:r>
              <a:rPr lang="zh-CN" altLang="zh-CN" dirty="0">
                <a:solidFill>
                  <a:srgbClr val="00B050"/>
                </a:solidFill>
              </a:rPr>
              <a:t>长度</a:t>
            </a:r>
            <a:r>
              <a:rPr lang="en-US" altLang="zh-CN" dirty="0">
                <a:solidFill>
                  <a:srgbClr val="00B050"/>
                </a:solidFill>
              </a:rPr>
              <a:t>1</a:t>
            </a:r>
            <a:r>
              <a:rPr lang="zh-CN" altLang="zh-CN" dirty="0">
                <a:solidFill>
                  <a:srgbClr val="00B050"/>
                </a:solidFill>
              </a:rPr>
              <a:t>字节</a:t>
            </a:r>
            <a:endParaRPr lang="zh-CN" altLang="zh-CN" dirty="0">
              <a:solidFill>
                <a:srgbClr val="00B050"/>
              </a:solidFill>
            </a:endParaRPr>
          </a:p>
          <a:p>
            <a:r>
              <a:rPr lang="en-US" altLang="zh-CN" dirty="0"/>
              <a:t>    </a:t>
            </a:r>
            <a:r>
              <a:rPr lang="en-US" altLang="zh-CN" dirty="0" err="1"/>
              <a:t>len</a:t>
            </a:r>
            <a:r>
              <a:rPr lang="en-US" altLang="zh-CN" dirty="0"/>
              <a:t> += </a:t>
            </a:r>
            <a:r>
              <a:rPr lang="en-US" altLang="zh-CN" dirty="0" err="1"/>
              <a:t>modrm_rm</a:t>
            </a:r>
            <a:r>
              <a:rPr lang="en-US" altLang="zh-CN" dirty="0"/>
              <a:t>(</a:t>
            </a:r>
            <a:r>
              <a:rPr lang="en-US" altLang="zh-CN" dirty="0" err="1"/>
              <a:t>eip</a:t>
            </a:r>
            <a:r>
              <a:rPr lang="en-US" altLang="zh-CN" dirty="0"/>
              <a:t> + 1, &amp;</a:t>
            </a:r>
            <a:r>
              <a:rPr lang="en-US" altLang="zh-CN" dirty="0" err="1"/>
              <a:t>rm</a:t>
            </a:r>
            <a:r>
              <a:rPr lang="en-US" altLang="zh-CN" dirty="0"/>
              <a:t>);</a:t>
            </a:r>
            <a:r>
              <a:rPr lang="en-US" altLang="zh-CN" dirty="0">
                <a:solidFill>
                  <a:srgbClr val="FF0000"/>
                </a:solidFill>
              </a:rPr>
              <a:t> </a:t>
            </a:r>
            <a:r>
              <a:rPr lang="en-US" altLang="zh-CN" dirty="0">
                <a:solidFill>
                  <a:srgbClr val="00B050"/>
                </a:solidFill>
              </a:rPr>
              <a:t>// </a:t>
            </a:r>
            <a:r>
              <a:rPr lang="zh-CN" altLang="zh-CN" dirty="0">
                <a:solidFill>
                  <a:srgbClr val="00B050"/>
                </a:solidFill>
              </a:rPr>
              <a:t>读</a:t>
            </a:r>
            <a:r>
              <a:rPr lang="en-US" altLang="zh-CN" dirty="0" err="1">
                <a:solidFill>
                  <a:srgbClr val="00B050"/>
                </a:solidFill>
              </a:rPr>
              <a:t>ModR</a:t>
            </a:r>
            <a:r>
              <a:rPr lang="en-US" altLang="zh-CN" dirty="0">
                <a:solidFill>
                  <a:srgbClr val="00B050"/>
                </a:solidFill>
              </a:rPr>
              <a:t>/M</a:t>
            </a:r>
            <a:r>
              <a:rPr lang="zh-CN" altLang="zh-CN" dirty="0">
                <a:solidFill>
                  <a:srgbClr val="00B050"/>
                </a:solidFill>
              </a:rPr>
              <a:t>字节，</a:t>
            </a:r>
            <a:r>
              <a:rPr lang="en-US" altLang="zh-CN" dirty="0" err="1">
                <a:solidFill>
                  <a:srgbClr val="00B050"/>
                </a:solidFill>
              </a:rPr>
              <a:t>rm</a:t>
            </a:r>
            <a:r>
              <a:rPr lang="zh-CN" altLang="zh-CN" dirty="0">
                <a:solidFill>
                  <a:srgbClr val="00B050"/>
                </a:solidFill>
              </a:rPr>
              <a:t>的</a:t>
            </a:r>
            <a:r>
              <a:rPr lang="en-US" altLang="zh-CN" dirty="0">
                <a:solidFill>
                  <a:srgbClr val="00B050"/>
                </a:solidFill>
              </a:rPr>
              <a:t>type</a:t>
            </a:r>
            <a:r>
              <a:rPr lang="zh-CN" altLang="zh-CN" dirty="0">
                <a:solidFill>
                  <a:srgbClr val="00B050"/>
                </a:solidFill>
              </a:rPr>
              <a:t>和</a:t>
            </a:r>
            <a:r>
              <a:rPr lang="en-US" altLang="zh-CN" dirty="0" err="1">
                <a:solidFill>
                  <a:srgbClr val="00B050"/>
                </a:solidFill>
              </a:rPr>
              <a:t>addr</a:t>
            </a:r>
            <a:r>
              <a:rPr lang="zh-CN" altLang="zh-CN" dirty="0">
                <a:solidFill>
                  <a:srgbClr val="00B050"/>
                </a:solidFill>
              </a:rPr>
              <a:t>会被填写</a:t>
            </a:r>
            <a:endParaRPr lang="zh-CN" altLang="zh-CN" dirty="0">
              <a:solidFill>
                <a:srgbClr val="00B050"/>
              </a:solidFill>
            </a:endParaRPr>
          </a:p>
          <a:p>
            <a:r>
              <a:rPr lang="en-US" altLang="zh-CN" dirty="0"/>
              <a:t> </a:t>
            </a:r>
            <a:endParaRPr lang="zh-CN" altLang="zh-CN" dirty="0"/>
          </a:p>
          <a:p>
            <a:r>
              <a:rPr lang="en-US" altLang="zh-CN" dirty="0"/>
              <a:t>    </a:t>
            </a:r>
            <a:r>
              <a:rPr lang="en-US" altLang="zh-CN" dirty="0" err="1"/>
              <a:t>imm.type</a:t>
            </a:r>
            <a:r>
              <a:rPr lang="en-US" altLang="zh-CN" dirty="0"/>
              <a:t> = OPR_IMM;       </a:t>
            </a:r>
            <a:r>
              <a:rPr lang="en-US" altLang="zh-CN" dirty="0">
                <a:solidFill>
                  <a:srgbClr val="00B050"/>
                </a:solidFill>
              </a:rPr>
              <a:t> // </a:t>
            </a:r>
            <a:r>
              <a:rPr lang="zh-CN" altLang="zh-CN" dirty="0">
                <a:solidFill>
                  <a:srgbClr val="00B050"/>
                </a:solidFill>
              </a:rPr>
              <a:t>填入立即数类型</a:t>
            </a:r>
            <a:endParaRPr lang="zh-CN" altLang="zh-CN" dirty="0">
              <a:solidFill>
                <a:srgbClr val="00B050"/>
              </a:solidFill>
            </a:endParaRPr>
          </a:p>
          <a:p>
            <a:r>
              <a:rPr lang="en-US" altLang="zh-CN" dirty="0"/>
              <a:t>    </a:t>
            </a:r>
            <a:r>
              <a:rPr lang="en-US" altLang="zh-CN" dirty="0" err="1"/>
              <a:t>imm.addr</a:t>
            </a:r>
            <a:r>
              <a:rPr lang="en-US" altLang="zh-CN" dirty="0"/>
              <a:t> = </a:t>
            </a:r>
            <a:r>
              <a:rPr lang="en-US" altLang="zh-CN" dirty="0" err="1"/>
              <a:t>eip</a:t>
            </a:r>
            <a:r>
              <a:rPr lang="en-US" altLang="zh-CN" dirty="0"/>
              <a:t> + </a:t>
            </a:r>
            <a:r>
              <a:rPr lang="en-US" altLang="zh-CN" dirty="0" err="1"/>
              <a:t>len</a:t>
            </a:r>
            <a:r>
              <a:rPr lang="en-US" altLang="zh-CN" dirty="0"/>
              <a:t>;          </a:t>
            </a:r>
            <a:r>
              <a:rPr lang="en-US" altLang="zh-CN" dirty="0">
                <a:solidFill>
                  <a:srgbClr val="00B050"/>
                </a:solidFill>
              </a:rPr>
              <a:t> // </a:t>
            </a:r>
            <a:r>
              <a:rPr lang="zh-CN" altLang="zh-CN" dirty="0">
                <a:solidFill>
                  <a:srgbClr val="00B050"/>
                </a:solidFill>
              </a:rPr>
              <a:t>找到立即数的地址</a:t>
            </a:r>
            <a:endParaRPr lang="zh-CN" altLang="zh-CN" dirty="0">
              <a:solidFill>
                <a:srgbClr val="00B050"/>
              </a:solidFill>
            </a:endParaRPr>
          </a:p>
          <a:p>
            <a:r>
              <a:rPr lang="en-US" altLang="zh-CN" dirty="0"/>
              <a:t>    </a:t>
            </a:r>
            <a:r>
              <a:rPr lang="en-US" altLang="zh-CN" dirty="0" err="1"/>
              <a:t>imm.data_size</a:t>
            </a:r>
            <a:r>
              <a:rPr lang="en-US" altLang="zh-CN" dirty="0"/>
              <a:t> = </a:t>
            </a:r>
            <a:r>
              <a:rPr lang="en-US" altLang="zh-CN" dirty="0" err="1"/>
              <a:t>data_size</a:t>
            </a:r>
            <a:r>
              <a:rPr lang="en-US" altLang="zh-CN" dirty="0"/>
              <a:t>;       </a:t>
            </a:r>
            <a:endParaRPr lang="zh-CN" altLang="zh-CN" dirty="0"/>
          </a:p>
          <a:p>
            <a:r>
              <a:rPr lang="en-US" altLang="zh-CN" dirty="0"/>
              <a:t> </a:t>
            </a:r>
            <a:endParaRPr lang="zh-CN" altLang="zh-CN" dirty="0"/>
          </a:p>
          <a:p>
            <a:r>
              <a:rPr lang="en-US" altLang="zh-CN" dirty="0"/>
              <a:t>    </a:t>
            </a:r>
            <a:r>
              <a:rPr lang="en-US" altLang="zh-CN" dirty="0" err="1"/>
              <a:t>operand_read</a:t>
            </a:r>
            <a:r>
              <a:rPr lang="en-US" altLang="zh-CN" dirty="0"/>
              <a:t>(&amp;</a:t>
            </a:r>
            <a:r>
              <a:rPr lang="en-US" altLang="zh-CN" dirty="0" err="1"/>
              <a:t>imm</a:t>
            </a:r>
            <a:r>
              <a:rPr lang="en-US" altLang="zh-CN" dirty="0"/>
              <a:t>);        </a:t>
            </a:r>
            <a:r>
              <a:rPr lang="en-US" altLang="zh-CN" dirty="0">
                <a:solidFill>
                  <a:srgbClr val="00B050"/>
                </a:solidFill>
              </a:rPr>
              <a:t> // </a:t>
            </a:r>
            <a:r>
              <a:rPr lang="zh-CN" altLang="zh-CN" dirty="0">
                <a:solidFill>
                  <a:srgbClr val="00B050"/>
                </a:solidFill>
              </a:rPr>
              <a:t>执行</a:t>
            </a:r>
            <a:r>
              <a:rPr lang="en-US" altLang="zh-CN" dirty="0">
                <a:solidFill>
                  <a:srgbClr val="00B050"/>
                </a:solidFill>
              </a:rPr>
              <a:t> </a:t>
            </a:r>
            <a:r>
              <a:rPr lang="en-US" altLang="zh-CN" dirty="0" err="1">
                <a:solidFill>
                  <a:srgbClr val="00B050"/>
                </a:solidFill>
              </a:rPr>
              <a:t>mov</a:t>
            </a:r>
            <a:r>
              <a:rPr lang="en-US" altLang="zh-CN" dirty="0">
                <a:solidFill>
                  <a:srgbClr val="00B050"/>
                </a:solidFill>
              </a:rPr>
              <a:t> </a:t>
            </a:r>
            <a:r>
              <a:rPr lang="zh-CN" altLang="zh-CN" dirty="0">
                <a:solidFill>
                  <a:srgbClr val="00B050"/>
                </a:solidFill>
              </a:rPr>
              <a:t>操作</a:t>
            </a:r>
            <a:endParaRPr lang="zh-CN" altLang="zh-CN" dirty="0">
              <a:solidFill>
                <a:srgbClr val="00B050"/>
              </a:solidFill>
            </a:endParaRPr>
          </a:p>
          <a:p>
            <a:r>
              <a:rPr lang="en-US" altLang="zh-CN" dirty="0"/>
              <a:t>    </a:t>
            </a:r>
            <a:r>
              <a:rPr lang="en-US" altLang="zh-CN" dirty="0" err="1"/>
              <a:t>rm.val</a:t>
            </a:r>
            <a:r>
              <a:rPr lang="en-US" altLang="zh-CN" dirty="0"/>
              <a:t> = </a:t>
            </a:r>
            <a:r>
              <a:rPr lang="en-US" altLang="zh-CN" dirty="0" err="1"/>
              <a:t>imm.val</a:t>
            </a:r>
            <a:r>
              <a:rPr lang="en-US" altLang="zh-CN" dirty="0"/>
              <a:t>;</a:t>
            </a:r>
            <a:endParaRPr lang="zh-CN" altLang="zh-CN" dirty="0"/>
          </a:p>
          <a:p>
            <a:r>
              <a:rPr lang="en-US" altLang="zh-CN" dirty="0"/>
              <a:t>    </a:t>
            </a:r>
            <a:r>
              <a:rPr lang="en-US" altLang="zh-CN" dirty="0" err="1"/>
              <a:t>operand_write</a:t>
            </a:r>
            <a:r>
              <a:rPr lang="en-US" altLang="zh-CN" dirty="0"/>
              <a:t>(&amp;</a:t>
            </a:r>
            <a:r>
              <a:rPr lang="en-US" altLang="zh-CN" dirty="0" err="1"/>
              <a:t>rm</a:t>
            </a:r>
            <a:r>
              <a:rPr lang="en-US" altLang="zh-CN" dirty="0"/>
              <a:t>);</a:t>
            </a:r>
            <a:endParaRPr lang="zh-CN" altLang="zh-CN" dirty="0"/>
          </a:p>
          <a:p>
            <a:r>
              <a:rPr lang="en-US" altLang="zh-CN" dirty="0"/>
              <a:t> </a:t>
            </a:r>
            <a:endParaRPr lang="zh-CN" altLang="zh-CN" dirty="0"/>
          </a:p>
          <a:p>
            <a:r>
              <a:rPr lang="en-US" altLang="zh-CN" dirty="0"/>
              <a:t>    return </a:t>
            </a:r>
            <a:r>
              <a:rPr lang="en-US" altLang="zh-CN" dirty="0" err="1"/>
              <a:t>len</a:t>
            </a:r>
            <a:r>
              <a:rPr lang="en-US" altLang="zh-CN" dirty="0"/>
              <a:t> + </a:t>
            </a:r>
            <a:r>
              <a:rPr lang="en-US" altLang="zh-CN" dirty="0" err="1"/>
              <a:t>data_size</a:t>
            </a:r>
            <a:r>
              <a:rPr lang="en-US" altLang="zh-CN" dirty="0"/>
              <a:t> / 8;    </a:t>
            </a:r>
            <a:r>
              <a:rPr lang="en-US" altLang="zh-CN" dirty="0">
                <a:solidFill>
                  <a:srgbClr val="00B050"/>
                </a:solidFill>
              </a:rPr>
              <a:t>// opcode</a:t>
            </a:r>
            <a:r>
              <a:rPr lang="zh-CN" altLang="zh-CN" dirty="0">
                <a:solidFill>
                  <a:srgbClr val="00B050"/>
                </a:solidFill>
              </a:rPr>
              <a:t>长度</a:t>
            </a:r>
            <a:r>
              <a:rPr lang="en-US" altLang="zh-CN" dirty="0">
                <a:solidFill>
                  <a:srgbClr val="00B050"/>
                </a:solidFill>
              </a:rPr>
              <a:t> + </a:t>
            </a:r>
            <a:r>
              <a:rPr lang="en-US" altLang="zh-CN" dirty="0" err="1">
                <a:solidFill>
                  <a:srgbClr val="00B050"/>
                </a:solidFill>
              </a:rPr>
              <a:t>ModR</a:t>
            </a:r>
            <a:r>
              <a:rPr lang="en-US" altLang="zh-CN" dirty="0">
                <a:solidFill>
                  <a:srgbClr val="00B050"/>
                </a:solidFill>
              </a:rPr>
              <a:t>/M</a:t>
            </a:r>
            <a:r>
              <a:rPr lang="zh-CN" altLang="zh-CN" dirty="0">
                <a:solidFill>
                  <a:srgbClr val="00B050"/>
                </a:solidFill>
              </a:rPr>
              <a:t>字节扫描长度 </a:t>
            </a:r>
            <a:r>
              <a:rPr lang="en-US" altLang="zh-CN" dirty="0">
                <a:solidFill>
                  <a:srgbClr val="00B050"/>
                </a:solidFill>
              </a:rPr>
              <a:t>+ </a:t>
            </a:r>
            <a:r>
              <a:rPr lang="zh-CN" altLang="zh-CN" dirty="0">
                <a:solidFill>
                  <a:srgbClr val="00B050"/>
                </a:solidFill>
              </a:rPr>
              <a:t>立即数长度</a:t>
            </a:r>
            <a:endParaRPr lang="zh-CN" altLang="zh-CN" dirty="0">
              <a:solidFill>
                <a:srgbClr val="00B050"/>
              </a:solidFill>
            </a:endParaRPr>
          </a:p>
          <a:p>
            <a:r>
              <a:rPr lang="en-US" altLang="zh-CN" dirty="0"/>
              <a:t>}</a:t>
            </a:r>
            <a:endParaRPr lang="zh-CN" altLang="en-US" dirty="0"/>
          </a:p>
        </p:txBody>
      </p:sp>
      <p:sp>
        <p:nvSpPr>
          <p:cNvPr id="8" name="矩形 7"/>
          <p:cNvSpPr/>
          <p:nvPr/>
        </p:nvSpPr>
        <p:spPr>
          <a:xfrm>
            <a:off x="4149289" y="628242"/>
            <a:ext cx="7204511" cy="830997"/>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zh-CN" altLang="en-US" sz="2400" dirty="0"/>
              <a:t>// the type of an instruction entry</a:t>
            </a:r>
            <a:endParaRPr lang="zh-CN" altLang="en-US" sz="2400" dirty="0"/>
          </a:p>
          <a:p>
            <a:r>
              <a:rPr lang="zh-CN" altLang="en-US" sz="2400" dirty="0"/>
              <a:t>typedef int (*</a:t>
            </a:r>
            <a:r>
              <a:rPr lang="zh-CN" altLang="en-US" sz="2400" dirty="0">
                <a:solidFill>
                  <a:srgbClr val="FF0000"/>
                </a:solidFill>
              </a:rPr>
              <a:t>instr_func</a:t>
            </a:r>
            <a:r>
              <a:rPr lang="zh-CN" altLang="en-US" sz="2400" dirty="0"/>
              <a:t>)(uint32_t eip, uint8_t opcode);</a:t>
            </a:r>
            <a:endParaRPr lang="zh-CN" alt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NEMU</a:t>
            </a:r>
            <a:r>
              <a:rPr lang="zh-CN" altLang="en-US" dirty="0"/>
              <a:t>模拟指令解码和执行</a:t>
            </a:r>
            <a:endParaRPr lang="zh-CN" altLang="en-US" dirty="0"/>
          </a:p>
        </p:txBody>
      </p:sp>
      <p:sp>
        <p:nvSpPr>
          <p:cNvPr id="4" name="日期占位符 3"/>
          <p:cNvSpPr>
            <a:spLocks noGrp="1"/>
          </p:cNvSpPr>
          <p:nvPr>
            <p:ph type="dt" sz="half" idx="10"/>
          </p:nvPr>
        </p:nvSpPr>
        <p:spPr/>
        <p:txBody>
          <a:bodyPr/>
          <a:lstStyle/>
          <a:p>
            <a:fld id="{960AD632-BA1E-4007-A689-FFA6C023ED74}" type="datetime3">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a:t>Programming Assignment</a:t>
            </a:r>
            <a:endParaRPr lang="zh-CN" altLang="en-US"/>
          </a:p>
        </p:txBody>
      </p:sp>
      <p:sp>
        <p:nvSpPr>
          <p:cNvPr id="6" name="灯片编号占位符 5"/>
          <p:cNvSpPr>
            <a:spLocks noGrp="1"/>
          </p:cNvSpPr>
          <p:nvPr>
            <p:ph type="sldNum" sz="quarter" idx="12"/>
          </p:nvPr>
        </p:nvSpPr>
        <p:spPr/>
        <p:txBody>
          <a:bodyPr/>
          <a:lstStyle/>
          <a:p>
            <a:fld id="{A40E146E-410D-4448-BCD3-F60DE2B98E6B}" type="slidenum">
              <a:rPr lang="zh-CN" altLang="en-US" smtClean="0"/>
            </a:fld>
            <a:endParaRPr lang="zh-CN" altLang="en-US"/>
          </a:p>
        </p:txBody>
      </p:sp>
      <p:sp>
        <p:nvSpPr>
          <p:cNvPr id="7" name="文本框 6"/>
          <p:cNvSpPr txBox="1"/>
          <p:nvPr/>
        </p:nvSpPr>
        <p:spPr>
          <a:xfrm>
            <a:off x="2025925" y="1585291"/>
            <a:ext cx="9327875" cy="5078313"/>
          </a:xfrm>
          <a:prstGeom prst="rect">
            <a:avLst/>
          </a:prstGeom>
          <a:noFill/>
        </p:spPr>
        <p:txBody>
          <a:bodyPr wrap="square" rtlCol="0">
            <a:spAutoFit/>
          </a:bodyPr>
          <a:lstStyle/>
          <a:p>
            <a:r>
              <a:rPr lang="en-US" altLang="zh-CN" dirty="0">
                <a:solidFill>
                  <a:srgbClr val="00B050"/>
                </a:solidFill>
              </a:rPr>
              <a:t>// </a:t>
            </a:r>
            <a:r>
              <a:rPr lang="zh-CN" altLang="zh-CN" dirty="0">
                <a:solidFill>
                  <a:srgbClr val="00B050"/>
                </a:solidFill>
              </a:rPr>
              <a:t>宏展开后这一行即为</a:t>
            </a:r>
            <a:r>
              <a:rPr lang="en-US" altLang="zh-CN" dirty="0">
                <a:solidFill>
                  <a:srgbClr val="00B050"/>
                </a:solidFill>
              </a:rPr>
              <a:t> </a:t>
            </a:r>
            <a:r>
              <a:rPr lang="en-US" altLang="zh-CN" dirty="0" err="1">
                <a:solidFill>
                  <a:srgbClr val="00B050"/>
                </a:solidFill>
              </a:rPr>
              <a:t>int</a:t>
            </a:r>
            <a:r>
              <a:rPr lang="en-US" altLang="zh-CN" dirty="0">
                <a:solidFill>
                  <a:srgbClr val="00B050"/>
                </a:solidFill>
              </a:rPr>
              <a:t> mov_i2rm_v(uint32_t </a:t>
            </a:r>
            <a:r>
              <a:rPr lang="en-US" altLang="zh-CN" dirty="0" err="1">
                <a:solidFill>
                  <a:srgbClr val="00B050"/>
                </a:solidFill>
              </a:rPr>
              <a:t>eip</a:t>
            </a:r>
            <a:r>
              <a:rPr lang="en-US" altLang="zh-CN" dirty="0">
                <a:solidFill>
                  <a:srgbClr val="00B050"/>
                </a:solidFill>
              </a:rPr>
              <a:t>, uint8_t opcode) {</a:t>
            </a:r>
            <a:endParaRPr lang="zh-CN" altLang="zh-CN" dirty="0">
              <a:solidFill>
                <a:srgbClr val="00B050"/>
              </a:solidFill>
            </a:endParaRPr>
          </a:p>
          <a:p>
            <a:r>
              <a:rPr lang="en-US" altLang="zh-CN" dirty="0" err="1">
                <a:solidFill>
                  <a:srgbClr val="FF0000"/>
                </a:solidFill>
              </a:rPr>
              <a:t>make_instr_func</a:t>
            </a:r>
            <a:r>
              <a:rPr lang="en-US" altLang="zh-CN" dirty="0">
                <a:solidFill>
                  <a:srgbClr val="FF0000"/>
                </a:solidFill>
              </a:rPr>
              <a:t>(mov_i2rm_v) </a:t>
            </a:r>
            <a:r>
              <a:rPr lang="en-US" altLang="zh-CN" dirty="0"/>
              <a:t>{ </a:t>
            </a:r>
            <a:endParaRPr lang="zh-CN" altLang="zh-CN" dirty="0"/>
          </a:p>
          <a:p>
            <a:r>
              <a:rPr lang="en-US" altLang="zh-CN" dirty="0"/>
              <a:t>    OPERAND </a:t>
            </a:r>
            <a:r>
              <a:rPr lang="en-US" altLang="zh-CN" dirty="0" err="1"/>
              <a:t>rm</a:t>
            </a:r>
            <a:r>
              <a:rPr lang="en-US" altLang="zh-CN" dirty="0"/>
              <a:t>, </a:t>
            </a:r>
            <a:r>
              <a:rPr lang="en-US" altLang="zh-CN" dirty="0" err="1"/>
              <a:t>imm</a:t>
            </a:r>
            <a:r>
              <a:rPr lang="en-US" altLang="zh-CN" dirty="0"/>
              <a:t>;          </a:t>
            </a:r>
            <a:r>
              <a:rPr lang="en-US" altLang="zh-CN" dirty="0">
                <a:solidFill>
                  <a:srgbClr val="00B050"/>
                </a:solidFill>
              </a:rPr>
              <a:t>// OPERAND</a:t>
            </a:r>
            <a:r>
              <a:rPr lang="zh-CN" altLang="en-US" dirty="0">
                <a:solidFill>
                  <a:srgbClr val="00B050"/>
                </a:solidFill>
              </a:rPr>
              <a:t>定义在</a:t>
            </a:r>
            <a:r>
              <a:rPr lang="en-US" altLang="zh-CN" dirty="0" err="1">
                <a:solidFill>
                  <a:srgbClr val="00B050"/>
                </a:solidFill>
              </a:rPr>
              <a:t>nemu</a:t>
            </a:r>
            <a:r>
              <a:rPr lang="en-US" altLang="zh-CN" dirty="0">
                <a:solidFill>
                  <a:srgbClr val="00B050"/>
                </a:solidFill>
              </a:rPr>
              <a:t>/include/</a:t>
            </a:r>
            <a:r>
              <a:rPr lang="en-US" altLang="zh-CN" dirty="0" err="1">
                <a:solidFill>
                  <a:srgbClr val="00B050"/>
                </a:solidFill>
              </a:rPr>
              <a:t>cpu</a:t>
            </a:r>
            <a:r>
              <a:rPr lang="en-US" altLang="zh-CN" dirty="0">
                <a:solidFill>
                  <a:srgbClr val="00B050"/>
                </a:solidFill>
              </a:rPr>
              <a:t>/</a:t>
            </a:r>
            <a:r>
              <a:rPr lang="en-US" altLang="zh-CN" dirty="0" err="1">
                <a:solidFill>
                  <a:srgbClr val="00B050"/>
                </a:solidFill>
              </a:rPr>
              <a:t>operand.h</a:t>
            </a:r>
            <a:endParaRPr lang="en-US" altLang="zh-CN" dirty="0">
              <a:solidFill>
                <a:srgbClr val="00B050"/>
              </a:solidFill>
            </a:endParaRPr>
          </a:p>
          <a:p>
            <a:r>
              <a:rPr lang="en-US" altLang="zh-CN" dirty="0">
                <a:solidFill>
                  <a:srgbClr val="00B050"/>
                </a:solidFill>
              </a:rPr>
              <a:t>                                                 // </a:t>
            </a:r>
            <a:r>
              <a:rPr lang="zh-CN" altLang="en-US" dirty="0">
                <a:solidFill>
                  <a:srgbClr val="00B050"/>
                </a:solidFill>
              </a:rPr>
              <a:t>看教程</a:t>
            </a:r>
            <a:r>
              <a:rPr lang="en-US" altLang="zh-CN" dirty="0">
                <a:solidFill>
                  <a:srgbClr val="00B050"/>
                </a:solidFill>
              </a:rPr>
              <a:t>§2-1.2.3</a:t>
            </a:r>
            <a:r>
              <a:rPr lang="en-US" altLang="zh-CN" dirty="0"/>
              <a:t> </a:t>
            </a:r>
            <a:endParaRPr lang="zh-CN" altLang="zh-CN" dirty="0"/>
          </a:p>
          <a:p>
            <a:r>
              <a:rPr lang="en-US" altLang="zh-CN" dirty="0"/>
              <a:t>    </a:t>
            </a:r>
            <a:r>
              <a:rPr lang="en-US" altLang="zh-CN" dirty="0" err="1"/>
              <a:t>rm.data_size</a:t>
            </a:r>
            <a:r>
              <a:rPr lang="en-US" altLang="zh-CN" dirty="0"/>
              <a:t> = </a:t>
            </a:r>
            <a:r>
              <a:rPr lang="en-US" altLang="zh-CN" dirty="0" err="1"/>
              <a:t>data_size</a:t>
            </a:r>
            <a:r>
              <a:rPr lang="en-US" altLang="zh-CN" dirty="0"/>
              <a:t>; </a:t>
            </a:r>
            <a:r>
              <a:rPr lang="en-US" altLang="zh-CN" dirty="0">
                <a:solidFill>
                  <a:srgbClr val="00B050"/>
                </a:solidFill>
              </a:rPr>
              <a:t>// </a:t>
            </a:r>
            <a:r>
              <a:rPr lang="en-US" altLang="zh-CN" dirty="0" err="1"/>
              <a:t>data_size</a:t>
            </a:r>
            <a:r>
              <a:rPr lang="zh-CN" altLang="en-US" dirty="0">
                <a:solidFill>
                  <a:srgbClr val="00B050"/>
                </a:solidFill>
              </a:rPr>
              <a:t>是个全局变量，表示</a:t>
            </a:r>
            <a:r>
              <a:rPr lang="zh-CN" altLang="en-US" dirty="0">
                <a:solidFill>
                  <a:srgbClr val="00B0F0"/>
                </a:solidFill>
              </a:rPr>
              <a:t>操作数</a:t>
            </a:r>
            <a:r>
              <a:rPr lang="zh-CN" altLang="en-US" dirty="0">
                <a:solidFill>
                  <a:srgbClr val="00B050"/>
                </a:solidFill>
              </a:rPr>
              <a:t>的</a:t>
            </a:r>
            <a:r>
              <a:rPr lang="zh-CN" altLang="en-US" dirty="0">
                <a:solidFill>
                  <a:srgbClr val="FF0000"/>
                </a:solidFill>
              </a:rPr>
              <a:t>比特长度</a:t>
            </a:r>
            <a:endParaRPr lang="zh-CN" altLang="zh-CN" dirty="0">
              <a:solidFill>
                <a:srgbClr val="FF0000"/>
              </a:solidFill>
            </a:endParaRPr>
          </a:p>
          <a:p>
            <a:r>
              <a:rPr lang="en-US" altLang="zh-CN" dirty="0"/>
              <a:t>    </a:t>
            </a:r>
            <a:r>
              <a:rPr lang="en-US" altLang="zh-CN" dirty="0" err="1"/>
              <a:t>int</a:t>
            </a:r>
            <a:r>
              <a:rPr lang="en-US" altLang="zh-CN" dirty="0"/>
              <a:t> </a:t>
            </a:r>
            <a:r>
              <a:rPr lang="en-US" altLang="zh-CN" dirty="0" err="1"/>
              <a:t>len</a:t>
            </a:r>
            <a:r>
              <a:rPr lang="en-US" altLang="zh-CN" dirty="0"/>
              <a:t> = 1;                          </a:t>
            </a:r>
            <a:r>
              <a:rPr lang="en-US" altLang="zh-CN" dirty="0">
                <a:solidFill>
                  <a:srgbClr val="00B050"/>
                </a:solidFill>
              </a:rPr>
              <a:t>// opcode </a:t>
            </a:r>
            <a:r>
              <a:rPr lang="zh-CN" altLang="zh-CN" dirty="0">
                <a:solidFill>
                  <a:srgbClr val="00B050"/>
                </a:solidFill>
              </a:rPr>
              <a:t>长度</a:t>
            </a:r>
            <a:r>
              <a:rPr lang="en-US" altLang="zh-CN" dirty="0">
                <a:solidFill>
                  <a:srgbClr val="00B050"/>
                </a:solidFill>
              </a:rPr>
              <a:t>1</a:t>
            </a:r>
            <a:r>
              <a:rPr lang="zh-CN" altLang="zh-CN" dirty="0">
                <a:solidFill>
                  <a:srgbClr val="00B050"/>
                </a:solidFill>
              </a:rPr>
              <a:t>字节</a:t>
            </a:r>
            <a:endParaRPr lang="zh-CN" altLang="zh-CN" dirty="0">
              <a:solidFill>
                <a:srgbClr val="00B050"/>
              </a:solidFill>
            </a:endParaRPr>
          </a:p>
          <a:p>
            <a:r>
              <a:rPr lang="en-US" altLang="zh-CN" dirty="0"/>
              <a:t>    </a:t>
            </a:r>
            <a:r>
              <a:rPr lang="en-US" altLang="zh-CN" dirty="0" err="1"/>
              <a:t>len</a:t>
            </a:r>
            <a:r>
              <a:rPr lang="en-US" altLang="zh-CN" dirty="0"/>
              <a:t> += </a:t>
            </a:r>
            <a:r>
              <a:rPr lang="en-US" altLang="zh-CN" dirty="0" err="1"/>
              <a:t>modrm_rm</a:t>
            </a:r>
            <a:r>
              <a:rPr lang="en-US" altLang="zh-CN" dirty="0"/>
              <a:t>(</a:t>
            </a:r>
            <a:r>
              <a:rPr lang="en-US" altLang="zh-CN" dirty="0" err="1"/>
              <a:t>eip</a:t>
            </a:r>
            <a:r>
              <a:rPr lang="en-US" altLang="zh-CN" dirty="0"/>
              <a:t> + 1, &amp;</a:t>
            </a:r>
            <a:r>
              <a:rPr lang="en-US" altLang="zh-CN" dirty="0" err="1"/>
              <a:t>rm</a:t>
            </a:r>
            <a:r>
              <a:rPr lang="en-US" altLang="zh-CN" dirty="0"/>
              <a:t>);</a:t>
            </a:r>
            <a:r>
              <a:rPr lang="en-US" altLang="zh-CN" dirty="0">
                <a:solidFill>
                  <a:srgbClr val="FF0000"/>
                </a:solidFill>
              </a:rPr>
              <a:t> </a:t>
            </a:r>
            <a:r>
              <a:rPr lang="en-US" altLang="zh-CN" dirty="0">
                <a:solidFill>
                  <a:srgbClr val="00B050"/>
                </a:solidFill>
              </a:rPr>
              <a:t>// </a:t>
            </a:r>
            <a:r>
              <a:rPr lang="zh-CN" altLang="zh-CN" dirty="0">
                <a:solidFill>
                  <a:srgbClr val="00B050"/>
                </a:solidFill>
              </a:rPr>
              <a:t>读</a:t>
            </a:r>
            <a:r>
              <a:rPr lang="en-US" altLang="zh-CN" dirty="0" err="1">
                <a:solidFill>
                  <a:srgbClr val="00B050"/>
                </a:solidFill>
              </a:rPr>
              <a:t>ModR</a:t>
            </a:r>
            <a:r>
              <a:rPr lang="en-US" altLang="zh-CN" dirty="0">
                <a:solidFill>
                  <a:srgbClr val="00B050"/>
                </a:solidFill>
              </a:rPr>
              <a:t>/M</a:t>
            </a:r>
            <a:r>
              <a:rPr lang="zh-CN" altLang="zh-CN" dirty="0">
                <a:solidFill>
                  <a:srgbClr val="00B050"/>
                </a:solidFill>
              </a:rPr>
              <a:t>字节，</a:t>
            </a:r>
            <a:r>
              <a:rPr lang="en-US" altLang="zh-CN" dirty="0" err="1">
                <a:solidFill>
                  <a:srgbClr val="00B050"/>
                </a:solidFill>
              </a:rPr>
              <a:t>rm</a:t>
            </a:r>
            <a:r>
              <a:rPr lang="zh-CN" altLang="zh-CN" dirty="0">
                <a:solidFill>
                  <a:srgbClr val="00B050"/>
                </a:solidFill>
              </a:rPr>
              <a:t>的</a:t>
            </a:r>
            <a:r>
              <a:rPr lang="en-US" altLang="zh-CN" dirty="0">
                <a:solidFill>
                  <a:srgbClr val="00B050"/>
                </a:solidFill>
              </a:rPr>
              <a:t>type</a:t>
            </a:r>
            <a:r>
              <a:rPr lang="zh-CN" altLang="zh-CN" dirty="0">
                <a:solidFill>
                  <a:srgbClr val="00B050"/>
                </a:solidFill>
              </a:rPr>
              <a:t>和</a:t>
            </a:r>
            <a:r>
              <a:rPr lang="en-US" altLang="zh-CN" dirty="0" err="1">
                <a:solidFill>
                  <a:srgbClr val="00B050"/>
                </a:solidFill>
              </a:rPr>
              <a:t>addr</a:t>
            </a:r>
            <a:r>
              <a:rPr lang="zh-CN" altLang="zh-CN" dirty="0">
                <a:solidFill>
                  <a:srgbClr val="00B050"/>
                </a:solidFill>
              </a:rPr>
              <a:t>会被填写</a:t>
            </a:r>
            <a:endParaRPr lang="zh-CN" altLang="zh-CN" dirty="0">
              <a:solidFill>
                <a:srgbClr val="00B050"/>
              </a:solidFill>
            </a:endParaRPr>
          </a:p>
          <a:p>
            <a:r>
              <a:rPr lang="en-US" altLang="zh-CN" dirty="0"/>
              <a:t> </a:t>
            </a:r>
            <a:endParaRPr lang="zh-CN" altLang="zh-CN" dirty="0"/>
          </a:p>
          <a:p>
            <a:r>
              <a:rPr lang="en-US" altLang="zh-CN" dirty="0"/>
              <a:t>    </a:t>
            </a:r>
            <a:r>
              <a:rPr lang="en-US" altLang="zh-CN" dirty="0" err="1"/>
              <a:t>imm.type</a:t>
            </a:r>
            <a:r>
              <a:rPr lang="en-US" altLang="zh-CN" dirty="0"/>
              <a:t> = OPR_IMM;       </a:t>
            </a:r>
            <a:r>
              <a:rPr lang="en-US" altLang="zh-CN" dirty="0">
                <a:solidFill>
                  <a:srgbClr val="00B050"/>
                </a:solidFill>
              </a:rPr>
              <a:t> // </a:t>
            </a:r>
            <a:r>
              <a:rPr lang="zh-CN" altLang="zh-CN" dirty="0">
                <a:solidFill>
                  <a:srgbClr val="00B050"/>
                </a:solidFill>
              </a:rPr>
              <a:t>填入立即数类型</a:t>
            </a:r>
            <a:endParaRPr lang="zh-CN" altLang="zh-CN" dirty="0">
              <a:solidFill>
                <a:srgbClr val="00B050"/>
              </a:solidFill>
            </a:endParaRPr>
          </a:p>
          <a:p>
            <a:r>
              <a:rPr lang="en-US" altLang="zh-CN" dirty="0"/>
              <a:t>    </a:t>
            </a:r>
            <a:r>
              <a:rPr lang="en-US" altLang="zh-CN" dirty="0" err="1"/>
              <a:t>imm.addr</a:t>
            </a:r>
            <a:r>
              <a:rPr lang="en-US" altLang="zh-CN" dirty="0"/>
              <a:t> = </a:t>
            </a:r>
            <a:r>
              <a:rPr lang="en-US" altLang="zh-CN" dirty="0" err="1"/>
              <a:t>eip</a:t>
            </a:r>
            <a:r>
              <a:rPr lang="en-US" altLang="zh-CN" dirty="0"/>
              <a:t> + </a:t>
            </a:r>
            <a:r>
              <a:rPr lang="en-US" altLang="zh-CN" dirty="0" err="1"/>
              <a:t>len</a:t>
            </a:r>
            <a:r>
              <a:rPr lang="en-US" altLang="zh-CN" dirty="0"/>
              <a:t>;          </a:t>
            </a:r>
            <a:r>
              <a:rPr lang="en-US" altLang="zh-CN" dirty="0">
                <a:solidFill>
                  <a:srgbClr val="00B050"/>
                </a:solidFill>
              </a:rPr>
              <a:t> // </a:t>
            </a:r>
            <a:r>
              <a:rPr lang="zh-CN" altLang="zh-CN" dirty="0">
                <a:solidFill>
                  <a:srgbClr val="00B050"/>
                </a:solidFill>
              </a:rPr>
              <a:t>找到立即数的地址</a:t>
            </a:r>
            <a:endParaRPr lang="zh-CN" altLang="zh-CN" dirty="0">
              <a:solidFill>
                <a:srgbClr val="00B050"/>
              </a:solidFill>
            </a:endParaRPr>
          </a:p>
          <a:p>
            <a:r>
              <a:rPr lang="en-US" altLang="zh-CN" dirty="0"/>
              <a:t>    </a:t>
            </a:r>
            <a:r>
              <a:rPr lang="en-US" altLang="zh-CN" dirty="0" err="1"/>
              <a:t>imm.data_size</a:t>
            </a:r>
            <a:r>
              <a:rPr lang="en-US" altLang="zh-CN" dirty="0"/>
              <a:t> = </a:t>
            </a:r>
            <a:r>
              <a:rPr lang="en-US" altLang="zh-CN" dirty="0" err="1"/>
              <a:t>data_size</a:t>
            </a:r>
            <a:r>
              <a:rPr lang="en-US" altLang="zh-CN" dirty="0"/>
              <a:t>;       </a:t>
            </a:r>
            <a:endParaRPr lang="zh-CN" altLang="zh-CN" dirty="0"/>
          </a:p>
          <a:p>
            <a:r>
              <a:rPr lang="en-US" altLang="zh-CN" dirty="0"/>
              <a:t> </a:t>
            </a:r>
            <a:endParaRPr lang="zh-CN" altLang="zh-CN" dirty="0"/>
          </a:p>
          <a:p>
            <a:r>
              <a:rPr lang="en-US" altLang="zh-CN" dirty="0"/>
              <a:t>    </a:t>
            </a:r>
            <a:r>
              <a:rPr lang="en-US" altLang="zh-CN" dirty="0" err="1"/>
              <a:t>operand_read</a:t>
            </a:r>
            <a:r>
              <a:rPr lang="en-US" altLang="zh-CN" dirty="0"/>
              <a:t>(&amp;</a:t>
            </a:r>
            <a:r>
              <a:rPr lang="en-US" altLang="zh-CN" dirty="0" err="1"/>
              <a:t>imm</a:t>
            </a:r>
            <a:r>
              <a:rPr lang="en-US" altLang="zh-CN" dirty="0"/>
              <a:t>);        </a:t>
            </a:r>
            <a:r>
              <a:rPr lang="en-US" altLang="zh-CN" dirty="0">
                <a:solidFill>
                  <a:srgbClr val="00B050"/>
                </a:solidFill>
              </a:rPr>
              <a:t> // </a:t>
            </a:r>
            <a:r>
              <a:rPr lang="zh-CN" altLang="zh-CN" dirty="0">
                <a:solidFill>
                  <a:srgbClr val="00B050"/>
                </a:solidFill>
              </a:rPr>
              <a:t>执行</a:t>
            </a:r>
            <a:r>
              <a:rPr lang="en-US" altLang="zh-CN" dirty="0">
                <a:solidFill>
                  <a:srgbClr val="00B050"/>
                </a:solidFill>
              </a:rPr>
              <a:t> </a:t>
            </a:r>
            <a:r>
              <a:rPr lang="en-US" altLang="zh-CN" dirty="0" err="1">
                <a:solidFill>
                  <a:srgbClr val="00B050"/>
                </a:solidFill>
              </a:rPr>
              <a:t>mov</a:t>
            </a:r>
            <a:r>
              <a:rPr lang="en-US" altLang="zh-CN" dirty="0">
                <a:solidFill>
                  <a:srgbClr val="00B050"/>
                </a:solidFill>
              </a:rPr>
              <a:t> </a:t>
            </a:r>
            <a:r>
              <a:rPr lang="zh-CN" altLang="zh-CN" dirty="0">
                <a:solidFill>
                  <a:srgbClr val="00B050"/>
                </a:solidFill>
              </a:rPr>
              <a:t>操作</a:t>
            </a:r>
            <a:endParaRPr lang="zh-CN" altLang="zh-CN" dirty="0">
              <a:solidFill>
                <a:srgbClr val="00B050"/>
              </a:solidFill>
            </a:endParaRPr>
          </a:p>
          <a:p>
            <a:r>
              <a:rPr lang="en-US" altLang="zh-CN" dirty="0"/>
              <a:t>    </a:t>
            </a:r>
            <a:r>
              <a:rPr lang="en-US" altLang="zh-CN" dirty="0" err="1"/>
              <a:t>rm.val</a:t>
            </a:r>
            <a:r>
              <a:rPr lang="en-US" altLang="zh-CN" dirty="0"/>
              <a:t> = </a:t>
            </a:r>
            <a:r>
              <a:rPr lang="en-US" altLang="zh-CN" dirty="0" err="1"/>
              <a:t>imm.val</a:t>
            </a:r>
            <a:r>
              <a:rPr lang="en-US" altLang="zh-CN" dirty="0"/>
              <a:t>;</a:t>
            </a:r>
            <a:endParaRPr lang="zh-CN" altLang="zh-CN" dirty="0"/>
          </a:p>
          <a:p>
            <a:r>
              <a:rPr lang="en-US" altLang="zh-CN" dirty="0"/>
              <a:t>    </a:t>
            </a:r>
            <a:r>
              <a:rPr lang="en-US" altLang="zh-CN" dirty="0" err="1"/>
              <a:t>operand_write</a:t>
            </a:r>
            <a:r>
              <a:rPr lang="en-US" altLang="zh-CN" dirty="0"/>
              <a:t>(&amp;</a:t>
            </a:r>
            <a:r>
              <a:rPr lang="en-US" altLang="zh-CN" dirty="0" err="1"/>
              <a:t>rm</a:t>
            </a:r>
            <a:r>
              <a:rPr lang="en-US" altLang="zh-CN" dirty="0"/>
              <a:t>);</a:t>
            </a:r>
            <a:endParaRPr lang="zh-CN" altLang="zh-CN" dirty="0"/>
          </a:p>
          <a:p>
            <a:r>
              <a:rPr lang="en-US" altLang="zh-CN" dirty="0"/>
              <a:t> </a:t>
            </a:r>
            <a:endParaRPr lang="zh-CN" altLang="zh-CN" dirty="0"/>
          </a:p>
          <a:p>
            <a:r>
              <a:rPr lang="en-US" altLang="zh-CN" dirty="0"/>
              <a:t>    return </a:t>
            </a:r>
            <a:r>
              <a:rPr lang="en-US" altLang="zh-CN" dirty="0" err="1"/>
              <a:t>len</a:t>
            </a:r>
            <a:r>
              <a:rPr lang="en-US" altLang="zh-CN" dirty="0"/>
              <a:t> + </a:t>
            </a:r>
            <a:r>
              <a:rPr lang="en-US" altLang="zh-CN" dirty="0" err="1"/>
              <a:t>data_size</a:t>
            </a:r>
            <a:r>
              <a:rPr lang="en-US" altLang="zh-CN" dirty="0"/>
              <a:t> / 8;    </a:t>
            </a:r>
            <a:r>
              <a:rPr lang="en-US" altLang="zh-CN" dirty="0">
                <a:solidFill>
                  <a:srgbClr val="00B050"/>
                </a:solidFill>
              </a:rPr>
              <a:t>// opcode</a:t>
            </a:r>
            <a:r>
              <a:rPr lang="zh-CN" altLang="zh-CN" dirty="0">
                <a:solidFill>
                  <a:srgbClr val="00B050"/>
                </a:solidFill>
              </a:rPr>
              <a:t>长度</a:t>
            </a:r>
            <a:r>
              <a:rPr lang="en-US" altLang="zh-CN" dirty="0">
                <a:solidFill>
                  <a:srgbClr val="00B050"/>
                </a:solidFill>
              </a:rPr>
              <a:t> + </a:t>
            </a:r>
            <a:r>
              <a:rPr lang="en-US" altLang="zh-CN" dirty="0" err="1">
                <a:solidFill>
                  <a:srgbClr val="00B050"/>
                </a:solidFill>
              </a:rPr>
              <a:t>ModR</a:t>
            </a:r>
            <a:r>
              <a:rPr lang="en-US" altLang="zh-CN" dirty="0">
                <a:solidFill>
                  <a:srgbClr val="00B050"/>
                </a:solidFill>
              </a:rPr>
              <a:t>/M</a:t>
            </a:r>
            <a:r>
              <a:rPr lang="zh-CN" altLang="zh-CN" dirty="0">
                <a:solidFill>
                  <a:srgbClr val="00B050"/>
                </a:solidFill>
              </a:rPr>
              <a:t>字节扫描长度 </a:t>
            </a:r>
            <a:r>
              <a:rPr lang="en-US" altLang="zh-CN" dirty="0">
                <a:solidFill>
                  <a:srgbClr val="00B050"/>
                </a:solidFill>
              </a:rPr>
              <a:t>+ </a:t>
            </a:r>
            <a:r>
              <a:rPr lang="zh-CN" altLang="zh-CN" dirty="0">
                <a:solidFill>
                  <a:srgbClr val="00B050"/>
                </a:solidFill>
              </a:rPr>
              <a:t>立即数长度</a:t>
            </a:r>
            <a:endParaRPr lang="zh-CN" altLang="zh-CN" dirty="0">
              <a:solidFill>
                <a:srgbClr val="00B050"/>
              </a:solidFill>
            </a:endParaRPr>
          </a:p>
          <a:p>
            <a:r>
              <a:rPr lang="en-US" altLang="zh-CN" dirty="0"/>
              <a:t>}</a:t>
            </a:r>
            <a:endParaRPr lang="zh-CN" altLang="en-US" dirty="0"/>
          </a:p>
        </p:txBody>
      </p:sp>
      <p:sp>
        <p:nvSpPr>
          <p:cNvPr id="8" name="文本框 7"/>
          <p:cNvSpPr txBox="1"/>
          <p:nvPr/>
        </p:nvSpPr>
        <p:spPr>
          <a:xfrm>
            <a:off x="673482" y="2224058"/>
            <a:ext cx="11049455" cy="1508105"/>
          </a:xfrm>
          <a:prstGeom prst="rect">
            <a:avLst/>
          </a:prstGeom>
          <a:solidFill>
            <a:schemeClr val="bg2"/>
          </a:solidFill>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zh-CN" sz="3200" dirty="0" err="1">
                <a:solidFill>
                  <a:srgbClr val="0070C0"/>
                </a:solidFill>
              </a:rPr>
              <a:t>nemu</a:t>
            </a:r>
            <a:r>
              <a:rPr lang="en-US" altLang="zh-CN" sz="3200" dirty="0">
                <a:solidFill>
                  <a:srgbClr val="0070C0"/>
                </a:solidFill>
              </a:rPr>
              <a:t>/include/</a:t>
            </a:r>
            <a:r>
              <a:rPr lang="en-US" altLang="zh-CN" sz="3200" dirty="0" err="1">
                <a:solidFill>
                  <a:srgbClr val="0070C0"/>
                </a:solidFill>
              </a:rPr>
              <a:t>cpu</a:t>
            </a:r>
            <a:r>
              <a:rPr lang="en-US" altLang="zh-CN" sz="3200" dirty="0">
                <a:solidFill>
                  <a:srgbClr val="0070C0"/>
                </a:solidFill>
              </a:rPr>
              <a:t>/</a:t>
            </a:r>
            <a:r>
              <a:rPr lang="en-US" altLang="zh-CN" sz="3200" dirty="0" err="1">
                <a:solidFill>
                  <a:srgbClr val="0070C0"/>
                </a:solidFill>
              </a:rPr>
              <a:t>instr_helper.h</a:t>
            </a:r>
            <a:endParaRPr lang="en-US" altLang="zh-CN" sz="3200" dirty="0">
              <a:solidFill>
                <a:srgbClr val="0070C0"/>
              </a:solidFill>
            </a:endParaRPr>
          </a:p>
          <a:p>
            <a:endParaRPr lang="en-US" altLang="zh-CN" sz="3200" dirty="0"/>
          </a:p>
          <a:p>
            <a:r>
              <a:rPr lang="en-US" altLang="zh-CN" sz="2800" dirty="0"/>
              <a:t>#define </a:t>
            </a:r>
            <a:r>
              <a:rPr lang="en-US" altLang="zh-CN" sz="2800" dirty="0" err="1"/>
              <a:t>make_instr_func</a:t>
            </a:r>
            <a:r>
              <a:rPr lang="en-US" altLang="zh-CN" sz="2800" dirty="0"/>
              <a:t>(name) </a:t>
            </a:r>
            <a:r>
              <a:rPr lang="en-US" altLang="zh-CN" sz="2800" dirty="0" err="1"/>
              <a:t>int</a:t>
            </a:r>
            <a:r>
              <a:rPr lang="en-US" altLang="zh-CN" sz="2800" dirty="0"/>
              <a:t> name(uint32_t </a:t>
            </a:r>
            <a:r>
              <a:rPr lang="en-US" altLang="zh-CN" sz="2800" dirty="0" err="1"/>
              <a:t>eip</a:t>
            </a:r>
            <a:r>
              <a:rPr lang="en-US" altLang="zh-CN" sz="2800" dirty="0"/>
              <a:t>, uint8_t opcode)</a:t>
            </a:r>
            <a:endParaRPr lang="zh-CN" altLang="en-US" sz="2800" dirty="0"/>
          </a:p>
        </p:txBody>
      </p:sp>
      <p:sp>
        <p:nvSpPr>
          <p:cNvPr id="9" name="矩形 8"/>
          <p:cNvSpPr/>
          <p:nvPr/>
        </p:nvSpPr>
        <p:spPr>
          <a:xfrm>
            <a:off x="2780146" y="4575134"/>
            <a:ext cx="4945585" cy="830997"/>
          </a:xfrm>
          <a:prstGeom prst="rect">
            <a:avLst/>
          </a:prstGeom>
          <a:solidFill>
            <a:schemeClr val="bg1">
              <a:lumMod val="95000"/>
            </a:schemeClr>
          </a:solidFill>
          <a:ln>
            <a:solidFill>
              <a:schemeClr val="tx1"/>
            </a:solidFill>
          </a:ln>
        </p:spPr>
        <p:txBody>
          <a:bodyPr wrap="none">
            <a:spAutoFit/>
          </a:bodyPr>
          <a:lstStyle/>
          <a:p>
            <a:r>
              <a:rPr lang="en-US" altLang="zh-CN" sz="2400" dirty="0"/>
              <a:t>#include "</a:t>
            </a:r>
            <a:r>
              <a:rPr lang="en-US" altLang="zh-CN" sz="2400" dirty="0" err="1"/>
              <a:t>cpu</a:t>
            </a:r>
            <a:r>
              <a:rPr lang="en-US" altLang="zh-CN" sz="2400" dirty="0"/>
              <a:t>/</a:t>
            </a:r>
            <a:r>
              <a:rPr lang="en-US" altLang="zh-CN" sz="2400" dirty="0" err="1"/>
              <a:t>instr.h</a:t>
            </a:r>
            <a:r>
              <a:rPr lang="en-US" altLang="zh-CN" sz="2400" dirty="0"/>
              <a:t>"</a:t>
            </a:r>
            <a:endParaRPr lang="en-US" altLang="zh-CN" sz="2400" dirty="0"/>
          </a:p>
          <a:p>
            <a:r>
              <a:rPr lang="zh-CN" altLang="en-US" sz="2400" dirty="0">
                <a:solidFill>
                  <a:srgbClr val="FF0000"/>
                </a:solidFill>
              </a:rPr>
              <a:t>instr_func</a:t>
            </a:r>
            <a:r>
              <a:rPr lang="zh-CN" altLang="en-US" sz="2400" dirty="0"/>
              <a:t> opcode_entry[256] = { </a:t>
            </a:r>
            <a:r>
              <a:rPr lang="en-US" altLang="zh-CN" sz="2400" dirty="0"/>
              <a:t>… }</a:t>
            </a:r>
            <a:endParaRPr lang="zh-CN" altLang="en-US" sz="2400" dirty="0"/>
          </a:p>
        </p:txBody>
      </p:sp>
      <p:sp>
        <p:nvSpPr>
          <p:cNvPr id="10" name="矩形 9"/>
          <p:cNvSpPr/>
          <p:nvPr/>
        </p:nvSpPr>
        <p:spPr>
          <a:xfrm>
            <a:off x="2780146" y="5577710"/>
            <a:ext cx="7204511" cy="830997"/>
          </a:xfrm>
          <a:prstGeom prst="rect">
            <a:avLst/>
          </a:prstGeom>
          <a:solidFill>
            <a:schemeClr val="bg1">
              <a:lumMod val="95000"/>
            </a:schemeClr>
          </a:solidFill>
          <a:ln>
            <a:solidFill>
              <a:schemeClr val="tx1"/>
            </a:solidFill>
          </a:ln>
        </p:spPr>
        <p:txBody>
          <a:bodyPr wrap="square">
            <a:spAutoFit/>
          </a:bodyPr>
          <a:lstStyle/>
          <a:p>
            <a:r>
              <a:rPr lang="zh-CN" altLang="en-US" sz="2400" dirty="0"/>
              <a:t>// the type of an instruction entry</a:t>
            </a:r>
            <a:endParaRPr lang="zh-CN" altLang="en-US" sz="2400" dirty="0"/>
          </a:p>
          <a:p>
            <a:r>
              <a:rPr lang="zh-CN" altLang="en-US" sz="2400" dirty="0"/>
              <a:t>typedef int (*</a:t>
            </a:r>
            <a:r>
              <a:rPr lang="zh-CN" altLang="en-US" sz="2400" dirty="0">
                <a:solidFill>
                  <a:srgbClr val="FF0000"/>
                </a:solidFill>
              </a:rPr>
              <a:t>instr_func</a:t>
            </a:r>
            <a:r>
              <a:rPr lang="zh-CN" altLang="en-US" sz="2400" dirty="0"/>
              <a:t>)(uint32_t eip, uint8_t opcode);</a:t>
            </a:r>
            <a:endParaRPr lang="zh-CN" altLang="en-US" sz="2400" dirty="0"/>
          </a:p>
        </p:txBody>
      </p:sp>
      <p:sp>
        <p:nvSpPr>
          <p:cNvPr id="11" name="文本框 10"/>
          <p:cNvSpPr txBox="1"/>
          <p:nvPr/>
        </p:nvSpPr>
        <p:spPr>
          <a:xfrm>
            <a:off x="7655200" y="4779339"/>
            <a:ext cx="2384151" cy="646331"/>
          </a:xfrm>
          <a:prstGeom prst="rect">
            <a:avLst/>
          </a:prstGeom>
          <a:noFill/>
        </p:spPr>
        <p:txBody>
          <a:bodyPr wrap="square" rtlCol="0">
            <a:spAutoFit/>
          </a:bodyPr>
          <a:lstStyle/>
          <a:p>
            <a:r>
              <a:rPr lang="zh-CN" altLang="en-US" dirty="0">
                <a:solidFill>
                  <a:srgbClr val="C00000"/>
                </a:solidFill>
              </a:rPr>
              <a:t>对比一下</a:t>
            </a:r>
            <a:r>
              <a:rPr lang="en-US" altLang="zh-CN" dirty="0" err="1">
                <a:solidFill>
                  <a:srgbClr val="C00000"/>
                </a:solidFill>
              </a:rPr>
              <a:t>opcode_entry</a:t>
            </a:r>
            <a:r>
              <a:rPr lang="zh-CN" altLang="en-US" dirty="0">
                <a:solidFill>
                  <a:srgbClr val="C00000"/>
                </a:solidFill>
              </a:rPr>
              <a:t>的类型</a:t>
            </a:r>
            <a:endParaRPr lang="zh-CN" altLang="en-US" dirty="0">
              <a:solidFill>
                <a:srgbClr val="C00000"/>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NEMU</a:t>
            </a:r>
            <a:r>
              <a:rPr lang="zh-CN" altLang="en-US" dirty="0"/>
              <a:t>模拟指令解码和执行</a:t>
            </a:r>
            <a:endParaRPr lang="zh-CN" altLang="en-US" dirty="0"/>
          </a:p>
        </p:txBody>
      </p:sp>
      <p:sp>
        <p:nvSpPr>
          <p:cNvPr id="4" name="日期占位符 3"/>
          <p:cNvSpPr>
            <a:spLocks noGrp="1"/>
          </p:cNvSpPr>
          <p:nvPr>
            <p:ph type="dt" sz="half" idx="10"/>
          </p:nvPr>
        </p:nvSpPr>
        <p:spPr/>
        <p:txBody>
          <a:bodyPr/>
          <a:lstStyle/>
          <a:p>
            <a:fld id="{960AD632-BA1E-4007-A689-FFA6C023ED74}" type="datetime3">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a:t>Programming Assignment</a:t>
            </a:r>
            <a:endParaRPr lang="zh-CN" altLang="en-US"/>
          </a:p>
        </p:txBody>
      </p:sp>
      <p:sp>
        <p:nvSpPr>
          <p:cNvPr id="6" name="灯片编号占位符 5"/>
          <p:cNvSpPr>
            <a:spLocks noGrp="1"/>
          </p:cNvSpPr>
          <p:nvPr>
            <p:ph type="sldNum" sz="quarter" idx="12"/>
          </p:nvPr>
        </p:nvSpPr>
        <p:spPr/>
        <p:txBody>
          <a:bodyPr/>
          <a:lstStyle/>
          <a:p>
            <a:fld id="{A40E146E-410D-4448-BCD3-F60DE2B98E6B}" type="slidenum">
              <a:rPr lang="zh-CN" altLang="en-US" smtClean="0"/>
            </a:fld>
            <a:endParaRPr lang="zh-CN" altLang="en-US"/>
          </a:p>
        </p:txBody>
      </p:sp>
      <p:sp>
        <p:nvSpPr>
          <p:cNvPr id="7" name="文本框 6"/>
          <p:cNvSpPr txBox="1"/>
          <p:nvPr/>
        </p:nvSpPr>
        <p:spPr>
          <a:xfrm>
            <a:off x="2025925" y="1585291"/>
            <a:ext cx="9759675" cy="5078313"/>
          </a:xfrm>
          <a:prstGeom prst="rect">
            <a:avLst/>
          </a:prstGeom>
          <a:noFill/>
        </p:spPr>
        <p:txBody>
          <a:bodyPr wrap="square" rtlCol="0">
            <a:spAutoFit/>
          </a:bodyPr>
          <a:lstStyle/>
          <a:p>
            <a:r>
              <a:rPr lang="en-US" altLang="zh-CN" dirty="0">
                <a:solidFill>
                  <a:srgbClr val="00B050"/>
                </a:solidFill>
              </a:rPr>
              <a:t>// </a:t>
            </a:r>
            <a:r>
              <a:rPr lang="zh-CN" altLang="zh-CN" dirty="0">
                <a:solidFill>
                  <a:srgbClr val="00B050"/>
                </a:solidFill>
              </a:rPr>
              <a:t>宏展开后这一行即为</a:t>
            </a:r>
            <a:r>
              <a:rPr lang="en-US" altLang="zh-CN" dirty="0">
                <a:solidFill>
                  <a:srgbClr val="00B050"/>
                </a:solidFill>
              </a:rPr>
              <a:t> </a:t>
            </a:r>
            <a:r>
              <a:rPr lang="en-US" altLang="zh-CN" dirty="0" err="1">
                <a:solidFill>
                  <a:srgbClr val="00B050"/>
                </a:solidFill>
              </a:rPr>
              <a:t>int</a:t>
            </a:r>
            <a:r>
              <a:rPr lang="en-US" altLang="zh-CN" dirty="0">
                <a:solidFill>
                  <a:srgbClr val="00B050"/>
                </a:solidFill>
              </a:rPr>
              <a:t> mov_i2rm_v(uint32_t </a:t>
            </a:r>
            <a:r>
              <a:rPr lang="en-US" altLang="zh-CN" dirty="0" err="1">
                <a:solidFill>
                  <a:srgbClr val="00B050"/>
                </a:solidFill>
              </a:rPr>
              <a:t>eip</a:t>
            </a:r>
            <a:r>
              <a:rPr lang="en-US" altLang="zh-CN" dirty="0">
                <a:solidFill>
                  <a:srgbClr val="00B050"/>
                </a:solidFill>
              </a:rPr>
              <a:t>, uint8_t opcode) {</a:t>
            </a:r>
            <a:endParaRPr lang="zh-CN" altLang="zh-CN" dirty="0">
              <a:solidFill>
                <a:srgbClr val="00B050"/>
              </a:solidFill>
            </a:endParaRPr>
          </a:p>
          <a:p>
            <a:r>
              <a:rPr lang="en-US" altLang="zh-CN" dirty="0" err="1"/>
              <a:t>make_instr_func</a:t>
            </a:r>
            <a:r>
              <a:rPr lang="en-US" altLang="zh-CN" dirty="0"/>
              <a:t>(mov_i2rm_v) { </a:t>
            </a:r>
            <a:endParaRPr lang="zh-CN" altLang="zh-CN" dirty="0"/>
          </a:p>
          <a:p>
            <a:r>
              <a:rPr lang="en-US" altLang="zh-CN" dirty="0"/>
              <a:t>    </a:t>
            </a:r>
            <a:r>
              <a:rPr lang="en-US" altLang="zh-CN" dirty="0">
                <a:solidFill>
                  <a:srgbClr val="FF0000"/>
                </a:solidFill>
              </a:rPr>
              <a:t>OPERAND</a:t>
            </a:r>
            <a:r>
              <a:rPr lang="en-US" altLang="zh-CN" dirty="0"/>
              <a:t> </a:t>
            </a:r>
            <a:r>
              <a:rPr lang="en-US" altLang="zh-CN" dirty="0" err="1"/>
              <a:t>rm</a:t>
            </a:r>
            <a:r>
              <a:rPr lang="en-US" altLang="zh-CN" dirty="0"/>
              <a:t>, </a:t>
            </a:r>
            <a:r>
              <a:rPr lang="en-US" altLang="zh-CN" dirty="0" err="1"/>
              <a:t>imm</a:t>
            </a:r>
            <a:r>
              <a:rPr lang="en-US" altLang="zh-CN" dirty="0"/>
              <a:t>;          </a:t>
            </a:r>
            <a:r>
              <a:rPr lang="en-US" altLang="zh-CN" dirty="0">
                <a:solidFill>
                  <a:srgbClr val="00B050"/>
                </a:solidFill>
              </a:rPr>
              <a:t>// OPERAND</a:t>
            </a:r>
            <a:r>
              <a:rPr lang="zh-CN" altLang="en-US" dirty="0">
                <a:solidFill>
                  <a:srgbClr val="00B050"/>
                </a:solidFill>
              </a:rPr>
              <a:t>定义在</a:t>
            </a:r>
            <a:r>
              <a:rPr lang="en-US" altLang="zh-CN" dirty="0" err="1">
                <a:solidFill>
                  <a:srgbClr val="00B050"/>
                </a:solidFill>
              </a:rPr>
              <a:t>nemu</a:t>
            </a:r>
            <a:r>
              <a:rPr lang="en-US" altLang="zh-CN" dirty="0">
                <a:solidFill>
                  <a:srgbClr val="00B050"/>
                </a:solidFill>
              </a:rPr>
              <a:t>/include/</a:t>
            </a:r>
            <a:r>
              <a:rPr lang="en-US" altLang="zh-CN" dirty="0" err="1">
                <a:solidFill>
                  <a:srgbClr val="00B050"/>
                </a:solidFill>
              </a:rPr>
              <a:t>cpu</a:t>
            </a:r>
            <a:r>
              <a:rPr lang="en-US" altLang="zh-CN" dirty="0">
                <a:solidFill>
                  <a:srgbClr val="00B050"/>
                </a:solidFill>
              </a:rPr>
              <a:t>/</a:t>
            </a:r>
            <a:r>
              <a:rPr lang="en-US" altLang="zh-CN" dirty="0" err="1">
                <a:solidFill>
                  <a:srgbClr val="00B050"/>
                </a:solidFill>
              </a:rPr>
              <a:t>operand.h</a:t>
            </a:r>
            <a:endParaRPr lang="en-US" altLang="zh-CN" dirty="0">
              <a:solidFill>
                <a:srgbClr val="00B050"/>
              </a:solidFill>
            </a:endParaRPr>
          </a:p>
          <a:p>
            <a:r>
              <a:rPr lang="en-US" altLang="zh-CN" dirty="0">
                <a:solidFill>
                  <a:srgbClr val="00B050"/>
                </a:solidFill>
              </a:rPr>
              <a:t>                                                 // </a:t>
            </a:r>
            <a:r>
              <a:rPr lang="zh-CN" altLang="en-US" dirty="0">
                <a:solidFill>
                  <a:srgbClr val="00B050"/>
                </a:solidFill>
              </a:rPr>
              <a:t>看教程</a:t>
            </a:r>
            <a:r>
              <a:rPr lang="en-US" altLang="zh-CN" dirty="0">
                <a:solidFill>
                  <a:srgbClr val="00B050"/>
                </a:solidFill>
              </a:rPr>
              <a:t>§2-1.2.3</a:t>
            </a:r>
            <a:r>
              <a:rPr lang="en-US" altLang="zh-CN" dirty="0"/>
              <a:t> </a:t>
            </a:r>
            <a:endParaRPr lang="zh-CN" altLang="zh-CN" dirty="0"/>
          </a:p>
          <a:p>
            <a:r>
              <a:rPr lang="en-US" altLang="zh-CN" dirty="0"/>
              <a:t>    </a:t>
            </a:r>
            <a:r>
              <a:rPr lang="en-US" altLang="zh-CN" dirty="0" err="1"/>
              <a:t>rm.data_size</a:t>
            </a:r>
            <a:r>
              <a:rPr lang="en-US" altLang="zh-CN" dirty="0"/>
              <a:t> = </a:t>
            </a:r>
            <a:r>
              <a:rPr lang="en-US" altLang="zh-CN" dirty="0" err="1"/>
              <a:t>data_size</a:t>
            </a:r>
            <a:r>
              <a:rPr lang="en-US" altLang="zh-CN" dirty="0"/>
              <a:t>; </a:t>
            </a:r>
            <a:r>
              <a:rPr lang="en-US" altLang="zh-CN" dirty="0">
                <a:solidFill>
                  <a:srgbClr val="00B050"/>
                </a:solidFill>
              </a:rPr>
              <a:t>// </a:t>
            </a:r>
            <a:r>
              <a:rPr lang="en-US" altLang="zh-CN" dirty="0" err="1"/>
              <a:t>data_size</a:t>
            </a:r>
            <a:r>
              <a:rPr lang="zh-CN" altLang="en-US" dirty="0">
                <a:solidFill>
                  <a:srgbClr val="00B050"/>
                </a:solidFill>
              </a:rPr>
              <a:t>是个全局变量，表示</a:t>
            </a:r>
            <a:r>
              <a:rPr lang="zh-CN" altLang="en-US" dirty="0">
                <a:solidFill>
                  <a:srgbClr val="00B0F0"/>
                </a:solidFill>
              </a:rPr>
              <a:t>操作数</a:t>
            </a:r>
            <a:r>
              <a:rPr lang="zh-CN" altLang="en-US" dirty="0">
                <a:solidFill>
                  <a:srgbClr val="00B050"/>
                </a:solidFill>
              </a:rPr>
              <a:t>的</a:t>
            </a:r>
            <a:r>
              <a:rPr lang="zh-CN" altLang="en-US" dirty="0">
                <a:solidFill>
                  <a:srgbClr val="FF0000"/>
                </a:solidFill>
              </a:rPr>
              <a:t>比特长度</a:t>
            </a:r>
            <a:endParaRPr lang="zh-CN" altLang="zh-CN" dirty="0">
              <a:solidFill>
                <a:srgbClr val="FF0000"/>
              </a:solidFill>
            </a:endParaRPr>
          </a:p>
          <a:p>
            <a:r>
              <a:rPr lang="en-US" altLang="zh-CN" dirty="0"/>
              <a:t>    </a:t>
            </a:r>
            <a:r>
              <a:rPr lang="en-US" altLang="zh-CN" dirty="0" err="1"/>
              <a:t>int</a:t>
            </a:r>
            <a:r>
              <a:rPr lang="en-US" altLang="zh-CN" dirty="0"/>
              <a:t> </a:t>
            </a:r>
            <a:r>
              <a:rPr lang="en-US" altLang="zh-CN" dirty="0" err="1"/>
              <a:t>len</a:t>
            </a:r>
            <a:r>
              <a:rPr lang="en-US" altLang="zh-CN" dirty="0"/>
              <a:t> = 1;                          </a:t>
            </a:r>
            <a:r>
              <a:rPr lang="en-US" altLang="zh-CN" dirty="0">
                <a:solidFill>
                  <a:srgbClr val="00B050"/>
                </a:solidFill>
              </a:rPr>
              <a:t>// opcode </a:t>
            </a:r>
            <a:r>
              <a:rPr lang="zh-CN" altLang="zh-CN" dirty="0">
                <a:solidFill>
                  <a:srgbClr val="00B050"/>
                </a:solidFill>
              </a:rPr>
              <a:t>长度</a:t>
            </a:r>
            <a:r>
              <a:rPr lang="en-US" altLang="zh-CN" dirty="0">
                <a:solidFill>
                  <a:srgbClr val="00B050"/>
                </a:solidFill>
              </a:rPr>
              <a:t>1</a:t>
            </a:r>
            <a:r>
              <a:rPr lang="zh-CN" altLang="zh-CN" dirty="0">
                <a:solidFill>
                  <a:srgbClr val="00B050"/>
                </a:solidFill>
              </a:rPr>
              <a:t>字节</a:t>
            </a:r>
            <a:endParaRPr lang="zh-CN" altLang="zh-CN" dirty="0">
              <a:solidFill>
                <a:srgbClr val="00B050"/>
              </a:solidFill>
            </a:endParaRPr>
          </a:p>
          <a:p>
            <a:r>
              <a:rPr lang="en-US" altLang="zh-CN" dirty="0"/>
              <a:t>    </a:t>
            </a:r>
            <a:r>
              <a:rPr lang="en-US" altLang="zh-CN" dirty="0" err="1"/>
              <a:t>len</a:t>
            </a:r>
            <a:r>
              <a:rPr lang="en-US" altLang="zh-CN" dirty="0"/>
              <a:t> += </a:t>
            </a:r>
            <a:r>
              <a:rPr lang="en-US" altLang="zh-CN" dirty="0" err="1"/>
              <a:t>modrm_rm</a:t>
            </a:r>
            <a:r>
              <a:rPr lang="en-US" altLang="zh-CN" dirty="0"/>
              <a:t>(</a:t>
            </a:r>
            <a:r>
              <a:rPr lang="en-US" altLang="zh-CN" dirty="0" err="1"/>
              <a:t>eip</a:t>
            </a:r>
            <a:r>
              <a:rPr lang="en-US" altLang="zh-CN" dirty="0"/>
              <a:t> + 1, &amp;</a:t>
            </a:r>
            <a:r>
              <a:rPr lang="en-US" altLang="zh-CN" dirty="0" err="1"/>
              <a:t>rm</a:t>
            </a:r>
            <a:r>
              <a:rPr lang="en-US" altLang="zh-CN" dirty="0"/>
              <a:t>); </a:t>
            </a:r>
            <a:r>
              <a:rPr lang="en-US" altLang="zh-CN" dirty="0">
                <a:solidFill>
                  <a:srgbClr val="00B050"/>
                </a:solidFill>
              </a:rPr>
              <a:t>// </a:t>
            </a:r>
            <a:r>
              <a:rPr lang="zh-CN" altLang="zh-CN" dirty="0">
                <a:solidFill>
                  <a:srgbClr val="00B050"/>
                </a:solidFill>
              </a:rPr>
              <a:t>读</a:t>
            </a:r>
            <a:r>
              <a:rPr lang="en-US" altLang="zh-CN" dirty="0" err="1">
                <a:solidFill>
                  <a:srgbClr val="00B050"/>
                </a:solidFill>
              </a:rPr>
              <a:t>ModR</a:t>
            </a:r>
            <a:r>
              <a:rPr lang="en-US" altLang="zh-CN" dirty="0">
                <a:solidFill>
                  <a:srgbClr val="00B050"/>
                </a:solidFill>
              </a:rPr>
              <a:t>/M</a:t>
            </a:r>
            <a:r>
              <a:rPr lang="zh-CN" altLang="zh-CN" dirty="0">
                <a:solidFill>
                  <a:srgbClr val="00B050"/>
                </a:solidFill>
              </a:rPr>
              <a:t>字节，</a:t>
            </a:r>
            <a:r>
              <a:rPr lang="en-US" altLang="zh-CN" dirty="0" err="1">
                <a:solidFill>
                  <a:srgbClr val="00B050"/>
                </a:solidFill>
              </a:rPr>
              <a:t>rm</a:t>
            </a:r>
            <a:r>
              <a:rPr lang="zh-CN" altLang="zh-CN" dirty="0">
                <a:solidFill>
                  <a:srgbClr val="00B050"/>
                </a:solidFill>
              </a:rPr>
              <a:t>的</a:t>
            </a:r>
            <a:r>
              <a:rPr lang="en-US" altLang="zh-CN" dirty="0">
                <a:solidFill>
                  <a:srgbClr val="00B050"/>
                </a:solidFill>
              </a:rPr>
              <a:t>type</a:t>
            </a:r>
            <a:r>
              <a:rPr lang="zh-CN" altLang="zh-CN" dirty="0">
                <a:solidFill>
                  <a:srgbClr val="00B050"/>
                </a:solidFill>
              </a:rPr>
              <a:t>和</a:t>
            </a:r>
            <a:r>
              <a:rPr lang="en-US" altLang="zh-CN" dirty="0" err="1">
                <a:solidFill>
                  <a:srgbClr val="00B050"/>
                </a:solidFill>
              </a:rPr>
              <a:t>addr</a:t>
            </a:r>
            <a:r>
              <a:rPr lang="zh-CN" altLang="zh-CN" dirty="0">
                <a:solidFill>
                  <a:srgbClr val="00B050"/>
                </a:solidFill>
              </a:rPr>
              <a:t>会被填写</a:t>
            </a:r>
            <a:endParaRPr lang="zh-CN" altLang="zh-CN" dirty="0">
              <a:solidFill>
                <a:srgbClr val="00B050"/>
              </a:solidFill>
            </a:endParaRPr>
          </a:p>
          <a:p>
            <a:r>
              <a:rPr lang="en-US" altLang="zh-CN" dirty="0"/>
              <a:t> </a:t>
            </a:r>
            <a:endParaRPr lang="zh-CN" altLang="zh-CN" dirty="0"/>
          </a:p>
          <a:p>
            <a:r>
              <a:rPr lang="en-US" altLang="zh-CN" dirty="0"/>
              <a:t>    </a:t>
            </a:r>
            <a:r>
              <a:rPr lang="en-US" altLang="zh-CN" dirty="0" err="1"/>
              <a:t>imm.type</a:t>
            </a:r>
            <a:r>
              <a:rPr lang="en-US" altLang="zh-CN" dirty="0"/>
              <a:t> = OPR_IMM;       </a:t>
            </a:r>
            <a:r>
              <a:rPr lang="en-US" altLang="zh-CN" dirty="0">
                <a:solidFill>
                  <a:srgbClr val="00B050"/>
                </a:solidFill>
              </a:rPr>
              <a:t> // </a:t>
            </a:r>
            <a:r>
              <a:rPr lang="zh-CN" altLang="zh-CN" dirty="0">
                <a:solidFill>
                  <a:srgbClr val="00B050"/>
                </a:solidFill>
              </a:rPr>
              <a:t>填入立即数类型</a:t>
            </a:r>
            <a:endParaRPr lang="zh-CN" altLang="zh-CN" dirty="0">
              <a:solidFill>
                <a:srgbClr val="00B050"/>
              </a:solidFill>
            </a:endParaRPr>
          </a:p>
          <a:p>
            <a:r>
              <a:rPr lang="en-US" altLang="zh-CN" dirty="0"/>
              <a:t>    </a:t>
            </a:r>
            <a:r>
              <a:rPr lang="en-US" altLang="zh-CN" dirty="0" err="1"/>
              <a:t>imm.addr</a:t>
            </a:r>
            <a:r>
              <a:rPr lang="en-US" altLang="zh-CN" dirty="0"/>
              <a:t> = </a:t>
            </a:r>
            <a:r>
              <a:rPr lang="en-US" altLang="zh-CN" dirty="0" err="1"/>
              <a:t>eip</a:t>
            </a:r>
            <a:r>
              <a:rPr lang="en-US" altLang="zh-CN" dirty="0"/>
              <a:t> + </a:t>
            </a:r>
            <a:r>
              <a:rPr lang="en-US" altLang="zh-CN" dirty="0" err="1"/>
              <a:t>len</a:t>
            </a:r>
            <a:r>
              <a:rPr lang="en-US" altLang="zh-CN" dirty="0"/>
              <a:t>;          </a:t>
            </a:r>
            <a:r>
              <a:rPr lang="en-US" altLang="zh-CN" dirty="0">
                <a:solidFill>
                  <a:srgbClr val="00B050"/>
                </a:solidFill>
              </a:rPr>
              <a:t> // </a:t>
            </a:r>
            <a:r>
              <a:rPr lang="zh-CN" altLang="zh-CN" dirty="0">
                <a:solidFill>
                  <a:srgbClr val="00B050"/>
                </a:solidFill>
              </a:rPr>
              <a:t>找到立即数的地址</a:t>
            </a:r>
            <a:endParaRPr lang="zh-CN" altLang="zh-CN" dirty="0">
              <a:solidFill>
                <a:srgbClr val="00B050"/>
              </a:solidFill>
            </a:endParaRPr>
          </a:p>
          <a:p>
            <a:r>
              <a:rPr lang="en-US" altLang="zh-CN" dirty="0"/>
              <a:t>    </a:t>
            </a:r>
            <a:r>
              <a:rPr lang="en-US" altLang="zh-CN" dirty="0" err="1"/>
              <a:t>imm.data_size</a:t>
            </a:r>
            <a:r>
              <a:rPr lang="en-US" altLang="zh-CN" dirty="0"/>
              <a:t> = </a:t>
            </a:r>
            <a:r>
              <a:rPr lang="en-US" altLang="zh-CN" dirty="0" err="1"/>
              <a:t>data_size</a:t>
            </a:r>
            <a:r>
              <a:rPr lang="en-US" altLang="zh-CN" dirty="0"/>
              <a:t>;       </a:t>
            </a:r>
            <a:endParaRPr lang="zh-CN" altLang="zh-CN" dirty="0"/>
          </a:p>
          <a:p>
            <a:r>
              <a:rPr lang="en-US" altLang="zh-CN" dirty="0"/>
              <a:t> </a:t>
            </a:r>
            <a:endParaRPr lang="zh-CN" altLang="zh-CN" dirty="0"/>
          </a:p>
          <a:p>
            <a:r>
              <a:rPr lang="en-US" altLang="zh-CN" dirty="0"/>
              <a:t>    </a:t>
            </a:r>
            <a:r>
              <a:rPr lang="en-US" altLang="zh-CN" dirty="0" err="1"/>
              <a:t>operand_read</a:t>
            </a:r>
            <a:r>
              <a:rPr lang="en-US" altLang="zh-CN" dirty="0"/>
              <a:t>(&amp;</a:t>
            </a:r>
            <a:r>
              <a:rPr lang="en-US" altLang="zh-CN" dirty="0" err="1"/>
              <a:t>imm</a:t>
            </a:r>
            <a:r>
              <a:rPr lang="en-US" altLang="zh-CN" dirty="0"/>
              <a:t>);        </a:t>
            </a:r>
            <a:r>
              <a:rPr lang="en-US" altLang="zh-CN" dirty="0">
                <a:solidFill>
                  <a:srgbClr val="00B050"/>
                </a:solidFill>
              </a:rPr>
              <a:t> // </a:t>
            </a:r>
            <a:r>
              <a:rPr lang="zh-CN" altLang="zh-CN" dirty="0">
                <a:solidFill>
                  <a:srgbClr val="00B050"/>
                </a:solidFill>
              </a:rPr>
              <a:t>执行</a:t>
            </a:r>
            <a:r>
              <a:rPr lang="en-US" altLang="zh-CN" dirty="0">
                <a:solidFill>
                  <a:srgbClr val="00B050"/>
                </a:solidFill>
              </a:rPr>
              <a:t> </a:t>
            </a:r>
            <a:r>
              <a:rPr lang="en-US" altLang="zh-CN" dirty="0" err="1">
                <a:solidFill>
                  <a:srgbClr val="00B050"/>
                </a:solidFill>
              </a:rPr>
              <a:t>mov</a:t>
            </a:r>
            <a:r>
              <a:rPr lang="en-US" altLang="zh-CN" dirty="0">
                <a:solidFill>
                  <a:srgbClr val="00B050"/>
                </a:solidFill>
              </a:rPr>
              <a:t> </a:t>
            </a:r>
            <a:r>
              <a:rPr lang="zh-CN" altLang="zh-CN" dirty="0">
                <a:solidFill>
                  <a:srgbClr val="00B050"/>
                </a:solidFill>
              </a:rPr>
              <a:t>操作</a:t>
            </a:r>
            <a:endParaRPr lang="zh-CN" altLang="zh-CN" dirty="0">
              <a:solidFill>
                <a:srgbClr val="00B050"/>
              </a:solidFill>
            </a:endParaRPr>
          </a:p>
          <a:p>
            <a:r>
              <a:rPr lang="en-US" altLang="zh-CN" dirty="0"/>
              <a:t>    </a:t>
            </a:r>
            <a:r>
              <a:rPr lang="en-US" altLang="zh-CN" dirty="0" err="1"/>
              <a:t>rm.val</a:t>
            </a:r>
            <a:r>
              <a:rPr lang="en-US" altLang="zh-CN" dirty="0"/>
              <a:t> = </a:t>
            </a:r>
            <a:r>
              <a:rPr lang="en-US" altLang="zh-CN" dirty="0" err="1"/>
              <a:t>imm.val</a:t>
            </a:r>
            <a:r>
              <a:rPr lang="en-US" altLang="zh-CN" dirty="0"/>
              <a:t>;</a:t>
            </a:r>
            <a:endParaRPr lang="zh-CN" altLang="zh-CN" dirty="0"/>
          </a:p>
          <a:p>
            <a:r>
              <a:rPr lang="en-US" altLang="zh-CN" dirty="0"/>
              <a:t>    </a:t>
            </a:r>
            <a:r>
              <a:rPr lang="en-US" altLang="zh-CN" dirty="0" err="1"/>
              <a:t>operand_write</a:t>
            </a:r>
            <a:r>
              <a:rPr lang="en-US" altLang="zh-CN" dirty="0"/>
              <a:t>(&amp;</a:t>
            </a:r>
            <a:r>
              <a:rPr lang="en-US" altLang="zh-CN" dirty="0" err="1"/>
              <a:t>rm</a:t>
            </a:r>
            <a:r>
              <a:rPr lang="en-US" altLang="zh-CN" dirty="0"/>
              <a:t>);</a:t>
            </a:r>
            <a:endParaRPr lang="zh-CN" altLang="zh-CN" dirty="0"/>
          </a:p>
          <a:p>
            <a:r>
              <a:rPr lang="en-US" altLang="zh-CN" dirty="0"/>
              <a:t> </a:t>
            </a:r>
            <a:endParaRPr lang="zh-CN" altLang="zh-CN" dirty="0"/>
          </a:p>
          <a:p>
            <a:r>
              <a:rPr lang="en-US" altLang="zh-CN" dirty="0"/>
              <a:t>    return </a:t>
            </a:r>
            <a:r>
              <a:rPr lang="en-US" altLang="zh-CN" dirty="0" err="1"/>
              <a:t>len</a:t>
            </a:r>
            <a:r>
              <a:rPr lang="en-US" altLang="zh-CN" dirty="0"/>
              <a:t> + </a:t>
            </a:r>
            <a:r>
              <a:rPr lang="en-US" altLang="zh-CN" dirty="0" err="1"/>
              <a:t>data_size</a:t>
            </a:r>
            <a:r>
              <a:rPr lang="en-US" altLang="zh-CN" dirty="0"/>
              <a:t> / 8;    </a:t>
            </a:r>
            <a:r>
              <a:rPr lang="en-US" altLang="zh-CN" dirty="0">
                <a:solidFill>
                  <a:srgbClr val="00B050"/>
                </a:solidFill>
              </a:rPr>
              <a:t>// opcode</a:t>
            </a:r>
            <a:r>
              <a:rPr lang="zh-CN" altLang="zh-CN" dirty="0">
                <a:solidFill>
                  <a:srgbClr val="00B050"/>
                </a:solidFill>
              </a:rPr>
              <a:t>长度</a:t>
            </a:r>
            <a:r>
              <a:rPr lang="en-US" altLang="zh-CN" dirty="0">
                <a:solidFill>
                  <a:srgbClr val="00B050"/>
                </a:solidFill>
              </a:rPr>
              <a:t> + </a:t>
            </a:r>
            <a:r>
              <a:rPr lang="en-US" altLang="zh-CN" dirty="0" err="1">
                <a:solidFill>
                  <a:srgbClr val="00B050"/>
                </a:solidFill>
              </a:rPr>
              <a:t>ModR</a:t>
            </a:r>
            <a:r>
              <a:rPr lang="en-US" altLang="zh-CN" dirty="0">
                <a:solidFill>
                  <a:srgbClr val="00B050"/>
                </a:solidFill>
              </a:rPr>
              <a:t>/M</a:t>
            </a:r>
            <a:r>
              <a:rPr lang="zh-CN" altLang="zh-CN" dirty="0">
                <a:solidFill>
                  <a:srgbClr val="00B050"/>
                </a:solidFill>
              </a:rPr>
              <a:t>字节扫描长度 </a:t>
            </a:r>
            <a:r>
              <a:rPr lang="en-US" altLang="zh-CN" dirty="0">
                <a:solidFill>
                  <a:srgbClr val="00B050"/>
                </a:solidFill>
              </a:rPr>
              <a:t>+ </a:t>
            </a:r>
            <a:r>
              <a:rPr lang="zh-CN" altLang="zh-CN" dirty="0">
                <a:solidFill>
                  <a:srgbClr val="00B050"/>
                </a:solidFill>
              </a:rPr>
              <a:t>立即数长度</a:t>
            </a:r>
            <a:endParaRPr lang="zh-CN" altLang="zh-CN" dirty="0">
              <a:solidFill>
                <a:srgbClr val="00B050"/>
              </a:solidFill>
            </a:endParaRPr>
          </a:p>
          <a:p>
            <a:r>
              <a:rPr lang="en-US" altLang="zh-CN" dirty="0"/>
              <a:t>}</a:t>
            </a:r>
            <a:endParaRPr lang="zh-CN"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NEMU</a:t>
            </a:r>
            <a:r>
              <a:rPr lang="zh-CN" altLang="en-US" dirty="0"/>
              <a:t>模拟指令解码和执行</a:t>
            </a:r>
            <a:endParaRPr lang="zh-CN" altLang="en-US" dirty="0"/>
          </a:p>
        </p:txBody>
      </p:sp>
      <p:sp>
        <p:nvSpPr>
          <p:cNvPr id="4" name="日期占位符 3"/>
          <p:cNvSpPr>
            <a:spLocks noGrp="1"/>
          </p:cNvSpPr>
          <p:nvPr>
            <p:ph type="dt" sz="half" idx="10"/>
          </p:nvPr>
        </p:nvSpPr>
        <p:spPr/>
        <p:txBody>
          <a:bodyPr/>
          <a:lstStyle/>
          <a:p>
            <a:fld id="{960AD632-BA1E-4007-A689-FFA6C023ED74}" type="datetime3">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a:t>Programming Assignment</a:t>
            </a:r>
            <a:endParaRPr lang="zh-CN" altLang="en-US"/>
          </a:p>
        </p:txBody>
      </p:sp>
      <p:sp>
        <p:nvSpPr>
          <p:cNvPr id="6" name="灯片编号占位符 5"/>
          <p:cNvSpPr>
            <a:spLocks noGrp="1"/>
          </p:cNvSpPr>
          <p:nvPr>
            <p:ph type="sldNum" sz="quarter" idx="12"/>
          </p:nvPr>
        </p:nvSpPr>
        <p:spPr/>
        <p:txBody>
          <a:bodyPr/>
          <a:lstStyle/>
          <a:p>
            <a:fld id="{A40E146E-410D-4448-BCD3-F60DE2B98E6B}" type="slidenum">
              <a:rPr lang="zh-CN" altLang="en-US" smtClean="0"/>
            </a:fld>
            <a:endParaRPr lang="zh-CN" altLang="en-US"/>
          </a:p>
        </p:txBody>
      </p:sp>
      <p:sp>
        <p:nvSpPr>
          <p:cNvPr id="7" name="文本框 6"/>
          <p:cNvSpPr txBox="1"/>
          <p:nvPr/>
        </p:nvSpPr>
        <p:spPr>
          <a:xfrm>
            <a:off x="2025925" y="1585291"/>
            <a:ext cx="9150075" cy="5078313"/>
          </a:xfrm>
          <a:prstGeom prst="rect">
            <a:avLst/>
          </a:prstGeom>
          <a:noFill/>
        </p:spPr>
        <p:txBody>
          <a:bodyPr wrap="square" rtlCol="0">
            <a:spAutoFit/>
          </a:bodyPr>
          <a:lstStyle/>
          <a:p>
            <a:r>
              <a:rPr lang="en-US" altLang="zh-CN" dirty="0">
                <a:solidFill>
                  <a:srgbClr val="00B050"/>
                </a:solidFill>
              </a:rPr>
              <a:t>// </a:t>
            </a:r>
            <a:r>
              <a:rPr lang="zh-CN" altLang="zh-CN" dirty="0">
                <a:solidFill>
                  <a:srgbClr val="00B050"/>
                </a:solidFill>
              </a:rPr>
              <a:t>宏展开后这一行即为</a:t>
            </a:r>
            <a:r>
              <a:rPr lang="en-US" altLang="zh-CN" dirty="0">
                <a:solidFill>
                  <a:srgbClr val="00B050"/>
                </a:solidFill>
              </a:rPr>
              <a:t> </a:t>
            </a:r>
            <a:r>
              <a:rPr lang="en-US" altLang="zh-CN" dirty="0" err="1">
                <a:solidFill>
                  <a:srgbClr val="00B050"/>
                </a:solidFill>
              </a:rPr>
              <a:t>int</a:t>
            </a:r>
            <a:r>
              <a:rPr lang="en-US" altLang="zh-CN" dirty="0">
                <a:solidFill>
                  <a:srgbClr val="00B050"/>
                </a:solidFill>
              </a:rPr>
              <a:t> mov_i2rm_v(uint32_t </a:t>
            </a:r>
            <a:r>
              <a:rPr lang="en-US" altLang="zh-CN" dirty="0" err="1">
                <a:solidFill>
                  <a:srgbClr val="00B050"/>
                </a:solidFill>
              </a:rPr>
              <a:t>eip</a:t>
            </a:r>
            <a:r>
              <a:rPr lang="en-US" altLang="zh-CN" dirty="0">
                <a:solidFill>
                  <a:srgbClr val="00B050"/>
                </a:solidFill>
              </a:rPr>
              <a:t>, uint8_t opcode) {</a:t>
            </a:r>
            <a:endParaRPr lang="zh-CN" altLang="zh-CN" dirty="0">
              <a:solidFill>
                <a:srgbClr val="00B050"/>
              </a:solidFill>
            </a:endParaRPr>
          </a:p>
          <a:p>
            <a:r>
              <a:rPr lang="en-US" altLang="zh-CN" dirty="0" err="1"/>
              <a:t>make_instr_func</a:t>
            </a:r>
            <a:r>
              <a:rPr lang="en-US" altLang="zh-CN" dirty="0"/>
              <a:t>(mov_i2rm_v) { </a:t>
            </a:r>
            <a:endParaRPr lang="zh-CN" altLang="zh-CN" dirty="0"/>
          </a:p>
          <a:p>
            <a:r>
              <a:rPr lang="en-US" altLang="zh-CN" dirty="0"/>
              <a:t>    </a:t>
            </a:r>
            <a:r>
              <a:rPr lang="en-US" altLang="zh-CN" dirty="0">
                <a:solidFill>
                  <a:srgbClr val="FF0000"/>
                </a:solidFill>
              </a:rPr>
              <a:t>OPERAND</a:t>
            </a:r>
            <a:r>
              <a:rPr lang="en-US" altLang="zh-CN" dirty="0"/>
              <a:t> </a:t>
            </a:r>
            <a:r>
              <a:rPr lang="en-US" altLang="zh-CN" dirty="0" err="1"/>
              <a:t>rm</a:t>
            </a:r>
            <a:r>
              <a:rPr lang="en-US" altLang="zh-CN" dirty="0"/>
              <a:t>, </a:t>
            </a:r>
            <a:r>
              <a:rPr lang="en-US" altLang="zh-CN" dirty="0" err="1"/>
              <a:t>imm</a:t>
            </a:r>
            <a:r>
              <a:rPr lang="en-US" altLang="zh-CN" dirty="0"/>
              <a:t>;          </a:t>
            </a:r>
            <a:r>
              <a:rPr lang="en-US" altLang="zh-CN" dirty="0">
                <a:solidFill>
                  <a:srgbClr val="00B050"/>
                </a:solidFill>
              </a:rPr>
              <a:t>// OPERAND</a:t>
            </a:r>
            <a:r>
              <a:rPr lang="zh-CN" altLang="en-US" dirty="0">
                <a:solidFill>
                  <a:srgbClr val="00B050"/>
                </a:solidFill>
              </a:rPr>
              <a:t>定义在</a:t>
            </a:r>
            <a:r>
              <a:rPr lang="en-US" altLang="zh-CN" dirty="0" err="1">
                <a:solidFill>
                  <a:srgbClr val="00B050"/>
                </a:solidFill>
              </a:rPr>
              <a:t>nemu</a:t>
            </a:r>
            <a:r>
              <a:rPr lang="en-US" altLang="zh-CN" dirty="0">
                <a:solidFill>
                  <a:srgbClr val="00B050"/>
                </a:solidFill>
              </a:rPr>
              <a:t>/include/</a:t>
            </a:r>
            <a:r>
              <a:rPr lang="en-US" altLang="zh-CN" dirty="0" err="1">
                <a:solidFill>
                  <a:srgbClr val="00B050"/>
                </a:solidFill>
              </a:rPr>
              <a:t>cpu</a:t>
            </a:r>
            <a:r>
              <a:rPr lang="en-US" altLang="zh-CN" dirty="0">
                <a:solidFill>
                  <a:srgbClr val="00B050"/>
                </a:solidFill>
              </a:rPr>
              <a:t>/</a:t>
            </a:r>
            <a:r>
              <a:rPr lang="en-US" altLang="zh-CN" dirty="0" err="1">
                <a:solidFill>
                  <a:srgbClr val="00B050"/>
                </a:solidFill>
              </a:rPr>
              <a:t>operand.h</a:t>
            </a:r>
            <a:endParaRPr lang="en-US" altLang="zh-CN" dirty="0">
              <a:solidFill>
                <a:srgbClr val="00B050"/>
              </a:solidFill>
            </a:endParaRPr>
          </a:p>
          <a:p>
            <a:r>
              <a:rPr lang="en-US" altLang="zh-CN" dirty="0">
                <a:solidFill>
                  <a:srgbClr val="00B050"/>
                </a:solidFill>
              </a:rPr>
              <a:t>                                                 // </a:t>
            </a:r>
            <a:r>
              <a:rPr lang="zh-CN" altLang="en-US" dirty="0">
                <a:solidFill>
                  <a:srgbClr val="00B050"/>
                </a:solidFill>
              </a:rPr>
              <a:t>看教程</a:t>
            </a:r>
            <a:r>
              <a:rPr lang="en-US" altLang="zh-CN" dirty="0">
                <a:solidFill>
                  <a:srgbClr val="00B050"/>
                </a:solidFill>
              </a:rPr>
              <a:t>§2-1.2.3</a:t>
            </a:r>
            <a:r>
              <a:rPr lang="en-US" altLang="zh-CN" dirty="0"/>
              <a:t> </a:t>
            </a:r>
            <a:endParaRPr lang="zh-CN" altLang="zh-CN" dirty="0"/>
          </a:p>
          <a:p>
            <a:r>
              <a:rPr lang="en-US" altLang="zh-CN" dirty="0"/>
              <a:t>    </a:t>
            </a:r>
            <a:r>
              <a:rPr lang="en-US" altLang="zh-CN" dirty="0" err="1"/>
              <a:t>rm.data_size</a:t>
            </a:r>
            <a:r>
              <a:rPr lang="en-US" altLang="zh-CN" dirty="0"/>
              <a:t> = </a:t>
            </a:r>
            <a:r>
              <a:rPr lang="en-US" altLang="zh-CN" dirty="0" err="1"/>
              <a:t>data_size</a:t>
            </a:r>
            <a:r>
              <a:rPr lang="en-US" altLang="zh-CN" dirty="0"/>
              <a:t>; </a:t>
            </a:r>
            <a:r>
              <a:rPr lang="en-US" altLang="zh-CN" dirty="0">
                <a:solidFill>
                  <a:srgbClr val="00B050"/>
                </a:solidFill>
              </a:rPr>
              <a:t>// </a:t>
            </a:r>
            <a:r>
              <a:rPr lang="en-US" altLang="zh-CN" dirty="0" err="1"/>
              <a:t>data_size</a:t>
            </a:r>
            <a:r>
              <a:rPr lang="zh-CN" altLang="en-US" dirty="0">
                <a:solidFill>
                  <a:srgbClr val="00B050"/>
                </a:solidFill>
              </a:rPr>
              <a:t>是个全局变量，表示</a:t>
            </a:r>
            <a:r>
              <a:rPr lang="zh-CN" altLang="en-US" dirty="0">
                <a:solidFill>
                  <a:srgbClr val="00B0F0"/>
                </a:solidFill>
              </a:rPr>
              <a:t>操作数</a:t>
            </a:r>
            <a:r>
              <a:rPr lang="zh-CN" altLang="en-US" dirty="0">
                <a:solidFill>
                  <a:srgbClr val="00B050"/>
                </a:solidFill>
              </a:rPr>
              <a:t>的</a:t>
            </a:r>
            <a:r>
              <a:rPr lang="zh-CN" altLang="en-US" dirty="0">
                <a:solidFill>
                  <a:srgbClr val="FF0000"/>
                </a:solidFill>
              </a:rPr>
              <a:t>比特长度</a:t>
            </a:r>
            <a:endParaRPr lang="zh-CN" altLang="zh-CN" dirty="0">
              <a:solidFill>
                <a:srgbClr val="FF0000"/>
              </a:solidFill>
            </a:endParaRPr>
          </a:p>
          <a:p>
            <a:r>
              <a:rPr lang="en-US" altLang="zh-CN" dirty="0"/>
              <a:t>    </a:t>
            </a:r>
            <a:r>
              <a:rPr lang="en-US" altLang="zh-CN" dirty="0" err="1"/>
              <a:t>int</a:t>
            </a:r>
            <a:r>
              <a:rPr lang="en-US" altLang="zh-CN" dirty="0"/>
              <a:t> </a:t>
            </a:r>
            <a:r>
              <a:rPr lang="en-US" altLang="zh-CN" dirty="0" err="1"/>
              <a:t>len</a:t>
            </a:r>
            <a:r>
              <a:rPr lang="en-US" altLang="zh-CN" dirty="0"/>
              <a:t> = 1;                          </a:t>
            </a:r>
            <a:r>
              <a:rPr lang="en-US" altLang="zh-CN" dirty="0">
                <a:solidFill>
                  <a:srgbClr val="00B050"/>
                </a:solidFill>
              </a:rPr>
              <a:t>// opcode </a:t>
            </a:r>
            <a:r>
              <a:rPr lang="zh-CN" altLang="zh-CN" dirty="0">
                <a:solidFill>
                  <a:srgbClr val="00B050"/>
                </a:solidFill>
              </a:rPr>
              <a:t>长度</a:t>
            </a:r>
            <a:r>
              <a:rPr lang="en-US" altLang="zh-CN" dirty="0">
                <a:solidFill>
                  <a:srgbClr val="00B050"/>
                </a:solidFill>
              </a:rPr>
              <a:t>1</a:t>
            </a:r>
            <a:r>
              <a:rPr lang="zh-CN" altLang="zh-CN" dirty="0">
                <a:solidFill>
                  <a:srgbClr val="00B050"/>
                </a:solidFill>
              </a:rPr>
              <a:t>字节</a:t>
            </a:r>
            <a:endParaRPr lang="zh-CN" altLang="zh-CN" dirty="0">
              <a:solidFill>
                <a:srgbClr val="00B050"/>
              </a:solidFill>
            </a:endParaRPr>
          </a:p>
          <a:p>
            <a:r>
              <a:rPr lang="en-US" altLang="zh-CN" dirty="0"/>
              <a:t>    </a:t>
            </a:r>
            <a:r>
              <a:rPr lang="en-US" altLang="zh-CN" dirty="0" err="1"/>
              <a:t>len</a:t>
            </a:r>
            <a:r>
              <a:rPr lang="en-US" altLang="zh-CN" dirty="0"/>
              <a:t> += </a:t>
            </a:r>
            <a:r>
              <a:rPr lang="en-US" altLang="zh-CN" dirty="0" err="1"/>
              <a:t>modrm_rm</a:t>
            </a:r>
            <a:r>
              <a:rPr lang="en-US" altLang="zh-CN" dirty="0"/>
              <a:t>(</a:t>
            </a:r>
            <a:r>
              <a:rPr lang="en-US" altLang="zh-CN" dirty="0" err="1"/>
              <a:t>eip</a:t>
            </a:r>
            <a:r>
              <a:rPr lang="en-US" altLang="zh-CN" dirty="0"/>
              <a:t> + 1, &amp;</a:t>
            </a:r>
            <a:r>
              <a:rPr lang="en-US" altLang="zh-CN" dirty="0" err="1"/>
              <a:t>rm</a:t>
            </a:r>
            <a:r>
              <a:rPr lang="en-US" altLang="zh-CN" dirty="0"/>
              <a:t>); </a:t>
            </a:r>
            <a:r>
              <a:rPr lang="en-US" altLang="zh-CN" dirty="0">
                <a:solidFill>
                  <a:srgbClr val="00B050"/>
                </a:solidFill>
              </a:rPr>
              <a:t>// </a:t>
            </a:r>
            <a:r>
              <a:rPr lang="zh-CN" altLang="zh-CN" dirty="0">
                <a:solidFill>
                  <a:srgbClr val="00B050"/>
                </a:solidFill>
              </a:rPr>
              <a:t>读</a:t>
            </a:r>
            <a:r>
              <a:rPr lang="en-US" altLang="zh-CN" dirty="0" err="1">
                <a:solidFill>
                  <a:srgbClr val="00B050"/>
                </a:solidFill>
              </a:rPr>
              <a:t>ModR</a:t>
            </a:r>
            <a:r>
              <a:rPr lang="en-US" altLang="zh-CN" dirty="0">
                <a:solidFill>
                  <a:srgbClr val="00B050"/>
                </a:solidFill>
              </a:rPr>
              <a:t>/M</a:t>
            </a:r>
            <a:r>
              <a:rPr lang="zh-CN" altLang="zh-CN" dirty="0">
                <a:solidFill>
                  <a:srgbClr val="00B050"/>
                </a:solidFill>
              </a:rPr>
              <a:t>字节，</a:t>
            </a:r>
            <a:r>
              <a:rPr lang="en-US" altLang="zh-CN" dirty="0" err="1">
                <a:solidFill>
                  <a:srgbClr val="00B050"/>
                </a:solidFill>
              </a:rPr>
              <a:t>rm</a:t>
            </a:r>
            <a:r>
              <a:rPr lang="zh-CN" altLang="zh-CN" dirty="0">
                <a:solidFill>
                  <a:srgbClr val="00B050"/>
                </a:solidFill>
              </a:rPr>
              <a:t>的</a:t>
            </a:r>
            <a:r>
              <a:rPr lang="en-US" altLang="zh-CN" dirty="0">
                <a:solidFill>
                  <a:srgbClr val="00B050"/>
                </a:solidFill>
              </a:rPr>
              <a:t>type</a:t>
            </a:r>
            <a:r>
              <a:rPr lang="zh-CN" altLang="zh-CN" dirty="0">
                <a:solidFill>
                  <a:srgbClr val="00B050"/>
                </a:solidFill>
              </a:rPr>
              <a:t>和</a:t>
            </a:r>
            <a:r>
              <a:rPr lang="en-US" altLang="zh-CN" dirty="0" err="1">
                <a:solidFill>
                  <a:srgbClr val="00B050"/>
                </a:solidFill>
              </a:rPr>
              <a:t>addr</a:t>
            </a:r>
            <a:r>
              <a:rPr lang="zh-CN" altLang="zh-CN" dirty="0">
                <a:solidFill>
                  <a:srgbClr val="00B050"/>
                </a:solidFill>
              </a:rPr>
              <a:t>会被填写</a:t>
            </a:r>
            <a:endParaRPr lang="zh-CN" altLang="zh-CN" dirty="0">
              <a:solidFill>
                <a:srgbClr val="00B050"/>
              </a:solidFill>
            </a:endParaRPr>
          </a:p>
          <a:p>
            <a:r>
              <a:rPr lang="en-US" altLang="zh-CN" dirty="0"/>
              <a:t> </a:t>
            </a:r>
            <a:endParaRPr lang="zh-CN" altLang="zh-CN" dirty="0"/>
          </a:p>
          <a:p>
            <a:r>
              <a:rPr lang="en-US" altLang="zh-CN" dirty="0"/>
              <a:t>    </a:t>
            </a:r>
            <a:r>
              <a:rPr lang="en-US" altLang="zh-CN" dirty="0" err="1"/>
              <a:t>imm.type</a:t>
            </a:r>
            <a:r>
              <a:rPr lang="en-US" altLang="zh-CN" dirty="0"/>
              <a:t> = OPR_IMM;       </a:t>
            </a:r>
            <a:r>
              <a:rPr lang="en-US" altLang="zh-CN" dirty="0">
                <a:solidFill>
                  <a:srgbClr val="00B050"/>
                </a:solidFill>
              </a:rPr>
              <a:t> // </a:t>
            </a:r>
            <a:r>
              <a:rPr lang="zh-CN" altLang="zh-CN" dirty="0">
                <a:solidFill>
                  <a:srgbClr val="00B050"/>
                </a:solidFill>
              </a:rPr>
              <a:t>填入立即数类型</a:t>
            </a:r>
            <a:endParaRPr lang="zh-CN" altLang="zh-CN" dirty="0">
              <a:solidFill>
                <a:srgbClr val="00B050"/>
              </a:solidFill>
            </a:endParaRPr>
          </a:p>
          <a:p>
            <a:r>
              <a:rPr lang="en-US" altLang="zh-CN" dirty="0"/>
              <a:t>    </a:t>
            </a:r>
            <a:r>
              <a:rPr lang="en-US" altLang="zh-CN" dirty="0" err="1"/>
              <a:t>imm.addr</a:t>
            </a:r>
            <a:r>
              <a:rPr lang="en-US" altLang="zh-CN" dirty="0"/>
              <a:t> = </a:t>
            </a:r>
            <a:r>
              <a:rPr lang="en-US" altLang="zh-CN" dirty="0" err="1"/>
              <a:t>eip</a:t>
            </a:r>
            <a:r>
              <a:rPr lang="en-US" altLang="zh-CN" dirty="0"/>
              <a:t> + </a:t>
            </a:r>
            <a:r>
              <a:rPr lang="en-US" altLang="zh-CN" dirty="0" err="1"/>
              <a:t>len</a:t>
            </a:r>
            <a:r>
              <a:rPr lang="en-US" altLang="zh-CN" dirty="0"/>
              <a:t>;          </a:t>
            </a:r>
            <a:r>
              <a:rPr lang="en-US" altLang="zh-CN" dirty="0">
                <a:solidFill>
                  <a:srgbClr val="00B050"/>
                </a:solidFill>
              </a:rPr>
              <a:t> // </a:t>
            </a:r>
            <a:r>
              <a:rPr lang="zh-CN" altLang="zh-CN" dirty="0">
                <a:solidFill>
                  <a:srgbClr val="00B050"/>
                </a:solidFill>
              </a:rPr>
              <a:t>找到立即数的地址</a:t>
            </a:r>
            <a:endParaRPr lang="zh-CN" altLang="zh-CN" dirty="0">
              <a:solidFill>
                <a:srgbClr val="00B050"/>
              </a:solidFill>
            </a:endParaRPr>
          </a:p>
          <a:p>
            <a:r>
              <a:rPr lang="en-US" altLang="zh-CN" dirty="0"/>
              <a:t>    </a:t>
            </a:r>
            <a:r>
              <a:rPr lang="en-US" altLang="zh-CN" dirty="0" err="1"/>
              <a:t>imm.data_size</a:t>
            </a:r>
            <a:r>
              <a:rPr lang="en-US" altLang="zh-CN" dirty="0"/>
              <a:t> = </a:t>
            </a:r>
            <a:r>
              <a:rPr lang="en-US" altLang="zh-CN" dirty="0" err="1"/>
              <a:t>data_size</a:t>
            </a:r>
            <a:r>
              <a:rPr lang="en-US" altLang="zh-CN" dirty="0"/>
              <a:t>;       </a:t>
            </a:r>
            <a:endParaRPr lang="zh-CN" altLang="zh-CN" dirty="0"/>
          </a:p>
          <a:p>
            <a:r>
              <a:rPr lang="en-US" altLang="zh-CN" dirty="0"/>
              <a:t> </a:t>
            </a:r>
            <a:endParaRPr lang="zh-CN" altLang="zh-CN" dirty="0"/>
          </a:p>
          <a:p>
            <a:r>
              <a:rPr lang="en-US" altLang="zh-CN" dirty="0"/>
              <a:t>    </a:t>
            </a:r>
            <a:r>
              <a:rPr lang="en-US" altLang="zh-CN" dirty="0" err="1"/>
              <a:t>operand_read</a:t>
            </a:r>
            <a:r>
              <a:rPr lang="en-US" altLang="zh-CN" dirty="0"/>
              <a:t>(&amp;</a:t>
            </a:r>
            <a:r>
              <a:rPr lang="en-US" altLang="zh-CN" dirty="0" err="1"/>
              <a:t>imm</a:t>
            </a:r>
            <a:r>
              <a:rPr lang="en-US" altLang="zh-CN" dirty="0"/>
              <a:t>);        </a:t>
            </a:r>
            <a:r>
              <a:rPr lang="en-US" altLang="zh-CN" dirty="0">
                <a:solidFill>
                  <a:srgbClr val="00B050"/>
                </a:solidFill>
              </a:rPr>
              <a:t> // </a:t>
            </a:r>
            <a:r>
              <a:rPr lang="zh-CN" altLang="zh-CN" dirty="0">
                <a:solidFill>
                  <a:srgbClr val="00B050"/>
                </a:solidFill>
              </a:rPr>
              <a:t>执行</a:t>
            </a:r>
            <a:r>
              <a:rPr lang="en-US" altLang="zh-CN" dirty="0">
                <a:solidFill>
                  <a:srgbClr val="00B050"/>
                </a:solidFill>
              </a:rPr>
              <a:t> </a:t>
            </a:r>
            <a:r>
              <a:rPr lang="en-US" altLang="zh-CN" dirty="0" err="1">
                <a:solidFill>
                  <a:srgbClr val="00B050"/>
                </a:solidFill>
              </a:rPr>
              <a:t>mov</a:t>
            </a:r>
            <a:r>
              <a:rPr lang="en-US" altLang="zh-CN" dirty="0">
                <a:solidFill>
                  <a:srgbClr val="00B050"/>
                </a:solidFill>
              </a:rPr>
              <a:t> </a:t>
            </a:r>
            <a:r>
              <a:rPr lang="zh-CN" altLang="zh-CN" dirty="0">
                <a:solidFill>
                  <a:srgbClr val="00B050"/>
                </a:solidFill>
              </a:rPr>
              <a:t>操作</a:t>
            </a:r>
            <a:endParaRPr lang="zh-CN" altLang="zh-CN" dirty="0">
              <a:solidFill>
                <a:srgbClr val="00B050"/>
              </a:solidFill>
            </a:endParaRPr>
          </a:p>
          <a:p>
            <a:r>
              <a:rPr lang="en-US" altLang="zh-CN" dirty="0"/>
              <a:t>    </a:t>
            </a:r>
            <a:r>
              <a:rPr lang="en-US" altLang="zh-CN" dirty="0" err="1"/>
              <a:t>rm.val</a:t>
            </a:r>
            <a:r>
              <a:rPr lang="en-US" altLang="zh-CN" dirty="0"/>
              <a:t> = </a:t>
            </a:r>
            <a:r>
              <a:rPr lang="en-US" altLang="zh-CN" dirty="0" err="1"/>
              <a:t>imm.val</a:t>
            </a:r>
            <a:r>
              <a:rPr lang="en-US" altLang="zh-CN" dirty="0"/>
              <a:t>;</a:t>
            </a:r>
            <a:endParaRPr lang="zh-CN" altLang="zh-CN" dirty="0"/>
          </a:p>
          <a:p>
            <a:r>
              <a:rPr lang="en-US" altLang="zh-CN" dirty="0"/>
              <a:t>    </a:t>
            </a:r>
            <a:r>
              <a:rPr lang="en-US" altLang="zh-CN" dirty="0" err="1"/>
              <a:t>operand_write</a:t>
            </a:r>
            <a:r>
              <a:rPr lang="en-US" altLang="zh-CN" dirty="0"/>
              <a:t>(&amp;</a:t>
            </a:r>
            <a:r>
              <a:rPr lang="en-US" altLang="zh-CN" dirty="0" err="1"/>
              <a:t>rm</a:t>
            </a:r>
            <a:r>
              <a:rPr lang="en-US" altLang="zh-CN" dirty="0"/>
              <a:t>);</a:t>
            </a:r>
            <a:endParaRPr lang="zh-CN" altLang="zh-CN" dirty="0"/>
          </a:p>
          <a:p>
            <a:r>
              <a:rPr lang="en-US" altLang="zh-CN" dirty="0"/>
              <a:t> </a:t>
            </a:r>
            <a:endParaRPr lang="zh-CN" altLang="zh-CN" dirty="0"/>
          </a:p>
          <a:p>
            <a:r>
              <a:rPr lang="en-US" altLang="zh-CN" dirty="0"/>
              <a:t>    return </a:t>
            </a:r>
            <a:r>
              <a:rPr lang="en-US" altLang="zh-CN" dirty="0" err="1"/>
              <a:t>len</a:t>
            </a:r>
            <a:r>
              <a:rPr lang="en-US" altLang="zh-CN" dirty="0"/>
              <a:t> + </a:t>
            </a:r>
            <a:r>
              <a:rPr lang="en-US" altLang="zh-CN" dirty="0" err="1"/>
              <a:t>data_size</a:t>
            </a:r>
            <a:r>
              <a:rPr lang="en-US" altLang="zh-CN" dirty="0"/>
              <a:t> / 8;    </a:t>
            </a:r>
            <a:r>
              <a:rPr lang="en-US" altLang="zh-CN" dirty="0">
                <a:solidFill>
                  <a:srgbClr val="00B050"/>
                </a:solidFill>
              </a:rPr>
              <a:t>// opcode</a:t>
            </a:r>
            <a:r>
              <a:rPr lang="zh-CN" altLang="zh-CN" dirty="0">
                <a:solidFill>
                  <a:srgbClr val="00B050"/>
                </a:solidFill>
              </a:rPr>
              <a:t>长度</a:t>
            </a:r>
            <a:r>
              <a:rPr lang="en-US" altLang="zh-CN" dirty="0">
                <a:solidFill>
                  <a:srgbClr val="00B050"/>
                </a:solidFill>
              </a:rPr>
              <a:t> + </a:t>
            </a:r>
            <a:r>
              <a:rPr lang="en-US" altLang="zh-CN" dirty="0" err="1">
                <a:solidFill>
                  <a:srgbClr val="00B050"/>
                </a:solidFill>
              </a:rPr>
              <a:t>ModR</a:t>
            </a:r>
            <a:r>
              <a:rPr lang="en-US" altLang="zh-CN" dirty="0">
                <a:solidFill>
                  <a:srgbClr val="00B050"/>
                </a:solidFill>
              </a:rPr>
              <a:t>/M</a:t>
            </a:r>
            <a:r>
              <a:rPr lang="zh-CN" altLang="zh-CN" dirty="0">
                <a:solidFill>
                  <a:srgbClr val="00B050"/>
                </a:solidFill>
              </a:rPr>
              <a:t>字节扫描长度 </a:t>
            </a:r>
            <a:r>
              <a:rPr lang="en-US" altLang="zh-CN" dirty="0">
                <a:solidFill>
                  <a:srgbClr val="00B050"/>
                </a:solidFill>
              </a:rPr>
              <a:t>+ </a:t>
            </a:r>
            <a:r>
              <a:rPr lang="zh-CN" altLang="zh-CN" dirty="0">
                <a:solidFill>
                  <a:srgbClr val="00B050"/>
                </a:solidFill>
              </a:rPr>
              <a:t>立即数长度</a:t>
            </a:r>
            <a:endParaRPr lang="zh-CN" altLang="zh-CN" dirty="0">
              <a:solidFill>
                <a:srgbClr val="00B050"/>
              </a:solidFill>
            </a:endParaRPr>
          </a:p>
          <a:p>
            <a:r>
              <a:rPr lang="en-US" altLang="zh-CN" dirty="0"/>
              <a:t>}</a:t>
            </a:r>
            <a:endParaRPr lang="zh-CN" altLang="en-US" dirty="0"/>
          </a:p>
        </p:txBody>
      </p:sp>
      <p:sp>
        <p:nvSpPr>
          <p:cNvPr id="8" name="矩形 7"/>
          <p:cNvSpPr/>
          <p:nvPr/>
        </p:nvSpPr>
        <p:spPr>
          <a:xfrm>
            <a:off x="5619951" y="1567145"/>
            <a:ext cx="6477000" cy="4678204"/>
          </a:xfrm>
          <a:prstGeom prst="rect">
            <a:avLst/>
          </a:prstGeom>
          <a:solidFill>
            <a:schemeClr val="bg2"/>
          </a:solidFill>
        </p:spPr>
        <p:style>
          <a:lnRef idx="2">
            <a:schemeClr val="dk1"/>
          </a:lnRef>
          <a:fillRef idx="1">
            <a:schemeClr val="lt1"/>
          </a:fillRef>
          <a:effectRef idx="0">
            <a:schemeClr val="dk1"/>
          </a:effectRef>
          <a:fontRef idx="minor">
            <a:schemeClr val="dk1"/>
          </a:fontRef>
        </p:style>
        <p:txBody>
          <a:bodyPr wrap="square">
            <a:spAutoFit/>
          </a:bodyPr>
          <a:lstStyle/>
          <a:p>
            <a:r>
              <a:rPr lang="en-US" altLang="zh-CN" sz="2800" dirty="0" err="1">
                <a:solidFill>
                  <a:srgbClr val="0070C0"/>
                </a:solidFill>
              </a:rPr>
              <a:t>nemu</a:t>
            </a:r>
            <a:r>
              <a:rPr lang="en-US" altLang="zh-CN" sz="2800" dirty="0">
                <a:solidFill>
                  <a:srgbClr val="0070C0"/>
                </a:solidFill>
              </a:rPr>
              <a:t>/include/</a:t>
            </a:r>
            <a:r>
              <a:rPr lang="en-US" altLang="zh-CN" sz="2800" dirty="0" err="1">
                <a:solidFill>
                  <a:srgbClr val="0070C0"/>
                </a:solidFill>
              </a:rPr>
              <a:t>cpu</a:t>
            </a:r>
            <a:r>
              <a:rPr lang="en-US" altLang="zh-CN" sz="2800" dirty="0">
                <a:solidFill>
                  <a:srgbClr val="0070C0"/>
                </a:solidFill>
              </a:rPr>
              <a:t>/</a:t>
            </a:r>
            <a:r>
              <a:rPr lang="en-US" altLang="zh-CN" sz="2800" dirty="0" err="1">
                <a:solidFill>
                  <a:srgbClr val="0070C0"/>
                </a:solidFill>
              </a:rPr>
              <a:t>operand.h</a:t>
            </a:r>
            <a:endParaRPr lang="en-US" altLang="zh-CN" dirty="0">
              <a:solidFill>
                <a:srgbClr val="0070C0"/>
              </a:solidFill>
            </a:endParaRPr>
          </a:p>
          <a:p>
            <a:endParaRPr lang="en-US" altLang="zh-CN" dirty="0"/>
          </a:p>
          <a:p>
            <a:r>
              <a:rPr lang="en-US" altLang="zh-CN" dirty="0" err="1"/>
              <a:t>enum</a:t>
            </a:r>
            <a:r>
              <a:rPr lang="en-US" altLang="zh-CN" dirty="0"/>
              <a:t> {OPR_IMM, OPR_REG, OPR_MEM, OPR_CREG, OPR_SREG};</a:t>
            </a:r>
            <a:endParaRPr lang="en-US" altLang="zh-CN" dirty="0"/>
          </a:p>
          <a:p>
            <a:endParaRPr lang="en-US" altLang="zh-CN" dirty="0"/>
          </a:p>
          <a:p>
            <a:r>
              <a:rPr lang="zh-CN" altLang="en-US" dirty="0"/>
              <a:t>typedef struct {</a:t>
            </a:r>
            <a:endParaRPr lang="zh-CN" altLang="en-US" dirty="0"/>
          </a:p>
          <a:p>
            <a:r>
              <a:rPr lang="zh-CN" altLang="en-US"/>
              <a:t>	int </a:t>
            </a:r>
            <a:r>
              <a:rPr lang="zh-CN" altLang="en-US" dirty="0"/>
              <a:t>type;</a:t>
            </a:r>
            <a:endParaRPr lang="en-US" altLang="zh-CN" dirty="0"/>
          </a:p>
          <a:p>
            <a:r>
              <a:rPr lang="en-US" altLang="zh-CN" dirty="0">
                <a:solidFill>
                  <a:srgbClr val="00B050"/>
                </a:solidFill>
              </a:rPr>
              <a:t>// </a:t>
            </a:r>
            <a:r>
              <a:rPr lang="en-US" altLang="zh-CN" dirty="0" err="1">
                <a:solidFill>
                  <a:srgbClr val="00B050"/>
                </a:solidFill>
              </a:rPr>
              <a:t>addr</a:t>
            </a:r>
            <a:r>
              <a:rPr lang="zh-CN" altLang="en-US" dirty="0">
                <a:solidFill>
                  <a:srgbClr val="00B050"/>
                </a:solidFill>
              </a:rPr>
              <a:t>地址，随</a:t>
            </a:r>
            <a:r>
              <a:rPr lang="en-US" altLang="zh-CN" dirty="0">
                <a:solidFill>
                  <a:srgbClr val="00B050"/>
                </a:solidFill>
              </a:rPr>
              <a:t>type</a:t>
            </a:r>
            <a:r>
              <a:rPr lang="zh-CN" altLang="en-US" dirty="0">
                <a:solidFill>
                  <a:srgbClr val="00B050"/>
                </a:solidFill>
              </a:rPr>
              <a:t>不同解释也不同</a:t>
            </a:r>
            <a:endParaRPr lang="zh-CN" altLang="en-US" dirty="0">
              <a:solidFill>
                <a:srgbClr val="00B050"/>
              </a:solidFill>
            </a:endParaRPr>
          </a:p>
          <a:p>
            <a:r>
              <a:rPr lang="zh-CN" altLang="en-US"/>
              <a:t>	uint</a:t>
            </a:r>
            <a:r>
              <a:rPr lang="zh-CN" altLang="en-US" dirty="0"/>
              <a:t>32_t addr; </a:t>
            </a:r>
            <a:endParaRPr lang="zh-CN" altLang="en-US" dirty="0"/>
          </a:p>
          <a:p>
            <a:r>
              <a:rPr lang="zh-CN" altLang="en-US"/>
              <a:t>	uint</a:t>
            </a:r>
            <a:r>
              <a:rPr lang="zh-CN" altLang="en-US" dirty="0"/>
              <a:t>8_t sreg; </a:t>
            </a:r>
            <a:r>
              <a:rPr lang="en-US" altLang="zh-CN" dirty="0">
                <a:solidFill>
                  <a:srgbClr val="00B050"/>
                </a:solidFill>
              </a:rPr>
              <a:t>// </a:t>
            </a:r>
            <a:r>
              <a:rPr lang="zh-CN" altLang="en-US" dirty="0">
                <a:solidFill>
                  <a:srgbClr val="00B050"/>
                </a:solidFill>
              </a:rPr>
              <a:t>现在不管</a:t>
            </a:r>
            <a:endParaRPr lang="zh-CN" altLang="en-US" dirty="0">
              <a:solidFill>
                <a:srgbClr val="00B050"/>
              </a:solidFill>
            </a:endParaRPr>
          </a:p>
          <a:p>
            <a:r>
              <a:rPr lang="zh-CN" altLang="en-US"/>
              <a:t>	uint</a:t>
            </a:r>
            <a:r>
              <a:rPr lang="zh-CN" altLang="en-US" dirty="0"/>
              <a:t>32_t val;</a:t>
            </a:r>
            <a:endParaRPr lang="en-US" altLang="zh-CN" dirty="0"/>
          </a:p>
          <a:p>
            <a:r>
              <a:rPr lang="en-US" altLang="zh-CN" dirty="0">
                <a:solidFill>
                  <a:srgbClr val="00B050"/>
                </a:solidFill>
              </a:rPr>
              <a:t>// </a:t>
            </a:r>
            <a:r>
              <a:rPr lang="en-US" altLang="zh-CN" dirty="0" err="1">
                <a:solidFill>
                  <a:srgbClr val="00B050"/>
                </a:solidFill>
              </a:rPr>
              <a:t>data_size</a:t>
            </a:r>
            <a:r>
              <a:rPr lang="en-US" altLang="zh-CN" dirty="0">
                <a:solidFill>
                  <a:srgbClr val="00B050"/>
                </a:solidFill>
              </a:rPr>
              <a:t> = 8, 16, 32</a:t>
            </a:r>
            <a:endParaRPr lang="zh-CN" altLang="en-US" dirty="0">
              <a:solidFill>
                <a:srgbClr val="00B050"/>
              </a:solidFill>
            </a:endParaRPr>
          </a:p>
          <a:p>
            <a:r>
              <a:rPr lang="zh-CN" altLang="en-US"/>
              <a:t>	size</a:t>
            </a:r>
            <a:r>
              <a:rPr lang="zh-CN" altLang="en-US" dirty="0"/>
              <a:t>_t data_</a:t>
            </a:r>
            <a:r>
              <a:rPr lang="zh-CN" altLang="en-US"/>
              <a:t>size;	</a:t>
            </a:r>
            <a:endParaRPr lang="zh-CN" altLang="en-US" dirty="0"/>
          </a:p>
          <a:p>
            <a:r>
              <a:rPr lang="zh-CN" altLang="en-US" dirty="0"/>
              <a:t>#ifdef DEBUG</a:t>
            </a:r>
            <a:endParaRPr lang="zh-CN" altLang="en-US" dirty="0"/>
          </a:p>
          <a:p>
            <a:r>
              <a:rPr lang="zh-CN" altLang="en-US"/>
              <a:t>	MEM</a:t>
            </a:r>
            <a:r>
              <a:rPr lang="zh-CN" altLang="en-US" dirty="0"/>
              <a:t>_ADDR mem_addr;</a:t>
            </a:r>
            <a:endParaRPr lang="zh-CN" altLang="en-US" dirty="0"/>
          </a:p>
          <a:p>
            <a:r>
              <a:rPr lang="zh-CN" altLang="en-US" dirty="0"/>
              <a:t>#endif</a:t>
            </a:r>
            <a:endParaRPr lang="zh-CN" altLang="en-US" dirty="0"/>
          </a:p>
          <a:p>
            <a:r>
              <a:rPr lang="zh-CN" altLang="en-US" dirty="0"/>
              <a:t>}</a:t>
            </a:r>
            <a:r>
              <a:rPr lang="zh-CN" altLang="en-US" dirty="0">
                <a:solidFill>
                  <a:srgbClr val="FF0000"/>
                </a:solidFill>
              </a:rPr>
              <a:t>OPERAND</a:t>
            </a:r>
            <a:r>
              <a:rPr lang="en-US" altLang="zh-CN" dirty="0"/>
              <a:t>;</a:t>
            </a:r>
            <a:endParaRPr lang="zh-CN" altLang="en-US" dirty="0"/>
          </a:p>
        </p:txBody>
      </p:sp>
      <p:cxnSp>
        <p:nvCxnSpPr>
          <p:cNvPr id="10" name="直接箭头连接符 9"/>
          <p:cNvCxnSpPr/>
          <p:nvPr/>
        </p:nvCxnSpPr>
        <p:spPr>
          <a:xfrm flipH="1">
            <a:off x="8463816" y="3291841"/>
            <a:ext cx="789271" cy="7411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NEMU</a:t>
            </a:r>
            <a:r>
              <a:rPr lang="zh-CN" altLang="en-US" dirty="0"/>
              <a:t>模拟指令解码和执行</a:t>
            </a:r>
            <a:endParaRPr lang="zh-CN" altLang="en-US" dirty="0"/>
          </a:p>
        </p:txBody>
      </p:sp>
      <p:sp>
        <p:nvSpPr>
          <p:cNvPr id="4" name="日期占位符 3"/>
          <p:cNvSpPr>
            <a:spLocks noGrp="1"/>
          </p:cNvSpPr>
          <p:nvPr>
            <p:ph type="dt" sz="half" idx="10"/>
          </p:nvPr>
        </p:nvSpPr>
        <p:spPr/>
        <p:txBody>
          <a:bodyPr/>
          <a:lstStyle/>
          <a:p>
            <a:fld id="{960AD632-BA1E-4007-A689-FFA6C023ED74}" type="datetime3">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a:t>Programming Assignment</a:t>
            </a:r>
            <a:endParaRPr lang="zh-CN" altLang="en-US"/>
          </a:p>
        </p:txBody>
      </p:sp>
      <p:sp>
        <p:nvSpPr>
          <p:cNvPr id="6" name="灯片编号占位符 5"/>
          <p:cNvSpPr>
            <a:spLocks noGrp="1"/>
          </p:cNvSpPr>
          <p:nvPr>
            <p:ph type="sldNum" sz="quarter" idx="12"/>
          </p:nvPr>
        </p:nvSpPr>
        <p:spPr/>
        <p:txBody>
          <a:bodyPr/>
          <a:lstStyle/>
          <a:p>
            <a:fld id="{A40E146E-410D-4448-BCD3-F60DE2B98E6B}" type="slidenum">
              <a:rPr lang="zh-CN" altLang="en-US" smtClean="0"/>
            </a:fld>
            <a:endParaRPr lang="zh-CN" altLang="en-US"/>
          </a:p>
        </p:txBody>
      </p:sp>
      <p:sp>
        <p:nvSpPr>
          <p:cNvPr id="7" name="文本框 6"/>
          <p:cNvSpPr txBox="1"/>
          <p:nvPr/>
        </p:nvSpPr>
        <p:spPr>
          <a:xfrm>
            <a:off x="2025925" y="1585291"/>
            <a:ext cx="9632675" cy="5078313"/>
          </a:xfrm>
          <a:prstGeom prst="rect">
            <a:avLst/>
          </a:prstGeom>
          <a:noFill/>
        </p:spPr>
        <p:txBody>
          <a:bodyPr wrap="square" rtlCol="0">
            <a:spAutoFit/>
          </a:bodyPr>
          <a:lstStyle/>
          <a:p>
            <a:r>
              <a:rPr lang="en-US" altLang="zh-CN" dirty="0">
                <a:solidFill>
                  <a:srgbClr val="00B050"/>
                </a:solidFill>
              </a:rPr>
              <a:t>// </a:t>
            </a:r>
            <a:r>
              <a:rPr lang="zh-CN" altLang="zh-CN" dirty="0">
                <a:solidFill>
                  <a:srgbClr val="00B050"/>
                </a:solidFill>
              </a:rPr>
              <a:t>宏展开后这一行即为</a:t>
            </a:r>
            <a:r>
              <a:rPr lang="en-US" altLang="zh-CN" dirty="0">
                <a:solidFill>
                  <a:srgbClr val="00B050"/>
                </a:solidFill>
              </a:rPr>
              <a:t> </a:t>
            </a:r>
            <a:r>
              <a:rPr lang="en-US" altLang="zh-CN" dirty="0" err="1">
                <a:solidFill>
                  <a:srgbClr val="00B050"/>
                </a:solidFill>
              </a:rPr>
              <a:t>int</a:t>
            </a:r>
            <a:r>
              <a:rPr lang="en-US" altLang="zh-CN" dirty="0">
                <a:solidFill>
                  <a:srgbClr val="00B050"/>
                </a:solidFill>
              </a:rPr>
              <a:t> mov_i2rm_v(uint32_t </a:t>
            </a:r>
            <a:r>
              <a:rPr lang="en-US" altLang="zh-CN" dirty="0" err="1">
                <a:solidFill>
                  <a:srgbClr val="00B050"/>
                </a:solidFill>
              </a:rPr>
              <a:t>eip</a:t>
            </a:r>
            <a:r>
              <a:rPr lang="en-US" altLang="zh-CN" dirty="0">
                <a:solidFill>
                  <a:srgbClr val="00B050"/>
                </a:solidFill>
              </a:rPr>
              <a:t>, uint8_t opcode) {</a:t>
            </a:r>
            <a:endParaRPr lang="zh-CN" altLang="zh-CN" dirty="0">
              <a:solidFill>
                <a:srgbClr val="00B050"/>
              </a:solidFill>
            </a:endParaRPr>
          </a:p>
          <a:p>
            <a:r>
              <a:rPr lang="en-US" altLang="zh-CN" dirty="0" err="1"/>
              <a:t>make_instr_func</a:t>
            </a:r>
            <a:r>
              <a:rPr lang="en-US" altLang="zh-CN" dirty="0"/>
              <a:t>(mov_i2rm_v) { </a:t>
            </a:r>
            <a:endParaRPr lang="zh-CN" altLang="zh-CN" dirty="0"/>
          </a:p>
          <a:p>
            <a:r>
              <a:rPr lang="en-US" altLang="zh-CN" dirty="0"/>
              <a:t>    OPERAND </a:t>
            </a:r>
            <a:r>
              <a:rPr lang="en-US" altLang="zh-CN" dirty="0" err="1"/>
              <a:t>rm</a:t>
            </a:r>
            <a:r>
              <a:rPr lang="en-US" altLang="zh-CN" dirty="0"/>
              <a:t>, </a:t>
            </a:r>
            <a:r>
              <a:rPr lang="en-US" altLang="zh-CN" dirty="0" err="1"/>
              <a:t>imm</a:t>
            </a:r>
            <a:r>
              <a:rPr lang="en-US" altLang="zh-CN" dirty="0"/>
              <a:t>;          </a:t>
            </a:r>
            <a:r>
              <a:rPr lang="en-US" altLang="zh-CN" dirty="0">
                <a:solidFill>
                  <a:srgbClr val="00B050"/>
                </a:solidFill>
              </a:rPr>
              <a:t>// OPERAND</a:t>
            </a:r>
            <a:r>
              <a:rPr lang="zh-CN" altLang="en-US" dirty="0">
                <a:solidFill>
                  <a:srgbClr val="00B050"/>
                </a:solidFill>
              </a:rPr>
              <a:t>定义在</a:t>
            </a:r>
            <a:r>
              <a:rPr lang="en-US" altLang="zh-CN" dirty="0" err="1">
                <a:solidFill>
                  <a:srgbClr val="00B050"/>
                </a:solidFill>
              </a:rPr>
              <a:t>nemu</a:t>
            </a:r>
            <a:r>
              <a:rPr lang="en-US" altLang="zh-CN" dirty="0">
                <a:solidFill>
                  <a:srgbClr val="00B050"/>
                </a:solidFill>
              </a:rPr>
              <a:t>/include/</a:t>
            </a:r>
            <a:r>
              <a:rPr lang="en-US" altLang="zh-CN" dirty="0" err="1">
                <a:solidFill>
                  <a:srgbClr val="00B050"/>
                </a:solidFill>
              </a:rPr>
              <a:t>cpu</a:t>
            </a:r>
            <a:r>
              <a:rPr lang="en-US" altLang="zh-CN" dirty="0">
                <a:solidFill>
                  <a:srgbClr val="00B050"/>
                </a:solidFill>
              </a:rPr>
              <a:t>/</a:t>
            </a:r>
            <a:r>
              <a:rPr lang="en-US" altLang="zh-CN" dirty="0" err="1">
                <a:solidFill>
                  <a:srgbClr val="00B050"/>
                </a:solidFill>
              </a:rPr>
              <a:t>operand.h</a:t>
            </a:r>
            <a:endParaRPr lang="en-US" altLang="zh-CN" dirty="0">
              <a:solidFill>
                <a:srgbClr val="00B050"/>
              </a:solidFill>
            </a:endParaRPr>
          </a:p>
          <a:p>
            <a:r>
              <a:rPr lang="en-US" altLang="zh-CN" dirty="0">
                <a:solidFill>
                  <a:srgbClr val="00B050"/>
                </a:solidFill>
              </a:rPr>
              <a:t>                                                 // </a:t>
            </a:r>
            <a:r>
              <a:rPr lang="zh-CN" altLang="en-US" dirty="0">
                <a:solidFill>
                  <a:srgbClr val="00B050"/>
                </a:solidFill>
              </a:rPr>
              <a:t>看教程</a:t>
            </a:r>
            <a:r>
              <a:rPr lang="en-US" altLang="zh-CN" dirty="0">
                <a:solidFill>
                  <a:srgbClr val="00B050"/>
                </a:solidFill>
              </a:rPr>
              <a:t>§2-1.2.3</a:t>
            </a:r>
            <a:r>
              <a:rPr lang="en-US" altLang="zh-CN" dirty="0"/>
              <a:t> </a:t>
            </a:r>
            <a:endParaRPr lang="zh-CN" altLang="zh-CN" dirty="0"/>
          </a:p>
          <a:p>
            <a:r>
              <a:rPr lang="en-US" altLang="zh-CN" dirty="0"/>
              <a:t>    </a:t>
            </a:r>
            <a:r>
              <a:rPr lang="en-US" altLang="zh-CN" dirty="0" err="1"/>
              <a:t>rm.data_size</a:t>
            </a:r>
            <a:r>
              <a:rPr lang="en-US" altLang="zh-CN" dirty="0"/>
              <a:t> = </a:t>
            </a:r>
            <a:r>
              <a:rPr lang="en-US" altLang="zh-CN" dirty="0" err="1">
                <a:solidFill>
                  <a:srgbClr val="FF0000"/>
                </a:solidFill>
              </a:rPr>
              <a:t>data_size</a:t>
            </a:r>
            <a:r>
              <a:rPr lang="en-US" altLang="zh-CN" dirty="0"/>
              <a:t>; </a:t>
            </a:r>
            <a:r>
              <a:rPr lang="en-US" altLang="zh-CN" dirty="0">
                <a:solidFill>
                  <a:srgbClr val="00B050"/>
                </a:solidFill>
              </a:rPr>
              <a:t>// </a:t>
            </a:r>
            <a:r>
              <a:rPr lang="en-US" altLang="zh-CN" dirty="0" err="1"/>
              <a:t>data_size</a:t>
            </a:r>
            <a:r>
              <a:rPr lang="zh-CN" altLang="en-US" dirty="0">
                <a:solidFill>
                  <a:srgbClr val="00B050"/>
                </a:solidFill>
              </a:rPr>
              <a:t>是个全局变量，表示</a:t>
            </a:r>
            <a:r>
              <a:rPr lang="zh-CN" altLang="en-US" dirty="0">
                <a:solidFill>
                  <a:srgbClr val="00B0F0"/>
                </a:solidFill>
              </a:rPr>
              <a:t>操作数</a:t>
            </a:r>
            <a:r>
              <a:rPr lang="zh-CN" altLang="en-US" dirty="0">
                <a:solidFill>
                  <a:srgbClr val="00B050"/>
                </a:solidFill>
              </a:rPr>
              <a:t>的</a:t>
            </a:r>
            <a:r>
              <a:rPr lang="zh-CN" altLang="en-US" dirty="0">
                <a:solidFill>
                  <a:srgbClr val="FF0000"/>
                </a:solidFill>
              </a:rPr>
              <a:t>比特长度</a:t>
            </a:r>
            <a:endParaRPr lang="zh-CN" altLang="zh-CN" dirty="0">
              <a:solidFill>
                <a:srgbClr val="FF0000"/>
              </a:solidFill>
            </a:endParaRPr>
          </a:p>
          <a:p>
            <a:r>
              <a:rPr lang="en-US" altLang="zh-CN" dirty="0"/>
              <a:t>    </a:t>
            </a:r>
            <a:r>
              <a:rPr lang="en-US" altLang="zh-CN" dirty="0" err="1"/>
              <a:t>int</a:t>
            </a:r>
            <a:r>
              <a:rPr lang="en-US" altLang="zh-CN" dirty="0"/>
              <a:t> </a:t>
            </a:r>
            <a:r>
              <a:rPr lang="en-US" altLang="zh-CN" dirty="0" err="1"/>
              <a:t>len</a:t>
            </a:r>
            <a:r>
              <a:rPr lang="en-US" altLang="zh-CN" dirty="0"/>
              <a:t> = 1;                          </a:t>
            </a:r>
            <a:r>
              <a:rPr lang="en-US" altLang="zh-CN" dirty="0">
                <a:solidFill>
                  <a:srgbClr val="00B050"/>
                </a:solidFill>
              </a:rPr>
              <a:t>// opcode </a:t>
            </a:r>
            <a:r>
              <a:rPr lang="zh-CN" altLang="zh-CN" dirty="0">
                <a:solidFill>
                  <a:srgbClr val="00B050"/>
                </a:solidFill>
              </a:rPr>
              <a:t>长度</a:t>
            </a:r>
            <a:r>
              <a:rPr lang="en-US" altLang="zh-CN" dirty="0">
                <a:solidFill>
                  <a:srgbClr val="00B050"/>
                </a:solidFill>
              </a:rPr>
              <a:t>1</a:t>
            </a:r>
            <a:r>
              <a:rPr lang="zh-CN" altLang="zh-CN" dirty="0">
                <a:solidFill>
                  <a:srgbClr val="00B050"/>
                </a:solidFill>
              </a:rPr>
              <a:t>字节</a:t>
            </a:r>
            <a:endParaRPr lang="zh-CN" altLang="zh-CN" dirty="0">
              <a:solidFill>
                <a:srgbClr val="00B050"/>
              </a:solidFill>
            </a:endParaRPr>
          </a:p>
          <a:p>
            <a:r>
              <a:rPr lang="en-US" altLang="zh-CN" dirty="0"/>
              <a:t>    </a:t>
            </a:r>
            <a:r>
              <a:rPr lang="en-US" altLang="zh-CN" dirty="0" err="1"/>
              <a:t>len</a:t>
            </a:r>
            <a:r>
              <a:rPr lang="en-US" altLang="zh-CN" dirty="0"/>
              <a:t> += </a:t>
            </a:r>
            <a:r>
              <a:rPr lang="en-US" altLang="zh-CN" dirty="0" err="1"/>
              <a:t>modrm_rm</a:t>
            </a:r>
            <a:r>
              <a:rPr lang="en-US" altLang="zh-CN" dirty="0"/>
              <a:t>(</a:t>
            </a:r>
            <a:r>
              <a:rPr lang="en-US" altLang="zh-CN" dirty="0" err="1"/>
              <a:t>eip</a:t>
            </a:r>
            <a:r>
              <a:rPr lang="en-US" altLang="zh-CN" dirty="0"/>
              <a:t> + 1, &amp;</a:t>
            </a:r>
            <a:r>
              <a:rPr lang="en-US" altLang="zh-CN" dirty="0" err="1"/>
              <a:t>rm</a:t>
            </a:r>
            <a:r>
              <a:rPr lang="en-US" altLang="zh-CN" dirty="0"/>
              <a:t>); </a:t>
            </a:r>
            <a:r>
              <a:rPr lang="en-US" altLang="zh-CN" dirty="0">
                <a:solidFill>
                  <a:srgbClr val="00B050"/>
                </a:solidFill>
              </a:rPr>
              <a:t>// </a:t>
            </a:r>
            <a:r>
              <a:rPr lang="zh-CN" altLang="zh-CN" dirty="0">
                <a:solidFill>
                  <a:srgbClr val="00B050"/>
                </a:solidFill>
              </a:rPr>
              <a:t>读</a:t>
            </a:r>
            <a:r>
              <a:rPr lang="en-US" altLang="zh-CN" dirty="0" err="1">
                <a:solidFill>
                  <a:srgbClr val="00B050"/>
                </a:solidFill>
              </a:rPr>
              <a:t>ModR</a:t>
            </a:r>
            <a:r>
              <a:rPr lang="en-US" altLang="zh-CN" dirty="0">
                <a:solidFill>
                  <a:srgbClr val="00B050"/>
                </a:solidFill>
              </a:rPr>
              <a:t>/M</a:t>
            </a:r>
            <a:r>
              <a:rPr lang="zh-CN" altLang="zh-CN" dirty="0">
                <a:solidFill>
                  <a:srgbClr val="00B050"/>
                </a:solidFill>
              </a:rPr>
              <a:t>字节，</a:t>
            </a:r>
            <a:r>
              <a:rPr lang="en-US" altLang="zh-CN" dirty="0" err="1">
                <a:solidFill>
                  <a:srgbClr val="00B050"/>
                </a:solidFill>
              </a:rPr>
              <a:t>rm</a:t>
            </a:r>
            <a:r>
              <a:rPr lang="zh-CN" altLang="zh-CN" dirty="0">
                <a:solidFill>
                  <a:srgbClr val="00B050"/>
                </a:solidFill>
              </a:rPr>
              <a:t>的</a:t>
            </a:r>
            <a:r>
              <a:rPr lang="en-US" altLang="zh-CN" dirty="0">
                <a:solidFill>
                  <a:srgbClr val="00B050"/>
                </a:solidFill>
              </a:rPr>
              <a:t>type</a:t>
            </a:r>
            <a:r>
              <a:rPr lang="zh-CN" altLang="zh-CN" dirty="0">
                <a:solidFill>
                  <a:srgbClr val="00B050"/>
                </a:solidFill>
              </a:rPr>
              <a:t>和</a:t>
            </a:r>
            <a:r>
              <a:rPr lang="en-US" altLang="zh-CN" dirty="0" err="1">
                <a:solidFill>
                  <a:srgbClr val="00B050"/>
                </a:solidFill>
              </a:rPr>
              <a:t>addr</a:t>
            </a:r>
            <a:r>
              <a:rPr lang="zh-CN" altLang="zh-CN" dirty="0">
                <a:solidFill>
                  <a:srgbClr val="00B050"/>
                </a:solidFill>
              </a:rPr>
              <a:t>会被填写</a:t>
            </a:r>
            <a:endParaRPr lang="zh-CN" altLang="zh-CN" dirty="0">
              <a:solidFill>
                <a:srgbClr val="00B050"/>
              </a:solidFill>
            </a:endParaRPr>
          </a:p>
          <a:p>
            <a:r>
              <a:rPr lang="en-US" altLang="zh-CN" dirty="0"/>
              <a:t> </a:t>
            </a:r>
            <a:endParaRPr lang="zh-CN" altLang="zh-CN" dirty="0"/>
          </a:p>
          <a:p>
            <a:r>
              <a:rPr lang="en-US" altLang="zh-CN" dirty="0"/>
              <a:t>    </a:t>
            </a:r>
            <a:r>
              <a:rPr lang="en-US" altLang="zh-CN" dirty="0" err="1"/>
              <a:t>imm.type</a:t>
            </a:r>
            <a:r>
              <a:rPr lang="en-US" altLang="zh-CN" dirty="0"/>
              <a:t> = OPR_IMM;       </a:t>
            </a:r>
            <a:r>
              <a:rPr lang="en-US" altLang="zh-CN" dirty="0">
                <a:solidFill>
                  <a:srgbClr val="00B050"/>
                </a:solidFill>
              </a:rPr>
              <a:t> // </a:t>
            </a:r>
            <a:r>
              <a:rPr lang="zh-CN" altLang="zh-CN" dirty="0">
                <a:solidFill>
                  <a:srgbClr val="00B050"/>
                </a:solidFill>
              </a:rPr>
              <a:t>填入立即数类型</a:t>
            </a:r>
            <a:endParaRPr lang="zh-CN" altLang="zh-CN" dirty="0">
              <a:solidFill>
                <a:srgbClr val="00B050"/>
              </a:solidFill>
            </a:endParaRPr>
          </a:p>
          <a:p>
            <a:r>
              <a:rPr lang="en-US" altLang="zh-CN" dirty="0"/>
              <a:t>    </a:t>
            </a:r>
            <a:r>
              <a:rPr lang="en-US" altLang="zh-CN" dirty="0" err="1"/>
              <a:t>imm.addr</a:t>
            </a:r>
            <a:r>
              <a:rPr lang="en-US" altLang="zh-CN" dirty="0"/>
              <a:t> = </a:t>
            </a:r>
            <a:r>
              <a:rPr lang="en-US" altLang="zh-CN" dirty="0" err="1"/>
              <a:t>eip</a:t>
            </a:r>
            <a:r>
              <a:rPr lang="en-US" altLang="zh-CN" dirty="0"/>
              <a:t> + </a:t>
            </a:r>
            <a:r>
              <a:rPr lang="en-US" altLang="zh-CN" dirty="0" err="1"/>
              <a:t>len</a:t>
            </a:r>
            <a:r>
              <a:rPr lang="en-US" altLang="zh-CN" dirty="0"/>
              <a:t>;          </a:t>
            </a:r>
            <a:r>
              <a:rPr lang="en-US" altLang="zh-CN" dirty="0">
                <a:solidFill>
                  <a:srgbClr val="00B050"/>
                </a:solidFill>
              </a:rPr>
              <a:t> // </a:t>
            </a:r>
            <a:r>
              <a:rPr lang="zh-CN" altLang="zh-CN" dirty="0">
                <a:solidFill>
                  <a:srgbClr val="00B050"/>
                </a:solidFill>
              </a:rPr>
              <a:t>找到立即数的地址</a:t>
            </a:r>
            <a:endParaRPr lang="zh-CN" altLang="zh-CN" dirty="0">
              <a:solidFill>
                <a:srgbClr val="00B050"/>
              </a:solidFill>
            </a:endParaRPr>
          </a:p>
          <a:p>
            <a:r>
              <a:rPr lang="en-US" altLang="zh-CN" dirty="0"/>
              <a:t>    </a:t>
            </a:r>
            <a:r>
              <a:rPr lang="en-US" altLang="zh-CN" dirty="0" err="1"/>
              <a:t>imm.data_size</a:t>
            </a:r>
            <a:r>
              <a:rPr lang="en-US" altLang="zh-CN" dirty="0"/>
              <a:t> = </a:t>
            </a:r>
            <a:r>
              <a:rPr lang="en-US" altLang="zh-CN" dirty="0" err="1">
                <a:solidFill>
                  <a:srgbClr val="FF0000"/>
                </a:solidFill>
              </a:rPr>
              <a:t>data_size</a:t>
            </a:r>
            <a:r>
              <a:rPr lang="en-US" altLang="zh-CN" dirty="0"/>
              <a:t>;       </a:t>
            </a:r>
            <a:endParaRPr lang="zh-CN" altLang="zh-CN" dirty="0"/>
          </a:p>
          <a:p>
            <a:r>
              <a:rPr lang="en-US" altLang="zh-CN" dirty="0"/>
              <a:t> </a:t>
            </a:r>
            <a:endParaRPr lang="zh-CN" altLang="zh-CN" dirty="0"/>
          </a:p>
          <a:p>
            <a:r>
              <a:rPr lang="en-US" altLang="zh-CN" dirty="0"/>
              <a:t>    </a:t>
            </a:r>
            <a:r>
              <a:rPr lang="en-US" altLang="zh-CN" dirty="0" err="1"/>
              <a:t>operand_read</a:t>
            </a:r>
            <a:r>
              <a:rPr lang="en-US" altLang="zh-CN" dirty="0"/>
              <a:t>(&amp;</a:t>
            </a:r>
            <a:r>
              <a:rPr lang="en-US" altLang="zh-CN" dirty="0" err="1"/>
              <a:t>imm</a:t>
            </a:r>
            <a:r>
              <a:rPr lang="en-US" altLang="zh-CN" dirty="0"/>
              <a:t>);        </a:t>
            </a:r>
            <a:r>
              <a:rPr lang="en-US" altLang="zh-CN" dirty="0">
                <a:solidFill>
                  <a:srgbClr val="00B050"/>
                </a:solidFill>
              </a:rPr>
              <a:t> // </a:t>
            </a:r>
            <a:r>
              <a:rPr lang="zh-CN" altLang="zh-CN" dirty="0">
                <a:solidFill>
                  <a:srgbClr val="00B050"/>
                </a:solidFill>
              </a:rPr>
              <a:t>执行</a:t>
            </a:r>
            <a:r>
              <a:rPr lang="en-US" altLang="zh-CN" dirty="0">
                <a:solidFill>
                  <a:srgbClr val="00B050"/>
                </a:solidFill>
              </a:rPr>
              <a:t> </a:t>
            </a:r>
            <a:r>
              <a:rPr lang="en-US" altLang="zh-CN" dirty="0" err="1">
                <a:solidFill>
                  <a:srgbClr val="00B050"/>
                </a:solidFill>
              </a:rPr>
              <a:t>mov</a:t>
            </a:r>
            <a:r>
              <a:rPr lang="en-US" altLang="zh-CN" dirty="0">
                <a:solidFill>
                  <a:srgbClr val="00B050"/>
                </a:solidFill>
              </a:rPr>
              <a:t> </a:t>
            </a:r>
            <a:r>
              <a:rPr lang="zh-CN" altLang="zh-CN" dirty="0">
                <a:solidFill>
                  <a:srgbClr val="00B050"/>
                </a:solidFill>
              </a:rPr>
              <a:t>操作</a:t>
            </a:r>
            <a:endParaRPr lang="zh-CN" altLang="zh-CN" dirty="0">
              <a:solidFill>
                <a:srgbClr val="00B050"/>
              </a:solidFill>
            </a:endParaRPr>
          </a:p>
          <a:p>
            <a:r>
              <a:rPr lang="en-US" altLang="zh-CN" dirty="0"/>
              <a:t>    </a:t>
            </a:r>
            <a:r>
              <a:rPr lang="en-US" altLang="zh-CN" dirty="0" err="1"/>
              <a:t>rm.val</a:t>
            </a:r>
            <a:r>
              <a:rPr lang="en-US" altLang="zh-CN" dirty="0"/>
              <a:t> = </a:t>
            </a:r>
            <a:r>
              <a:rPr lang="en-US" altLang="zh-CN" dirty="0" err="1"/>
              <a:t>imm.val</a:t>
            </a:r>
            <a:r>
              <a:rPr lang="en-US" altLang="zh-CN" dirty="0"/>
              <a:t>;</a:t>
            </a:r>
            <a:endParaRPr lang="zh-CN" altLang="zh-CN" dirty="0"/>
          </a:p>
          <a:p>
            <a:r>
              <a:rPr lang="en-US" altLang="zh-CN" dirty="0"/>
              <a:t>    </a:t>
            </a:r>
            <a:r>
              <a:rPr lang="en-US" altLang="zh-CN" dirty="0" err="1"/>
              <a:t>operand_write</a:t>
            </a:r>
            <a:r>
              <a:rPr lang="en-US" altLang="zh-CN" dirty="0"/>
              <a:t>(&amp;</a:t>
            </a:r>
            <a:r>
              <a:rPr lang="en-US" altLang="zh-CN" dirty="0" err="1"/>
              <a:t>rm</a:t>
            </a:r>
            <a:r>
              <a:rPr lang="en-US" altLang="zh-CN" dirty="0"/>
              <a:t>);</a:t>
            </a:r>
            <a:endParaRPr lang="zh-CN" altLang="zh-CN" dirty="0"/>
          </a:p>
          <a:p>
            <a:r>
              <a:rPr lang="en-US" altLang="zh-CN" dirty="0"/>
              <a:t> </a:t>
            </a:r>
            <a:endParaRPr lang="zh-CN" altLang="zh-CN" dirty="0"/>
          </a:p>
          <a:p>
            <a:r>
              <a:rPr lang="en-US" altLang="zh-CN" dirty="0"/>
              <a:t>    return </a:t>
            </a:r>
            <a:r>
              <a:rPr lang="en-US" altLang="zh-CN" dirty="0" err="1"/>
              <a:t>len</a:t>
            </a:r>
            <a:r>
              <a:rPr lang="en-US" altLang="zh-CN" dirty="0"/>
              <a:t> + </a:t>
            </a:r>
            <a:r>
              <a:rPr lang="en-US" altLang="zh-CN" dirty="0" err="1"/>
              <a:t>data_size</a:t>
            </a:r>
            <a:r>
              <a:rPr lang="en-US" altLang="zh-CN" dirty="0"/>
              <a:t> / 8;    </a:t>
            </a:r>
            <a:r>
              <a:rPr lang="en-US" altLang="zh-CN" dirty="0">
                <a:solidFill>
                  <a:srgbClr val="00B050"/>
                </a:solidFill>
              </a:rPr>
              <a:t>// opcode</a:t>
            </a:r>
            <a:r>
              <a:rPr lang="zh-CN" altLang="zh-CN" dirty="0">
                <a:solidFill>
                  <a:srgbClr val="00B050"/>
                </a:solidFill>
              </a:rPr>
              <a:t>长度</a:t>
            </a:r>
            <a:r>
              <a:rPr lang="en-US" altLang="zh-CN" dirty="0">
                <a:solidFill>
                  <a:srgbClr val="00B050"/>
                </a:solidFill>
              </a:rPr>
              <a:t> + </a:t>
            </a:r>
            <a:r>
              <a:rPr lang="en-US" altLang="zh-CN" dirty="0" err="1">
                <a:solidFill>
                  <a:srgbClr val="00B050"/>
                </a:solidFill>
              </a:rPr>
              <a:t>ModR</a:t>
            </a:r>
            <a:r>
              <a:rPr lang="en-US" altLang="zh-CN" dirty="0">
                <a:solidFill>
                  <a:srgbClr val="00B050"/>
                </a:solidFill>
              </a:rPr>
              <a:t>/M</a:t>
            </a:r>
            <a:r>
              <a:rPr lang="zh-CN" altLang="zh-CN" dirty="0">
                <a:solidFill>
                  <a:srgbClr val="00B050"/>
                </a:solidFill>
              </a:rPr>
              <a:t>字节扫描长度 </a:t>
            </a:r>
            <a:r>
              <a:rPr lang="en-US" altLang="zh-CN" dirty="0">
                <a:solidFill>
                  <a:srgbClr val="00B050"/>
                </a:solidFill>
              </a:rPr>
              <a:t>+ </a:t>
            </a:r>
            <a:r>
              <a:rPr lang="zh-CN" altLang="zh-CN" dirty="0">
                <a:solidFill>
                  <a:srgbClr val="00B050"/>
                </a:solidFill>
              </a:rPr>
              <a:t>立即数长度</a:t>
            </a:r>
            <a:endParaRPr lang="zh-CN" altLang="zh-CN" dirty="0">
              <a:solidFill>
                <a:srgbClr val="00B050"/>
              </a:solidFill>
            </a:endParaRPr>
          </a:p>
          <a:p>
            <a:r>
              <a:rPr lang="en-US" altLang="zh-CN" dirty="0"/>
              <a:t>}</a:t>
            </a:r>
            <a:endParaRPr lang="zh-CN"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NEMU</a:t>
            </a:r>
            <a:r>
              <a:rPr lang="zh-CN" altLang="en-US" dirty="0"/>
              <a:t>模拟指令解码和执行</a:t>
            </a:r>
            <a:endParaRPr lang="zh-CN" altLang="en-US" dirty="0"/>
          </a:p>
        </p:txBody>
      </p:sp>
      <p:sp>
        <p:nvSpPr>
          <p:cNvPr id="4" name="日期占位符 3"/>
          <p:cNvSpPr>
            <a:spLocks noGrp="1"/>
          </p:cNvSpPr>
          <p:nvPr>
            <p:ph type="dt" sz="half" idx="10"/>
          </p:nvPr>
        </p:nvSpPr>
        <p:spPr/>
        <p:txBody>
          <a:bodyPr/>
          <a:lstStyle/>
          <a:p>
            <a:fld id="{960AD632-BA1E-4007-A689-FFA6C023ED74}" type="datetime3">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a:t>Programming Assignment</a:t>
            </a:r>
            <a:endParaRPr lang="zh-CN" altLang="en-US"/>
          </a:p>
        </p:txBody>
      </p:sp>
      <p:sp>
        <p:nvSpPr>
          <p:cNvPr id="6" name="灯片编号占位符 5"/>
          <p:cNvSpPr>
            <a:spLocks noGrp="1"/>
          </p:cNvSpPr>
          <p:nvPr>
            <p:ph type="sldNum" sz="quarter" idx="12"/>
          </p:nvPr>
        </p:nvSpPr>
        <p:spPr/>
        <p:txBody>
          <a:bodyPr/>
          <a:lstStyle/>
          <a:p>
            <a:fld id="{A40E146E-410D-4448-BCD3-F60DE2B98E6B}" type="slidenum">
              <a:rPr lang="zh-CN" altLang="en-US" smtClean="0"/>
            </a:fld>
            <a:endParaRPr lang="zh-CN" altLang="en-US"/>
          </a:p>
        </p:txBody>
      </p:sp>
      <p:sp>
        <p:nvSpPr>
          <p:cNvPr id="7" name="文本框 6"/>
          <p:cNvSpPr txBox="1"/>
          <p:nvPr/>
        </p:nvSpPr>
        <p:spPr>
          <a:xfrm>
            <a:off x="2025925" y="1585291"/>
            <a:ext cx="9188175" cy="5078313"/>
          </a:xfrm>
          <a:prstGeom prst="rect">
            <a:avLst/>
          </a:prstGeom>
          <a:noFill/>
        </p:spPr>
        <p:txBody>
          <a:bodyPr wrap="square" rtlCol="0">
            <a:spAutoFit/>
          </a:bodyPr>
          <a:lstStyle/>
          <a:p>
            <a:r>
              <a:rPr lang="en-US" altLang="zh-CN" dirty="0">
                <a:solidFill>
                  <a:srgbClr val="00B050"/>
                </a:solidFill>
              </a:rPr>
              <a:t>// </a:t>
            </a:r>
            <a:r>
              <a:rPr lang="zh-CN" altLang="zh-CN" dirty="0">
                <a:solidFill>
                  <a:srgbClr val="00B050"/>
                </a:solidFill>
              </a:rPr>
              <a:t>宏展开后这一行即为</a:t>
            </a:r>
            <a:r>
              <a:rPr lang="en-US" altLang="zh-CN" dirty="0">
                <a:solidFill>
                  <a:srgbClr val="00B050"/>
                </a:solidFill>
              </a:rPr>
              <a:t> </a:t>
            </a:r>
            <a:r>
              <a:rPr lang="en-US" altLang="zh-CN" dirty="0" err="1">
                <a:solidFill>
                  <a:srgbClr val="00B050"/>
                </a:solidFill>
              </a:rPr>
              <a:t>int</a:t>
            </a:r>
            <a:r>
              <a:rPr lang="en-US" altLang="zh-CN" dirty="0">
                <a:solidFill>
                  <a:srgbClr val="00B050"/>
                </a:solidFill>
              </a:rPr>
              <a:t> mov_i2rm_v(uint32_t </a:t>
            </a:r>
            <a:r>
              <a:rPr lang="en-US" altLang="zh-CN" dirty="0" err="1">
                <a:solidFill>
                  <a:srgbClr val="00B050"/>
                </a:solidFill>
              </a:rPr>
              <a:t>eip</a:t>
            </a:r>
            <a:r>
              <a:rPr lang="en-US" altLang="zh-CN" dirty="0">
                <a:solidFill>
                  <a:srgbClr val="00B050"/>
                </a:solidFill>
              </a:rPr>
              <a:t>, uint8_t opcode) {</a:t>
            </a:r>
            <a:endParaRPr lang="zh-CN" altLang="zh-CN" dirty="0">
              <a:solidFill>
                <a:srgbClr val="00B050"/>
              </a:solidFill>
            </a:endParaRPr>
          </a:p>
          <a:p>
            <a:r>
              <a:rPr lang="en-US" altLang="zh-CN" dirty="0" err="1"/>
              <a:t>make_instr_func</a:t>
            </a:r>
            <a:r>
              <a:rPr lang="en-US" altLang="zh-CN" dirty="0"/>
              <a:t>(mov_i2rm_v) { </a:t>
            </a:r>
            <a:endParaRPr lang="zh-CN" altLang="zh-CN" dirty="0"/>
          </a:p>
          <a:p>
            <a:r>
              <a:rPr lang="en-US" altLang="zh-CN" dirty="0"/>
              <a:t>    OPERAND </a:t>
            </a:r>
            <a:r>
              <a:rPr lang="en-US" altLang="zh-CN" dirty="0" err="1"/>
              <a:t>rm</a:t>
            </a:r>
            <a:r>
              <a:rPr lang="en-US" altLang="zh-CN" dirty="0"/>
              <a:t>, </a:t>
            </a:r>
            <a:r>
              <a:rPr lang="en-US" altLang="zh-CN" dirty="0" err="1"/>
              <a:t>imm</a:t>
            </a:r>
            <a:r>
              <a:rPr lang="en-US" altLang="zh-CN" dirty="0"/>
              <a:t>;          </a:t>
            </a:r>
            <a:r>
              <a:rPr lang="en-US" altLang="zh-CN" dirty="0">
                <a:solidFill>
                  <a:srgbClr val="00B050"/>
                </a:solidFill>
              </a:rPr>
              <a:t>// OPERAND</a:t>
            </a:r>
            <a:r>
              <a:rPr lang="zh-CN" altLang="en-US" dirty="0">
                <a:solidFill>
                  <a:srgbClr val="00B050"/>
                </a:solidFill>
              </a:rPr>
              <a:t>定义在</a:t>
            </a:r>
            <a:r>
              <a:rPr lang="en-US" altLang="zh-CN" dirty="0" err="1">
                <a:solidFill>
                  <a:srgbClr val="00B050"/>
                </a:solidFill>
              </a:rPr>
              <a:t>nemu</a:t>
            </a:r>
            <a:r>
              <a:rPr lang="en-US" altLang="zh-CN" dirty="0">
                <a:solidFill>
                  <a:srgbClr val="00B050"/>
                </a:solidFill>
              </a:rPr>
              <a:t>/include/</a:t>
            </a:r>
            <a:r>
              <a:rPr lang="en-US" altLang="zh-CN" dirty="0" err="1">
                <a:solidFill>
                  <a:srgbClr val="00B050"/>
                </a:solidFill>
              </a:rPr>
              <a:t>cpu</a:t>
            </a:r>
            <a:r>
              <a:rPr lang="en-US" altLang="zh-CN" dirty="0">
                <a:solidFill>
                  <a:srgbClr val="00B050"/>
                </a:solidFill>
              </a:rPr>
              <a:t>/</a:t>
            </a:r>
            <a:r>
              <a:rPr lang="en-US" altLang="zh-CN" dirty="0" err="1">
                <a:solidFill>
                  <a:srgbClr val="00B050"/>
                </a:solidFill>
              </a:rPr>
              <a:t>operand.h</a:t>
            </a:r>
            <a:endParaRPr lang="en-US" altLang="zh-CN" dirty="0">
              <a:solidFill>
                <a:srgbClr val="00B050"/>
              </a:solidFill>
            </a:endParaRPr>
          </a:p>
          <a:p>
            <a:r>
              <a:rPr lang="en-US" altLang="zh-CN" dirty="0">
                <a:solidFill>
                  <a:srgbClr val="00B050"/>
                </a:solidFill>
              </a:rPr>
              <a:t>                                                 // </a:t>
            </a:r>
            <a:r>
              <a:rPr lang="zh-CN" altLang="en-US" dirty="0">
                <a:solidFill>
                  <a:srgbClr val="00B050"/>
                </a:solidFill>
              </a:rPr>
              <a:t>看教程</a:t>
            </a:r>
            <a:r>
              <a:rPr lang="en-US" altLang="zh-CN" dirty="0">
                <a:solidFill>
                  <a:srgbClr val="00B050"/>
                </a:solidFill>
              </a:rPr>
              <a:t>§2-1.2.3</a:t>
            </a:r>
            <a:r>
              <a:rPr lang="en-US" altLang="zh-CN" dirty="0"/>
              <a:t> </a:t>
            </a:r>
            <a:endParaRPr lang="zh-CN" altLang="zh-CN" dirty="0"/>
          </a:p>
          <a:p>
            <a:r>
              <a:rPr lang="en-US" altLang="zh-CN" dirty="0"/>
              <a:t>    </a:t>
            </a:r>
            <a:r>
              <a:rPr lang="en-US" altLang="zh-CN" dirty="0" err="1"/>
              <a:t>rm.data_size</a:t>
            </a:r>
            <a:r>
              <a:rPr lang="en-US" altLang="zh-CN" dirty="0"/>
              <a:t> = </a:t>
            </a:r>
            <a:r>
              <a:rPr lang="en-US" altLang="zh-CN" dirty="0" err="1">
                <a:solidFill>
                  <a:srgbClr val="FF0000"/>
                </a:solidFill>
              </a:rPr>
              <a:t>data_size</a:t>
            </a:r>
            <a:r>
              <a:rPr lang="en-US" altLang="zh-CN" dirty="0"/>
              <a:t>; </a:t>
            </a:r>
            <a:r>
              <a:rPr lang="en-US" altLang="zh-CN" dirty="0">
                <a:solidFill>
                  <a:srgbClr val="00B050"/>
                </a:solidFill>
              </a:rPr>
              <a:t>// </a:t>
            </a:r>
            <a:r>
              <a:rPr lang="en-US" altLang="zh-CN" dirty="0" err="1">
                <a:solidFill>
                  <a:srgbClr val="FF0000"/>
                </a:solidFill>
              </a:rPr>
              <a:t>data_size</a:t>
            </a:r>
            <a:r>
              <a:rPr lang="zh-CN" altLang="en-US" dirty="0">
                <a:solidFill>
                  <a:srgbClr val="00B050"/>
                </a:solidFill>
              </a:rPr>
              <a:t>是个全局变量，表示</a:t>
            </a:r>
            <a:r>
              <a:rPr lang="zh-CN" altLang="en-US" dirty="0">
                <a:solidFill>
                  <a:srgbClr val="00B0F0"/>
                </a:solidFill>
              </a:rPr>
              <a:t>操作数</a:t>
            </a:r>
            <a:r>
              <a:rPr lang="zh-CN" altLang="en-US" dirty="0">
                <a:solidFill>
                  <a:srgbClr val="00B050"/>
                </a:solidFill>
              </a:rPr>
              <a:t>的</a:t>
            </a:r>
            <a:r>
              <a:rPr lang="zh-CN" altLang="en-US" dirty="0">
                <a:solidFill>
                  <a:srgbClr val="FF0000"/>
                </a:solidFill>
              </a:rPr>
              <a:t>比特长度</a:t>
            </a:r>
            <a:endParaRPr lang="zh-CN" altLang="zh-CN" dirty="0">
              <a:solidFill>
                <a:srgbClr val="FF0000"/>
              </a:solidFill>
            </a:endParaRPr>
          </a:p>
          <a:p>
            <a:r>
              <a:rPr lang="en-US" altLang="zh-CN" dirty="0"/>
              <a:t>    </a:t>
            </a:r>
            <a:r>
              <a:rPr lang="en-US" altLang="zh-CN" dirty="0" err="1"/>
              <a:t>int</a:t>
            </a:r>
            <a:r>
              <a:rPr lang="en-US" altLang="zh-CN" dirty="0"/>
              <a:t> </a:t>
            </a:r>
            <a:r>
              <a:rPr lang="en-US" altLang="zh-CN" dirty="0" err="1"/>
              <a:t>len</a:t>
            </a:r>
            <a:r>
              <a:rPr lang="en-US" altLang="zh-CN" dirty="0"/>
              <a:t> = 1;                          </a:t>
            </a:r>
            <a:r>
              <a:rPr lang="en-US" altLang="zh-CN" dirty="0">
                <a:solidFill>
                  <a:srgbClr val="00B050"/>
                </a:solidFill>
              </a:rPr>
              <a:t>// opcode </a:t>
            </a:r>
            <a:r>
              <a:rPr lang="zh-CN" altLang="zh-CN" dirty="0">
                <a:solidFill>
                  <a:srgbClr val="00B050"/>
                </a:solidFill>
              </a:rPr>
              <a:t>长度</a:t>
            </a:r>
            <a:r>
              <a:rPr lang="en-US" altLang="zh-CN" dirty="0">
                <a:solidFill>
                  <a:srgbClr val="00B050"/>
                </a:solidFill>
              </a:rPr>
              <a:t>1</a:t>
            </a:r>
            <a:r>
              <a:rPr lang="zh-CN" altLang="zh-CN" dirty="0">
                <a:solidFill>
                  <a:srgbClr val="00B050"/>
                </a:solidFill>
              </a:rPr>
              <a:t>字节</a:t>
            </a:r>
            <a:endParaRPr lang="zh-CN" altLang="zh-CN" dirty="0">
              <a:solidFill>
                <a:srgbClr val="00B050"/>
              </a:solidFill>
            </a:endParaRPr>
          </a:p>
          <a:p>
            <a:r>
              <a:rPr lang="en-US" altLang="zh-CN" dirty="0"/>
              <a:t>    </a:t>
            </a:r>
            <a:r>
              <a:rPr lang="en-US" altLang="zh-CN" dirty="0" err="1"/>
              <a:t>len</a:t>
            </a:r>
            <a:r>
              <a:rPr lang="en-US" altLang="zh-CN" dirty="0"/>
              <a:t> += </a:t>
            </a:r>
            <a:r>
              <a:rPr lang="en-US" altLang="zh-CN" dirty="0" err="1"/>
              <a:t>modrm_rm</a:t>
            </a:r>
            <a:r>
              <a:rPr lang="en-US" altLang="zh-CN" dirty="0"/>
              <a:t>(</a:t>
            </a:r>
            <a:r>
              <a:rPr lang="en-US" altLang="zh-CN" dirty="0" err="1"/>
              <a:t>eip</a:t>
            </a:r>
            <a:r>
              <a:rPr lang="en-US" altLang="zh-CN" dirty="0"/>
              <a:t> + 1, &amp;</a:t>
            </a:r>
            <a:r>
              <a:rPr lang="en-US" altLang="zh-CN" dirty="0" err="1"/>
              <a:t>rm</a:t>
            </a:r>
            <a:r>
              <a:rPr lang="en-US" altLang="zh-CN" dirty="0"/>
              <a:t>); </a:t>
            </a:r>
            <a:r>
              <a:rPr lang="en-US" altLang="zh-CN" dirty="0">
                <a:solidFill>
                  <a:srgbClr val="00B050"/>
                </a:solidFill>
              </a:rPr>
              <a:t>// </a:t>
            </a:r>
            <a:r>
              <a:rPr lang="zh-CN" altLang="zh-CN" dirty="0">
                <a:solidFill>
                  <a:srgbClr val="00B050"/>
                </a:solidFill>
              </a:rPr>
              <a:t>读</a:t>
            </a:r>
            <a:r>
              <a:rPr lang="en-US" altLang="zh-CN" dirty="0" err="1">
                <a:solidFill>
                  <a:srgbClr val="00B050"/>
                </a:solidFill>
              </a:rPr>
              <a:t>ModR</a:t>
            </a:r>
            <a:r>
              <a:rPr lang="en-US" altLang="zh-CN" dirty="0">
                <a:solidFill>
                  <a:srgbClr val="00B050"/>
                </a:solidFill>
              </a:rPr>
              <a:t>/M</a:t>
            </a:r>
            <a:r>
              <a:rPr lang="zh-CN" altLang="zh-CN" dirty="0">
                <a:solidFill>
                  <a:srgbClr val="00B050"/>
                </a:solidFill>
              </a:rPr>
              <a:t>字节，</a:t>
            </a:r>
            <a:r>
              <a:rPr lang="en-US" altLang="zh-CN" dirty="0" err="1">
                <a:solidFill>
                  <a:srgbClr val="00B050"/>
                </a:solidFill>
              </a:rPr>
              <a:t>rm</a:t>
            </a:r>
            <a:r>
              <a:rPr lang="zh-CN" altLang="zh-CN" dirty="0">
                <a:solidFill>
                  <a:srgbClr val="00B050"/>
                </a:solidFill>
              </a:rPr>
              <a:t>的</a:t>
            </a:r>
            <a:r>
              <a:rPr lang="en-US" altLang="zh-CN" dirty="0">
                <a:solidFill>
                  <a:srgbClr val="00B050"/>
                </a:solidFill>
              </a:rPr>
              <a:t>type</a:t>
            </a:r>
            <a:r>
              <a:rPr lang="zh-CN" altLang="zh-CN" dirty="0">
                <a:solidFill>
                  <a:srgbClr val="00B050"/>
                </a:solidFill>
              </a:rPr>
              <a:t>和</a:t>
            </a:r>
            <a:r>
              <a:rPr lang="en-US" altLang="zh-CN" dirty="0" err="1">
                <a:solidFill>
                  <a:srgbClr val="00B050"/>
                </a:solidFill>
              </a:rPr>
              <a:t>addr</a:t>
            </a:r>
            <a:r>
              <a:rPr lang="zh-CN" altLang="zh-CN" dirty="0">
                <a:solidFill>
                  <a:srgbClr val="00B050"/>
                </a:solidFill>
              </a:rPr>
              <a:t>会被填写</a:t>
            </a:r>
            <a:endParaRPr lang="zh-CN" altLang="zh-CN" dirty="0">
              <a:solidFill>
                <a:srgbClr val="00B050"/>
              </a:solidFill>
            </a:endParaRPr>
          </a:p>
          <a:p>
            <a:r>
              <a:rPr lang="en-US" altLang="zh-CN" dirty="0"/>
              <a:t> </a:t>
            </a:r>
            <a:endParaRPr lang="zh-CN" altLang="zh-CN" dirty="0"/>
          </a:p>
          <a:p>
            <a:r>
              <a:rPr lang="en-US" altLang="zh-CN" dirty="0"/>
              <a:t>    </a:t>
            </a:r>
            <a:r>
              <a:rPr lang="en-US" altLang="zh-CN" dirty="0" err="1"/>
              <a:t>imm.type</a:t>
            </a:r>
            <a:r>
              <a:rPr lang="en-US" altLang="zh-CN" dirty="0"/>
              <a:t> = OPR_IMM;       </a:t>
            </a:r>
            <a:r>
              <a:rPr lang="en-US" altLang="zh-CN" dirty="0">
                <a:solidFill>
                  <a:srgbClr val="00B050"/>
                </a:solidFill>
              </a:rPr>
              <a:t> // </a:t>
            </a:r>
            <a:r>
              <a:rPr lang="zh-CN" altLang="zh-CN" dirty="0">
                <a:solidFill>
                  <a:srgbClr val="00B050"/>
                </a:solidFill>
              </a:rPr>
              <a:t>填入立即数类型</a:t>
            </a:r>
            <a:endParaRPr lang="zh-CN" altLang="zh-CN" dirty="0">
              <a:solidFill>
                <a:srgbClr val="00B050"/>
              </a:solidFill>
            </a:endParaRPr>
          </a:p>
          <a:p>
            <a:r>
              <a:rPr lang="en-US" altLang="zh-CN" dirty="0"/>
              <a:t>    </a:t>
            </a:r>
            <a:r>
              <a:rPr lang="en-US" altLang="zh-CN" dirty="0" err="1"/>
              <a:t>imm.addr</a:t>
            </a:r>
            <a:r>
              <a:rPr lang="en-US" altLang="zh-CN" dirty="0"/>
              <a:t> = </a:t>
            </a:r>
            <a:r>
              <a:rPr lang="en-US" altLang="zh-CN" dirty="0" err="1"/>
              <a:t>eip</a:t>
            </a:r>
            <a:r>
              <a:rPr lang="en-US" altLang="zh-CN" dirty="0"/>
              <a:t> + </a:t>
            </a:r>
            <a:r>
              <a:rPr lang="en-US" altLang="zh-CN" dirty="0" err="1"/>
              <a:t>len</a:t>
            </a:r>
            <a:r>
              <a:rPr lang="en-US" altLang="zh-CN" dirty="0"/>
              <a:t>;          </a:t>
            </a:r>
            <a:r>
              <a:rPr lang="en-US" altLang="zh-CN" dirty="0">
                <a:solidFill>
                  <a:srgbClr val="00B050"/>
                </a:solidFill>
              </a:rPr>
              <a:t> // </a:t>
            </a:r>
            <a:r>
              <a:rPr lang="zh-CN" altLang="zh-CN" dirty="0">
                <a:solidFill>
                  <a:srgbClr val="00B050"/>
                </a:solidFill>
              </a:rPr>
              <a:t>找到立即数的地址</a:t>
            </a:r>
            <a:endParaRPr lang="zh-CN" altLang="zh-CN" dirty="0">
              <a:solidFill>
                <a:srgbClr val="00B050"/>
              </a:solidFill>
            </a:endParaRPr>
          </a:p>
          <a:p>
            <a:r>
              <a:rPr lang="en-US" altLang="zh-CN" dirty="0"/>
              <a:t>    </a:t>
            </a:r>
            <a:r>
              <a:rPr lang="en-US" altLang="zh-CN" dirty="0" err="1"/>
              <a:t>imm.data_size</a:t>
            </a:r>
            <a:r>
              <a:rPr lang="en-US" altLang="zh-CN" dirty="0"/>
              <a:t> = </a:t>
            </a:r>
            <a:r>
              <a:rPr lang="en-US" altLang="zh-CN" dirty="0" err="1"/>
              <a:t>data_size</a:t>
            </a:r>
            <a:r>
              <a:rPr lang="en-US" altLang="zh-CN" dirty="0"/>
              <a:t>;       </a:t>
            </a:r>
            <a:endParaRPr lang="zh-CN" altLang="zh-CN" dirty="0"/>
          </a:p>
          <a:p>
            <a:r>
              <a:rPr lang="en-US" altLang="zh-CN" dirty="0"/>
              <a:t> </a:t>
            </a:r>
            <a:endParaRPr lang="zh-CN" altLang="zh-CN" dirty="0"/>
          </a:p>
          <a:p>
            <a:r>
              <a:rPr lang="en-US" altLang="zh-CN" dirty="0"/>
              <a:t>    </a:t>
            </a:r>
            <a:r>
              <a:rPr lang="en-US" altLang="zh-CN" dirty="0" err="1"/>
              <a:t>operand_read</a:t>
            </a:r>
            <a:r>
              <a:rPr lang="en-US" altLang="zh-CN" dirty="0"/>
              <a:t>(&amp;</a:t>
            </a:r>
            <a:r>
              <a:rPr lang="en-US" altLang="zh-CN" dirty="0" err="1"/>
              <a:t>imm</a:t>
            </a:r>
            <a:r>
              <a:rPr lang="en-US" altLang="zh-CN" dirty="0"/>
              <a:t>);        </a:t>
            </a:r>
            <a:r>
              <a:rPr lang="en-US" altLang="zh-CN" dirty="0">
                <a:solidFill>
                  <a:srgbClr val="00B050"/>
                </a:solidFill>
              </a:rPr>
              <a:t> // </a:t>
            </a:r>
            <a:r>
              <a:rPr lang="zh-CN" altLang="zh-CN" dirty="0">
                <a:solidFill>
                  <a:srgbClr val="00B050"/>
                </a:solidFill>
              </a:rPr>
              <a:t>执行</a:t>
            </a:r>
            <a:r>
              <a:rPr lang="en-US" altLang="zh-CN" dirty="0">
                <a:solidFill>
                  <a:srgbClr val="00B050"/>
                </a:solidFill>
              </a:rPr>
              <a:t> </a:t>
            </a:r>
            <a:r>
              <a:rPr lang="en-US" altLang="zh-CN" dirty="0" err="1">
                <a:solidFill>
                  <a:srgbClr val="00B050"/>
                </a:solidFill>
              </a:rPr>
              <a:t>mov</a:t>
            </a:r>
            <a:r>
              <a:rPr lang="en-US" altLang="zh-CN" dirty="0">
                <a:solidFill>
                  <a:srgbClr val="00B050"/>
                </a:solidFill>
              </a:rPr>
              <a:t> </a:t>
            </a:r>
            <a:r>
              <a:rPr lang="zh-CN" altLang="zh-CN" dirty="0">
                <a:solidFill>
                  <a:srgbClr val="00B050"/>
                </a:solidFill>
              </a:rPr>
              <a:t>操作</a:t>
            </a:r>
            <a:endParaRPr lang="zh-CN" altLang="zh-CN" dirty="0">
              <a:solidFill>
                <a:srgbClr val="00B050"/>
              </a:solidFill>
            </a:endParaRPr>
          </a:p>
          <a:p>
            <a:r>
              <a:rPr lang="en-US" altLang="zh-CN" dirty="0"/>
              <a:t>    </a:t>
            </a:r>
            <a:r>
              <a:rPr lang="en-US" altLang="zh-CN" dirty="0" err="1"/>
              <a:t>rm.val</a:t>
            </a:r>
            <a:r>
              <a:rPr lang="en-US" altLang="zh-CN" dirty="0"/>
              <a:t> = </a:t>
            </a:r>
            <a:r>
              <a:rPr lang="en-US" altLang="zh-CN" dirty="0" err="1"/>
              <a:t>imm.val</a:t>
            </a:r>
            <a:r>
              <a:rPr lang="en-US" altLang="zh-CN" dirty="0"/>
              <a:t>;</a:t>
            </a:r>
            <a:endParaRPr lang="zh-CN" altLang="zh-CN" dirty="0"/>
          </a:p>
          <a:p>
            <a:r>
              <a:rPr lang="en-US" altLang="zh-CN" dirty="0"/>
              <a:t>    </a:t>
            </a:r>
            <a:r>
              <a:rPr lang="en-US" altLang="zh-CN" dirty="0" err="1"/>
              <a:t>operand_write</a:t>
            </a:r>
            <a:r>
              <a:rPr lang="en-US" altLang="zh-CN" dirty="0"/>
              <a:t>(&amp;</a:t>
            </a:r>
            <a:r>
              <a:rPr lang="en-US" altLang="zh-CN" dirty="0" err="1"/>
              <a:t>rm</a:t>
            </a:r>
            <a:r>
              <a:rPr lang="en-US" altLang="zh-CN" dirty="0"/>
              <a:t>);</a:t>
            </a:r>
            <a:endParaRPr lang="zh-CN" altLang="zh-CN" dirty="0"/>
          </a:p>
          <a:p>
            <a:r>
              <a:rPr lang="en-US" altLang="zh-CN" dirty="0"/>
              <a:t> </a:t>
            </a:r>
            <a:endParaRPr lang="zh-CN" altLang="zh-CN" dirty="0"/>
          </a:p>
          <a:p>
            <a:r>
              <a:rPr lang="en-US" altLang="zh-CN" dirty="0"/>
              <a:t>    return </a:t>
            </a:r>
            <a:r>
              <a:rPr lang="en-US" altLang="zh-CN" dirty="0" err="1"/>
              <a:t>len</a:t>
            </a:r>
            <a:r>
              <a:rPr lang="en-US" altLang="zh-CN" dirty="0"/>
              <a:t> + </a:t>
            </a:r>
            <a:r>
              <a:rPr lang="en-US" altLang="zh-CN" dirty="0" err="1"/>
              <a:t>data_size</a:t>
            </a:r>
            <a:r>
              <a:rPr lang="en-US" altLang="zh-CN" dirty="0"/>
              <a:t> / 8;    </a:t>
            </a:r>
            <a:r>
              <a:rPr lang="en-US" altLang="zh-CN" dirty="0">
                <a:solidFill>
                  <a:srgbClr val="00B050"/>
                </a:solidFill>
              </a:rPr>
              <a:t>// opcode</a:t>
            </a:r>
            <a:r>
              <a:rPr lang="zh-CN" altLang="zh-CN" dirty="0">
                <a:solidFill>
                  <a:srgbClr val="00B050"/>
                </a:solidFill>
              </a:rPr>
              <a:t>长度</a:t>
            </a:r>
            <a:r>
              <a:rPr lang="en-US" altLang="zh-CN" dirty="0">
                <a:solidFill>
                  <a:srgbClr val="00B050"/>
                </a:solidFill>
              </a:rPr>
              <a:t> + </a:t>
            </a:r>
            <a:r>
              <a:rPr lang="en-US" altLang="zh-CN" dirty="0" err="1">
                <a:solidFill>
                  <a:srgbClr val="00B050"/>
                </a:solidFill>
              </a:rPr>
              <a:t>ModR</a:t>
            </a:r>
            <a:r>
              <a:rPr lang="en-US" altLang="zh-CN" dirty="0">
                <a:solidFill>
                  <a:srgbClr val="00B050"/>
                </a:solidFill>
              </a:rPr>
              <a:t>/M</a:t>
            </a:r>
            <a:r>
              <a:rPr lang="zh-CN" altLang="zh-CN" dirty="0">
                <a:solidFill>
                  <a:srgbClr val="00B050"/>
                </a:solidFill>
              </a:rPr>
              <a:t>字节扫描长度 </a:t>
            </a:r>
            <a:r>
              <a:rPr lang="en-US" altLang="zh-CN" dirty="0">
                <a:solidFill>
                  <a:srgbClr val="00B050"/>
                </a:solidFill>
              </a:rPr>
              <a:t>+ </a:t>
            </a:r>
            <a:r>
              <a:rPr lang="zh-CN" altLang="zh-CN" dirty="0">
                <a:solidFill>
                  <a:srgbClr val="00B050"/>
                </a:solidFill>
              </a:rPr>
              <a:t>立即数长度</a:t>
            </a:r>
            <a:endParaRPr lang="zh-CN" altLang="zh-CN" dirty="0">
              <a:solidFill>
                <a:srgbClr val="00B050"/>
              </a:solidFill>
            </a:endParaRPr>
          </a:p>
          <a:p>
            <a:r>
              <a:rPr lang="en-US" altLang="zh-CN" dirty="0"/>
              <a:t>}</a:t>
            </a:r>
            <a:endParaRPr lang="zh-CN" altLang="en-US" dirty="0"/>
          </a:p>
        </p:txBody>
      </p:sp>
      <p:sp>
        <p:nvSpPr>
          <p:cNvPr id="8" name="矩形 7"/>
          <p:cNvSpPr/>
          <p:nvPr/>
        </p:nvSpPr>
        <p:spPr>
          <a:xfrm>
            <a:off x="4783067" y="2200844"/>
            <a:ext cx="5792998" cy="3847207"/>
          </a:xfrm>
          <a:prstGeom prst="rect">
            <a:avLst/>
          </a:prstGeom>
          <a:solidFill>
            <a:schemeClr val="bg2"/>
          </a:solidFill>
        </p:spPr>
        <p:style>
          <a:lnRef idx="2">
            <a:schemeClr val="dk1"/>
          </a:lnRef>
          <a:fillRef idx="1">
            <a:schemeClr val="lt1"/>
          </a:fillRef>
          <a:effectRef idx="0">
            <a:schemeClr val="dk1"/>
          </a:effectRef>
          <a:fontRef idx="minor">
            <a:schemeClr val="dk1"/>
          </a:fontRef>
        </p:style>
        <p:txBody>
          <a:bodyPr wrap="square">
            <a:spAutoFit/>
          </a:bodyPr>
          <a:lstStyle/>
          <a:p>
            <a:r>
              <a:rPr lang="en-US" altLang="zh-CN" sz="2800" dirty="0" err="1">
                <a:solidFill>
                  <a:srgbClr val="0070C0"/>
                </a:solidFill>
              </a:rPr>
              <a:t>nemu</a:t>
            </a:r>
            <a:r>
              <a:rPr lang="en-US" altLang="zh-CN" sz="2800" dirty="0">
                <a:solidFill>
                  <a:srgbClr val="0070C0"/>
                </a:solidFill>
              </a:rPr>
              <a:t>/</a:t>
            </a:r>
            <a:r>
              <a:rPr lang="en-US" altLang="zh-CN" sz="2800" dirty="0" err="1">
                <a:solidFill>
                  <a:srgbClr val="0070C0"/>
                </a:solidFill>
              </a:rPr>
              <a:t>src</a:t>
            </a:r>
            <a:r>
              <a:rPr lang="en-US" altLang="zh-CN" sz="2800" dirty="0">
                <a:solidFill>
                  <a:srgbClr val="0070C0"/>
                </a:solidFill>
              </a:rPr>
              <a:t>/</a:t>
            </a:r>
            <a:r>
              <a:rPr lang="en-US" altLang="zh-CN" sz="2800" dirty="0" err="1">
                <a:solidFill>
                  <a:srgbClr val="0070C0"/>
                </a:solidFill>
              </a:rPr>
              <a:t>cpu</a:t>
            </a:r>
            <a:r>
              <a:rPr lang="en-US" altLang="zh-CN" sz="2800" dirty="0">
                <a:solidFill>
                  <a:srgbClr val="0070C0"/>
                </a:solidFill>
              </a:rPr>
              <a:t>/</a:t>
            </a:r>
            <a:r>
              <a:rPr lang="en-US" altLang="zh-CN" sz="2800" dirty="0" err="1">
                <a:solidFill>
                  <a:srgbClr val="0070C0"/>
                </a:solidFill>
              </a:rPr>
              <a:t>instr</a:t>
            </a:r>
            <a:r>
              <a:rPr lang="en-US" altLang="zh-CN" sz="2800" dirty="0">
                <a:solidFill>
                  <a:srgbClr val="0070C0"/>
                </a:solidFill>
              </a:rPr>
              <a:t>/</a:t>
            </a:r>
            <a:r>
              <a:rPr lang="en-US" altLang="zh-CN" sz="2800" dirty="0" err="1">
                <a:solidFill>
                  <a:srgbClr val="0070C0"/>
                </a:solidFill>
              </a:rPr>
              <a:t>data_size.c</a:t>
            </a:r>
            <a:endParaRPr lang="en-US" altLang="zh-CN" sz="2800" dirty="0">
              <a:solidFill>
                <a:srgbClr val="0070C0"/>
              </a:solidFill>
            </a:endParaRPr>
          </a:p>
          <a:p>
            <a:endParaRPr lang="en-US" altLang="zh-CN" dirty="0"/>
          </a:p>
          <a:p>
            <a:r>
              <a:rPr lang="zh-CN" altLang="en-US" dirty="0"/>
              <a:t>uint8_t </a:t>
            </a:r>
            <a:r>
              <a:rPr lang="zh-CN" altLang="en-US" dirty="0">
                <a:solidFill>
                  <a:srgbClr val="FF0000"/>
                </a:solidFill>
              </a:rPr>
              <a:t>data_size</a:t>
            </a:r>
            <a:r>
              <a:rPr lang="zh-CN" altLang="en-US" dirty="0"/>
              <a:t> = 32;</a:t>
            </a:r>
            <a:endParaRPr lang="zh-CN" altLang="en-US" dirty="0"/>
          </a:p>
          <a:p>
            <a:endParaRPr lang="zh-CN" altLang="en-US" dirty="0"/>
          </a:p>
          <a:p>
            <a:r>
              <a:rPr lang="zh-CN" altLang="en-US" dirty="0"/>
              <a:t>make_instr_func(data_size_16) {</a:t>
            </a:r>
            <a:endParaRPr lang="zh-CN" altLang="en-US" dirty="0"/>
          </a:p>
          <a:p>
            <a:r>
              <a:rPr lang="zh-CN" altLang="en-US"/>
              <a:t>	uint</a:t>
            </a:r>
            <a:r>
              <a:rPr lang="zh-CN" altLang="en-US" dirty="0"/>
              <a:t>8_t op_code = 0;</a:t>
            </a:r>
            <a:endParaRPr lang="zh-CN" altLang="en-US" dirty="0"/>
          </a:p>
          <a:p>
            <a:r>
              <a:rPr lang="zh-CN" altLang="en-US"/>
              <a:t>	int </a:t>
            </a:r>
            <a:r>
              <a:rPr lang="zh-CN" altLang="en-US" dirty="0"/>
              <a:t>len = 0;</a:t>
            </a:r>
            <a:endParaRPr lang="zh-CN" altLang="en-US" dirty="0"/>
          </a:p>
          <a:p>
            <a:r>
              <a:rPr lang="zh-CN" altLang="en-US"/>
              <a:t>	data</a:t>
            </a:r>
            <a:r>
              <a:rPr lang="zh-CN" altLang="en-US" dirty="0"/>
              <a:t>_size = 16;</a:t>
            </a:r>
            <a:endParaRPr lang="zh-CN" altLang="en-US" dirty="0"/>
          </a:p>
          <a:p>
            <a:r>
              <a:rPr lang="zh-CN" altLang="en-US"/>
              <a:t>	op</a:t>
            </a:r>
            <a:r>
              <a:rPr lang="zh-CN" altLang="en-US" dirty="0"/>
              <a:t>_code = instr_fetch(eip + 1, 1);</a:t>
            </a:r>
            <a:endParaRPr lang="zh-CN" altLang="en-US" dirty="0"/>
          </a:p>
          <a:p>
            <a:r>
              <a:rPr lang="zh-CN" altLang="en-US"/>
              <a:t>	len </a:t>
            </a:r>
            <a:r>
              <a:rPr lang="zh-CN" altLang="en-US" dirty="0"/>
              <a:t>= opcode_entry[op_code](eip + 1, op_code);</a:t>
            </a:r>
            <a:endParaRPr lang="zh-CN" altLang="en-US" dirty="0"/>
          </a:p>
          <a:p>
            <a:r>
              <a:rPr lang="zh-CN" altLang="en-US"/>
              <a:t>	data</a:t>
            </a:r>
            <a:r>
              <a:rPr lang="zh-CN" altLang="en-US" dirty="0"/>
              <a:t>_size = 32;</a:t>
            </a:r>
            <a:endParaRPr lang="zh-CN" altLang="en-US" dirty="0"/>
          </a:p>
          <a:p>
            <a:r>
              <a:rPr lang="zh-CN" altLang="en-US"/>
              <a:t>	return </a:t>
            </a:r>
            <a:r>
              <a:rPr lang="zh-CN" altLang="en-US" dirty="0"/>
              <a:t>1 + len;</a:t>
            </a:r>
            <a:endParaRPr lang="zh-CN" altLang="en-US" dirty="0"/>
          </a:p>
          <a:p>
            <a:r>
              <a:rPr lang="zh-CN" altLang="en-US" dirty="0"/>
              <a:t>}</a:t>
            </a:r>
            <a:endParaRPr lang="zh-CN"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NEMU</a:t>
            </a:r>
            <a:r>
              <a:rPr lang="zh-CN" altLang="en-US" dirty="0"/>
              <a:t>模拟指令解码和执行</a:t>
            </a:r>
            <a:endParaRPr lang="zh-CN" altLang="en-US" dirty="0"/>
          </a:p>
        </p:txBody>
      </p:sp>
      <p:sp>
        <p:nvSpPr>
          <p:cNvPr id="4" name="日期占位符 3"/>
          <p:cNvSpPr>
            <a:spLocks noGrp="1"/>
          </p:cNvSpPr>
          <p:nvPr>
            <p:ph type="dt" sz="half" idx="10"/>
          </p:nvPr>
        </p:nvSpPr>
        <p:spPr/>
        <p:txBody>
          <a:bodyPr/>
          <a:lstStyle/>
          <a:p>
            <a:fld id="{960AD632-BA1E-4007-A689-FFA6C023ED74}" type="datetime3">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a:t>Programming Assignment</a:t>
            </a:r>
            <a:endParaRPr lang="zh-CN" altLang="en-US"/>
          </a:p>
        </p:txBody>
      </p:sp>
      <p:sp>
        <p:nvSpPr>
          <p:cNvPr id="6" name="灯片编号占位符 5"/>
          <p:cNvSpPr>
            <a:spLocks noGrp="1"/>
          </p:cNvSpPr>
          <p:nvPr>
            <p:ph type="sldNum" sz="quarter" idx="12"/>
          </p:nvPr>
        </p:nvSpPr>
        <p:spPr/>
        <p:txBody>
          <a:bodyPr/>
          <a:lstStyle/>
          <a:p>
            <a:fld id="{A40E146E-410D-4448-BCD3-F60DE2B98E6B}" type="slidenum">
              <a:rPr lang="zh-CN" altLang="en-US" smtClean="0"/>
            </a:fld>
            <a:endParaRPr lang="zh-CN" altLang="en-US"/>
          </a:p>
        </p:txBody>
      </p:sp>
      <p:sp>
        <p:nvSpPr>
          <p:cNvPr id="7" name="文本框 6"/>
          <p:cNvSpPr txBox="1"/>
          <p:nvPr/>
        </p:nvSpPr>
        <p:spPr>
          <a:xfrm>
            <a:off x="2025925" y="1585291"/>
            <a:ext cx="9327875" cy="5078313"/>
          </a:xfrm>
          <a:prstGeom prst="rect">
            <a:avLst/>
          </a:prstGeom>
          <a:noFill/>
        </p:spPr>
        <p:txBody>
          <a:bodyPr wrap="square" rtlCol="0">
            <a:spAutoFit/>
          </a:bodyPr>
          <a:lstStyle/>
          <a:p>
            <a:r>
              <a:rPr lang="en-US" altLang="zh-CN" dirty="0">
                <a:solidFill>
                  <a:srgbClr val="00B050"/>
                </a:solidFill>
              </a:rPr>
              <a:t>// </a:t>
            </a:r>
            <a:r>
              <a:rPr lang="zh-CN" altLang="zh-CN" dirty="0">
                <a:solidFill>
                  <a:srgbClr val="00B050"/>
                </a:solidFill>
              </a:rPr>
              <a:t>宏展开后这一行即为</a:t>
            </a:r>
            <a:r>
              <a:rPr lang="en-US" altLang="zh-CN" dirty="0">
                <a:solidFill>
                  <a:srgbClr val="00B050"/>
                </a:solidFill>
              </a:rPr>
              <a:t> </a:t>
            </a:r>
            <a:r>
              <a:rPr lang="en-US" altLang="zh-CN" dirty="0" err="1">
                <a:solidFill>
                  <a:srgbClr val="00B050"/>
                </a:solidFill>
              </a:rPr>
              <a:t>int</a:t>
            </a:r>
            <a:r>
              <a:rPr lang="en-US" altLang="zh-CN" dirty="0">
                <a:solidFill>
                  <a:srgbClr val="00B050"/>
                </a:solidFill>
              </a:rPr>
              <a:t> mov_i2rm_v(uint32_t </a:t>
            </a:r>
            <a:r>
              <a:rPr lang="en-US" altLang="zh-CN" dirty="0" err="1">
                <a:solidFill>
                  <a:srgbClr val="00B050"/>
                </a:solidFill>
              </a:rPr>
              <a:t>eip</a:t>
            </a:r>
            <a:r>
              <a:rPr lang="en-US" altLang="zh-CN" dirty="0">
                <a:solidFill>
                  <a:srgbClr val="00B050"/>
                </a:solidFill>
              </a:rPr>
              <a:t>, uint8_t opcode) {</a:t>
            </a:r>
            <a:endParaRPr lang="zh-CN" altLang="zh-CN" dirty="0">
              <a:solidFill>
                <a:srgbClr val="00B050"/>
              </a:solidFill>
            </a:endParaRPr>
          </a:p>
          <a:p>
            <a:r>
              <a:rPr lang="en-US" altLang="zh-CN" dirty="0" err="1"/>
              <a:t>make_instr_func</a:t>
            </a:r>
            <a:r>
              <a:rPr lang="en-US" altLang="zh-CN" dirty="0"/>
              <a:t>(mov_i2rm_v) { </a:t>
            </a:r>
            <a:endParaRPr lang="zh-CN" altLang="zh-CN" dirty="0"/>
          </a:p>
          <a:p>
            <a:r>
              <a:rPr lang="en-US" altLang="zh-CN" dirty="0"/>
              <a:t>    OPERAND </a:t>
            </a:r>
            <a:r>
              <a:rPr lang="en-US" altLang="zh-CN" dirty="0" err="1"/>
              <a:t>rm</a:t>
            </a:r>
            <a:r>
              <a:rPr lang="en-US" altLang="zh-CN" dirty="0"/>
              <a:t>, </a:t>
            </a:r>
            <a:r>
              <a:rPr lang="en-US" altLang="zh-CN" dirty="0" err="1"/>
              <a:t>imm</a:t>
            </a:r>
            <a:r>
              <a:rPr lang="en-US" altLang="zh-CN" dirty="0"/>
              <a:t>;          </a:t>
            </a:r>
            <a:r>
              <a:rPr lang="en-US" altLang="zh-CN" dirty="0">
                <a:solidFill>
                  <a:srgbClr val="00B050"/>
                </a:solidFill>
              </a:rPr>
              <a:t>// OPERAND</a:t>
            </a:r>
            <a:r>
              <a:rPr lang="zh-CN" altLang="en-US" dirty="0">
                <a:solidFill>
                  <a:srgbClr val="00B050"/>
                </a:solidFill>
              </a:rPr>
              <a:t>定义在</a:t>
            </a:r>
            <a:r>
              <a:rPr lang="en-US" altLang="zh-CN" dirty="0" err="1">
                <a:solidFill>
                  <a:srgbClr val="00B050"/>
                </a:solidFill>
              </a:rPr>
              <a:t>nemu</a:t>
            </a:r>
            <a:r>
              <a:rPr lang="en-US" altLang="zh-CN" dirty="0">
                <a:solidFill>
                  <a:srgbClr val="00B050"/>
                </a:solidFill>
              </a:rPr>
              <a:t>/include/</a:t>
            </a:r>
            <a:r>
              <a:rPr lang="en-US" altLang="zh-CN" dirty="0" err="1">
                <a:solidFill>
                  <a:srgbClr val="00B050"/>
                </a:solidFill>
              </a:rPr>
              <a:t>cpu</a:t>
            </a:r>
            <a:r>
              <a:rPr lang="en-US" altLang="zh-CN" dirty="0">
                <a:solidFill>
                  <a:srgbClr val="00B050"/>
                </a:solidFill>
              </a:rPr>
              <a:t>/</a:t>
            </a:r>
            <a:r>
              <a:rPr lang="en-US" altLang="zh-CN" dirty="0" err="1">
                <a:solidFill>
                  <a:srgbClr val="00B050"/>
                </a:solidFill>
              </a:rPr>
              <a:t>operand.h</a:t>
            </a:r>
            <a:endParaRPr lang="en-US" altLang="zh-CN" dirty="0">
              <a:solidFill>
                <a:srgbClr val="00B050"/>
              </a:solidFill>
            </a:endParaRPr>
          </a:p>
          <a:p>
            <a:r>
              <a:rPr lang="en-US" altLang="zh-CN" dirty="0">
                <a:solidFill>
                  <a:srgbClr val="00B050"/>
                </a:solidFill>
              </a:rPr>
              <a:t>                                                 // </a:t>
            </a:r>
            <a:r>
              <a:rPr lang="zh-CN" altLang="en-US" dirty="0">
                <a:solidFill>
                  <a:srgbClr val="00B050"/>
                </a:solidFill>
              </a:rPr>
              <a:t>看教程</a:t>
            </a:r>
            <a:r>
              <a:rPr lang="en-US" altLang="zh-CN" dirty="0">
                <a:solidFill>
                  <a:srgbClr val="00B050"/>
                </a:solidFill>
              </a:rPr>
              <a:t>§2-1.2.3</a:t>
            </a:r>
            <a:r>
              <a:rPr lang="en-US" altLang="zh-CN" dirty="0"/>
              <a:t> </a:t>
            </a:r>
            <a:endParaRPr lang="zh-CN" altLang="zh-CN" dirty="0"/>
          </a:p>
          <a:p>
            <a:r>
              <a:rPr lang="en-US" altLang="zh-CN" dirty="0"/>
              <a:t>    </a:t>
            </a:r>
            <a:r>
              <a:rPr lang="en-US" altLang="zh-CN" dirty="0" err="1"/>
              <a:t>rm.data_size</a:t>
            </a:r>
            <a:r>
              <a:rPr lang="en-US" altLang="zh-CN" dirty="0"/>
              <a:t> = </a:t>
            </a:r>
            <a:r>
              <a:rPr lang="en-US" altLang="zh-CN" dirty="0" err="1"/>
              <a:t>data_size</a:t>
            </a:r>
            <a:r>
              <a:rPr lang="en-US" altLang="zh-CN" dirty="0"/>
              <a:t>; </a:t>
            </a:r>
            <a:r>
              <a:rPr lang="en-US" altLang="zh-CN" dirty="0">
                <a:solidFill>
                  <a:srgbClr val="00B050"/>
                </a:solidFill>
              </a:rPr>
              <a:t>// </a:t>
            </a:r>
            <a:r>
              <a:rPr lang="en-US" altLang="zh-CN" dirty="0" err="1"/>
              <a:t>data_size</a:t>
            </a:r>
            <a:r>
              <a:rPr lang="zh-CN" altLang="en-US" dirty="0">
                <a:solidFill>
                  <a:srgbClr val="00B050"/>
                </a:solidFill>
              </a:rPr>
              <a:t>是个全局变量，表示</a:t>
            </a:r>
            <a:r>
              <a:rPr lang="zh-CN" altLang="en-US" dirty="0">
                <a:solidFill>
                  <a:srgbClr val="00B0F0"/>
                </a:solidFill>
              </a:rPr>
              <a:t>操作数</a:t>
            </a:r>
            <a:r>
              <a:rPr lang="zh-CN" altLang="en-US" dirty="0">
                <a:solidFill>
                  <a:srgbClr val="00B050"/>
                </a:solidFill>
              </a:rPr>
              <a:t>的</a:t>
            </a:r>
            <a:r>
              <a:rPr lang="zh-CN" altLang="en-US" dirty="0">
                <a:solidFill>
                  <a:srgbClr val="FF0000"/>
                </a:solidFill>
              </a:rPr>
              <a:t>比特长度</a:t>
            </a:r>
            <a:endParaRPr lang="zh-CN" altLang="zh-CN" dirty="0">
              <a:solidFill>
                <a:srgbClr val="FF0000"/>
              </a:solidFill>
            </a:endParaRPr>
          </a:p>
          <a:p>
            <a:r>
              <a:rPr lang="en-US" altLang="zh-CN" dirty="0"/>
              <a:t>    </a:t>
            </a:r>
            <a:r>
              <a:rPr lang="en-US" altLang="zh-CN" dirty="0" err="1"/>
              <a:t>int</a:t>
            </a:r>
            <a:r>
              <a:rPr lang="en-US" altLang="zh-CN" dirty="0"/>
              <a:t> </a:t>
            </a:r>
            <a:r>
              <a:rPr lang="en-US" altLang="zh-CN" dirty="0" err="1"/>
              <a:t>len</a:t>
            </a:r>
            <a:r>
              <a:rPr lang="en-US" altLang="zh-CN" dirty="0"/>
              <a:t> = 1;                          </a:t>
            </a:r>
            <a:r>
              <a:rPr lang="en-US" altLang="zh-CN" dirty="0">
                <a:solidFill>
                  <a:srgbClr val="00B050"/>
                </a:solidFill>
              </a:rPr>
              <a:t>// opcode </a:t>
            </a:r>
            <a:r>
              <a:rPr lang="zh-CN" altLang="zh-CN" dirty="0">
                <a:solidFill>
                  <a:srgbClr val="00B050"/>
                </a:solidFill>
              </a:rPr>
              <a:t>长度</a:t>
            </a:r>
            <a:r>
              <a:rPr lang="en-US" altLang="zh-CN" dirty="0">
                <a:solidFill>
                  <a:srgbClr val="00B050"/>
                </a:solidFill>
              </a:rPr>
              <a:t>1</a:t>
            </a:r>
            <a:r>
              <a:rPr lang="zh-CN" altLang="zh-CN" dirty="0">
                <a:solidFill>
                  <a:srgbClr val="00B050"/>
                </a:solidFill>
              </a:rPr>
              <a:t>字节</a:t>
            </a:r>
            <a:endParaRPr lang="zh-CN" altLang="zh-CN" dirty="0">
              <a:solidFill>
                <a:srgbClr val="00B050"/>
              </a:solidFill>
            </a:endParaRPr>
          </a:p>
          <a:p>
            <a:r>
              <a:rPr lang="en-US" altLang="zh-CN" dirty="0"/>
              <a:t>    </a:t>
            </a:r>
            <a:r>
              <a:rPr lang="en-US" altLang="zh-CN" dirty="0" err="1"/>
              <a:t>len</a:t>
            </a:r>
            <a:r>
              <a:rPr lang="en-US" altLang="zh-CN" dirty="0"/>
              <a:t> += </a:t>
            </a:r>
            <a:r>
              <a:rPr lang="en-US" altLang="zh-CN" dirty="0" err="1">
                <a:solidFill>
                  <a:srgbClr val="FF0000"/>
                </a:solidFill>
              </a:rPr>
              <a:t>modrm_rm</a:t>
            </a:r>
            <a:r>
              <a:rPr lang="en-US" altLang="zh-CN" dirty="0">
                <a:solidFill>
                  <a:srgbClr val="FF0000"/>
                </a:solidFill>
              </a:rPr>
              <a:t>(</a:t>
            </a:r>
            <a:r>
              <a:rPr lang="en-US" altLang="zh-CN" dirty="0" err="1">
                <a:solidFill>
                  <a:srgbClr val="FF0000"/>
                </a:solidFill>
              </a:rPr>
              <a:t>eip</a:t>
            </a:r>
            <a:r>
              <a:rPr lang="en-US" altLang="zh-CN" dirty="0">
                <a:solidFill>
                  <a:srgbClr val="FF0000"/>
                </a:solidFill>
              </a:rPr>
              <a:t> + 1, &amp;</a:t>
            </a:r>
            <a:r>
              <a:rPr lang="en-US" altLang="zh-CN" dirty="0" err="1">
                <a:solidFill>
                  <a:srgbClr val="FF0000"/>
                </a:solidFill>
              </a:rPr>
              <a:t>rm</a:t>
            </a:r>
            <a:r>
              <a:rPr lang="en-US" altLang="zh-CN" dirty="0">
                <a:solidFill>
                  <a:srgbClr val="FF0000"/>
                </a:solidFill>
              </a:rPr>
              <a:t>); </a:t>
            </a:r>
            <a:r>
              <a:rPr lang="en-US" altLang="zh-CN" dirty="0">
                <a:solidFill>
                  <a:srgbClr val="00B050"/>
                </a:solidFill>
              </a:rPr>
              <a:t>// </a:t>
            </a:r>
            <a:r>
              <a:rPr lang="zh-CN" altLang="zh-CN" dirty="0">
                <a:solidFill>
                  <a:srgbClr val="00B050"/>
                </a:solidFill>
              </a:rPr>
              <a:t>读</a:t>
            </a:r>
            <a:r>
              <a:rPr lang="en-US" altLang="zh-CN" dirty="0" err="1">
                <a:solidFill>
                  <a:srgbClr val="00B050"/>
                </a:solidFill>
              </a:rPr>
              <a:t>ModR</a:t>
            </a:r>
            <a:r>
              <a:rPr lang="en-US" altLang="zh-CN" dirty="0">
                <a:solidFill>
                  <a:srgbClr val="00B050"/>
                </a:solidFill>
              </a:rPr>
              <a:t>/M</a:t>
            </a:r>
            <a:r>
              <a:rPr lang="zh-CN" altLang="zh-CN" dirty="0">
                <a:solidFill>
                  <a:srgbClr val="00B050"/>
                </a:solidFill>
              </a:rPr>
              <a:t>字节，</a:t>
            </a:r>
            <a:r>
              <a:rPr lang="en-US" altLang="zh-CN" dirty="0" err="1">
                <a:solidFill>
                  <a:srgbClr val="00B050"/>
                </a:solidFill>
              </a:rPr>
              <a:t>rm</a:t>
            </a:r>
            <a:r>
              <a:rPr lang="zh-CN" altLang="zh-CN" dirty="0">
                <a:solidFill>
                  <a:srgbClr val="00B050"/>
                </a:solidFill>
              </a:rPr>
              <a:t>的</a:t>
            </a:r>
            <a:r>
              <a:rPr lang="en-US" altLang="zh-CN" dirty="0">
                <a:solidFill>
                  <a:srgbClr val="00B050"/>
                </a:solidFill>
              </a:rPr>
              <a:t>type</a:t>
            </a:r>
            <a:r>
              <a:rPr lang="zh-CN" altLang="zh-CN" dirty="0">
                <a:solidFill>
                  <a:srgbClr val="00B050"/>
                </a:solidFill>
              </a:rPr>
              <a:t>和</a:t>
            </a:r>
            <a:r>
              <a:rPr lang="en-US" altLang="zh-CN" dirty="0" err="1">
                <a:solidFill>
                  <a:srgbClr val="00B050"/>
                </a:solidFill>
              </a:rPr>
              <a:t>addr</a:t>
            </a:r>
            <a:r>
              <a:rPr lang="zh-CN" altLang="zh-CN" dirty="0">
                <a:solidFill>
                  <a:srgbClr val="00B050"/>
                </a:solidFill>
              </a:rPr>
              <a:t>会被填写</a:t>
            </a:r>
            <a:endParaRPr lang="zh-CN" altLang="zh-CN" dirty="0">
              <a:solidFill>
                <a:srgbClr val="00B050"/>
              </a:solidFill>
            </a:endParaRPr>
          </a:p>
          <a:p>
            <a:r>
              <a:rPr lang="en-US" altLang="zh-CN" dirty="0"/>
              <a:t> </a:t>
            </a:r>
            <a:endParaRPr lang="zh-CN" altLang="zh-CN" dirty="0"/>
          </a:p>
          <a:p>
            <a:r>
              <a:rPr lang="en-US" altLang="zh-CN" dirty="0"/>
              <a:t>    </a:t>
            </a:r>
            <a:r>
              <a:rPr lang="en-US" altLang="zh-CN" dirty="0" err="1"/>
              <a:t>imm.type</a:t>
            </a:r>
            <a:r>
              <a:rPr lang="en-US" altLang="zh-CN" dirty="0"/>
              <a:t> = OPR_IMM;       </a:t>
            </a:r>
            <a:r>
              <a:rPr lang="en-US" altLang="zh-CN" dirty="0">
                <a:solidFill>
                  <a:srgbClr val="00B050"/>
                </a:solidFill>
              </a:rPr>
              <a:t> // </a:t>
            </a:r>
            <a:r>
              <a:rPr lang="zh-CN" altLang="zh-CN" dirty="0">
                <a:solidFill>
                  <a:srgbClr val="00B050"/>
                </a:solidFill>
              </a:rPr>
              <a:t>填入立即数类型</a:t>
            </a:r>
            <a:endParaRPr lang="zh-CN" altLang="zh-CN" dirty="0">
              <a:solidFill>
                <a:srgbClr val="00B050"/>
              </a:solidFill>
            </a:endParaRPr>
          </a:p>
          <a:p>
            <a:r>
              <a:rPr lang="en-US" altLang="zh-CN" dirty="0"/>
              <a:t>    </a:t>
            </a:r>
            <a:r>
              <a:rPr lang="en-US" altLang="zh-CN" dirty="0" err="1"/>
              <a:t>imm.addr</a:t>
            </a:r>
            <a:r>
              <a:rPr lang="en-US" altLang="zh-CN" dirty="0"/>
              <a:t> = </a:t>
            </a:r>
            <a:r>
              <a:rPr lang="en-US" altLang="zh-CN" dirty="0" err="1"/>
              <a:t>eip</a:t>
            </a:r>
            <a:r>
              <a:rPr lang="en-US" altLang="zh-CN" dirty="0"/>
              <a:t> + </a:t>
            </a:r>
            <a:r>
              <a:rPr lang="en-US" altLang="zh-CN" dirty="0" err="1"/>
              <a:t>len</a:t>
            </a:r>
            <a:r>
              <a:rPr lang="en-US" altLang="zh-CN" dirty="0"/>
              <a:t>;          </a:t>
            </a:r>
            <a:r>
              <a:rPr lang="en-US" altLang="zh-CN" dirty="0">
                <a:solidFill>
                  <a:srgbClr val="00B050"/>
                </a:solidFill>
              </a:rPr>
              <a:t> // </a:t>
            </a:r>
            <a:r>
              <a:rPr lang="zh-CN" altLang="zh-CN" dirty="0">
                <a:solidFill>
                  <a:srgbClr val="00B050"/>
                </a:solidFill>
              </a:rPr>
              <a:t>找到立即数的地址</a:t>
            </a:r>
            <a:endParaRPr lang="zh-CN" altLang="zh-CN" dirty="0">
              <a:solidFill>
                <a:srgbClr val="00B050"/>
              </a:solidFill>
            </a:endParaRPr>
          </a:p>
          <a:p>
            <a:r>
              <a:rPr lang="en-US" altLang="zh-CN" dirty="0"/>
              <a:t>    </a:t>
            </a:r>
            <a:r>
              <a:rPr lang="en-US" altLang="zh-CN" dirty="0" err="1"/>
              <a:t>imm.data_size</a:t>
            </a:r>
            <a:r>
              <a:rPr lang="en-US" altLang="zh-CN" dirty="0"/>
              <a:t> = </a:t>
            </a:r>
            <a:r>
              <a:rPr lang="en-US" altLang="zh-CN" dirty="0" err="1"/>
              <a:t>data_size</a:t>
            </a:r>
            <a:r>
              <a:rPr lang="en-US" altLang="zh-CN" dirty="0"/>
              <a:t>;       </a:t>
            </a:r>
            <a:endParaRPr lang="zh-CN" altLang="zh-CN" dirty="0"/>
          </a:p>
          <a:p>
            <a:r>
              <a:rPr lang="en-US" altLang="zh-CN" dirty="0"/>
              <a:t> </a:t>
            </a:r>
            <a:endParaRPr lang="zh-CN" altLang="zh-CN" dirty="0"/>
          </a:p>
          <a:p>
            <a:r>
              <a:rPr lang="en-US" altLang="zh-CN" dirty="0"/>
              <a:t>    </a:t>
            </a:r>
            <a:r>
              <a:rPr lang="en-US" altLang="zh-CN" dirty="0" err="1"/>
              <a:t>operand_read</a:t>
            </a:r>
            <a:r>
              <a:rPr lang="en-US" altLang="zh-CN" dirty="0"/>
              <a:t>(&amp;</a:t>
            </a:r>
            <a:r>
              <a:rPr lang="en-US" altLang="zh-CN" dirty="0" err="1"/>
              <a:t>imm</a:t>
            </a:r>
            <a:r>
              <a:rPr lang="en-US" altLang="zh-CN" dirty="0"/>
              <a:t>);        </a:t>
            </a:r>
            <a:r>
              <a:rPr lang="en-US" altLang="zh-CN" dirty="0">
                <a:solidFill>
                  <a:srgbClr val="00B050"/>
                </a:solidFill>
              </a:rPr>
              <a:t> // </a:t>
            </a:r>
            <a:r>
              <a:rPr lang="zh-CN" altLang="zh-CN" dirty="0">
                <a:solidFill>
                  <a:srgbClr val="00B050"/>
                </a:solidFill>
              </a:rPr>
              <a:t>执行</a:t>
            </a:r>
            <a:r>
              <a:rPr lang="en-US" altLang="zh-CN" dirty="0">
                <a:solidFill>
                  <a:srgbClr val="00B050"/>
                </a:solidFill>
              </a:rPr>
              <a:t> </a:t>
            </a:r>
            <a:r>
              <a:rPr lang="en-US" altLang="zh-CN" dirty="0" err="1">
                <a:solidFill>
                  <a:srgbClr val="00B050"/>
                </a:solidFill>
              </a:rPr>
              <a:t>mov</a:t>
            </a:r>
            <a:r>
              <a:rPr lang="en-US" altLang="zh-CN" dirty="0">
                <a:solidFill>
                  <a:srgbClr val="00B050"/>
                </a:solidFill>
              </a:rPr>
              <a:t> </a:t>
            </a:r>
            <a:r>
              <a:rPr lang="zh-CN" altLang="zh-CN" dirty="0">
                <a:solidFill>
                  <a:srgbClr val="00B050"/>
                </a:solidFill>
              </a:rPr>
              <a:t>操作</a:t>
            </a:r>
            <a:endParaRPr lang="zh-CN" altLang="zh-CN" dirty="0">
              <a:solidFill>
                <a:srgbClr val="00B050"/>
              </a:solidFill>
            </a:endParaRPr>
          </a:p>
          <a:p>
            <a:r>
              <a:rPr lang="en-US" altLang="zh-CN" dirty="0"/>
              <a:t>    </a:t>
            </a:r>
            <a:r>
              <a:rPr lang="en-US" altLang="zh-CN" dirty="0" err="1"/>
              <a:t>rm.val</a:t>
            </a:r>
            <a:r>
              <a:rPr lang="en-US" altLang="zh-CN" dirty="0"/>
              <a:t> = </a:t>
            </a:r>
            <a:r>
              <a:rPr lang="en-US" altLang="zh-CN" dirty="0" err="1"/>
              <a:t>imm.val</a:t>
            </a:r>
            <a:r>
              <a:rPr lang="en-US" altLang="zh-CN" dirty="0"/>
              <a:t>;</a:t>
            </a:r>
            <a:endParaRPr lang="zh-CN" altLang="zh-CN" dirty="0"/>
          </a:p>
          <a:p>
            <a:r>
              <a:rPr lang="en-US" altLang="zh-CN" dirty="0"/>
              <a:t>    </a:t>
            </a:r>
            <a:r>
              <a:rPr lang="en-US" altLang="zh-CN" dirty="0" err="1"/>
              <a:t>operand_write</a:t>
            </a:r>
            <a:r>
              <a:rPr lang="en-US" altLang="zh-CN" dirty="0"/>
              <a:t>(&amp;</a:t>
            </a:r>
            <a:r>
              <a:rPr lang="en-US" altLang="zh-CN" dirty="0" err="1"/>
              <a:t>rm</a:t>
            </a:r>
            <a:r>
              <a:rPr lang="en-US" altLang="zh-CN" dirty="0"/>
              <a:t>);</a:t>
            </a:r>
            <a:endParaRPr lang="zh-CN" altLang="zh-CN" dirty="0"/>
          </a:p>
          <a:p>
            <a:r>
              <a:rPr lang="en-US" altLang="zh-CN" dirty="0"/>
              <a:t> </a:t>
            </a:r>
            <a:endParaRPr lang="zh-CN" altLang="zh-CN" dirty="0"/>
          </a:p>
          <a:p>
            <a:r>
              <a:rPr lang="en-US" altLang="zh-CN" dirty="0"/>
              <a:t>    return </a:t>
            </a:r>
            <a:r>
              <a:rPr lang="en-US" altLang="zh-CN" dirty="0" err="1"/>
              <a:t>len</a:t>
            </a:r>
            <a:r>
              <a:rPr lang="en-US" altLang="zh-CN" dirty="0"/>
              <a:t> + </a:t>
            </a:r>
            <a:r>
              <a:rPr lang="en-US" altLang="zh-CN" dirty="0" err="1"/>
              <a:t>data_size</a:t>
            </a:r>
            <a:r>
              <a:rPr lang="en-US" altLang="zh-CN" dirty="0"/>
              <a:t> / 8;    </a:t>
            </a:r>
            <a:r>
              <a:rPr lang="en-US" altLang="zh-CN" dirty="0">
                <a:solidFill>
                  <a:srgbClr val="00B050"/>
                </a:solidFill>
              </a:rPr>
              <a:t>// opcode</a:t>
            </a:r>
            <a:r>
              <a:rPr lang="zh-CN" altLang="zh-CN" dirty="0">
                <a:solidFill>
                  <a:srgbClr val="00B050"/>
                </a:solidFill>
              </a:rPr>
              <a:t>长度</a:t>
            </a:r>
            <a:r>
              <a:rPr lang="en-US" altLang="zh-CN" dirty="0">
                <a:solidFill>
                  <a:srgbClr val="00B050"/>
                </a:solidFill>
              </a:rPr>
              <a:t> + </a:t>
            </a:r>
            <a:r>
              <a:rPr lang="en-US" altLang="zh-CN" dirty="0" err="1">
                <a:solidFill>
                  <a:srgbClr val="00B050"/>
                </a:solidFill>
              </a:rPr>
              <a:t>ModR</a:t>
            </a:r>
            <a:r>
              <a:rPr lang="en-US" altLang="zh-CN" dirty="0">
                <a:solidFill>
                  <a:srgbClr val="00B050"/>
                </a:solidFill>
              </a:rPr>
              <a:t>/M</a:t>
            </a:r>
            <a:r>
              <a:rPr lang="zh-CN" altLang="zh-CN" dirty="0">
                <a:solidFill>
                  <a:srgbClr val="00B050"/>
                </a:solidFill>
              </a:rPr>
              <a:t>字节扫描长度 </a:t>
            </a:r>
            <a:r>
              <a:rPr lang="en-US" altLang="zh-CN" dirty="0">
                <a:solidFill>
                  <a:srgbClr val="00B050"/>
                </a:solidFill>
              </a:rPr>
              <a:t>+ </a:t>
            </a:r>
            <a:r>
              <a:rPr lang="zh-CN" altLang="zh-CN" dirty="0">
                <a:solidFill>
                  <a:srgbClr val="00B050"/>
                </a:solidFill>
              </a:rPr>
              <a:t>立即数长度</a:t>
            </a:r>
            <a:endParaRPr lang="zh-CN" altLang="zh-CN" dirty="0">
              <a:solidFill>
                <a:srgbClr val="00B050"/>
              </a:solidFill>
            </a:endParaRPr>
          </a:p>
          <a:p>
            <a:r>
              <a:rPr lang="en-US" altLang="zh-CN" dirty="0"/>
              <a:t>}</a:t>
            </a:r>
            <a:endParaRPr lang="zh-CN"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NEMU</a:t>
            </a:r>
            <a:r>
              <a:rPr lang="zh-CN" altLang="en-US" dirty="0"/>
              <a:t>模拟指令解码和执行</a:t>
            </a:r>
            <a:endParaRPr lang="zh-CN" altLang="en-US" dirty="0"/>
          </a:p>
        </p:txBody>
      </p:sp>
      <p:sp>
        <p:nvSpPr>
          <p:cNvPr id="4" name="日期占位符 3"/>
          <p:cNvSpPr>
            <a:spLocks noGrp="1"/>
          </p:cNvSpPr>
          <p:nvPr>
            <p:ph type="dt" sz="half" idx="10"/>
          </p:nvPr>
        </p:nvSpPr>
        <p:spPr/>
        <p:txBody>
          <a:bodyPr/>
          <a:lstStyle/>
          <a:p>
            <a:fld id="{960AD632-BA1E-4007-A689-FFA6C023ED74}" type="datetime3">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a:t>Programming Assignment</a:t>
            </a:r>
            <a:endParaRPr lang="zh-CN" altLang="en-US"/>
          </a:p>
        </p:txBody>
      </p:sp>
      <p:sp>
        <p:nvSpPr>
          <p:cNvPr id="6" name="灯片编号占位符 5"/>
          <p:cNvSpPr>
            <a:spLocks noGrp="1"/>
          </p:cNvSpPr>
          <p:nvPr>
            <p:ph type="sldNum" sz="quarter" idx="12"/>
          </p:nvPr>
        </p:nvSpPr>
        <p:spPr/>
        <p:txBody>
          <a:bodyPr/>
          <a:lstStyle/>
          <a:p>
            <a:fld id="{A40E146E-410D-4448-BCD3-F60DE2B98E6B}" type="slidenum">
              <a:rPr lang="zh-CN" altLang="en-US" smtClean="0"/>
            </a:fld>
            <a:endParaRPr lang="zh-CN" altLang="en-US"/>
          </a:p>
        </p:txBody>
      </p:sp>
      <p:sp>
        <p:nvSpPr>
          <p:cNvPr id="7" name="文本框 6"/>
          <p:cNvSpPr txBox="1"/>
          <p:nvPr/>
        </p:nvSpPr>
        <p:spPr>
          <a:xfrm>
            <a:off x="2025925" y="1585291"/>
            <a:ext cx="9238975" cy="5078313"/>
          </a:xfrm>
          <a:prstGeom prst="rect">
            <a:avLst/>
          </a:prstGeom>
          <a:noFill/>
        </p:spPr>
        <p:txBody>
          <a:bodyPr wrap="square" rtlCol="0">
            <a:spAutoFit/>
          </a:bodyPr>
          <a:lstStyle/>
          <a:p>
            <a:r>
              <a:rPr lang="en-US" altLang="zh-CN" dirty="0">
                <a:solidFill>
                  <a:srgbClr val="00B050"/>
                </a:solidFill>
              </a:rPr>
              <a:t>// </a:t>
            </a:r>
            <a:r>
              <a:rPr lang="zh-CN" altLang="zh-CN" dirty="0">
                <a:solidFill>
                  <a:srgbClr val="00B050"/>
                </a:solidFill>
              </a:rPr>
              <a:t>宏展开后这一行即为</a:t>
            </a:r>
            <a:r>
              <a:rPr lang="en-US" altLang="zh-CN" dirty="0">
                <a:solidFill>
                  <a:srgbClr val="00B050"/>
                </a:solidFill>
              </a:rPr>
              <a:t> </a:t>
            </a:r>
            <a:r>
              <a:rPr lang="en-US" altLang="zh-CN" dirty="0" err="1">
                <a:solidFill>
                  <a:srgbClr val="00B050"/>
                </a:solidFill>
              </a:rPr>
              <a:t>int</a:t>
            </a:r>
            <a:r>
              <a:rPr lang="en-US" altLang="zh-CN" dirty="0">
                <a:solidFill>
                  <a:srgbClr val="00B050"/>
                </a:solidFill>
              </a:rPr>
              <a:t> mov_i2rm_v(uint32_t </a:t>
            </a:r>
            <a:r>
              <a:rPr lang="en-US" altLang="zh-CN" dirty="0" err="1">
                <a:solidFill>
                  <a:srgbClr val="00B050"/>
                </a:solidFill>
              </a:rPr>
              <a:t>eip</a:t>
            </a:r>
            <a:r>
              <a:rPr lang="en-US" altLang="zh-CN" dirty="0">
                <a:solidFill>
                  <a:srgbClr val="00B050"/>
                </a:solidFill>
              </a:rPr>
              <a:t>, uint8_t opcode) {</a:t>
            </a:r>
            <a:endParaRPr lang="zh-CN" altLang="zh-CN" dirty="0">
              <a:solidFill>
                <a:srgbClr val="00B050"/>
              </a:solidFill>
            </a:endParaRPr>
          </a:p>
          <a:p>
            <a:r>
              <a:rPr lang="en-US" altLang="zh-CN" dirty="0" err="1"/>
              <a:t>make_instr_func</a:t>
            </a:r>
            <a:r>
              <a:rPr lang="en-US" altLang="zh-CN" dirty="0"/>
              <a:t>(mov_i2rm_v) { </a:t>
            </a:r>
            <a:endParaRPr lang="zh-CN" altLang="zh-CN" dirty="0"/>
          </a:p>
          <a:p>
            <a:r>
              <a:rPr lang="en-US" altLang="zh-CN" dirty="0"/>
              <a:t>    OPERAND </a:t>
            </a:r>
            <a:r>
              <a:rPr lang="en-US" altLang="zh-CN" dirty="0" err="1"/>
              <a:t>rm</a:t>
            </a:r>
            <a:r>
              <a:rPr lang="en-US" altLang="zh-CN" dirty="0"/>
              <a:t>, </a:t>
            </a:r>
            <a:r>
              <a:rPr lang="en-US" altLang="zh-CN" dirty="0" err="1"/>
              <a:t>imm</a:t>
            </a:r>
            <a:r>
              <a:rPr lang="en-US" altLang="zh-CN" dirty="0"/>
              <a:t>;          </a:t>
            </a:r>
            <a:r>
              <a:rPr lang="en-US" altLang="zh-CN" dirty="0">
                <a:solidFill>
                  <a:srgbClr val="00B050"/>
                </a:solidFill>
              </a:rPr>
              <a:t>// OPERAND</a:t>
            </a:r>
            <a:r>
              <a:rPr lang="zh-CN" altLang="en-US" dirty="0">
                <a:solidFill>
                  <a:srgbClr val="00B050"/>
                </a:solidFill>
              </a:rPr>
              <a:t>定义在</a:t>
            </a:r>
            <a:r>
              <a:rPr lang="en-US" altLang="zh-CN" dirty="0" err="1">
                <a:solidFill>
                  <a:srgbClr val="00B050"/>
                </a:solidFill>
              </a:rPr>
              <a:t>nemu</a:t>
            </a:r>
            <a:r>
              <a:rPr lang="en-US" altLang="zh-CN" dirty="0">
                <a:solidFill>
                  <a:srgbClr val="00B050"/>
                </a:solidFill>
              </a:rPr>
              <a:t>/include/</a:t>
            </a:r>
            <a:r>
              <a:rPr lang="en-US" altLang="zh-CN" dirty="0" err="1">
                <a:solidFill>
                  <a:srgbClr val="00B050"/>
                </a:solidFill>
              </a:rPr>
              <a:t>cpu</a:t>
            </a:r>
            <a:r>
              <a:rPr lang="en-US" altLang="zh-CN" dirty="0">
                <a:solidFill>
                  <a:srgbClr val="00B050"/>
                </a:solidFill>
              </a:rPr>
              <a:t>/</a:t>
            </a:r>
            <a:r>
              <a:rPr lang="en-US" altLang="zh-CN" dirty="0" err="1">
                <a:solidFill>
                  <a:srgbClr val="00B050"/>
                </a:solidFill>
              </a:rPr>
              <a:t>operand.h</a:t>
            </a:r>
            <a:endParaRPr lang="en-US" altLang="zh-CN" dirty="0">
              <a:solidFill>
                <a:srgbClr val="00B050"/>
              </a:solidFill>
            </a:endParaRPr>
          </a:p>
          <a:p>
            <a:r>
              <a:rPr lang="en-US" altLang="zh-CN" dirty="0">
                <a:solidFill>
                  <a:srgbClr val="00B050"/>
                </a:solidFill>
              </a:rPr>
              <a:t>                                                 // </a:t>
            </a:r>
            <a:r>
              <a:rPr lang="zh-CN" altLang="en-US" dirty="0">
                <a:solidFill>
                  <a:srgbClr val="00B050"/>
                </a:solidFill>
              </a:rPr>
              <a:t>看教程</a:t>
            </a:r>
            <a:r>
              <a:rPr lang="en-US" altLang="zh-CN" dirty="0">
                <a:solidFill>
                  <a:srgbClr val="00B050"/>
                </a:solidFill>
              </a:rPr>
              <a:t>§2-1.2.3</a:t>
            </a:r>
            <a:r>
              <a:rPr lang="en-US" altLang="zh-CN" dirty="0"/>
              <a:t> </a:t>
            </a:r>
            <a:endParaRPr lang="zh-CN" altLang="zh-CN" dirty="0"/>
          </a:p>
          <a:p>
            <a:r>
              <a:rPr lang="en-US" altLang="zh-CN" dirty="0"/>
              <a:t>    </a:t>
            </a:r>
            <a:r>
              <a:rPr lang="en-US" altLang="zh-CN" dirty="0" err="1"/>
              <a:t>rm.data_size</a:t>
            </a:r>
            <a:r>
              <a:rPr lang="en-US" altLang="zh-CN" dirty="0"/>
              <a:t> = </a:t>
            </a:r>
            <a:r>
              <a:rPr lang="en-US" altLang="zh-CN" dirty="0" err="1"/>
              <a:t>data_size</a:t>
            </a:r>
            <a:r>
              <a:rPr lang="en-US" altLang="zh-CN" dirty="0"/>
              <a:t>; </a:t>
            </a:r>
            <a:r>
              <a:rPr lang="en-US" altLang="zh-CN" dirty="0">
                <a:solidFill>
                  <a:srgbClr val="00B050"/>
                </a:solidFill>
              </a:rPr>
              <a:t>// </a:t>
            </a:r>
            <a:r>
              <a:rPr lang="en-US" altLang="zh-CN" dirty="0" err="1"/>
              <a:t>data_size</a:t>
            </a:r>
            <a:r>
              <a:rPr lang="zh-CN" altLang="en-US" dirty="0">
                <a:solidFill>
                  <a:srgbClr val="00B050"/>
                </a:solidFill>
              </a:rPr>
              <a:t>是个全局变量，表示</a:t>
            </a:r>
            <a:r>
              <a:rPr lang="zh-CN" altLang="en-US" dirty="0">
                <a:solidFill>
                  <a:srgbClr val="00B0F0"/>
                </a:solidFill>
              </a:rPr>
              <a:t>操作数</a:t>
            </a:r>
            <a:r>
              <a:rPr lang="zh-CN" altLang="en-US" dirty="0">
                <a:solidFill>
                  <a:srgbClr val="00B050"/>
                </a:solidFill>
              </a:rPr>
              <a:t>的</a:t>
            </a:r>
            <a:r>
              <a:rPr lang="zh-CN" altLang="en-US" dirty="0">
                <a:solidFill>
                  <a:srgbClr val="FF0000"/>
                </a:solidFill>
              </a:rPr>
              <a:t>比特长度</a:t>
            </a:r>
            <a:endParaRPr lang="zh-CN" altLang="zh-CN" dirty="0">
              <a:solidFill>
                <a:srgbClr val="FF0000"/>
              </a:solidFill>
            </a:endParaRPr>
          </a:p>
          <a:p>
            <a:r>
              <a:rPr lang="en-US" altLang="zh-CN" dirty="0"/>
              <a:t>    </a:t>
            </a:r>
            <a:r>
              <a:rPr lang="en-US" altLang="zh-CN" dirty="0" err="1"/>
              <a:t>int</a:t>
            </a:r>
            <a:r>
              <a:rPr lang="en-US" altLang="zh-CN" dirty="0"/>
              <a:t> </a:t>
            </a:r>
            <a:r>
              <a:rPr lang="en-US" altLang="zh-CN" dirty="0" err="1"/>
              <a:t>len</a:t>
            </a:r>
            <a:r>
              <a:rPr lang="en-US" altLang="zh-CN" dirty="0"/>
              <a:t> = 1;                          </a:t>
            </a:r>
            <a:r>
              <a:rPr lang="en-US" altLang="zh-CN" dirty="0">
                <a:solidFill>
                  <a:srgbClr val="00B050"/>
                </a:solidFill>
              </a:rPr>
              <a:t>// opcode </a:t>
            </a:r>
            <a:r>
              <a:rPr lang="zh-CN" altLang="zh-CN" dirty="0">
                <a:solidFill>
                  <a:srgbClr val="00B050"/>
                </a:solidFill>
              </a:rPr>
              <a:t>长度</a:t>
            </a:r>
            <a:r>
              <a:rPr lang="en-US" altLang="zh-CN" dirty="0">
                <a:solidFill>
                  <a:srgbClr val="00B050"/>
                </a:solidFill>
              </a:rPr>
              <a:t>1</a:t>
            </a:r>
            <a:r>
              <a:rPr lang="zh-CN" altLang="zh-CN" dirty="0">
                <a:solidFill>
                  <a:srgbClr val="00B050"/>
                </a:solidFill>
              </a:rPr>
              <a:t>字节</a:t>
            </a:r>
            <a:endParaRPr lang="zh-CN" altLang="zh-CN" dirty="0">
              <a:solidFill>
                <a:srgbClr val="00B050"/>
              </a:solidFill>
            </a:endParaRPr>
          </a:p>
          <a:p>
            <a:r>
              <a:rPr lang="en-US" altLang="zh-CN" dirty="0"/>
              <a:t>    </a:t>
            </a:r>
            <a:r>
              <a:rPr lang="en-US" altLang="zh-CN" dirty="0" err="1"/>
              <a:t>len</a:t>
            </a:r>
            <a:r>
              <a:rPr lang="en-US" altLang="zh-CN" dirty="0"/>
              <a:t> += </a:t>
            </a:r>
            <a:r>
              <a:rPr lang="en-US" altLang="zh-CN" dirty="0" err="1">
                <a:solidFill>
                  <a:srgbClr val="FF0000"/>
                </a:solidFill>
              </a:rPr>
              <a:t>modrm_rm</a:t>
            </a:r>
            <a:r>
              <a:rPr lang="en-US" altLang="zh-CN" dirty="0">
                <a:solidFill>
                  <a:srgbClr val="FF0000"/>
                </a:solidFill>
              </a:rPr>
              <a:t>(</a:t>
            </a:r>
            <a:r>
              <a:rPr lang="en-US" altLang="zh-CN" dirty="0" err="1">
                <a:solidFill>
                  <a:srgbClr val="FF0000"/>
                </a:solidFill>
              </a:rPr>
              <a:t>eip</a:t>
            </a:r>
            <a:r>
              <a:rPr lang="en-US" altLang="zh-CN" dirty="0">
                <a:solidFill>
                  <a:srgbClr val="FF0000"/>
                </a:solidFill>
              </a:rPr>
              <a:t> + 1, &amp;</a:t>
            </a:r>
            <a:r>
              <a:rPr lang="en-US" altLang="zh-CN" dirty="0" err="1">
                <a:solidFill>
                  <a:srgbClr val="FF0000"/>
                </a:solidFill>
              </a:rPr>
              <a:t>rm</a:t>
            </a:r>
            <a:r>
              <a:rPr lang="en-US" altLang="zh-CN" dirty="0">
                <a:solidFill>
                  <a:srgbClr val="FF0000"/>
                </a:solidFill>
              </a:rPr>
              <a:t>)</a:t>
            </a:r>
            <a:r>
              <a:rPr lang="en-US" altLang="zh-CN" dirty="0"/>
              <a:t>; </a:t>
            </a:r>
            <a:r>
              <a:rPr lang="en-US" altLang="zh-CN" dirty="0">
                <a:solidFill>
                  <a:srgbClr val="00B050"/>
                </a:solidFill>
              </a:rPr>
              <a:t>// </a:t>
            </a:r>
            <a:r>
              <a:rPr lang="zh-CN" altLang="zh-CN" dirty="0">
                <a:solidFill>
                  <a:srgbClr val="00B050"/>
                </a:solidFill>
              </a:rPr>
              <a:t>读</a:t>
            </a:r>
            <a:r>
              <a:rPr lang="en-US" altLang="zh-CN" dirty="0" err="1">
                <a:solidFill>
                  <a:srgbClr val="00B050"/>
                </a:solidFill>
              </a:rPr>
              <a:t>ModR</a:t>
            </a:r>
            <a:r>
              <a:rPr lang="en-US" altLang="zh-CN" dirty="0">
                <a:solidFill>
                  <a:srgbClr val="00B050"/>
                </a:solidFill>
              </a:rPr>
              <a:t>/M</a:t>
            </a:r>
            <a:r>
              <a:rPr lang="zh-CN" altLang="zh-CN" dirty="0">
                <a:solidFill>
                  <a:srgbClr val="00B050"/>
                </a:solidFill>
              </a:rPr>
              <a:t>字节，</a:t>
            </a:r>
            <a:r>
              <a:rPr lang="en-US" altLang="zh-CN" dirty="0" err="1">
                <a:solidFill>
                  <a:srgbClr val="00B050"/>
                </a:solidFill>
              </a:rPr>
              <a:t>rm</a:t>
            </a:r>
            <a:r>
              <a:rPr lang="zh-CN" altLang="zh-CN" dirty="0">
                <a:solidFill>
                  <a:srgbClr val="00B050"/>
                </a:solidFill>
              </a:rPr>
              <a:t>的</a:t>
            </a:r>
            <a:r>
              <a:rPr lang="en-US" altLang="zh-CN" dirty="0">
                <a:solidFill>
                  <a:srgbClr val="00B050"/>
                </a:solidFill>
              </a:rPr>
              <a:t>type</a:t>
            </a:r>
            <a:r>
              <a:rPr lang="zh-CN" altLang="zh-CN" dirty="0">
                <a:solidFill>
                  <a:srgbClr val="00B050"/>
                </a:solidFill>
              </a:rPr>
              <a:t>和</a:t>
            </a:r>
            <a:r>
              <a:rPr lang="en-US" altLang="zh-CN" dirty="0" err="1">
                <a:solidFill>
                  <a:srgbClr val="00B050"/>
                </a:solidFill>
              </a:rPr>
              <a:t>addr</a:t>
            </a:r>
            <a:r>
              <a:rPr lang="zh-CN" altLang="zh-CN" dirty="0">
                <a:solidFill>
                  <a:srgbClr val="00B050"/>
                </a:solidFill>
              </a:rPr>
              <a:t>会被填写</a:t>
            </a:r>
            <a:endParaRPr lang="zh-CN" altLang="zh-CN" dirty="0">
              <a:solidFill>
                <a:srgbClr val="00B050"/>
              </a:solidFill>
            </a:endParaRPr>
          </a:p>
          <a:p>
            <a:r>
              <a:rPr lang="en-US" altLang="zh-CN" dirty="0"/>
              <a:t> </a:t>
            </a:r>
            <a:endParaRPr lang="zh-CN" altLang="zh-CN" dirty="0"/>
          </a:p>
          <a:p>
            <a:r>
              <a:rPr lang="en-US" altLang="zh-CN" dirty="0"/>
              <a:t>    </a:t>
            </a:r>
            <a:r>
              <a:rPr lang="en-US" altLang="zh-CN" dirty="0" err="1"/>
              <a:t>imm.type</a:t>
            </a:r>
            <a:r>
              <a:rPr lang="en-US" altLang="zh-CN" dirty="0"/>
              <a:t> = OPR_IMM;       </a:t>
            </a:r>
            <a:r>
              <a:rPr lang="en-US" altLang="zh-CN" dirty="0">
                <a:solidFill>
                  <a:srgbClr val="00B050"/>
                </a:solidFill>
              </a:rPr>
              <a:t> // </a:t>
            </a:r>
            <a:r>
              <a:rPr lang="zh-CN" altLang="zh-CN" dirty="0">
                <a:solidFill>
                  <a:srgbClr val="00B050"/>
                </a:solidFill>
              </a:rPr>
              <a:t>填入立即数类型</a:t>
            </a:r>
            <a:endParaRPr lang="zh-CN" altLang="zh-CN" dirty="0">
              <a:solidFill>
                <a:srgbClr val="00B050"/>
              </a:solidFill>
            </a:endParaRPr>
          </a:p>
          <a:p>
            <a:r>
              <a:rPr lang="en-US" altLang="zh-CN" dirty="0"/>
              <a:t>    </a:t>
            </a:r>
            <a:r>
              <a:rPr lang="en-US" altLang="zh-CN" dirty="0" err="1"/>
              <a:t>imm.addr</a:t>
            </a:r>
            <a:r>
              <a:rPr lang="en-US" altLang="zh-CN" dirty="0"/>
              <a:t> = </a:t>
            </a:r>
            <a:r>
              <a:rPr lang="en-US" altLang="zh-CN" dirty="0" err="1"/>
              <a:t>eip</a:t>
            </a:r>
            <a:r>
              <a:rPr lang="en-US" altLang="zh-CN" dirty="0"/>
              <a:t> + </a:t>
            </a:r>
            <a:r>
              <a:rPr lang="en-US" altLang="zh-CN" dirty="0" err="1"/>
              <a:t>len</a:t>
            </a:r>
            <a:r>
              <a:rPr lang="en-US" altLang="zh-CN" dirty="0"/>
              <a:t>;          </a:t>
            </a:r>
            <a:r>
              <a:rPr lang="en-US" altLang="zh-CN" dirty="0">
                <a:solidFill>
                  <a:srgbClr val="00B050"/>
                </a:solidFill>
              </a:rPr>
              <a:t> // </a:t>
            </a:r>
            <a:r>
              <a:rPr lang="zh-CN" altLang="zh-CN" dirty="0">
                <a:solidFill>
                  <a:srgbClr val="00B050"/>
                </a:solidFill>
              </a:rPr>
              <a:t>找到立即数的地址</a:t>
            </a:r>
            <a:endParaRPr lang="zh-CN" altLang="zh-CN" dirty="0">
              <a:solidFill>
                <a:srgbClr val="00B050"/>
              </a:solidFill>
            </a:endParaRPr>
          </a:p>
          <a:p>
            <a:r>
              <a:rPr lang="en-US" altLang="zh-CN" dirty="0"/>
              <a:t>    </a:t>
            </a:r>
            <a:r>
              <a:rPr lang="en-US" altLang="zh-CN" dirty="0" err="1"/>
              <a:t>imm.data_size</a:t>
            </a:r>
            <a:r>
              <a:rPr lang="en-US" altLang="zh-CN" dirty="0"/>
              <a:t> = </a:t>
            </a:r>
            <a:r>
              <a:rPr lang="en-US" altLang="zh-CN" dirty="0" err="1"/>
              <a:t>data_size</a:t>
            </a:r>
            <a:r>
              <a:rPr lang="en-US" altLang="zh-CN" dirty="0"/>
              <a:t>;       </a:t>
            </a:r>
            <a:endParaRPr lang="zh-CN" altLang="zh-CN" dirty="0"/>
          </a:p>
          <a:p>
            <a:r>
              <a:rPr lang="en-US" altLang="zh-CN" dirty="0"/>
              <a:t> </a:t>
            </a:r>
            <a:endParaRPr lang="zh-CN" altLang="zh-CN" dirty="0"/>
          </a:p>
          <a:p>
            <a:r>
              <a:rPr lang="en-US" altLang="zh-CN" dirty="0"/>
              <a:t>    </a:t>
            </a:r>
            <a:r>
              <a:rPr lang="en-US" altLang="zh-CN" dirty="0" err="1"/>
              <a:t>operand_read</a:t>
            </a:r>
            <a:r>
              <a:rPr lang="en-US" altLang="zh-CN" dirty="0"/>
              <a:t>(&amp;</a:t>
            </a:r>
            <a:r>
              <a:rPr lang="en-US" altLang="zh-CN" dirty="0" err="1"/>
              <a:t>imm</a:t>
            </a:r>
            <a:r>
              <a:rPr lang="en-US" altLang="zh-CN" dirty="0"/>
              <a:t>);        </a:t>
            </a:r>
            <a:r>
              <a:rPr lang="en-US" altLang="zh-CN" dirty="0">
                <a:solidFill>
                  <a:srgbClr val="00B050"/>
                </a:solidFill>
              </a:rPr>
              <a:t> // </a:t>
            </a:r>
            <a:r>
              <a:rPr lang="zh-CN" altLang="zh-CN" dirty="0">
                <a:solidFill>
                  <a:srgbClr val="00B050"/>
                </a:solidFill>
              </a:rPr>
              <a:t>执行</a:t>
            </a:r>
            <a:r>
              <a:rPr lang="en-US" altLang="zh-CN" dirty="0">
                <a:solidFill>
                  <a:srgbClr val="00B050"/>
                </a:solidFill>
              </a:rPr>
              <a:t> </a:t>
            </a:r>
            <a:r>
              <a:rPr lang="en-US" altLang="zh-CN" dirty="0" err="1">
                <a:solidFill>
                  <a:srgbClr val="00B050"/>
                </a:solidFill>
              </a:rPr>
              <a:t>mov</a:t>
            </a:r>
            <a:r>
              <a:rPr lang="en-US" altLang="zh-CN" dirty="0">
                <a:solidFill>
                  <a:srgbClr val="00B050"/>
                </a:solidFill>
              </a:rPr>
              <a:t> </a:t>
            </a:r>
            <a:r>
              <a:rPr lang="zh-CN" altLang="zh-CN" dirty="0">
                <a:solidFill>
                  <a:srgbClr val="00B050"/>
                </a:solidFill>
              </a:rPr>
              <a:t>操作</a:t>
            </a:r>
            <a:endParaRPr lang="zh-CN" altLang="zh-CN" dirty="0">
              <a:solidFill>
                <a:srgbClr val="00B050"/>
              </a:solidFill>
            </a:endParaRPr>
          </a:p>
          <a:p>
            <a:r>
              <a:rPr lang="en-US" altLang="zh-CN" dirty="0"/>
              <a:t>    </a:t>
            </a:r>
            <a:r>
              <a:rPr lang="en-US" altLang="zh-CN" dirty="0" err="1"/>
              <a:t>rm.val</a:t>
            </a:r>
            <a:r>
              <a:rPr lang="en-US" altLang="zh-CN" dirty="0"/>
              <a:t> = </a:t>
            </a:r>
            <a:r>
              <a:rPr lang="en-US" altLang="zh-CN" dirty="0" err="1"/>
              <a:t>imm.val</a:t>
            </a:r>
            <a:r>
              <a:rPr lang="en-US" altLang="zh-CN" dirty="0"/>
              <a:t>;</a:t>
            </a:r>
            <a:endParaRPr lang="zh-CN" altLang="zh-CN" dirty="0"/>
          </a:p>
          <a:p>
            <a:r>
              <a:rPr lang="en-US" altLang="zh-CN" dirty="0"/>
              <a:t>    </a:t>
            </a:r>
            <a:r>
              <a:rPr lang="en-US" altLang="zh-CN" dirty="0" err="1"/>
              <a:t>operand_write</a:t>
            </a:r>
            <a:r>
              <a:rPr lang="en-US" altLang="zh-CN" dirty="0"/>
              <a:t>(&amp;</a:t>
            </a:r>
            <a:r>
              <a:rPr lang="en-US" altLang="zh-CN" dirty="0" err="1"/>
              <a:t>rm</a:t>
            </a:r>
            <a:r>
              <a:rPr lang="en-US" altLang="zh-CN" dirty="0"/>
              <a:t>);</a:t>
            </a:r>
            <a:endParaRPr lang="zh-CN" altLang="zh-CN" dirty="0"/>
          </a:p>
          <a:p>
            <a:r>
              <a:rPr lang="en-US" altLang="zh-CN" dirty="0"/>
              <a:t> </a:t>
            </a:r>
            <a:endParaRPr lang="zh-CN" altLang="zh-CN" dirty="0"/>
          </a:p>
          <a:p>
            <a:r>
              <a:rPr lang="en-US" altLang="zh-CN" dirty="0"/>
              <a:t>    return </a:t>
            </a:r>
            <a:r>
              <a:rPr lang="en-US" altLang="zh-CN" dirty="0" err="1"/>
              <a:t>len</a:t>
            </a:r>
            <a:r>
              <a:rPr lang="en-US" altLang="zh-CN" dirty="0"/>
              <a:t> + </a:t>
            </a:r>
            <a:r>
              <a:rPr lang="en-US" altLang="zh-CN" dirty="0" err="1"/>
              <a:t>data_size</a:t>
            </a:r>
            <a:r>
              <a:rPr lang="en-US" altLang="zh-CN" dirty="0"/>
              <a:t> / 8;    </a:t>
            </a:r>
            <a:r>
              <a:rPr lang="en-US" altLang="zh-CN" dirty="0">
                <a:solidFill>
                  <a:srgbClr val="00B050"/>
                </a:solidFill>
              </a:rPr>
              <a:t>// opcode</a:t>
            </a:r>
            <a:r>
              <a:rPr lang="zh-CN" altLang="zh-CN" dirty="0">
                <a:solidFill>
                  <a:srgbClr val="00B050"/>
                </a:solidFill>
              </a:rPr>
              <a:t>长度</a:t>
            </a:r>
            <a:r>
              <a:rPr lang="en-US" altLang="zh-CN" dirty="0">
                <a:solidFill>
                  <a:srgbClr val="00B050"/>
                </a:solidFill>
              </a:rPr>
              <a:t> + </a:t>
            </a:r>
            <a:r>
              <a:rPr lang="en-US" altLang="zh-CN" dirty="0" err="1">
                <a:solidFill>
                  <a:srgbClr val="00B050"/>
                </a:solidFill>
              </a:rPr>
              <a:t>ModR</a:t>
            </a:r>
            <a:r>
              <a:rPr lang="en-US" altLang="zh-CN" dirty="0">
                <a:solidFill>
                  <a:srgbClr val="00B050"/>
                </a:solidFill>
              </a:rPr>
              <a:t>/M</a:t>
            </a:r>
            <a:r>
              <a:rPr lang="zh-CN" altLang="zh-CN" dirty="0">
                <a:solidFill>
                  <a:srgbClr val="00B050"/>
                </a:solidFill>
              </a:rPr>
              <a:t>字节扫描长度 </a:t>
            </a:r>
            <a:r>
              <a:rPr lang="en-US" altLang="zh-CN" dirty="0">
                <a:solidFill>
                  <a:srgbClr val="00B050"/>
                </a:solidFill>
              </a:rPr>
              <a:t>+ </a:t>
            </a:r>
            <a:r>
              <a:rPr lang="zh-CN" altLang="zh-CN" dirty="0">
                <a:solidFill>
                  <a:srgbClr val="00B050"/>
                </a:solidFill>
              </a:rPr>
              <a:t>立即数长度</a:t>
            </a:r>
            <a:endParaRPr lang="zh-CN" altLang="zh-CN" dirty="0">
              <a:solidFill>
                <a:srgbClr val="00B050"/>
              </a:solidFill>
            </a:endParaRPr>
          </a:p>
          <a:p>
            <a:r>
              <a:rPr lang="en-US" altLang="zh-CN" dirty="0"/>
              <a:t>}</a:t>
            </a:r>
            <a:endParaRPr lang="zh-CN" altLang="en-US" dirty="0"/>
          </a:p>
        </p:txBody>
      </p:sp>
      <p:sp>
        <p:nvSpPr>
          <p:cNvPr id="8" name="文本框 7"/>
          <p:cNvSpPr txBox="1"/>
          <p:nvPr/>
        </p:nvSpPr>
        <p:spPr>
          <a:xfrm>
            <a:off x="4170575" y="2421034"/>
            <a:ext cx="7295587" cy="3231654"/>
          </a:xfrm>
          <a:prstGeom prst="rect">
            <a:avLst/>
          </a:prstGeom>
          <a:solidFill>
            <a:schemeClr val="bg2"/>
          </a:solidFill>
        </p:spPr>
        <p:style>
          <a:lnRef idx="2">
            <a:schemeClr val="dk1"/>
          </a:lnRef>
          <a:fillRef idx="1">
            <a:schemeClr val="lt1"/>
          </a:fillRef>
          <a:effectRef idx="0">
            <a:schemeClr val="dk1"/>
          </a:effectRef>
          <a:fontRef idx="minor">
            <a:schemeClr val="dk1"/>
          </a:fontRef>
        </p:style>
        <p:txBody>
          <a:bodyPr wrap="none" rtlCol="0">
            <a:spAutoFit/>
          </a:bodyPr>
          <a:lstStyle/>
          <a:p>
            <a:r>
              <a:rPr lang="en-US" altLang="zh-CN" sz="2400" dirty="0" err="1">
                <a:solidFill>
                  <a:srgbClr val="0070C0"/>
                </a:solidFill>
              </a:rPr>
              <a:t>nemu</a:t>
            </a:r>
            <a:r>
              <a:rPr lang="en-US" altLang="zh-CN" sz="2400" dirty="0">
                <a:solidFill>
                  <a:srgbClr val="0070C0"/>
                </a:solidFill>
              </a:rPr>
              <a:t>/</a:t>
            </a:r>
            <a:r>
              <a:rPr lang="en-US" altLang="zh-CN" sz="2400" dirty="0" err="1">
                <a:solidFill>
                  <a:srgbClr val="0070C0"/>
                </a:solidFill>
              </a:rPr>
              <a:t>src</a:t>
            </a:r>
            <a:r>
              <a:rPr lang="en-US" altLang="zh-CN" sz="2400" dirty="0">
                <a:solidFill>
                  <a:srgbClr val="0070C0"/>
                </a:solidFill>
              </a:rPr>
              <a:t>/</a:t>
            </a:r>
            <a:r>
              <a:rPr lang="en-US" altLang="zh-CN" sz="2400" dirty="0" err="1">
                <a:solidFill>
                  <a:srgbClr val="0070C0"/>
                </a:solidFill>
              </a:rPr>
              <a:t>cpu</a:t>
            </a:r>
            <a:r>
              <a:rPr lang="en-US" altLang="zh-CN" sz="2400" dirty="0">
                <a:solidFill>
                  <a:srgbClr val="0070C0"/>
                </a:solidFill>
              </a:rPr>
              <a:t>/decode/</a:t>
            </a:r>
            <a:r>
              <a:rPr lang="en-US" altLang="zh-CN" sz="2400" dirty="0" err="1">
                <a:solidFill>
                  <a:srgbClr val="0070C0"/>
                </a:solidFill>
              </a:rPr>
              <a:t>modrm.c</a:t>
            </a:r>
            <a:endParaRPr lang="en-US" altLang="zh-CN" dirty="0">
              <a:solidFill>
                <a:srgbClr val="0070C0"/>
              </a:solidFill>
            </a:endParaRPr>
          </a:p>
          <a:p>
            <a:endParaRPr lang="en-US" altLang="zh-CN" dirty="0"/>
          </a:p>
          <a:p>
            <a:pPr marL="285750" indent="-285750">
              <a:buFont typeface="Arial" panose="020B0604020202020204" pitchFamily="34" charset="0"/>
              <a:buChar char="•"/>
            </a:pPr>
            <a:r>
              <a:rPr lang="en-US" altLang="zh-CN" dirty="0" err="1"/>
              <a:t>int</a:t>
            </a:r>
            <a:r>
              <a:rPr lang="en-US" altLang="zh-CN" dirty="0"/>
              <a:t> </a:t>
            </a:r>
            <a:r>
              <a:rPr lang="en-US" altLang="zh-CN" dirty="0" err="1"/>
              <a:t>modrm_rm</a:t>
            </a:r>
            <a:r>
              <a:rPr lang="en-US" altLang="zh-CN" dirty="0"/>
              <a:t>(uint32_t </a:t>
            </a:r>
            <a:r>
              <a:rPr lang="en-US" altLang="zh-CN" dirty="0" err="1"/>
              <a:t>eip</a:t>
            </a:r>
            <a:r>
              <a:rPr lang="en-US" altLang="zh-CN" dirty="0"/>
              <a:t>, OPERAND * </a:t>
            </a:r>
            <a:r>
              <a:rPr lang="en-US" altLang="zh-CN" dirty="0" err="1"/>
              <a:t>rm</a:t>
            </a:r>
            <a:r>
              <a:rPr lang="en-US" altLang="zh-CN" dirty="0"/>
              <a:t>) ;</a:t>
            </a:r>
            <a:endParaRPr lang="en-US" altLang="zh-CN" dirty="0"/>
          </a:p>
          <a:p>
            <a:endParaRPr lang="en-US" altLang="zh-CN" dirty="0"/>
          </a:p>
          <a:p>
            <a:r>
              <a:rPr lang="zh-CN" altLang="en-US" dirty="0"/>
              <a:t>就是查表过程变成代码</a:t>
            </a:r>
            <a:endParaRPr lang="en-US" altLang="zh-CN" dirty="0"/>
          </a:p>
          <a:p>
            <a:r>
              <a:rPr lang="zh-CN" altLang="en-US" dirty="0"/>
              <a:t>会将传入的</a:t>
            </a:r>
            <a:r>
              <a:rPr lang="en-US" altLang="zh-CN" dirty="0" err="1"/>
              <a:t>rm</a:t>
            </a:r>
            <a:r>
              <a:rPr lang="zh-CN" altLang="en-US" dirty="0"/>
              <a:t>变量的</a:t>
            </a:r>
            <a:r>
              <a:rPr lang="en-US" altLang="zh-CN" dirty="0"/>
              <a:t>type</a:t>
            </a:r>
            <a:r>
              <a:rPr lang="zh-CN" altLang="en-US" dirty="0"/>
              <a:t>和</a:t>
            </a:r>
            <a:r>
              <a:rPr lang="en-US" altLang="zh-CN" dirty="0" err="1"/>
              <a:t>addr</a:t>
            </a:r>
            <a:r>
              <a:rPr lang="zh-CN" altLang="en-US" dirty="0"/>
              <a:t>（包括</a:t>
            </a:r>
            <a:r>
              <a:rPr lang="en-US" altLang="zh-CN" dirty="0" err="1"/>
              <a:t>sreg</a:t>
            </a:r>
            <a:r>
              <a:rPr lang="zh-CN" altLang="en-US" dirty="0"/>
              <a:t>）填好</a:t>
            </a:r>
            <a:endParaRPr lang="en-US" altLang="zh-CN" dirty="0"/>
          </a:p>
          <a:p>
            <a:r>
              <a:rPr lang="zh-CN" altLang="en-US" dirty="0"/>
              <a:t>返回解析</a:t>
            </a:r>
            <a:r>
              <a:rPr lang="en-US" altLang="zh-CN" dirty="0" err="1"/>
              <a:t>modr</a:t>
            </a:r>
            <a:r>
              <a:rPr lang="en-US" altLang="zh-CN" dirty="0"/>
              <a:t>/m</a:t>
            </a:r>
            <a:r>
              <a:rPr lang="zh-CN" altLang="en-US" dirty="0"/>
              <a:t>所扫描过的字节数（包括可能的</a:t>
            </a:r>
            <a:r>
              <a:rPr lang="en-US" altLang="zh-CN" dirty="0"/>
              <a:t>SIB</a:t>
            </a:r>
            <a:r>
              <a:rPr lang="zh-CN" altLang="en-US" dirty="0"/>
              <a:t>和</a:t>
            </a:r>
            <a:r>
              <a:rPr lang="en-US" altLang="zh-CN" dirty="0" err="1"/>
              <a:t>disp</a:t>
            </a:r>
            <a:r>
              <a:rPr lang="zh-CN" altLang="en-US" dirty="0"/>
              <a:t>）</a:t>
            </a:r>
            <a:endParaRPr lang="en-US" altLang="zh-CN" dirty="0"/>
          </a:p>
          <a:p>
            <a:endParaRPr lang="en-US" altLang="zh-CN" dirty="0"/>
          </a:p>
          <a:p>
            <a:pPr marL="285750" indent="-285750">
              <a:buFont typeface="Arial" panose="020B0604020202020204" pitchFamily="34" charset="0"/>
              <a:buChar char="•"/>
            </a:pPr>
            <a:r>
              <a:rPr lang="en-US" altLang="zh-CN" dirty="0" err="1"/>
              <a:t>int</a:t>
            </a:r>
            <a:r>
              <a:rPr lang="en-US" altLang="zh-CN" dirty="0"/>
              <a:t> </a:t>
            </a:r>
            <a:r>
              <a:rPr lang="en-US" altLang="zh-CN" dirty="0" err="1"/>
              <a:t>modrm_r_rm</a:t>
            </a:r>
            <a:r>
              <a:rPr lang="en-US" altLang="zh-CN" dirty="0"/>
              <a:t>(uint32_t </a:t>
            </a:r>
            <a:r>
              <a:rPr lang="en-US" altLang="zh-CN" dirty="0" err="1"/>
              <a:t>eip</a:t>
            </a:r>
            <a:r>
              <a:rPr lang="en-US" altLang="zh-CN" dirty="0"/>
              <a:t>, OPERAND *r, OPERAND *</a:t>
            </a:r>
            <a:r>
              <a:rPr lang="en-US" altLang="zh-CN" dirty="0" err="1"/>
              <a:t>rm</a:t>
            </a:r>
            <a:r>
              <a:rPr lang="en-US" altLang="zh-CN" dirty="0"/>
              <a:t>)</a:t>
            </a:r>
            <a:endParaRPr lang="en-US" altLang="zh-CN" dirty="0"/>
          </a:p>
          <a:p>
            <a:pPr marL="285750" indent="-285750">
              <a:buFont typeface="Arial" panose="020B0604020202020204" pitchFamily="34" charset="0"/>
              <a:buChar char="•"/>
            </a:pPr>
            <a:r>
              <a:rPr lang="nl-NL" altLang="zh-CN" dirty="0"/>
              <a:t>int modrm_opcode_rm(uint32_t eip, uint8_t *opcode, OPERAND *rm)</a:t>
            </a:r>
            <a:endParaRPr lang="nl-NL" altLang="zh-CN" dirty="0"/>
          </a:p>
          <a:p>
            <a:pPr marL="285750" indent="-285750">
              <a:buFont typeface="Arial" panose="020B0604020202020204" pitchFamily="34" charset="0"/>
              <a:buChar char="•"/>
            </a:pPr>
            <a:r>
              <a:rPr lang="fr-FR" altLang="zh-CN" dirty="0"/>
              <a:t>int modrm_opcode(uint32_t eip, uint8_t *opcode)</a:t>
            </a:r>
            <a:endParaRPr lang="zh-CN"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NEMU</a:t>
            </a:r>
            <a:r>
              <a:rPr lang="zh-CN" altLang="en-US" dirty="0"/>
              <a:t>模拟指令解码和执行</a:t>
            </a:r>
            <a:endParaRPr lang="zh-CN" altLang="en-US" dirty="0"/>
          </a:p>
        </p:txBody>
      </p:sp>
      <p:sp>
        <p:nvSpPr>
          <p:cNvPr id="4" name="日期占位符 3"/>
          <p:cNvSpPr>
            <a:spLocks noGrp="1"/>
          </p:cNvSpPr>
          <p:nvPr>
            <p:ph type="dt" sz="half" idx="10"/>
          </p:nvPr>
        </p:nvSpPr>
        <p:spPr/>
        <p:txBody>
          <a:bodyPr/>
          <a:lstStyle/>
          <a:p>
            <a:fld id="{960AD632-BA1E-4007-A689-FFA6C023ED74}" type="datetime3">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a:t>Programming Assignment</a:t>
            </a:r>
            <a:endParaRPr lang="zh-CN" altLang="en-US"/>
          </a:p>
        </p:txBody>
      </p:sp>
      <p:sp>
        <p:nvSpPr>
          <p:cNvPr id="6" name="灯片编号占位符 5"/>
          <p:cNvSpPr>
            <a:spLocks noGrp="1"/>
          </p:cNvSpPr>
          <p:nvPr>
            <p:ph type="sldNum" sz="quarter" idx="12"/>
          </p:nvPr>
        </p:nvSpPr>
        <p:spPr/>
        <p:txBody>
          <a:bodyPr/>
          <a:lstStyle/>
          <a:p>
            <a:fld id="{A40E146E-410D-4448-BCD3-F60DE2B98E6B}" type="slidenum">
              <a:rPr lang="zh-CN" altLang="en-US" smtClean="0"/>
            </a:fld>
            <a:endParaRPr lang="zh-CN" altLang="en-US"/>
          </a:p>
        </p:txBody>
      </p:sp>
      <p:sp>
        <p:nvSpPr>
          <p:cNvPr id="7" name="文本框 6"/>
          <p:cNvSpPr txBox="1"/>
          <p:nvPr/>
        </p:nvSpPr>
        <p:spPr>
          <a:xfrm>
            <a:off x="2025925" y="1585291"/>
            <a:ext cx="10166075" cy="5078313"/>
          </a:xfrm>
          <a:prstGeom prst="rect">
            <a:avLst/>
          </a:prstGeom>
          <a:noFill/>
        </p:spPr>
        <p:txBody>
          <a:bodyPr wrap="square" rtlCol="0">
            <a:spAutoFit/>
          </a:bodyPr>
          <a:lstStyle/>
          <a:p>
            <a:r>
              <a:rPr lang="en-US" altLang="zh-CN" dirty="0">
                <a:solidFill>
                  <a:srgbClr val="00B050"/>
                </a:solidFill>
              </a:rPr>
              <a:t>// </a:t>
            </a:r>
            <a:r>
              <a:rPr lang="zh-CN" altLang="zh-CN" dirty="0">
                <a:solidFill>
                  <a:srgbClr val="00B050"/>
                </a:solidFill>
              </a:rPr>
              <a:t>宏展开后这一行即为</a:t>
            </a:r>
            <a:r>
              <a:rPr lang="en-US" altLang="zh-CN" dirty="0">
                <a:solidFill>
                  <a:srgbClr val="00B050"/>
                </a:solidFill>
              </a:rPr>
              <a:t> </a:t>
            </a:r>
            <a:r>
              <a:rPr lang="en-US" altLang="zh-CN" dirty="0" err="1">
                <a:solidFill>
                  <a:srgbClr val="00B050"/>
                </a:solidFill>
              </a:rPr>
              <a:t>int</a:t>
            </a:r>
            <a:r>
              <a:rPr lang="en-US" altLang="zh-CN" dirty="0">
                <a:solidFill>
                  <a:srgbClr val="00B050"/>
                </a:solidFill>
              </a:rPr>
              <a:t> mov_i2rm_v(uint32_t </a:t>
            </a:r>
            <a:r>
              <a:rPr lang="en-US" altLang="zh-CN" dirty="0" err="1">
                <a:solidFill>
                  <a:srgbClr val="00B050"/>
                </a:solidFill>
              </a:rPr>
              <a:t>eip</a:t>
            </a:r>
            <a:r>
              <a:rPr lang="en-US" altLang="zh-CN" dirty="0">
                <a:solidFill>
                  <a:srgbClr val="00B050"/>
                </a:solidFill>
              </a:rPr>
              <a:t>, uint8_t opcode) {</a:t>
            </a:r>
            <a:endParaRPr lang="zh-CN" altLang="zh-CN" dirty="0">
              <a:solidFill>
                <a:srgbClr val="00B050"/>
              </a:solidFill>
            </a:endParaRPr>
          </a:p>
          <a:p>
            <a:r>
              <a:rPr lang="en-US" altLang="zh-CN" dirty="0" err="1"/>
              <a:t>make_instr_func</a:t>
            </a:r>
            <a:r>
              <a:rPr lang="en-US" altLang="zh-CN" dirty="0"/>
              <a:t>(mov_i2rm_v) { </a:t>
            </a:r>
            <a:endParaRPr lang="zh-CN" altLang="zh-CN" dirty="0"/>
          </a:p>
          <a:p>
            <a:r>
              <a:rPr lang="en-US" altLang="zh-CN" dirty="0"/>
              <a:t>    OPERAND </a:t>
            </a:r>
            <a:r>
              <a:rPr lang="en-US" altLang="zh-CN" dirty="0" err="1"/>
              <a:t>rm</a:t>
            </a:r>
            <a:r>
              <a:rPr lang="en-US" altLang="zh-CN" dirty="0"/>
              <a:t>, </a:t>
            </a:r>
            <a:r>
              <a:rPr lang="en-US" altLang="zh-CN" dirty="0" err="1"/>
              <a:t>imm</a:t>
            </a:r>
            <a:r>
              <a:rPr lang="en-US" altLang="zh-CN" dirty="0"/>
              <a:t>;          </a:t>
            </a:r>
            <a:r>
              <a:rPr lang="en-US" altLang="zh-CN" dirty="0">
                <a:solidFill>
                  <a:srgbClr val="00B050"/>
                </a:solidFill>
              </a:rPr>
              <a:t>// OPERAND</a:t>
            </a:r>
            <a:r>
              <a:rPr lang="zh-CN" altLang="en-US" dirty="0">
                <a:solidFill>
                  <a:srgbClr val="00B050"/>
                </a:solidFill>
              </a:rPr>
              <a:t>定义在</a:t>
            </a:r>
            <a:r>
              <a:rPr lang="en-US" altLang="zh-CN" dirty="0" err="1">
                <a:solidFill>
                  <a:srgbClr val="00B050"/>
                </a:solidFill>
              </a:rPr>
              <a:t>nemu</a:t>
            </a:r>
            <a:r>
              <a:rPr lang="en-US" altLang="zh-CN" dirty="0">
                <a:solidFill>
                  <a:srgbClr val="00B050"/>
                </a:solidFill>
              </a:rPr>
              <a:t>/include/</a:t>
            </a:r>
            <a:r>
              <a:rPr lang="en-US" altLang="zh-CN" dirty="0" err="1">
                <a:solidFill>
                  <a:srgbClr val="00B050"/>
                </a:solidFill>
              </a:rPr>
              <a:t>cpu</a:t>
            </a:r>
            <a:r>
              <a:rPr lang="en-US" altLang="zh-CN" dirty="0">
                <a:solidFill>
                  <a:srgbClr val="00B050"/>
                </a:solidFill>
              </a:rPr>
              <a:t>/</a:t>
            </a:r>
            <a:r>
              <a:rPr lang="en-US" altLang="zh-CN" dirty="0" err="1">
                <a:solidFill>
                  <a:srgbClr val="00B050"/>
                </a:solidFill>
              </a:rPr>
              <a:t>operand.h</a:t>
            </a:r>
            <a:endParaRPr lang="en-US" altLang="zh-CN" dirty="0">
              <a:solidFill>
                <a:srgbClr val="00B050"/>
              </a:solidFill>
            </a:endParaRPr>
          </a:p>
          <a:p>
            <a:r>
              <a:rPr lang="en-US" altLang="zh-CN" dirty="0">
                <a:solidFill>
                  <a:srgbClr val="00B050"/>
                </a:solidFill>
              </a:rPr>
              <a:t>                                                 // </a:t>
            </a:r>
            <a:r>
              <a:rPr lang="zh-CN" altLang="en-US" dirty="0">
                <a:solidFill>
                  <a:srgbClr val="00B050"/>
                </a:solidFill>
              </a:rPr>
              <a:t>看教程</a:t>
            </a:r>
            <a:r>
              <a:rPr lang="en-US" altLang="zh-CN" dirty="0">
                <a:solidFill>
                  <a:srgbClr val="00B050"/>
                </a:solidFill>
              </a:rPr>
              <a:t>§2-1.2.3</a:t>
            </a:r>
            <a:r>
              <a:rPr lang="en-US" altLang="zh-CN" dirty="0"/>
              <a:t> </a:t>
            </a:r>
            <a:endParaRPr lang="zh-CN" altLang="zh-CN" dirty="0"/>
          </a:p>
          <a:p>
            <a:r>
              <a:rPr lang="en-US" altLang="zh-CN" dirty="0"/>
              <a:t>    </a:t>
            </a:r>
            <a:r>
              <a:rPr lang="en-US" altLang="zh-CN" dirty="0" err="1"/>
              <a:t>rm.data_size</a:t>
            </a:r>
            <a:r>
              <a:rPr lang="en-US" altLang="zh-CN" dirty="0"/>
              <a:t> = </a:t>
            </a:r>
            <a:r>
              <a:rPr lang="en-US" altLang="zh-CN" dirty="0" err="1"/>
              <a:t>data_size</a:t>
            </a:r>
            <a:r>
              <a:rPr lang="en-US" altLang="zh-CN" dirty="0"/>
              <a:t>; </a:t>
            </a:r>
            <a:r>
              <a:rPr lang="en-US" altLang="zh-CN" dirty="0">
                <a:solidFill>
                  <a:srgbClr val="00B050"/>
                </a:solidFill>
              </a:rPr>
              <a:t>// </a:t>
            </a:r>
            <a:r>
              <a:rPr lang="en-US" altLang="zh-CN" dirty="0" err="1"/>
              <a:t>data_size</a:t>
            </a:r>
            <a:r>
              <a:rPr lang="zh-CN" altLang="en-US" dirty="0">
                <a:solidFill>
                  <a:srgbClr val="00B050"/>
                </a:solidFill>
              </a:rPr>
              <a:t>是个全局变量，表示</a:t>
            </a:r>
            <a:r>
              <a:rPr lang="zh-CN" altLang="en-US" dirty="0">
                <a:solidFill>
                  <a:srgbClr val="00B0F0"/>
                </a:solidFill>
              </a:rPr>
              <a:t>操作数</a:t>
            </a:r>
            <a:r>
              <a:rPr lang="zh-CN" altLang="en-US" dirty="0">
                <a:solidFill>
                  <a:srgbClr val="00B050"/>
                </a:solidFill>
              </a:rPr>
              <a:t>的</a:t>
            </a:r>
            <a:r>
              <a:rPr lang="zh-CN" altLang="en-US" dirty="0">
                <a:solidFill>
                  <a:srgbClr val="FF0000"/>
                </a:solidFill>
              </a:rPr>
              <a:t>比特长度</a:t>
            </a:r>
            <a:endParaRPr lang="zh-CN" altLang="zh-CN" dirty="0">
              <a:solidFill>
                <a:srgbClr val="FF0000"/>
              </a:solidFill>
            </a:endParaRPr>
          </a:p>
          <a:p>
            <a:r>
              <a:rPr lang="en-US" altLang="zh-CN" dirty="0"/>
              <a:t>    </a:t>
            </a:r>
            <a:r>
              <a:rPr lang="en-US" altLang="zh-CN" dirty="0" err="1"/>
              <a:t>int</a:t>
            </a:r>
            <a:r>
              <a:rPr lang="en-US" altLang="zh-CN" dirty="0"/>
              <a:t> </a:t>
            </a:r>
            <a:r>
              <a:rPr lang="en-US" altLang="zh-CN" dirty="0" err="1"/>
              <a:t>len</a:t>
            </a:r>
            <a:r>
              <a:rPr lang="en-US" altLang="zh-CN" dirty="0"/>
              <a:t> = 1;                          </a:t>
            </a:r>
            <a:r>
              <a:rPr lang="en-US" altLang="zh-CN" dirty="0">
                <a:solidFill>
                  <a:srgbClr val="00B050"/>
                </a:solidFill>
              </a:rPr>
              <a:t>// opcode </a:t>
            </a:r>
            <a:r>
              <a:rPr lang="zh-CN" altLang="zh-CN" dirty="0">
                <a:solidFill>
                  <a:srgbClr val="00B050"/>
                </a:solidFill>
              </a:rPr>
              <a:t>长度</a:t>
            </a:r>
            <a:r>
              <a:rPr lang="en-US" altLang="zh-CN" dirty="0">
                <a:solidFill>
                  <a:srgbClr val="00B050"/>
                </a:solidFill>
              </a:rPr>
              <a:t>1</a:t>
            </a:r>
            <a:r>
              <a:rPr lang="zh-CN" altLang="zh-CN" dirty="0">
                <a:solidFill>
                  <a:srgbClr val="00B050"/>
                </a:solidFill>
              </a:rPr>
              <a:t>字节</a:t>
            </a:r>
            <a:endParaRPr lang="zh-CN" altLang="zh-CN" dirty="0">
              <a:solidFill>
                <a:srgbClr val="00B050"/>
              </a:solidFill>
            </a:endParaRPr>
          </a:p>
          <a:p>
            <a:r>
              <a:rPr lang="en-US" altLang="zh-CN" dirty="0"/>
              <a:t>    </a:t>
            </a:r>
            <a:r>
              <a:rPr lang="en-US" altLang="zh-CN" dirty="0" err="1"/>
              <a:t>len</a:t>
            </a:r>
            <a:r>
              <a:rPr lang="en-US" altLang="zh-CN" dirty="0"/>
              <a:t> += </a:t>
            </a:r>
            <a:r>
              <a:rPr lang="en-US" altLang="zh-CN" dirty="0" err="1"/>
              <a:t>modrm_rm</a:t>
            </a:r>
            <a:r>
              <a:rPr lang="en-US" altLang="zh-CN" dirty="0"/>
              <a:t>(</a:t>
            </a:r>
            <a:r>
              <a:rPr lang="en-US" altLang="zh-CN" dirty="0" err="1"/>
              <a:t>eip</a:t>
            </a:r>
            <a:r>
              <a:rPr lang="en-US" altLang="zh-CN" dirty="0"/>
              <a:t> + 1, &amp;</a:t>
            </a:r>
            <a:r>
              <a:rPr lang="en-US" altLang="zh-CN" dirty="0" err="1"/>
              <a:t>rm</a:t>
            </a:r>
            <a:r>
              <a:rPr lang="en-US" altLang="zh-CN" dirty="0"/>
              <a:t>);</a:t>
            </a:r>
            <a:r>
              <a:rPr lang="en-US" altLang="zh-CN" dirty="0">
                <a:solidFill>
                  <a:srgbClr val="FF0000"/>
                </a:solidFill>
              </a:rPr>
              <a:t> </a:t>
            </a:r>
            <a:r>
              <a:rPr lang="en-US" altLang="zh-CN" dirty="0">
                <a:solidFill>
                  <a:srgbClr val="00B050"/>
                </a:solidFill>
              </a:rPr>
              <a:t>// </a:t>
            </a:r>
            <a:r>
              <a:rPr lang="zh-CN" altLang="zh-CN" dirty="0">
                <a:solidFill>
                  <a:srgbClr val="00B050"/>
                </a:solidFill>
              </a:rPr>
              <a:t>读</a:t>
            </a:r>
            <a:r>
              <a:rPr lang="en-US" altLang="zh-CN" dirty="0" err="1">
                <a:solidFill>
                  <a:srgbClr val="00B050"/>
                </a:solidFill>
              </a:rPr>
              <a:t>ModR</a:t>
            </a:r>
            <a:r>
              <a:rPr lang="en-US" altLang="zh-CN" dirty="0">
                <a:solidFill>
                  <a:srgbClr val="00B050"/>
                </a:solidFill>
              </a:rPr>
              <a:t>/M</a:t>
            </a:r>
            <a:r>
              <a:rPr lang="zh-CN" altLang="zh-CN" dirty="0">
                <a:solidFill>
                  <a:srgbClr val="00B050"/>
                </a:solidFill>
              </a:rPr>
              <a:t>字节，</a:t>
            </a:r>
            <a:r>
              <a:rPr lang="en-US" altLang="zh-CN" dirty="0" err="1">
                <a:solidFill>
                  <a:srgbClr val="00B050"/>
                </a:solidFill>
              </a:rPr>
              <a:t>rm</a:t>
            </a:r>
            <a:r>
              <a:rPr lang="zh-CN" altLang="zh-CN" dirty="0">
                <a:solidFill>
                  <a:srgbClr val="00B050"/>
                </a:solidFill>
              </a:rPr>
              <a:t>的</a:t>
            </a:r>
            <a:r>
              <a:rPr lang="en-US" altLang="zh-CN" dirty="0">
                <a:solidFill>
                  <a:srgbClr val="00B050"/>
                </a:solidFill>
              </a:rPr>
              <a:t>type</a:t>
            </a:r>
            <a:r>
              <a:rPr lang="zh-CN" altLang="zh-CN" dirty="0">
                <a:solidFill>
                  <a:srgbClr val="00B050"/>
                </a:solidFill>
              </a:rPr>
              <a:t>和</a:t>
            </a:r>
            <a:r>
              <a:rPr lang="en-US" altLang="zh-CN" dirty="0" err="1">
                <a:solidFill>
                  <a:srgbClr val="00B050"/>
                </a:solidFill>
              </a:rPr>
              <a:t>addr</a:t>
            </a:r>
            <a:r>
              <a:rPr lang="zh-CN" altLang="zh-CN" dirty="0">
                <a:solidFill>
                  <a:srgbClr val="00B050"/>
                </a:solidFill>
              </a:rPr>
              <a:t>会被填写</a:t>
            </a:r>
            <a:endParaRPr lang="zh-CN" altLang="zh-CN" dirty="0">
              <a:solidFill>
                <a:srgbClr val="00B050"/>
              </a:solidFill>
            </a:endParaRPr>
          </a:p>
          <a:p>
            <a:r>
              <a:rPr lang="en-US" altLang="zh-CN" dirty="0"/>
              <a:t> </a:t>
            </a:r>
            <a:endParaRPr lang="zh-CN" altLang="zh-CN" dirty="0"/>
          </a:p>
          <a:p>
            <a:r>
              <a:rPr lang="en-US" altLang="zh-CN" dirty="0"/>
              <a:t>    </a:t>
            </a:r>
            <a:r>
              <a:rPr lang="en-US" altLang="zh-CN" dirty="0" err="1"/>
              <a:t>imm.type</a:t>
            </a:r>
            <a:r>
              <a:rPr lang="en-US" altLang="zh-CN" dirty="0"/>
              <a:t> = OPR_IMM;       </a:t>
            </a:r>
            <a:r>
              <a:rPr lang="en-US" altLang="zh-CN" dirty="0">
                <a:solidFill>
                  <a:srgbClr val="00B050"/>
                </a:solidFill>
              </a:rPr>
              <a:t> // </a:t>
            </a:r>
            <a:r>
              <a:rPr lang="zh-CN" altLang="zh-CN" dirty="0">
                <a:solidFill>
                  <a:srgbClr val="00B050"/>
                </a:solidFill>
              </a:rPr>
              <a:t>填入立即数类型</a:t>
            </a:r>
            <a:endParaRPr lang="zh-CN" altLang="zh-CN" dirty="0">
              <a:solidFill>
                <a:srgbClr val="00B050"/>
              </a:solidFill>
            </a:endParaRPr>
          </a:p>
          <a:p>
            <a:r>
              <a:rPr lang="en-US" altLang="zh-CN" dirty="0"/>
              <a:t>    </a:t>
            </a:r>
            <a:r>
              <a:rPr lang="en-US" altLang="zh-CN" dirty="0" err="1"/>
              <a:t>imm.addr</a:t>
            </a:r>
            <a:r>
              <a:rPr lang="en-US" altLang="zh-CN" dirty="0"/>
              <a:t> = </a:t>
            </a:r>
            <a:r>
              <a:rPr lang="en-US" altLang="zh-CN" dirty="0" err="1"/>
              <a:t>eip</a:t>
            </a:r>
            <a:r>
              <a:rPr lang="en-US" altLang="zh-CN" dirty="0"/>
              <a:t> + </a:t>
            </a:r>
            <a:r>
              <a:rPr lang="en-US" altLang="zh-CN" dirty="0" err="1"/>
              <a:t>len</a:t>
            </a:r>
            <a:r>
              <a:rPr lang="en-US" altLang="zh-CN" dirty="0"/>
              <a:t>;          </a:t>
            </a:r>
            <a:r>
              <a:rPr lang="en-US" altLang="zh-CN" dirty="0">
                <a:solidFill>
                  <a:srgbClr val="00B050"/>
                </a:solidFill>
              </a:rPr>
              <a:t> // </a:t>
            </a:r>
            <a:r>
              <a:rPr lang="zh-CN" altLang="zh-CN" dirty="0">
                <a:solidFill>
                  <a:srgbClr val="00B050"/>
                </a:solidFill>
              </a:rPr>
              <a:t>找到立即数的地址</a:t>
            </a:r>
            <a:endParaRPr lang="zh-CN" altLang="zh-CN" dirty="0">
              <a:solidFill>
                <a:srgbClr val="00B050"/>
              </a:solidFill>
            </a:endParaRPr>
          </a:p>
          <a:p>
            <a:r>
              <a:rPr lang="en-US" altLang="zh-CN" dirty="0"/>
              <a:t>    </a:t>
            </a:r>
            <a:r>
              <a:rPr lang="en-US" altLang="zh-CN" dirty="0" err="1"/>
              <a:t>imm.data_size</a:t>
            </a:r>
            <a:r>
              <a:rPr lang="en-US" altLang="zh-CN" dirty="0"/>
              <a:t> = </a:t>
            </a:r>
            <a:r>
              <a:rPr lang="en-US" altLang="zh-CN" dirty="0" err="1"/>
              <a:t>data_size</a:t>
            </a:r>
            <a:r>
              <a:rPr lang="en-US" altLang="zh-CN" dirty="0"/>
              <a:t>;       </a:t>
            </a:r>
            <a:endParaRPr lang="zh-CN" altLang="zh-CN" dirty="0"/>
          </a:p>
          <a:p>
            <a:r>
              <a:rPr lang="en-US" altLang="zh-CN" dirty="0"/>
              <a:t> </a:t>
            </a:r>
            <a:endParaRPr lang="zh-CN" altLang="zh-CN" dirty="0"/>
          </a:p>
          <a:p>
            <a:r>
              <a:rPr lang="en-US" altLang="zh-CN" dirty="0"/>
              <a:t>    </a:t>
            </a:r>
            <a:r>
              <a:rPr lang="en-US" altLang="zh-CN" dirty="0" err="1">
                <a:solidFill>
                  <a:srgbClr val="FF0000"/>
                </a:solidFill>
              </a:rPr>
              <a:t>operand_read</a:t>
            </a:r>
            <a:r>
              <a:rPr lang="en-US" altLang="zh-CN" dirty="0">
                <a:solidFill>
                  <a:srgbClr val="FF0000"/>
                </a:solidFill>
              </a:rPr>
              <a:t>(&amp;</a:t>
            </a:r>
            <a:r>
              <a:rPr lang="en-US" altLang="zh-CN" dirty="0" err="1">
                <a:solidFill>
                  <a:srgbClr val="FF0000"/>
                </a:solidFill>
              </a:rPr>
              <a:t>imm</a:t>
            </a:r>
            <a:r>
              <a:rPr lang="en-US" altLang="zh-CN" dirty="0">
                <a:solidFill>
                  <a:srgbClr val="FF0000"/>
                </a:solidFill>
              </a:rPr>
              <a:t>);</a:t>
            </a:r>
            <a:r>
              <a:rPr lang="en-US" altLang="zh-CN" dirty="0"/>
              <a:t>        </a:t>
            </a:r>
            <a:r>
              <a:rPr lang="en-US" altLang="zh-CN" dirty="0">
                <a:solidFill>
                  <a:srgbClr val="00B050"/>
                </a:solidFill>
              </a:rPr>
              <a:t> // </a:t>
            </a:r>
            <a:r>
              <a:rPr lang="zh-CN" altLang="zh-CN" dirty="0">
                <a:solidFill>
                  <a:srgbClr val="00B050"/>
                </a:solidFill>
              </a:rPr>
              <a:t>执行</a:t>
            </a:r>
            <a:r>
              <a:rPr lang="en-US" altLang="zh-CN" dirty="0">
                <a:solidFill>
                  <a:srgbClr val="00B050"/>
                </a:solidFill>
              </a:rPr>
              <a:t> </a:t>
            </a:r>
            <a:r>
              <a:rPr lang="en-US" altLang="zh-CN" dirty="0" err="1">
                <a:solidFill>
                  <a:srgbClr val="00B050"/>
                </a:solidFill>
              </a:rPr>
              <a:t>mov</a:t>
            </a:r>
            <a:r>
              <a:rPr lang="en-US" altLang="zh-CN" dirty="0">
                <a:solidFill>
                  <a:srgbClr val="00B050"/>
                </a:solidFill>
              </a:rPr>
              <a:t> </a:t>
            </a:r>
            <a:r>
              <a:rPr lang="zh-CN" altLang="zh-CN" dirty="0">
                <a:solidFill>
                  <a:srgbClr val="00B050"/>
                </a:solidFill>
              </a:rPr>
              <a:t>操作</a:t>
            </a:r>
            <a:endParaRPr lang="zh-CN" altLang="zh-CN" dirty="0">
              <a:solidFill>
                <a:srgbClr val="00B050"/>
              </a:solidFill>
            </a:endParaRPr>
          </a:p>
          <a:p>
            <a:r>
              <a:rPr lang="en-US" altLang="zh-CN" dirty="0"/>
              <a:t>    </a:t>
            </a:r>
            <a:r>
              <a:rPr lang="en-US" altLang="zh-CN" dirty="0" err="1"/>
              <a:t>rm.val</a:t>
            </a:r>
            <a:r>
              <a:rPr lang="en-US" altLang="zh-CN" dirty="0"/>
              <a:t> = </a:t>
            </a:r>
            <a:r>
              <a:rPr lang="en-US" altLang="zh-CN" dirty="0" err="1"/>
              <a:t>imm.val</a:t>
            </a:r>
            <a:r>
              <a:rPr lang="en-US" altLang="zh-CN" dirty="0"/>
              <a:t>;</a:t>
            </a:r>
            <a:endParaRPr lang="zh-CN" altLang="zh-CN" dirty="0"/>
          </a:p>
          <a:p>
            <a:r>
              <a:rPr lang="en-US" altLang="zh-CN" dirty="0"/>
              <a:t>    </a:t>
            </a:r>
            <a:r>
              <a:rPr lang="en-US" altLang="zh-CN" dirty="0" err="1"/>
              <a:t>operand_write</a:t>
            </a:r>
            <a:r>
              <a:rPr lang="en-US" altLang="zh-CN" dirty="0"/>
              <a:t>(&amp;</a:t>
            </a:r>
            <a:r>
              <a:rPr lang="en-US" altLang="zh-CN" dirty="0" err="1"/>
              <a:t>rm</a:t>
            </a:r>
            <a:r>
              <a:rPr lang="en-US" altLang="zh-CN" dirty="0"/>
              <a:t>);</a:t>
            </a:r>
            <a:endParaRPr lang="zh-CN" altLang="zh-CN" dirty="0"/>
          </a:p>
          <a:p>
            <a:r>
              <a:rPr lang="en-US" altLang="zh-CN" dirty="0"/>
              <a:t> </a:t>
            </a:r>
            <a:endParaRPr lang="zh-CN" altLang="zh-CN" dirty="0"/>
          </a:p>
          <a:p>
            <a:r>
              <a:rPr lang="en-US" altLang="zh-CN" dirty="0"/>
              <a:t>    return </a:t>
            </a:r>
            <a:r>
              <a:rPr lang="en-US" altLang="zh-CN" dirty="0" err="1"/>
              <a:t>len</a:t>
            </a:r>
            <a:r>
              <a:rPr lang="en-US" altLang="zh-CN" dirty="0"/>
              <a:t> + </a:t>
            </a:r>
            <a:r>
              <a:rPr lang="en-US" altLang="zh-CN" dirty="0" err="1"/>
              <a:t>data_size</a:t>
            </a:r>
            <a:r>
              <a:rPr lang="en-US" altLang="zh-CN" dirty="0"/>
              <a:t> / 8;    </a:t>
            </a:r>
            <a:r>
              <a:rPr lang="en-US" altLang="zh-CN" dirty="0">
                <a:solidFill>
                  <a:srgbClr val="00B050"/>
                </a:solidFill>
              </a:rPr>
              <a:t>// opcode</a:t>
            </a:r>
            <a:r>
              <a:rPr lang="zh-CN" altLang="zh-CN" dirty="0">
                <a:solidFill>
                  <a:srgbClr val="00B050"/>
                </a:solidFill>
              </a:rPr>
              <a:t>长度</a:t>
            </a:r>
            <a:r>
              <a:rPr lang="en-US" altLang="zh-CN" dirty="0">
                <a:solidFill>
                  <a:srgbClr val="00B050"/>
                </a:solidFill>
              </a:rPr>
              <a:t> + </a:t>
            </a:r>
            <a:r>
              <a:rPr lang="en-US" altLang="zh-CN" dirty="0" err="1">
                <a:solidFill>
                  <a:srgbClr val="00B050"/>
                </a:solidFill>
              </a:rPr>
              <a:t>ModR</a:t>
            </a:r>
            <a:r>
              <a:rPr lang="en-US" altLang="zh-CN" dirty="0">
                <a:solidFill>
                  <a:srgbClr val="00B050"/>
                </a:solidFill>
              </a:rPr>
              <a:t>/M</a:t>
            </a:r>
            <a:r>
              <a:rPr lang="zh-CN" altLang="zh-CN" dirty="0">
                <a:solidFill>
                  <a:srgbClr val="00B050"/>
                </a:solidFill>
              </a:rPr>
              <a:t>字节扫描长度 </a:t>
            </a:r>
            <a:r>
              <a:rPr lang="en-US" altLang="zh-CN" dirty="0">
                <a:solidFill>
                  <a:srgbClr val="00B050"/>
                </a:solidFill>
              </a:rPr>
              <a:t>+ </a:t>
            </a:r>
            <a:r>
              <a:rPr lang="zh-CN" altLang="zh-CN" dirty="0">
                <a:solidFill>
                  <a:srgbClr val="00B050"/>
                </a:solidFill>
              </a:rPr>
              <a:t>立即数长度</a:t>
            </a:r>
            <a:endParaRPr lang="zh-CN" altLang="zh-CN" dirty="0">
              <a:solidFill>
                <a:srgbClr val="00B050"/>
              </a:solidFill>
            </a:endParaRPr>
          </a:p>
          <a:p>
            <a:r>
              <a:rPr lang="en-US" altLang="zh-CN" dirty="0"/>
              <a:t>}</a:t>
            </a:r>
            <a:endParaRPr lang="zh-CN"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NEMU</a:t>
            </a:r>
            <a:r>
              <a:rPr lang="zh-CN" altLang="en-US" dirty="0"/>
              <a:t>模拟指令解码和执行</a:t>
            </a:r>
            <a:endParaRPr lang="zh-CN" altLang="en-US" dirty="0"/>
          </a:p>
        </p:txBody>
      </p:sp>
      <p:sp>
        <p:nvSpPr>
          <p:cNvPr id="4" name="日期占位符 3"/>
          <p:cNvSpPr>
            <a:spLocks noGrp="1"/>
          </p:cNvSpPr>
          <p:nvPr>
            <p:ph type="dt" sz="half" idx="10"/>
          </p:nvPr>
        </p:nvSpPr>
        <p:spPr/>
        <p:txBody>
          <a:bodyPr/>
          <a:lstStyle/>
          <a:p>
            <a:fld id="{960AD632-BA1E-4007-A689-FFA6C023ED74}" type="datetime3">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a:t>Programming Assignment</a:t>
            </a:r>
            <a:endParaRPr lang="zh-CN" altLang="en-US"/>
          </a:p>
        </p:txBody>
      </p:sp>
      <p:sp>
        <p:nvSpPr>
          <p:cNvPr id="6" name="灯片编号占位符 5"/>
          <p:cNvSpPr>
            <a:spLocks noGrp="1"/>
          </p:cNvSpPr>
          <p:nvPr>
            <p:ph type="sldNum" sz="quarter" idx="12"/>
          </p:nvPr>
        </p:nvSpPr>
        <p:spPr/>
        <p:txBody>
          <a:bodyPr/>
          <a:lstStyle/>
          <a:p>
            <a:fld id="{A40E146E-410D-4448-BCD3-F60DE2B98E6B}" type="slidenum">
              <a:rPr lang="zh-CN" altLang="en-US" smtClean="0"/>
            </a:fld>
            <a:endParaRPr lang="zh-CN" altLang="en-US"/>
          </a:p>
        </p:txBody>
      </p:sp>
      <p:sp>
        <p:nvSpPr>
          <p:cNvPr id="7" name="文本框 6"/>
          <p:cNvSpPr txBox="1"/>
          <p:nvPr/>
        </p:nvSpPr>
        <p:spPr>
          <a:xfrm>
            <a:off x="2025925" y="1585291"/>
            <a:ext cx="9556475" cy="5078313"/>
          </a:xfrm>
          <a:prstGeom prst="rect">
            <a:avLst/>
          </a:prstGeom>
          <a:noFill/>
        </p:spPr>
        <p:txBody>
          <a:bodyPr wrap="square" rtlCol="0">
            <a:spAutoFit/>
          </a:bodyPr>
          <a:lstStyle/>
          <a:p>
            <a:r>
              <a:rPr lang="en-US" altLang="zh-CN" dirty="0">
                <a:solidFill>
                  <a:srgbClr val="00B050"/>
                </a:solidFill>
              </a:rPr>
              <a:t>// </a:t>
            </a:r>
            <a:r>
              <a:rPr lang="zh-CN" altLang="zh-CN" dirty="0">
                <a:solidFill>
                  <a:srgbClr val="00B050"/>
                </a:solidFill>
              </a:rPr>
              <a:t>宏展开后这一行即为</a:t>
            </a:r>
            <a:r>
              <a:rPr lang="en-US" altLang="zh-CN" dirty="0">
                <a:solidFill>
                  <a:srgbClr val="00B050"/>
                </a:solidFill>
              </a:rPr>
              <a:t> </a:t>
            </a:r>
            <a:r>
              <a:rPr lang="en-US" altLang="zh-CN" dirty="0" err="1">
                <a:solidFill>
                  <a:srgbClr val="00B050"/>
                </a:solidFill>
              </a:rPr>
              <a:t>int</a:t>
            </a:r>
            <a:r>
              <a:rPr lang="en-US" altLang="zh-CN" dirty="0">
                <a:solidFill>
                  <a:srgbClr val="00B050"/>
                </a:solidFill>
              </a:rPr>
              <a:t> mov_i2rm_v(uint32_t </a:t>
            </a:r>
            <a:r>
              <a:rPr lang="en-US" altLang="zh-CN" dirty="0" err="1">
                <a:solidFill>
                  <a:srgbClr val="00B050"/>
                </a:solidFill>
              </a:rPr>
              <a:t>eip</a:t>
            </a:r>
            <a:r>
              <a:rPr lang="en-US" altLang="zh-CN" dirty="0">
                <a:solidFill>
                  <a:srgbClr val="00B050"/>
                </a:solidFill>
              </a:rPr>
              <a:t>, uint8_t opcode) {</a:t>
            </a:r>
            <a:endParaRPr lang="zh-CN" altLang="zh-CN" dirty="0">
              <a:solidFill>
                <a:srgbClr val="00B050"/>
              </a:solidFill>
            </a:endParaRPr>
          </a:p>
          <a:p>
            <a:r>
              <a:rPr lang="en-US" altLang="zh-CN" dirty="0" err="1"/>
              <a:t>make_instr_func</a:t>
            </a:r>
            <a:r>
              <a:rPr lang="en-US" altLang="zh-CN" dirty="0"/>
              <a:t>(mov_i2rm_v) { </a:t>
            </a:r>
            <a:endParaRPr lang="zh-CN" altLang="zh-CN" dirty="0"/>
          </a:p>
          <a:p>
            <a:r>
              <a:rPr lang="en-US" altLang="zh-CN" dirty="0"/>
              <a:t>    OPERAND </a:t>
            </a:r>
            <a:r>
              <a:rPr lang="en-US" altLang="zh-CN" dirty="0" err="1"/>
              <a:t>rm</a:t>
            </a:r>
            <a:r>
              <a:rPr lang="en-US" altLang="zh-CN" dirty="0"/>
              <a:t>, </a:t>
            </a:r>
            <a:r>
              <a:rPr lang="en-US" altLang="zh-CN" dirty="0" err="1"/>
              <a:t>imm</a:t>
            </a:r>
            <a:r>
              <a:rPr lang="en-US" altLang="zh-CN" dirty="0"/>
              <a:t>;          </a:t>
            </a:r>
            <a:r>
              <a:rPr lang="en-US" altLang="zh-CN" dirty="0">
                <a:solidFill>
                  <a:srgbClr val="00B050"/>
                </a:solidFill>
              </a:rPr>
              <a:t>// OPERAND</a:t>
            </a:r>
            <a:r>
              <a:rPr lang="zh-CN" altLang="en-US" dirty="0">
                <a:solidFill>
                  <a:srgbClr val="00B050"/>
                </a:solidFill>
              </a:rPr>
              <a:t>定义在</a:t>
            </a:r>
            <a:r>
              <a:rPr lang="en-US" altLang="zh-CN" dirty="0" err="1">
                <a:solidFill>
                  <a:srgbClr val="00B050"/>
                </a:solidFill>
              </a:rPr>
              <a:t>nemu</a:t>
            </a:r>
            <a:r>
              <a:rPr lang="en-US" altLang="zh-CN" dirty="0">
                <a:solidFill>
                  <a:srgbClr val="00B050"/>
                </a:solidFill>
              </a:rPr>
              <a:t>/include/</a:t>
            </a:r>
            <a:r>
              <a:rPr lang="en-US" altLang="zh-CN" dirty="0" err="1">
                <a:solidFill>
                  <a:srgbClr val="00B050"/>
                </a:solidFill>
              </a:rPr>
              <a:t>cpu</a:t>
            </a:r>
            <a:r>
              <a:rPr lang="en-US" altLang="zh-CN" dirty="0">
                <a:solidFill>
                  <a:srgbClr val="00B050"/>
                </a:solidFill>
              </a:rPr>
              <a:t>/</a:t>
            </a:r>
            <a:r>
              <a:rPr lang="en-US" altLang="zh-CN" dirty="0" err="1">
                <a:solidFill>
                  <a:srgbClr val="00B050"/>
                </a:solidFill>
              </a:rPr>
              <a:t>operand.h</a:t>
            </a:r>
            <a:endParaRPr lang="en-US" altLang="zh-CN" dirty="0">
              <a:solidFill>
                <a:srgbClr val="00B050"/>
              </a:solidFill>
            </a:endParaRPr>
          </a:p>
          <a:p>
            <a:r>
              <a:rPr lang="en-US" altLang="zh-CN" dirty="0">
                <a:solidFill>
                  <a:srgbClr val="00B050"/>
                </a:solidFill>
              </a:rPr>
              <a:t>                                                 // </a:t>
            </a:r>
            <a:r>
              <a:rPr lang="zh-CN" altLang="en-US" dirty="0">
                <a:solidFill>
                  <a:srgbClr val="00B050"/>
                </a:solidFill>
              </a:rPr>
              <a:t>看教程</a:t>
            </a:r>
            <a:r>
              <a:rPr lang="en-US" altLang="zh-CN" dirty="0">
                <a:solidFill>
                  <a:srgbClr val="00B050"/>
                </a:solidFill>
              </a:rPr>
              <a:t>§2-1.2.3</a:t>
            </a:r>
            <a:r>
              <a:rPr lang="en-US" altLang="zh-CN" dirty="0"/>
              <a:t> </a:t>
            </a:r>
            <a:endParaRPr lang="zh-CN" altLang="zh-CN" dirty="0"/>
          </a:p>
          <a:p>
            <a:r>
              <a:rPr lang="en-US" altLang="zh-CN" dirty="0"/>
              <a:t>    </a:t>
            </a:r>
            <a:r>
              <a:rPr lang="en-US" altLang="zh-CN" dirty="0" err="1"/>
              <a:t>rm.data_size</a:t>
            </a:r>
            <a:r>
              <a:rPr lang="en-US" altLang="zh-CN" dirty="0"/>
              <a:t> = </a:t>
            </a:r>
            <a:r>
              <a:rPr lang="en-US" altLang="zh-CN" dirty="0" err="1"/>
              <a:t>data_size</a:t>
            </a:r>
            <a:r>
              <a:rPr lang="en-US" altLang="zh-CN" dirty="0"/>
              <a:t>; </a:t>
            </a:r>
            <a:r>
              <a:rPr lang="en-US" altLang="zh-CN" dirty="0">
                <a:solidFill>
                  <a:srgbClr val="00B050"/>
                </a:solidFill>
              </a:rPr>
              <a:t>// </a:t>
            </a:r>
            <a:r>
              <a:rPr lang="en-US" altLang="zh-CN" dirty="0" err="1"/>
              <a:t>data_size</a:t>
            </a:r>
            <a:r>
              <a:rPr lang="zh-CN" altLang="en-US" dirty="0">
                <a:solidFill>
                  <a:srgbClr val="00B050"/>
                </a:solidFill>
              </a:rPr>
              <a:t>是个全局变量，表示</a:t>
            </a:r>
            <a:r>
              <a:rPr lang="zh-CN" altLang="en-US" dirty="0">
                <a:solidFill>
                  <a:srgbClr val="00B0F0"/>
                </a:solidFill>
              </a:rPr>
              <a:t>操作数</a:t>
            </a:r>
            <a:r>
              <a:rPr lang="zh-CN" altLang="en-US" dirty="0">
                <a:solidFill>
                  <a:srgbClr val="00B050"/>
                </a:solidFill>
              </a:rPr>
              <a:t>的</a:t>
            </a:r>
            <a:r>
              <a:rPr lang="zh-CN" altLang="en-US" dirty="0">
                <a:solidFill>
                  <a:srgbClr val="FF0000"/>
                </a:solidFill>
              </a:rPr>
              <a:t>比特长度</a:t>
            </a:r>
            <a:endParaRPr lang="zh-CN" altLang="zh-CN" dirty="0">
              <a:solidFill>
                <a:srgbClr val="FF0000"/>
              </a:solidFill>
            </a:endParaRPr>
          </a:p>
          <a:p>
            <a:r>
              <a:rPr lang="en-US" altLang="zh-CN" dirty="0"/>
              <a:t>    </a:t>
            </a:r>
            <a:r>
              <a:rPr lang="en-US" altLang="zh-CN" dirty="0" err="1"/>
              <a:t>int</a:t>
            </a:r>
            <a:r>
              <a:rPr lang="en-US" altLang="zh-CN" dirty="0"/>
              <a:t> </a:t>
            </a:r>
            <a:r>
              <a:rPr lang="en-US" altLang="zh-CN" dirty="0" err="1"/>
              <a:t>len</a:t>
            </a:r>
            <a:r>
              <a:rPr lang="en-US" altLang="zh-CN" dirty="0"/>
              <a:t> = 1;                          </a:t>
            </a:r>
            <a:r>
              <a:rPr lang="en-US" altLang="zh-CN" dirty="0">
                <a:solidFill>
                  <a:srgbClr val="00B050"/>
                </a:solidFill>
              </a:rPr>
              <a:t>// opcode </a:t>
            </a:r>
            <a:r>
              <a:rPr lang="zh-CN" altLang="zh-CN" dirty="0">
                <a:solidFill>
                  <a:srgbClr val="00B050"/>
                </a:solidFill>
              </a:rPr>
              <a:t>长度</a:t>
            </a:r>
            <a:r>
              <a:rPr lang="en-US" altLang="zh-CN" dirty="0">
                <a:solidFill>
                  <a:srgbClr val="00B050"/>
                </a:solidFill>
              </a:rPr>
              <a:t>1</a:t>
            </a:r>
            <a:r>
              <a:rPr lang="zh-CN" altLang="zh-CN" dirty="0">
                <a:solidFill>
                  <a:srgbClr val="00B050"/>
                </a:solidFill>
              </a:rPr>
              <a:t>字节</a:t>
            </a:r>
            <a:endParaRPr lang="zh-CN" altLang="zh-CN" dirty="0">
              <a:solidFill>
                <a:srgbClr val="00B050"/>
              </a:solidFill>
            </a:endParaRPr>
          </a:p>
          <a:p>
            <a:r>
              <a:rPr lang="en-US" altLang="zh-CN" dirty="0"/>
              <a:t>    </a:t>
            </a:r>
            <a:r>
              <a:rPr lang="en-US" altLang="zh-CN" dirty="0" err="1"/>
              <a:t>len</a:t>
            </a:r>
            <a:r>
              <a:rPr lang="en-US" altLang="zh-CN" dirty="0"/>
              <a:t> += </a:t>
            </a:r>
            <a:r>
              <a:rPr lang="en-US" altLang="zh-CN" dirty="0" err="1"/>
              <a:t>modrm_rm</a:t>
            </a:r>
            <a:r>
              <a:rPr lang="en-US" altLang="zh-CN" dirty="0"/>
              <a:t>(</a:t>
            </a:r>
            <a:r>
              <a:rPr lang="en-US" altLang="zh-CN" dirty="0" err="1"/>
              <a:t>eip</a:t>
            </a:r>
            <a:r>
              <a:rPr lang="en-US" altLang="zh-CN" dirty="0"/>
              <a:t> + 1, &amp;</a:t>
            </a:r>
            <a:r>
              <a:rPr lang="en-US" altLang="zh-CN" dirty="0" err="1"/>
              <a:t>rm</a:t>
            </a:r>
            <a:r>
              <a:rPr lang="en-US" altLang="zh-CN" dirty="0"/>
              <a:t>);</a:t>
            </a:r>
            <a:r>
              <a:rPr lang="en-US" altLang="zh-CN" dirty="0">
                <a:solidFill>
                  <a:srgbClr val="FF0000"/>
                </a:solidFill>
              </a:rPr>
              <a:t> </a:t>
            </a:r>
            <a:r>
              <a:rPr lang="en-US" altLang="zh-CN" dirty="0">
                <a:solidFill>
                  <a:srgbClr val="00B050"/>
                </a:solidFill>
              </a:rPr>
              <a:t>// </a:t>
            </a:r>
            <a:r>
              <a:rPr lang="zh-CN" altLang="zh-CN" dirty="0">
                <a:solidFill>
                  <a:srgbClr val="00B050"/>
                </a:solidFill>
              </a:rPr>
              <a:t>读</a:t>
            </a:r>
            <a:r>
              <a:rPr lang="en-US" altLang="zh-CN" dirty="0" err="1">
                <a:solidFill>
                  <a:srgbClr val="00B050"/>
                </a:solidFill>
              </a:rPr>
              <a:t>ModR</a:t>
            </a:r>
            <a:r>
              <a:rPr lang="en-US" altLang="zh-CN" dirty="0">
                <a:solidFill>
                  <a:srgbClr val="00B050"/>
                </a:solidFill>
              </a:rPr>
              <a:t>/M</a:t>
            </a:r>
            <a:r>
              <a:rPr lang="zh-CN" altLang="zh-CN" dirty="0">
                <a:solidFill>
                  <a:srgbClr val="00B050"/>
                </a:solidFill>
              </a:rPr>
              <a:t>字节，</a:t>
            </a:r>
            <a:r>
              <a:rPr lang="en-US" altLang="zh-CN" dirty="0" err="1">
                <a:solidFill>
                  <a:srgbClr val="00B050"/>
                </a:solidFill>
              </a:rPr>
              <a:t>rm</a:t>
            </a:r>
            <a:r>
              <a:rPr lang="zh-CN" altLang="zh-CN" dirty="0">
                <a:solidFill>
                  <a:srgbClr val="00B050"/>
                </a:solidFill>
              </a:rPr>
              <a:t>的</a:t>
            </a:r>
            <a:r>
              <a:rPr lang="en-US" altLang="zh-CN" dirty="0">
                <a:solidFill>
                  <a:srgbClr val="00B050"/>
                </a:solidFill>
              </a:rPr>
              <a:t>type</a:t>
            </a:r>
            <a:r>
              <a:rPr lang="zh-CN" altLang="zh-CN" dirty="0">
                <a:solidFill>
                  <a:srgbClr val="00B050"/>
                </a:solidFill>
              </a:rPr>
              <a:t>和</a:t>
            </a:r>
            <a:r>
              <a:rPr lang="en-US" altLang="zh-CN" dirty="0" err="1">
                <a:solidFill>
                  <a:srgbClr val="00B050"/>
                </a:solidFill>
              </a:rPr>
              <a:t>addr</a:t>
            </a:r>
            <a:r>
              <a:rPr lang="zh-CN" altLang="zh-CN" dirty="0">
                <a:solidFill>
                  <a:srgbClr val="00B050"/>
                </a:solidFill>
              </a:rPr>
              <a:t>会被填写</a:t>
            </a:r>
            <a:endParaRPr lang="zh-CN" altLang="zh-CN" dirty="0">
              <a:solidFill>
                <a:srgbClr val="00B050"/>
              </a:solidFill>
            </a:endParaRPr>
          </a:p>
          <a:p>
            <a:r>
              <a:rPr lang="en-US" altLang="zh-CN" dirty="0"/>
              <a:t> </a:t>
            </a:r>
            <a:endParaRPr lang="zh-CN" altLang="zh-CN" dirty="0"/>
          </a:p>
          <a:p>
            <a:r>
              <a:rPr lang="en-US" altLang="zh-CN" dirty="0"/>
              <a:t>    </a:t>
            </a:r>
            <a:r>
              <a:rPr lang="en-US" altLang="zh-CN" dirty="0" err="1"/>
              <a:t>imm.type</a:t>
            </a:r>
            <a:r>
              <a:rPr lang="en-US" altLang="zh-CN" dirty="0"/>
              <a:t> = OPR_IMM;       </a:t>
            </a:r>
            <a:r>
              <a:rPr lang="en-US" altLang="zh-CN" dirty="0">
                <a:solidFill>
                  <a:srgbClr val="00B050"/>
                </a:solidFill>
              </a:rPr>
              <a:t> // </a:t>
            </a:r>
            <a:r>
              <a:rPr lang="zh-CN" altLang="zh-CN" dirty="0">
                <a:solidFill>
                  <a:srgbClr val="00B050"/>
                </a:solidFill>
              </a:rPr>
              <a:t>填入立即数类型</a:t>
            </a:r>
            <a:endParaRPr lang="zh-CN" altLang="zh-CN" dirty="0">
              <a:solidFill>
                <a:srgbClr val="00B050"/>
              </a:solidFill>
            </a:endParaRPr>
          </a:p>
          <a:p>
            <a:r>
              <a:rPr lang="en-US" altLang="zh-CN" dirty="0"/>
              <a:t>    </a:t>
            </a:r>
            <a:r>
              <a:rPr lang="en-US" altLang="zh-CN" dirty="0" err="1"/>
              <a:t>imm.addr</a:t>
            </a:r>
            <a:r>
              <a:rPr lang="en-US" altLang="zh-CN" dirty="0"/>
              <a:t> = </a:t>
            </a:r>
            <a:r>
              <a:rPr lang="en-US" altLang="zh-CN" dirty="0" err="1"/>
              <a:t>eip</a:t>
            </a:r>
            <a:r>
              <a:rPr lang="en-US" altLang="zh-CN" dirty="0"/>
              <a:t> + </a:t>
            </a:r>
            <a:r>
              <a:rPr lang="en-US" altLang="zh-CN" dirty="0" err="1"/>
              <a:t>len</a:t>
            </a:r>
            <a:r>
              <a:rPr lang="en-US" altLang="zh-CN" dirty="0"/>
              <a:t>;          </a:t>
            </a:r>
            <a:r>
              <a:rPr lang="en-US" altLang="zh-CN" dirty="0">
                <a:solidFill>
                  <a:srgbClr val="00B050"/>
                </a:solidFill>
              </a:rPr>
              <a:t> // </a:t>
            </a:r>
            <a:r>
              <a:rPr lang="zh-CN" altLang="zh-CN" dirty="0">
                <a:solidFill>
                  <a:srgbClr val="00B050"/>
                </a:solidFill>
              </a:rPr>
              <a:t>找到立即数的地址</a:t>
            </a:r>
            <a:endParaRPr lang="zh-CN" altLang="zh-CN" dirty="0">
              <a:solidFill>
                <a:srgbClr val="00B050"/>
              </a:solidFill>
            </a:endParaRPr>
          </a:p>
          <a:p>
            <a:r>
              <a:rPr lang="en-US" altLang="zh-CN" dirty="0"/>
              <a:t>    </a:t>
            </a:r>
            <a:r>
              <a:rPr lang="en-US" altLang="zh-CN" dirty="0" err="1"/>
              <a:t>imm.data_size</a:t>
            </a:r>
            <a:r>
              <a:rPr lang="en-US" altLang="zh-CN" dirty="0"/>
              <a:t> = </a:t>
            </a:r>
            <a:r>
              <a:rPr lang="en-US" altLang="zh-CN" dirty="0" err="1"/>
              <a:t>data_size</a:t>
            </a:r>
            <a:r>
              <a:rPr lang="en-US" altLang="zh-CN" dirty="0"/>
              <a:t>;       </a:t>
            </a:r>
            <a:endParaRPr lang="zh-CN" altLang="zh-CN" dirty="0"/>
          </a:p>
          <a:p>
            <a:r>
              <a:rPr lang="en-US" altLang="zh-CN" dirty="0"/>
              <a:t> </a:t>
            </a:r>
            <a:endParaRPr lang="zh-CN" altLang="zh-CN" dirty="0"/>
          </a:p>
          <a:p>
            <a:r>
              <a:rPr lang="en-US" altLang="zh-CN" dirty="0"/>
              <a:t>    </a:t>
            </a:r>
            <a:r>
              <a:rPr lang="en-US" altLang="zh-CN" dirty="0" err="1">
                <a:solidFill>
                  <a:srgbClr val="FF0000"/>
                </a:solidFill>
              </a:rPr>
              <a:t>operand_read</a:t>
            </a:r>
            <a:r>
              <a:rPr lang="en-US" altLang="zh-CN" dirty="0">
                <a:solidFill>
                  <a:srgbClr val="FF0000"/>
                </a:solidFill>
              </a:rPr>
              <a:t>(&amp;</a:t>
            </a:r>
            <a:r>
              <a:rPr lang="en-US" altLang="zh-CN" dirty="0" err="1">
                <a:solidFill>
                  <a:srgbClr val="FF0000"/>
                </a:solidFill>
              </a:rPr>
              <a:t>imm</a:t>
            </a:r>
            <a:r>
              <a:rPr lang="en-US" altLang="zh-CN" dirty="0">
                <a:solidFill>
                  <a:srgbClr val="FF0000"/>
                </a:solidFill>
              </a:rPr>
              <a:t>);</a:t>
            </a:r>
            <a:r>
              <a:rPr lang="en-US" altLang="zh-CN" dirty="0"/>
              <a:t>        </a:t>
            </a:r>
            <a:r>
              <a:rPr lang="en-US" altLang="zh-CN" dirty="0">
                <a:solidFill>
                  <a:srgbClr val="00B050"/>
                </a:solidFill>
              </a:rPr>
              <a:t> // </a:t>
            </a:r>
            <a:r>
              <a:rPr lang="zh-CN" altLang="zh-CN" dirty="0">
                <a:solidFill>
                  <a:srgbClr val="00B050"/>
                </a:solidFill>
              </a:rPr>
              <a:t>执行</a:t>
            </a:r>
            <a:r>
              <a:rPr lang="en-US" altLang="zh-CN" dirty="0">
                <a:solidFill>
                  <a:srgbClr val="00B050"/>
                </a:solidFill>
              </a:rPr>
              <a:t> </a:t>
            </a:r>
            <a:r>
              <a:rPr lang="en-US" altLang="zh-CN" dirty="0" err="1">
                <a:solidFill>
                  <a:srgbClr val="00B050"/>
                </a:solidFill>
              </a:rPr>
              <a:t>mov</a:t>
            </a:r>
            <a:r>
              <a:rPr lang="en-US" altLang="zh-CN" dirty="0">
                <a:solidFill>
                  <a:srgbClr val="00B050"/>
                </a:solidFill>
              </a:rPr>
              <a:t> </a:t>
            </a:r>
            <a:r>
              <a:rPr lang="zh-CN" altLang="zh-CN" dirty="0">
                <a:solidFill>
                  <a:srgbClr val="00B050"/>
                </a:solidFill>
              </a:rPr>
              <a:t>操作</a:t>
            </a:r>
            <a:endParaRPr lang="zh-CN" altLang="zh-CN" dirty="0">
              <a:solidFill>
                <a:srgbClr val="00B050"/>
              </a:solidFill>
            </a:endParaRPr>
          </a:p>
          <a:p>
            <a:r>
              <a:rPr lang="en-US" altLang="zh-CN" dirty="0"/>
              <a:t>    </a:t>
            </a:r>
            <a:r>
              <a:rPr lang="en-US" altLang="zh-CN" dirty="0" err="1"/>
              <a:t>rm.val</a:t>
            </a:r>
            <a:r>
              <a:rPr lang="en-US" altLang="zh-CN" dirty="0"/>
              <a:t> = </a:t>
            </a:r>
            <a:r>
              <a:rPr lang="en-US" altLang="zh-CN" dirty="0" err="1"/>
              <a:t>imm.val</a:t>
            </a:r>
            <a:r>
              <a:rPr lang="en-US" altLang="zh-CN" dirty="0"/>
              <a:t>;</a:t>
            </a:r>
            <a:endParaRPr lang="zh-CN" altLang="zh-CN" dirty="0"/>
          </a:p>
          <a:p>
            <a:r>
              <a:rPr lang="en-US" altLang="zh-CN" dirty="0"/>
              <a:t>    </a:t>
            </a:r>
            <a:r>
              <a:rPr lang="en-US" altLang="zh-CN" dirty="0" err="1"/>
              <a:t>operand_write</a:t>
            </a:r>
            <a:r>
              <a:rPr lang="en-US" altLang="zh-CN" dirty="0"/>
              <a:t>(&amp;</a:t>
            </a:r>
            <a:r>
              <a:rPr lang="en-US" altLang="zh-CN" dirty="0" err="1"/>
              <a:t>rm</a:t>
            </a:r>
            <a:r>
              <a:rPr lang="en-US" altLang="zh-CN" dirty="0"/>
              <a:t>);</a:t>
            </a:r>
            <a:endParaRPr lang="zh-CN" altLang="zh-CN" dirty="0"/>
          </a:p>
          <a:p>
            <a:r>
              <a:rPr lang="en-US" altLang="zh-CN" dirty="0"/>
              <a:t> </a:t>
            </a:r>
            <a:endParaRPr lang="zh-CN" altLang="zh-CN" dirty="0"/>
          </a:p>
          <a:p>
            <a:r>
              <a:rPr lang="en-US" altLang="zh-CN" dirty="0"/>
              <a:t>    return </a:t>
            </a:r>
            <a:r>
              <a:rPr lang="en-US" altLang="zh-CN" dirty="0" err="1"/>
              <a:t>len</a:t>
            </a:r>
            <a:r>
              <a:rPr lang="en-US" altLang="zh-CN" dirty="0"/>
              <a:t> + </a:t>
            </a:r>
            <a:r>
              <a:rPr lang="en-US" altLang="zh-CN" dirty="0" err="1"/>
              <a:t>data_size</a:t>
            </a:r>
            <a:r>
              <a:rPr lang="en-US" altLang="zh-CN" dirty="0"/>
              <a:t> / 8;    </a:t>
            </a:r>
            <a:r>
              <a:rPr lang="en-US" altLang="zh-CN" dirty="0">
                <a:solidFill>
                  <a:srgbClr val="00B050"/>
                </a:solidFill>
              </a:rPr>
              <a:t>// opcode</a:t>
            </a:r>
            <a:r>
              <a:rPr lang="zh-CN" altLang="zh-CN" dirty="0">
                <a:solidFill>
                  <a:srgbClr val="00B050"/>
                </a:solidFill>
              </a:rPr>
              <a:t>长度</a:t>
            </a:r>
            <a:r>
              <a:rPr lang="en-US" altLang="zh-CN" dirty="0">
                <a:solidFill>
                  <a:srgbClr val="00B050"/>
                </a:solidFill>
              </a:rPr>
              <a:t> + </a:t>
            </a:r>
            <a:r>
              <a:rPr lang="en-US" altLang="zh-CN" dirty="0" err="1">
                <a:solidFill>
                  <a:srgbClr val="00B050"/>
                </a:solidFill>
              </a:rPr>
              <a:t>ModR</a:t>
            </a:r>
            <a:r>
              <a:rPr lang="en-US" altLang="zh-CN" dirty="0">
                <a:solidFill>
                  <a:srgbClr val="00B050"/>
                </a:solidFill>
              </a:rPr>
              <a:t>/M</a:t>
            </a:r>
            <a:r>
              <a:rPr lang="zh-CN" altLang="zh-CN" dirty="0">
                <a:solidFill>
                  <a:srgbClr val="00B050"/>
                </a:solidFill>
              </a:rPr>
              <a:t>字节扫描长度 </a:t>
            </a:r>
            <a:r>
              <a:rPr lang="en-US" altLang="zh-CN" dirty="0">
                <a:solidFill>
                  <a:srgbClr val="00B050"/>
                </a:solidFill>
              </a:rPr>
              <a:t>+ </a:t>
            </a:r>
            <a:r>
              <a:rPr lang="zh-CN" altLang="zh-CN" dirty="0">
                <a:solidFill>
                  <a:srgbClr val="00B050"/>
                </a:solidFill>
              </a:rPr>
              <a:t>立即数长度</a:t>
            </a:r>
            <a:endParaRPr lang="zh-CN" altLang="zh-CN" dirty="0">
              <a:solidFill>
                <a:srgbClr val="00B050"/>
              </a:solidFill>
            </a:endParaRPr>
          </a:p>
          <a:p>
            <a:r>
              <a:rPr lang="en-US" altLang="zh-CN" dirty="0"/>
              <a:t>}</a:t>
            </a:r>
            <a:endParaRPr lang="zh-CN" altLang="en-US" dirty="0"/>
          </a:p>
        </p:txBody>
      </p:sp>
      <p:sp>
        <p:nvSpPr>
          <p:cNvPr id="8" name="矩形 7"/>
          <p:cNvSpPr/>
          <p:nvPr/>
        </p:nvSpPr>
        <p:spPr>
          <a:xfrm>
            <a:off x="2770568" y="777303"/>
            <a:ext cx="8722931" cy="5970865"/>
          </a:xfrm>
          <a:prstGeom prst="rect">
            <a:avLst/>
          </a:prstGeom>
          <a:solidFill>
            <a:schemeClr val="bg2"/>
          </a:solidFill>
        </p:spPr>
        <p:style>
          <a:lnRef idx="2">
            <a:schemeClr val="dk1"/>
          </a:lnRef>
          <a:fillRef idx="1">
            <a:schemeClr val="lt1"/>
          </a:fillRef>
          <a:effectRef idx="0">
            <a:schemeClr val="dk1"/>
          </a:effectRef>
          <a:fontRef idx="minor">
            <a:schemeClr val="dk1"/>
          </a:fontRef>
        </p:style>
        <p:txBody>
          <a:bodyPr wrap="square">
            <a:spAutoFit/>
          </a:bodyPr>
          <a:lstStyle/>
          <a:p>
            <a:r>
              <a:rPr lang="en-US" altLang="zh-CN" dirty="0" err="1">
                <a:solidFill>
                  <a:srgbClr val="0070C0"/>
                </a:solidFill>
              </a:rPr>
              <a:t>nemu</a:t>
            </a:r>
            <a:r>
              <a:rPr lang="en-US" altLang="zh-CN" dirty="0">
                <a:solidFill>
                  <a:srgbClr val="0070C0"/>
                </a:solidFill>
              </a:rPr>
              <a:t>/</a:t>
            </a:r>
            <a:r>
              <a:rPr lang="en-US" altLang="zh-CN" dirty="0" err="1">
                <a:solidFill>
                  <a:srgbClr val="0070C0"/>
                </a:solidFill>
              </a:rPr>
              <a:t>src</a:t>
            </a:r>
            <a:r>
              <a:rPr lang="en-US" altLang="zh-CN" dirty="0">
                <a:solidFill>
                  <a:srgbClr val="0070C0"/>
                </a:solidFill>
              </a:rPr>
              <a:t>/</a:t>
            </a:r>
            <a:r>
              <a:rPr lang="en-US" altLang="zh-CN" dirty="0" err="1">
                <a:solidFill>
                  <a:srgbClr val="0070C0"/>
                </a:solidFill>
              </a:rPr>
              <a:t>cpu</a:t>
            </a:r>
            <a:r>
              <a:rPr lang="en-US" altLang="zh-CN" dirty="0">
                <a:solidFill>
                  <a:srgbClr val="0070C0"/>
                </a:solidFill>
              </a:rPr>
              <a:t>/decode/</a:t>
            </a:r>
            <a:r>
              <a:rPr lang="en-US" altLang="zh-CN" dirty="0" err="1">
                <a:solidFill>
                  <a:srgbClr val="0070C0"/>
                </a:solidFill>
              </a:rPr>
              <a:t>operand.c</a:t>
            </a:r>
            <a:endParaRPr lang="en-US" altLang="zh-CN" dirty="0">
              <a:solidFill>
                <a:srgbClr val="0070C0"/>
              </a:solidFill>
            </a:endParaRPr>
          </a:p>
          <a:p>
            <a:endParaRPr lang="en-US" altLang="zh-CN" sz="1400" dirty="0"/>
          </a:p>
          <a:p>
            <a:r>
              <a:rPr lang="zh-CN" altLang="en-US" sz="1400" dirty="0"/>
              <a:t>void operand_read(OPERAND * opr) {</a:t>
            </a:r>
            <a:endParaRPr lang="zh-CN" altLang="en-US" sz="1400" dirty="0"/>
          </a:p>
          <a:p>
            <a:r>
              <a:rPr lang="zh-CN" altLang="en-US" sz="1400"/>
              <a:t>	switch</a:t>
            </a:r>
            <a:r>
              <a:rPr lang="zh-CN" altLang="en-US" sz="1400" dirty="0"/>
              <a:t>(opr-&gt;type) {</a:t>
            </a:r>
            <a:endParaRPr lang="zh-CN" altLang="en-US" sz="1400" dirty="0"/>
          </a:p>
          <a:p>
            <a:r>
              <a:rPr lang="zh-CN" altLang="en-US" sz="1400"/>
              <a:t>		case </a:t>
            </a:r>
            <a:r>
              <a:rPr lang="zh-CN" altLang="en-US" sz="1400" dirty="0"/>
              <a:t>OPR_MEM: </a:t>
            </a:r>
            <a:r>
              <a:rPr lang="en-US" altLang="zh-CN" sz="1400" dirty="0"/>
              <a:t>…</a:t>
            </a:r>
            <a:endParaRPr lang="zh-CN" altLang="en-US" sz="1400" dirty="0"/>
          </a:p>
          <a:p>
            <a:r>
              <a:rPr lang="zh-CN" altLang="en-US" sz="1400"/>
              <a:t>		case </a:t>
            </a:r>
            <a:r>
              <a:rPr lang="zh-CN" altLang="en-US" sz="1400" dirty="0"/>
              <a:t>OPR_IMM: </a:t>
            </a:r>
            <a:endParaRPr lang="zh-CN" altLang="en-US" sz="1400" dirty="0"/>
          </a:p>
          <a:p>
            <a:r>
              <a:rPr lang="zh-CN" altLang="en-US" sz="1400"/>
              <a:t>			opr</a:t>
            </a:r>
            <a:r>
              <a:rPr lang="zh-CN" altLang="en-US" sz="1400" dirty="0"/>
              <a:t>-&gt;val = vaddr_read(opr-&gt;addr, SREG_CS, 4);</a:t>
            </a:r>
            <a:endParaRPr lang="zh-CN" altLang="en-US" sz="1400" dirty="0"/>
          </a:p>
          <a:p>
            <a:r>
              <a:rPr lang="zh-CN" altLang="en-US" sz="1400"/>
              <a:t>			break</a:t>
            </a:r>
            <a:r>
              <a:rPr lang="zh-CN" altLang="en-US" sz="1400" dirty="0"/>
              <a:t>;</a:t>
            </a:r>
            <a:endParaRPr lang="zh-CN" altLang="en-US" sz="1400" dirty="0"/>
          </a:p>
          <a:p>
            <a:r>
              <a:rPr lang="zh-CN" altLang="en-US" sz="1400"/>
              <a:t>		case </a:t>
            </a:r>
            <a:r>
              <a:rPr lang="zh-CN" altLang="en-US" sz="1400" dirty="0"/>
              <a:t>OPR_REG:</a:t>
            </a:r>
            <a:endParaRPr lang="en-US" altLang="zh-CN" sz="1400" dirty="0"/>
          </a:p>
          <a:p>
            <a:r>
              <a:rPr lang="en-US" altLang="zh-CN" sz="1400"/>
              <a:t>			if(opr-</a:t>
            </a:r>
            <a:r>
              <a:rPr lang="en-US" altLang="zh-CN" sz="1400" dirty="0"/>
              <a:t>&gt;</a:t>
            </a:r>
            <a:r>
              <a:rPr lang="en-US" altLang="zh-CN" sz="1400" dirty="0" err="1"/>
              <a:t>data_size</a:t>
            </a:r>
            <a:r>
              <a:rPr lang="en-US" altLang="zh-CN" sz="1400" dirty="0"/>
              <a:t> == 8) {</a:t>
            </a:r>
            <a:endParaRPr lang="en-US" altLang="zh-CN" sz="1400" dirty="0"/>
          </a:p>
          <a:p>
            <a:r>
              <a:rPr lang="en-US" altLang="zh-CN" sz="1400"/>
              <a:t>				opr-</a:t>
            </a:r>
            <a:r>
              <a:rPr lang="en-US" altLang="zh-CN" sz="1400" dirty="0"/>
              <a:t>&gt;</a:t>
            </a:r>
            <a:r>
              <a:rPr lang="en-US" altLang="zh-CN" sz="1400" dirty="0" err="1"/>
              <a:t>val</a:t>
            </a:r>
            <a:r>
              <a:rPr lang="en-US" altLang="zh-CN" sz="1400" dirty="0"/>
              <a:t> = </a:t>
            </a:r>
            <a:r>
              <a:rPr lang="en-US" altLang="zh-CN" sz="1400" dirty="0" err="1"/>
              <a:t>cpu.gpr</a:t>
            </a:r>
            <a:r>
              <a:rPr lang="en-US" altLang="zh-CN" sz="1400" dirty="0"/>
              <a:t>[</a:t>
            </a:r>
            <a:r>
              <a:rPr lang="en-US" altLang="zh-CN" sz="1400" dirty="0" err="1"/>
              <a:t>opr</a:t>
            </a:r>
            <a:r>
              <a:rPr lang="en-US" altLang="zh-CN" sz="1400" dirty="0"/>
              <a:t>-&gt;</a:t>
            </a:r>
            <a:r>
              <a:rPr lang="en-US" altLang="zh-CN" sz="1400" dirty="0" err="1"/>
              <a:t>addr</a:t>
            </a:r>
            <a:r>
              <a:rPr lang="en-US" altLang="zh-CN" sz="1400" dirty="0"/>
              <a:t> % 4]._8[</a:t>
            </a:r>
            <a:r>
              <a:rPr lang="en-US" altLang="zh-CN" sz="1400" dirty="0" err="1"/>
              <a:t>opr</a:t>
            </a:r>
            <a:r>
              <a:rPr lang="en-US" altLang="zh-CN" sz="1400" dirty="0"/>
              <a:t>-&gt;</a:t>
            </a:r>
            <a:r>
              <a:rPr lang="en-US" altLang="zh-CN" sz="1400" dirty="0" err="1"/>
              <a:t>addr</a:t>
            </a:r>
            <a:r>
              <a:rPr lang="en-US" altLang="zh-CN" sz="1400" dirty="0"/>
              <a:t> / 4];</a:t>
            </a:r>
            <a:endParaRPr lang="en-US" altLang="zh-CN" sz="1400" dirty="0"/>
          </a:p>
          <a:p>
            <a:r>
              <a:rPr lang="en-US" altLang="zh-CN" sz="1400"/>
              <a:t>			} </a:t>
            </a:r>
            <a:r>
              <a:rPr lang="en-US" altLang="zh-CN" sz="1400" dirty="0"/>
              <a:t>else {</a:t>
            </a:r>
            <a:endParaRPr lang="en-US" altLang="zh-CN" sz="1400" dirty="0"/>
          </a:p>
          <a:p>
            <a:r>
              <a:rPr lang="en-US" altLang="zh-CN" sz="1400"/>
              <a:t>				opr-</a:t>
            </a:r>
            <a:r>
              <a:rPr lang="en-US" altLang="zh-CN" sz="1400" dirty="0"/>
              <a:t>&gt;</a:t>
            </a:r>
            <a:r>
              <a:rPr lang="en-US" altLang="zh-CN" sz="1400" dirty="0" err="1"/>
              <a:t>val</a:t>
            </a:r>
            <a:r>
              <a:rPr lang="en-US" altLang="zh-CN" sz="1400" dirty="0"/>
              <a:t> = </a:t>
            </a:r>
            <a:r>
              <a:rPr lang="en-US" altLang="zh-CN" sz="1400" dirty="0" err="1"/>
              <a:t>cpu.gpr</a:t>
            </a:r>
            <a:r>
              <a:rPr lang="en-US" altLang="zh-CN" sz="1400" dirty="0"/>
              <a:t>[</a:t>
            </a:r>
            <a:r>
              <a:rPr lang="en-US" altLang="zh-CN" sz="1400" dirty="0" err="1"/>
              <a:t>opr</a:t>
            </a:r>
            <a:r>
              <a:rPr lang="en-US" altLang="zh-CN" sz="1400" dirty="0"/>
              <a:t>-&gt;</a:t>
            </a:r>
            <a:r>
              <a:rPr lang="en-US" altLang="zh-CN" sz="1400" dirty="0" err="1"/>
              <a:t>addr</a:t>
            </a:r>
            <a:r>
              <a:rPr lang="en-US" altLang="zh-CN" sz="1400" dirty="0"/>
              <a:t>]._32;</a:t>
            </a:r>
            <a:endParaRPr lang="en-US" altLang="zh-CN" sz="1400" dirty="0"/>
          </a:p>
          <a:p>
            <a:r>
              <a:rPr lang="en-US" altLang="zh-CN" sz="1400"/>
              <a:t>			}</a:t>
            </a:r>
            <a:endParaRPr lang="en-US" altLang="zh-CN" sz="1400" dirty="0"/>
          </a:p>
          <a:p>
            <a:r>
              <a:rPr lang="en-US" altLang="zh-CN" sz="1400"/>
              <a:t>			break</a:t>
            </a:r>
            <a:r>
              <a:rPr lang="en-US" altLang="zh-CN" sz="1400" dirty="0"/>
              <a:t>;</a:t>
            </a:r>
            <a:endParaRPr lang="zh-CN" altLang="en-US" sz="1400" dirty="0"/>
          </a:p>
          <a:p>
            <a:r>
              <a:rPr lang="zh-CN" altLang="en-US" sz="1400"/>
              <a:t>		case </a:t>
            </a:r>
            <a:r>
              <a:rPr lang="zh-CN" altLang="en-US" sz="1400" dirty="0"/>
              <a:t>OPR_CREG: </a:t>
            </a:r>
            <a:r>
              <a:rPr lang="en-US" altLang="zh-CN" sz="1400" dirty="0"/>
              <a:t>…</a:t>
            </a:r>
            <a:endParaRPr lang="zh-CN" altLang="en-US" sz="1400" dirty="0"/>
          </a:p>
          <a:p>
            <a:r>
              <a:rPr lang="zh-CN" altLang="en-US" sz="1400"/>
              <a:t>		case </a:t>
            </a:r>
            <a:r>
              <a:rPr lang="zh-CN" altLang="en-US" sz="1400" dirty="0"/>
              <a:t>OPR_SREG: </a:t>
            </a:r>
            <a:r>
              <a:rPr lang="en-US" altLang="zh-CN" sz="1400" dirty="0"/>
              <a:t>…</a:t>
            </a:r>
            <a:endParaRPr lang="zh-CN" altLang="en-US" sz="1400" dirty="0"/>
          </a:p>
          <a:p>
            <a:r>
              <a:rPr lang="zh-CN" altLang="en-US" sz="1400"/>
              <a:t>	</a:t>
            </a:r>
            <a:endParaRPr lang="zh-CN" altLang="en-US" sz="1400" dirty="0"/>
          </a:p>
          <a:p>
            <a:r>
              <a:rPr lang="zh-CN" altLang="en-US" sz="1400"/>
              <a:t>	// </a:t>
            </a:r>
            <a:r>
              <a:rPr lang="zh-CN" altLang="en-US" sz="1400" dirty="0"/>
              <a:t>deal with data size</a:t>
            </a:r>
            <a:endParaRPr lang="zh-CN" altLang="en-US" sz="1400" dirty="0"/>
          </a:p>
          <a:p>
            <a:r>
              <a:rPr lang="zh-CN" altLang="en-US" sz="1400"/>
              <a:t>	switch</a:t>
            </a:r>
            <a:r>
              <a:rPr lang="zh-CN" altLang="en-US" sz="1400" dirty="0"/>
              <a:t>(opr-&gt;data_size) {</a:t>
            </a:r>
            <a:endParaRPr lang="zh-CN" altLang="en-US" sz="1400" dirty="0"/>
          </a:p>
          <a:p>
            <a:r>
              <a:rPr lang="zh-CN" altLang="en-US" sz="1400"/>
              <a:t>		case </a:t>
            </a:r>
            <a:r>
              <a:rPr lang="zh-CN" altLang="en-US" sz="1400" dirty="0"/>
              <a:t>8: opr-&gt;val = opr-&gt;val &amp; 0xff; break;</a:t>
            </a:r>
            <a:endParaRPr lang="zh-CN" altLang="en-US" sz="1400" dirty="0"/>
          </a:p>
          <a:p>
            <a:r>
              <a:rPr lang="zh-CN" altLang="en-US" sz="1400"/>
              <a:t>		case </a:t>
            </a:r>
            <a:r>
              <a:rPr lang="zh-CN" altLang="en-US" sz="1400" dirty="0"/>
              <a:t>16: opr-&gt;val = opr-&gt;val &amp; 0xffff; break;</a:t>
            </a:r>
            <a:endParaRPr lang="zh-CN" altLang="en-US" sz="1400" dirty="0"/>
          </a:p>
          <a:p>
            <a:r>
              <a:rPr lang="zh-CN" altLang="en-US" sz="1400"/>
              <a:t>		case </a:t>
            </a:r>
            <a:r>
              <a:rPr lang="zh-CN" altLang="en-US" sz="1400" dirty="0"/>
              <a:t>32: break;</a:t>
            </a:r>
            <a:endParaRPr lang="zh-CN" altLang="en-US" sz="1400" dirty="0"/>
          </a:p>
          <a:p>
            <a:r>
              <a:rPr lang="zh-CN" altLang="en-US" sz="1400"/>
              <a:t>		default</a:t>
            </a:r>
            <a:r>
              <a:rPr lang="zh-CN" altLang="en-US" sz="1400" dirty="0"/>
              <a:t>: </a:t>
            </a:r>
            <a:r>
              <a:rPr lang="en-US" altLang="zh-CN" sz="1400" dirty="0"/>
              <a:t>…</a:t>
            </a:r>
            <a:endParaRPr lang="zh-CN" altLang="en-US" sz="1400" dirty="0"/>
          </a:p>
          <a:p>
            <a:r>
              <a:rPr lang="zh-CN" altLang="en-US" sz="1400"/>
              <a:t>	}</a:t>
            </a:r>
            <a:endParaRPr lang="zh-CN" altLang="en-US" sz="1400" dirty="0"/>
          </a:p>
          <a:p>
            <a:r>
              <a:rPr lang="zh-CN" altLang="en-US" sz="1400" dirty="0"/>
              <a:t>}</a:t>
            </a:r>
            <a:endParaRPr lang="zh-CN" alt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NEMU</a:t>
            </a:r>
            <a:r>
              <a:rPr lang="zh-CN" altLang="en-US" dirty="0"/>
              <a:t>模拟指令解码和执行</a:t>
            </a:r>
            <a:endParaRPr lang="zh-CN" altLang="en-US" dirty="0"/>
          </a:p>
        </p:txBody>
      </p:sp>
      <p:sp>
        <p:nvSpPr>
          <p:cNvPr id="4" name="日期占位符 3"/>
          <p:cNvSpPr>
            <a:spLocks noGrp="1"/>
          </p:cNvSpPr>
          <p:nvPr>
            <p:ph type="dt" sz="half" idx="10"/>
          </p:nvPr>
        </p:nvSpPr>
        <p:spPr/>
        <p:txBody>
          <a:bodyPr/>
          <a:lstStyle/>
          <a:p>
            <a:fld id="{960AD632-BA1E-4007-A689-FFA6C023ED74}" type="datetime3">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a:t>Programming Assignment</a:t>
            </a:r>
            <a:endParaRPr lang="zh-CN" altLang="en-US"/>
          </a:p>
        </p:txBody>
      </p:sp>
      <p:sp>
        <p:nvSpPr>
          <p:cNvPr id="6" name="灯片编号占位符 5"/>
          <p:cNvSpPr>
            <a:spLocks noGrp="1"/>
          </p:cNvSpPr>
          <p:nvPr>
            <p:ph type="sldNum" sz="quarter" idx="12"/>
          </p:nvPr>
        </p:nvSpPr>
        <p:spPr/>
        <p:txBody>
          <a:bodyPr/>
          <a:lstStyle/>
          <a:p>
            <a:fld id="{A40E146E-410D-4448-BCD3-F60DE2B98E6B}" type="slidenum">
              <a:rPr lang="zh-CN" altLang="en-US" smtClean="0"/>
            </a:fld>
            <a:endParaRPr lang="zh-CN" altLang="en-US"/>
          </a:p>
        </p:txBody>
      </p:sp>
      <p:sp>
        <p:nvSpPr>
          <p:cNvPr id="7" name="文本框 6"/>
          <p:cNvSpPr txBox="1"/>
          <p:nvPr/>
        </p:nvSpPr>
        <p:spPr>
          <a:xfrm>
            <a:off x="2025925" y="1585291"/>
            <a:ext cx="9873975" cy="5078313"/>
          </a:xfrm>
          <a:prstGeom prst="rect">
            <a:avLst/>
          </a:prstGeom>
          <a:noFill/>
        </p:spPr>
        <p:txBody>
          <a:bodyPr wrap="square" rtlCol="0">
            <a:spAutoFit/>
          </a:bodyPr>
          <a:lstStyle/>
          <a:p>
            <a:r>
              <a:rPr lang="en-US" altLang="zh-CN" dirty="0">
                <a:solidFill>
                  <a:srgbClr val="00B050"/>
                </a:solidFill>
              </a:rPr>
              <a:t>// </a:t>
            </a:r>
            <a:r>
              <a:rPr lang="zh-CN" altLang="zh-CN" dirty="0">
                <a:solidFill>
                  <a:srgbClr val="00B050"/>
                </a:solidFill>
              </a:rPr>
              <a:t>宏展开后这一行即为</a:t>
            </a:r>
            <a:r>
              <a:rPr lang="en-US" altLang="zh-CN" dirty="0">
                <a:solidFill>
                  <a:srgbClr val="00B050"/>
                </a:solidFill>
              </a:rPr>
              <a:t> </a:t>
            </a:r>
            <a:r>
              <a:rPr lang="en-US" altLang="zh-CN" dirty="0" err="1">
                <a:solidFill>
                  <a:srgbClr val="00B050"/>
                </a:solidFill>
              </a:rPr>
              <a:t>int</a:t>
            </a:r>
            <a:r>
              <a:rPr lang="en-US" altLang="zh-CN" dirty="0">
                <a:solidFill>
                  <a:srgbClr val="00B050"/>
                </a:solidFill>
              </a:rPr>
              <a:t> mov_i2rm_v(uint32_t </a:t>
            </a:r>
            <a:r>
              <a:rPr lang="en-US" altLang="zh-CN" dirty="0" err="1">
                <a:solidFill>
                  <a:srgbClr val="00B050"/>
                </a:solidFill>
              </a:rPr>
              <a:t>eip</a:t>
            </a:r>
            <a:r>
              <a:rPr lang="en-US" altLang="zh-CN" dirty="0">
                <a:solidFill>
                  <a:srgbClr val="00B050"/>
                </a:solidFill>
              </a:rPr>
              <a:t>, uint8_t opcode) {</a:t>
            </a:r>
            <a:endParaRPr lang="zh-CN" altLang="zh-CN" dirty="0">
              <a:solidFill>
                <a:srgbClr val="00B050"/>
              </a:solidFill>
            </a:endParaRPr>
          </a:p>
          <a:p>
            <a:r>
              <a:rPr lang="en-US" altLang="zh-CN" dirty="0" err="1"/>
              <a:t>make_instr_func</a:t>
            </a:r>
            <a:r>
              <a:rPr lang="en-US" altLang="zh-CN" dirty="0"/>
              <a:t>(mov_i2rm_v) { </a:t>
            </a:r>
            <a:endParaRPr lang="zh-CN" altLang="zh-CN" dirty="0"/>
          </a:p>
          <a:p>
            <a:r>
              <a:rPr lang="en-US" altLang="zh-CN" dirty="0"/>
              <a:t>    OPERAND </a:t>
            </a:r>
            <a:r>
              <a:rPr lang="en-US" altLang="zh-CN" dirty="0" err="1"/>
              <a:t>rm</a:t>
            </a:r>
            <a:r>
              <a:rPr lang="en-US" altLang="zh-CN" dirty="0"/>
              <a:t>, </a:t>
            </a:r>
            <a:r>
              <a:rPr lang="en-US" altLang="zh-CN" dirty="0" err="1"/>
              <a:t>imm</a:t>
            </a:r>
            <a:r>
              <a:rPr lang="en-US" altLang="zh-CN" dirty="0"/>
              <a:t>;          </a:t>
            </a:r>
            <a:r>
              <a:rPr lang="en-US" altLang="zh-CN" dirty="0">
                <a:solidFill>
                  <a:srgbClr val="00B050"/>
                </a:solidFill>
              </a:rPr>
              <a:t>// OPERAND</a:t>
            </a:r>
            <a:r>
              <a:rPr lang="zh-CN" altLang="en-US" dirty="0">
                <a:solidFill>
                  <a:srgbClr val="00B050"/>
                </a:solidFill>
              </a:rPr>
              <a:t>定义在</a:t>
            </a:r>
            <a:r>
              <a:rPr lang="en-US" altLang="zh-CN" dirty="0" err="1">
                <a:solidFill>
                  <a:srgbClr val="00B050"/>
                </a:solidFill>
              </a:rPr>
              <a:t>nemu</a:t>
            </a:r>
            <a:r>
              <a:rPr lang="en-US" altLang="zh-CN" dirty="0">
                <a:solidFill>
                  <a:srgbClr val="00B050"/>
                </a:solidFill>
              </a:rPr>
              <a:t>/include/</a:t>
            </a:r>
            <a:r>
              <a:rPr lang="en-US" altLang="zh-CN" dirty="0" err="1">
                <a:solidFill>
                  <a:srgbClr val="00B050"/>
                </a:solidFill>
              </a:rPr>
              <a:t>cpu</a:t>
            </a:r>
            <a:r>
              <a:rPr lang="en-US" altLang="zh-CN" dirty="0">
                <a:solidFill>
                  <a:srgbClr val="00B050"/>
                </a:solidFill>
              </a:rPr>
              <a:t>/</a:t>
            </a:r>
            <a:r>
              <a:rPr lang="en-US" altLang="zh-CN" dirty="0" err="1">
                <a:solidFill>
                  <a:srgbClr val="00B050"/>
                </a:solidFill>
              </a:rPr>
              <a:t>operand.h</a:t>
            </a:r>
            <a:endParaRPr lang="en-US" altLang="zh-CN" dirty="0">
              <a:solidFill>
                <a:srgbClr val="00B050"/>
              </a:solidFill>
            </a:endParaRPr>
          </a:p>
          <a:p>
            <a:r>
              <a:rPr lang="en-US" altLang="zh-CN" dirty="0">
                <a:solidFill>
                  <a:srgbClr val="00B050"/>
                </a:solidFill>
              </a:rPr>
              <a:t>                                                 // </a:t>
            </a:r>
            <a:r>
              <a:rPr lang="zh-CN" altLang="en-US" dirty="0">
                <a:solidFill>
                  <a:srgbClr val="00B050"/>
                </a:solidFill>
              </a:rPr>
              <a:t>看教程</a:t>
            </a:r>
            <a:r>
              <a:rPr lang="en-US" altLang="zh-CN" dirty="0">
                <a:solidFill>
                  <a:srgbClr val="00B050"/>
                </a:solidFill>
              </a:rPr>
              <a:t>§2-1.2.3</a:t>
            </a:r>
            <a:r>
              <a:rPr lang="en-US" altLang="zh-CN" dirty="0"/>
              <a:t> </a:t>
            </a:r>
            <a:endParaRPr lang="zh-CN" altLang="zh-CN" dirty="0"/>
          </a:p>
          <a:p>
            <a:r>
              <a:rPr lang="en-US" altLang="zh-CN" dirty="0"/>
              <a:t>    </a:t>
            </a:r>
            <a:r>
              <a:rPr lang="en-US" altLang="zh-CN" dirty="0" err="1"/>
              <a:t>rm.data_size</a:t>
            </a:r>
            <a:r>
              <a:rPr lang="en-US" altLang="zh-CN" dirty="0"/>
              <a:t> = </a:t>
            </a:r>
            <a:r>
              <a:rPr lang="en-US" altLang="zh-CN" dirty="0" err="1"/>
              <a:t>data_size</a:t>
            </a:r>
            <a:r>
              <a:rPr lang="en-US" altLang="zh-CN" dirty="0"/>
              <a:t>; </a:t>
            </a:r>
            <a:r>
              <a:rPr lang="en-US" altLang="zh-CN" dirty="0">
                <a:solidFill>
                  <a:srgbClr val="00B050"/>
                </a:solidFill>
              </a:rPr>
              <a:t>// </a:t>
            </a:r>
            <a:r>
              <a:rPr lang="en-US" altLang="zh-CN" dirty="0" err="1"/>
              <a:t>data_size</a:t>
            </a:r>
            <a:r>
              <a:rPr lang="zh-CN" altLang="en-US" dirty="0">
                <a:solidFill>
                  <a:srgbClr val="00B050"/>
                </a:solidFill>
              </a:rPr>
              <a:t>是个全局变量，表示</a:t>
            </a:r>
            <a:r>
              <a:rPr lang="zh-CN" altLang="en-US" dirty="0">
                <a:solidFill>
                  <a:srgbClr val="00B0F0"/>
                </a:solidFill>
              </a:rPr>
              <a:t>操作数</a:t>
            </a:r>
            <a:r>
              <a:rPr lang="zh-CN" altLang="en-US" dirty="0">
                <a:solidFill>
                  <a:srgbClr val="00B050"/>
                </a:solidFill>
              </a:rPr>
              <a:t>的</a:t>
            </a:r>
            <a:r>
              <a:rPr lang="zh-CN" altLang="en-US" dirty="0">
                <a:solidFill>
                  <a:srgbClr val="FF0000"/>
                </a:solidFill>
              </a:rPr>
              <a:t>比特长度</a:t>
            </a:r>
            <a:endParaRPr lang="zh-CN" altLang="zh-CN" dirty="0">
              <a:solidFill>
                <a:srgbClr val="FF0000"/>
              </a:solidFill>
            </a:endParaRPr>
          </a:p>
          <a:p>
            <a:r>
              <a:rPr lang="en-US" altLang="zh-CN" dirty="0"/>
              <a:t>    </a:t>
            </a:r>
            <a:r>
              <a:rPr lang="en-US" altLang="zh-CN" dirty="0" err="1"/>
              <a:t>int</a:t>
            </a:r>
            <a:r>
              <a:rPr lang="en-US" altLang="zh-CN" dirty="0"/>
              <a:t> </a:t>
            </a:r>
            <a:r>
              <a:rPr lang="en-US" altLang="zh-CN" dirty="0" err="1"/>
              <a:t>len</a:t>
            </a:r>
            <a:r>
              <a:rPr lang="en-US" altLang="zh-CN" dirty="0"/>
              <a:t> = 1;                          </a:t>
            </a:r>
            <a:r>
              <a:rPr lang="en-US" altLang="zh-CN" dirty="0">
                <a:solidFill>
                  <a:srgbClr val="00B050"/>
                </a:solidFill>
              </a:rPr>
              <a:t>// opcode </a:t>
            </a:r>
            <a:r>
              <a:rPr lang="zh-CN" altLang="zh-CN" dirty="0">
                <a:solidFill>
                  <a:srgbClr val="00B050"/>
                </a:solidFill>
              </a:rPr>
              <a:t>长度</a:t>
            </a:r>
            <a:r>
              <a:rPr lang="en-US" altLang="zh-CN" dirty="0">
                <a:solidFill>
                  <a:srgbClr val="00B050"/>
                </a:solidFill>
              </a:rPr>
              <a:t>1</a:t>
            </a:r>
            <a:r>
              <a:rPr lang="zh-CN" altLang="zh-CN" dirty="0">
                <a:solidFill>
                  <a:srgbClr val="00B050"/>
                </a:solidFill>
              </a:rPr>
              <a:t>字节</a:t>
            </a:r>
            <a:endParaRPr lang="zh-CN" altLang="zh-CN" dirty="0">
              <a:solidFill>
                <a:srgbClr val="00B050"/>
              </a:solidFill>
            </a:endParaRPr>
          </a:p>
          <a:p>
            <a:r>
              <a:rPr lang="en-US" altLang="zh-CN" dirty="0"/>
              <a:t>    </a:t>
            </a:r>
            <a:r>
              <a:rPr lang="en-US" altLang="zh-CN" dirty="0" err="1"/>
              <a:t>len</a:t>
            </a:r>
            <a:r>
              <a:rPr lang="en-US" altLang="zh-CN" dirty="0"/>
              <a:t> += </a:t>
            </a:r>
            <a:r>
              <a:rPr lang="en-US" altLang="zh-CN" dirty="0" err="1"/>
              <a:t>modrm_rm</a:t>
            </a:r>
            <a:r>
              <a:rPr lang="en-US" altLang="zh-CN" dirty="0"/>
              <a:t>(</a:t>
            </a:r>
            <a:r>
              <a:rPr lang="en-US" altLang="zh-CN" dirty="0" err="1"/>
              <a:t>eip</a:t>
            </a:r>
            <a:r>
              <a:rPr lang="en-US" altLang="zh-CN" dirty="0"/>
              <a:t> + 1, &amp;</a:t>
            </a:r>
            <a:r>
              <a:rPr lang="en-US" altLang="zh-CN" dirty="0" err="1"/>
              <a:t>rm</a:t>
            </a:r>
            <a:r>
              <a:rPr lang="en-US" altLang="zh-CN" dirty="0"/>
              <a:t>);</a:t>
            </a:r>
            <a:r>
              <a:rPr lang="en-US" altLang="zh-CN" dirty="0">
                <a:solidFill>
                  <a:srgbClr val="FF0000"/>
                </a:solidFill>
              </a:rPr>
              <a:t> </a:t>
            </a:r>
            <a:r>
              <a:rPr lang="en-US" altLang="zh-CN" dirty="0">
                <a:solidFill>
                  <a:srgbClr val="00B050"/>
                </a:solidFill>
              </a:rPr>
              <a:t>// </a:t>
            </a:r>
            <a:r>
              <a:rPr lang="zh-CN" altLang="zh-CN" dirty="0">
                <a:solidFill>
                  <a:srgbClr val="00B050"/>
                </a:solidFill>
              </a:rPr>
              <a:t>读</a:t>
            </a:r>
            <a:r>
              <a:rPr lang="en-US" altLang="zh-CN" dirty="0" err="1">
                <a:solidFill>
                  <a:srgbClr val="00B050"/>
                </a:solidFill>
              </a:rPr>
              <a:t>ModR</a:t>
            </a:r>
            <a:r>
              <a:rPr lang="en-US" altLang="zh-CN" dirty="0">
                <a:solidFill>
                  <a:srgbClr val="00B050"/>
                </a:solidFill>
              </a:rPr>
              <a:t>/M</a:t>
            </a:r>
            <a:r>
              <a:rPr lang="zh-CN" altLang="zh-CN" dirty="0">
                <a:solidFill>
                  <a:srgbClr val="00B050"/>
                </a:solidFill>
              </a:rPr>
              <a:t>字节，</a:t>
            </a:r>
            <a:r>
              <a:rPr lang="en-US" altLang="zh-CN" dirty="0" err="1">
                <a:solidFill>
                  <a:srgbClr val="00B050"/>
                </a:solidFill>
              </a:rPr>
              <a:t>rm</a:t>
            </a:r>
            <a:r>
              <a:rPr lang="zh-CN" altLang="zh-CN" dirty="0">
                <a:solidFill>
                  <a:srgbClr val="00B050"/>
                </a:solidFill>
              </a:rPr>
              <a:t>的</a:t>
            </a:r>
            <a:r>
              <a:rPr lang="en-US" altLang="zh-CN" dirty="0">
                <a:solidFill>
                  <a:srgbClr val="00B050"/>
                </a:solidFill>
              </a:rPr>
              <a:t>type</a:t>
            </a:r>
            <a:r>
              <a:rPr lang="zh-CN" altLang="zh-CN" dirty="0">
                <a:solidFill>
                  <a:srgbClr val="00B050"/>
                </a:solidFill>
              </a:rPr>
              <a:t>和</a:t>
            </a:r>
            <a:r>
              <a:rPr lang="en-US" altLang="zh-CN" dirty="0" err="1">
                <a:solidFill>
                  <a:srgbClr val="00B050"/>
                </a:solidFill>
              </a:rPr>
              <a:t>addr</a:t>
            </a:r>
            <a:r>
              <a:rPr lang="zh-CN" altLang="zh-CN" dirty="0">
                <a:solidFill>
                  <a:srgbClr val="00B050"/>
                </a:solidFill>
              </a:rPr>
              <a:t>会被填写</a:t>
            </a:r>
            <a:endParaRPr lang="zh-CN" altLang="zh-CN" dirty="0">
              <a:solidFill>
                <a:srgbClr val="00B050"/>
              </a:solidFill>
            </a:endParaRPr>
          </a:p>
          <a:p>
            <a:r>
              <a:rPr lang="en-US" altLang="zh-CN" dirty="0"/>
              <a:t> </a:t>
            </a:r>
            <a:endParaRPr lang="zh-CN" altLang="zh-CN" dirty="0"/>
          </a:p>
          <a:p>
            <a:r>
              <a:rPr lang="en-US" altLang="zh-CN" dirty="0"/>
              <a:t>    </a:t>
            </a:r>
            <a:r>
              <a:rPr lang="en-US" altLang="zh-CN" dirty="0" err="1"/>
              <a:t>imm.type</a:t>
            </a:r>
            <a:r>
              <a:rPr lang="en-US" altLang="zh-CN" dirty="0"/>
              <a:t> = OPR_IMM;       </a:t>
            </a:r>
            <a:r>
              <a:rPr lang="en-US" altLang="zh-CN" dirty="0">
                <a:solidFill>
                  <a:srgbClr val="00B050"/>
                </a:solidFill>
              </a:rPr>
              <a:t> // </a:t>
            </a:r>
            <a:r>
              <a:rPr lang="zh-CN" altLang="zh-CN" dirty="0">
                <a:solidFill>
                  <a:srgbClr val="00B050"/>
                </a:solidFill>
              </a:rPr>
              <a:t>填入立即数类型</a:t>
            </a:r>
            <a:endParaRPr lang="zh-CN" altLang="zh-CN" dirty="0">
              <a:solidFill>
                <a:srgbClr val="00B050"/>
              </a:solidFill>
            </a:endParaRPr>
          </a:p>
          <a:p>
            <a:r>
              <a:rPr lang="en-US" altLang="zh-CN" dirty="0"/>
              <a:t>    </a:t>
            </a:r>
            <a:r>
              <a:rPr lang="en-US" altLang="zh-CN" dirty="0" err="1"/>
              <a:t>imm.addr</a:t>
            </a:r>
            <a:r>
              <a:rPr lang="en-US" altLang="zh-CN" dirty="0"/>
              <a:t> = </a:t>
            </a:r>
            <a:r>
              <a:rPr lang="en-US" altLang="zh-CN" dirty="0" err="1"/>
              <a:t>eip</a:t>
            </a:r>
            <a:r>
              <a:rPr lang="en-US" altLang="zh-CN" dirty="0"/>
              <a:t> + </a:t>
            </a:r>
            <a:r>
              <a:rPr lang="en-US" altLang="zh-CN" dirty="0" err="1"/>
              <a:t>len</a:t>
            </a:r>
            <a:r>
              <a:rPr lang="en-US" altLang="zh-CN" dirty="0"/>
              <a:t>;          </a:t>
            </a:r>
            <a:r>
              <a:rPr lang="en-US" altLang="zh-CN" dirty="0">
                <a:solidFill>
                  <a:srgbClr val="00B050"/>
                </a:solidFill>
              </a:rPr>
              <a:t> // </a:t>
            </a:r>
            <a:r>
              <a:rPr lang="zh-CN" altLang="zh-CN" dirty="0">
                <a:solidFill>
                  <a:srgbClr val="00B050"/>
                </a:solidFill>
              </a:rPr>
              <a:t>找到立即数的地址</a:t>
            </a:r>
            <a:endParaRPr lang="zh-CN" altLang="zh-CN" dirty="0">
              <a:solidFill>
                <a:srgbClr val="00B050"/>
              </a:solidFill>
            </a:endParaRPr>
          </a:p>
          <a:p>
            <a:r>
              <a:rPr lang="en-US" altLang="zh-CN" dirty="0"/>
              <a:t>    </a:t>
            </a:r>
            <a:r>
              <a:rPr lang="en-US" altLang="zh-CN" dirty="0" err="1"/>
              <a:t>imm.data_size</a:t>
            </a:r>
            <a:r>
              <a:rPr lang="en-US" altLang="zh-CN" dirty="0"/>
              <a:t> = </a:t>
            </a:r>
            <a:r>
              <a:rPr lang="en-US" altLang="zh-CN" dirty="0" err="1"/>
              <a:t>data_size</a:t>
            </a:r>
            <a:r>
              <a:rPr lang="en-US" altLang="zh-CN" dirty="0"/>
              <a:t>;       </a:t>
            </a:r>
            <a:endParaRPr lang="zh-CN" altLang="zh-CN" dirty="0"/>
          </a:p>
          <a:p>
            <a:r>
              <a:rPr lang="en-US" altLang="zh-CN" dirty="0"/>
              <a:t> </a:t>
            </a:r>
            <a:endParaRPr lang="zh-CN" altLang="zh-CN" dirty="0"/>
          </a:p>
          <a:p>
            <a:r>
              <a:rPr lang="en-US" altLang="zh-CN" dirty="0"/>
              <a:t>    </a:t>
            </a:r>
            <a:r>
              <a:rPr lang="en-US" altLang="zh-CN" dirty="0" err="1"/>
              <a:t>operand_read</a:t>
            </a:r>
            <a:r>
              <a:rPr lang="en-US" altLang="zh-CN" dirty="0"/>
              <a:t>(&amp;</a:t>
            </a:r>
            <a:r>
              <a:rPr lang="en-US" altLang="zh-CN" dirty="0" err="1"/>
              <a:t>imm</a:t>
            </a:r>
            <a:r>
              <a:rPr lang="en-US" altLang="zh-CN" dirty="0"/>
              <a:t>);        </a:t>
            </a:r>
            <a:r>
              <a:rPr lang="en-US" altLang="zh-CN" dirty="0">
                <a:solidFill>
                  <a:srgbClr val="00B050"/>
                </a:solidFill>
              </a:rPr>
              <a:t> // </a:t>
            </a:r>
            <a:r>
              <a:rPr lang="zh-CN" altLang="zh-CN" dirty="0">
                <a:solidFill>
                  <a:srgbClr val="00B050"/>
                </a:solidFill>
              </a:rPr>
              <a:t>执行</a:t>
            </a:r>
            <a:r>
              <a:rPr lang="en-US" altLang="zh-CN" dirty="0">
                <a:solidFill>
                  <a:srgbClr val="00B050"/>
                </a:solidFill>
              </a:rPr>
              <a:t> </a:t>
            </a:r>
            <a:r>
              <a:rPr lang="en-US" altLang="zh-CN" dirty="0" err="1">
                <a:solidFill>
                  <a:srgbClr val="00B050"/>
                </a:solidFill>
              </a:rPr>
              <a:t>mov</a:t>
            </a:r>
            <a:r>
              <a:rPr lang="en-US" altLang="zh-CN" dirty="0">
                <a:solidFill>
                  <a:srgbClr val="00B050"/>
                </a:solidFill>
              </a:rPr>
              <a:t> </a:t>
            </a:r>
            <a:r>
              <a:rPr lang="zh-CN" altLang="zh-CN" dirty="0">
                <a:solidFill>
                  <a:srgbClr val="00B050"/>
                </a:solidFill>
              </a:rPr>
              <a:t>操作</a:t>
            </a:r>
            <a:endParaRPr lang="zh-CN" altLang="zh-CN" dirty="0">
              <a:solidFill>
                <a:srgbClr val="00B050"/>
              </a:solidFill>
            </a:endParaRPr>
          </a:p>
          <a:p>
            <a:r>
              <a:rPr lang="en-US" altLang="zh-CN" dirty="0"/>
              <a:t>    </a:t>
            </a:r>
            <a:r>
              <a:rPr lang="en-US" altLang="zh-CN" dirty="0" err="1">
                <a:solidFill>
                  <a:srgbClr val="FF0000"/>
                </a:solidFill>
              </a:rPr>
              <a:t>rm.val</a:t>
            </a:r>
            <a:r>
              <a:rPr lang="en-US" altLang="zh-CN" dirty="0">
                <a:solidFill>
                  <a:srgbClr val="FF0000"/>
                </a:solidFill>
              </a:rPr>
              <a:t> = </a:t>
            </a:r>
            <a:r>
              <a:rPr lang="en-US" altLang="zh-CN" dirty="0" err="1">
                <a:solidFill>
                  <a:srgbClr val="FF0000"/>
                </a:solidFill>
              </a:rPr>
              <a:t>imm.val</a:t>
            </a:r>
            <a:r>
              <a:rPr lang="en-US" altLang="zh-CN" dirty="0">
                <a:solidFill>
                  <a:srgbClr val="FF0000"/>
                </a:solidFill>
              </a:rPr>
              <a:t>;</a:t>
            </a:r>
            <a:endParaRPr lang="zh-CN" altLang="zh-CN" dirty="0">
              <a:solidFill>
                <a:srgbClr val="FF0000"/>
              </a:solidFill>
            </a:endParaRPr>
          </a:p>
          <a:p>
            <a:r>
              <a:rPr lang="en-US" altLang="zh-CN" dirty="0">
                <a:solidFill>
                  <a:srgbClr val="FF0000"/>
                </a:solidFill>
              </a:rPr>
              <a:t>    </a:t>
            </a:r>
            <a:r>
              <a:rPr lang="en-US" altLang="zh-CN" dirty="0" err="1">
                <a:solidFill>
                  <a:srgbClr val="FF0000"/>
                </a:solidFill>
              </a:rPr>
              <a:t>operand_write</a:t>
            </a:r>
            <a:r>
              <a:rPr lang="en-US" altLang="zh-CN" dirty="0">
                <a:solidFill>
                  <a:srgbClr val="FF0000"/>
                </a:solidFill>
              </a:rPr>
              <a:t>(&amp;</a:t>
            </a:r>
            <a:r>
              <a:rPr lang="en-US" altLang="zh-CN" dirty="0" err="1">
                <a:solidFill>
                  <a:srgbClr val="FF0000"/>
                </a:solidFill>
              </a:rPr>
              <a:t>rm</a:t>
            </a:r>
            <a:r>
              <a:rPr lang="en-US" altLang="zh-CN" dirty="0">
                <a:solidFill>
                  <a:srgbClr val="FF0000"/>
                </a:solidFill>
              </a:rPr>
              <a:t>);</a:t>
            </a:r>
            <a:endParaRPr lang="zh-CN" altLang="zh-CN" dirty="0">
              <a:solidFill>
                <a:srgbClr val="FF0000"/>
              </a:solidFill>
            </a:endParaRPr>
          </a:p>
          <a:p>
            <a:r>
              <a:rPr lang="en-US" altLang="zh-CN" dirty="0"/>
              <a:t> </a:t>
            </a:r>
            <a:endParaRPr lang="zh-CN" altLang="zh-CN" dirty="0"/>
          </a:p>
          <a:p>
            <a:r>
              <a:rPr lang="en-US" altLang="zh-CN" dirty="0"/>
              <a:t>    return </a:t>
            </a:r>
            <a:r>
              <a:rPr lang="en-US" altLang="zh-CN" dirty="0" err="1"/>
              <a:t>len</a:t>
            </a:r>
            <a:r>
              <a:rPr lang="en-US" altLang="zh-CN" dirty="0"/>
              <a:t> + </a:t>
            </a:r>
            <a:r>
              <a:rPr lang="en-US" altLang="zh-CN" dirty="0" err="1"/>
              <a:t>data_size</a:t>
            </a:r>
            <a:r>
              <a:rPr lang="en-US" altLang="zh-CN" dirty="0"/>
              <a:t> / 8;    </a:t>
            </a:r>
            <a:r>
              <a:rPr lang="en-US" altLang="zh-CN" dirty="0">
                <a:solidFill>
                  <a:srgbClr val="00B050"/>
                </a:solidFill>
              </a:rPr>
              <a:t>// opcode</a:t>
            </a:r>
            <a:r>
              <a:rPr lang="zh-CN" altLang="zh-CN" dirty="0">
                <a:solidFill>
                  <a:srgbClr val="00B050"/>
                </a:solidFill>
              </a:rPr>
              <a:t>长度</a:t>
            </a:r>
            <a:r>
              <a:rPr lang="en-US" altLang="zh-CN" dirty="0">
                <a:solidFill>
                  <a:srgbClr val="00B050"/>
                </a:solidFill>
              </a:rPr>
              <a:t> + </a:t>
            </a:r>
            <a:r>
              <a:rPr lang="en-US" altLang="zh-CN" dirty="0" err="1">
                <a:solidFill>
                  <a:srgbClr val="00B050"/>
                </a:solidFill>
              </a:rPr>
              <a:t>ModR</a:t>
            </a:r>
            <a:r>
              <a:rPr lang="en-US" altLang="zh-CN" dirty="0">
                <a:solidFill>
                  <a:srgbClr val="00B050"/>
                </a:solidFill>
              </a:rPr>
              <a:t>/M</a:t>
            </a:r>
            <a:r>
              <a:rPr lang="zh-CN" altLang="zh-CN" dirty="0">
                <a:solidFill>
                  <a:srgbClr val="00B050"/>
                </a:solidFill>
              </a:rPr>
              <a:t>字节扫描长度 </a:t>
            </a:r>
            <a:r>
              <a:rPr lang="en-US" altLang="zh-CN" dirty="0">
                <a:solidFill>
                  <a:srgbClr val="00B050"/>
                </a:solidFill>
              </a:rPr>
              <a:t>+ </a:t>
            </a:r>
            <a:r>
              <a:rPr lang="zh-CN" altLang="zh-CN" dirty="0">
                <a:solidFill>
                  <a:srgbClr val="00B050"/>
                </a:solidFill>
              </a:rPr>
              <a:t>立即数长度</a:t>
            </a:r>
            <a:endParaRPr lang="zh-CN" altLang="zh-CN" dirty="0">
              <a:solidFill>
                <a:srgbClr val="00B050"/>
              </a:solidFill>
            </a:endParaRPr>
          </a:p>
          <a:p>
            <a:r>
              <a:rPr lang="en-US" altLang="zh-CN" dirty="0"/>
              <a:t>}</a:t>
            </a:r>
            <a:endParaRPr lang="zh-CN" altLang="en-US" dirty="0"/>
          </a:p>
        </p:txBody>
      </p:sp>
      <p:sp>
        <p:nvSpPr>
          <p:cNvPr id="8" name="文本框 7"/>
          <p:cNvSpPr txBox="1"/>
          <p:nvPr/>
        </p:nvSpPr>
        <p:spPr>
          <a:xfrm>
            <a:off x="6866021" y="4928136"/>
            <a:ext cx="2618072" cy="830997"/>
          </a:xfrm>
          <a:prstGeom prst="rect">
            <a:avLst/>
          </a:prstGeom>
          <a:solidFill>
            <a:schemeClr val="bg2"/>
          </a:solidFill>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sz="2400" dirty="0"/>
              <a:t>执行</a:t>
            </a:r>
            <a:r>
              <a:rPr lang="en-US" altLang="zh-CN" sz="2400" dirty="0" err="1"/>
              <a:t>mov</a:t>
            </a:r>
            <a:r>
              <a:rPr lang="zh-CN" altLang="en-US" sz="2400" dirty="0"/>
              <a:t>操作并且写目的操作数</a:t>
            </a:r>
            <a:endParaRPr lang="zh-CN" altLang="en-US" sz="2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NEMU</a:t>
            </a:r>
            <a:r>
              <a:rPr lang="zh-CN" altLang="en-US" dirty="0"/>
              <a:t>模拟指令解码和执行</a:t>
            </a:r>
            <a:endParaRPr lang="zh-CN" altLang="en-US" dirty="0"/>
          </a:p>
        </p:txBody>
      </p:sp>
      <p:sp>
        <p:nvSpPr>
          <p:cNvPr id="4" name="日期占位符 3"/>
          <p:cNvSpPr>
            <a:spLocks noGrp="1"/>
          </p:cNvSpPr>
          <p:nvPr>
            <p:ph type="dt" sz="half" idx="10"/>
          </p:nvPr>
        </p:nvSpPr>
        <p:spPr/>
        <p:txBody>
          <a:bodyPr/>
          <a:lstStyle/>
          <a:p>
            <a:fld id="{960AD632-BA1E-4007-A689-FFA6C023ED74}" type="datetime3">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a:t>Programming Assignment</a:t>
            </a:r>
            <a:endParaRPr lang="zh-CN" altLang="en-US"/>
          </a:p>
        </p:txBody>
      </p:sp>
      <p:sp>
        <p:nvSpPr>
          <p:cNvPr id="6" name="灯片编号占位符 5"/>
          <p:cNvSpPr>
            <a:spLocks noGrp="1"/>
          </p:cNvSpPr>
          <p:nvPr>
            <p:ph type="sldNum" sz="quarter" idx="12"/>
          </p:nvPr>
        </p:nvSpPr>
        <p:spPr/>
        <p:txBody>
          <a:bodyPr/>
          <a:lstStyle/>
          <a:p>
            <a:fld id="{A40E146E-410D-4448-BCD3-F60DE2B98E6B}" type="slidenum">
              <a:rPr lang="zh-CN" altLang="en-US" smtClean="0"/>
            </a:fld>
            <a:endParaRPr lang="zh-CN" altLang="en-US"/>
          </a:p>
        </p:txBody>
      </p:sp>
      <p:sp>
        <p:nvSpPr>
          <p:cNvPr id="7" name="文本框 6"/>
          <p:cNvSpPr txBox="1"/>
          <p:nvPr/>
        </p:nvSpPr>
        <p:spPr>
          <a:xfrm>
            <a:off x="2025925" y="1585291"/>
            <a:ext cx="9696175" cy="5078313"/>
          </a:xfrm>
          <a:prstGeom prst="rect">
            <a:avLst/>
          </a:prstGeom>
          <a:noFill/>
        </p:spPr>
        <p:txBody>
          <a:bodyPr wrap="square" rtlCol="0">
            <a:spAutoFit/>
          </a:bodyPr>
          <a:lstStyle/>
          <a:p>
            <a:r>
              <a:rPr lang="en-US" altLang="zh-CN" dirty="0">
                <a:solidFill>
                  <a:srgbClr val="00B050"/>
                </a:solidFill>
              </a:rPr>
              <a:t>// </a:t>
            </a:r>
            <a:r>
              <a:rPr lang="zh-CN" altLang="zh-CN" dirty="0">
                <a:solidFill>
                  <a:srgbClr val="00B050"/>
                </a:solidFill>
              </a:rPr>
              <a:t>宏展开后这一行即为</a:t>
            </a:r>
            <a:r>
              <a:rPr lang="en-US" altLang="zh-CN" dirty="0">
                <a:solidFill>
                  <a:srgbClr val="00B050"/>
                </a:solidFill>
              </a:rPr>
              <a:t> </a:t>
            </a:r>
            <a:r>
              <a:rPr lang="en-US" altLang="zh-CN" dirty="0" err="1">
                <a:solidFill>
                  <a:srgbClr val="00B050"/>
                </a:solidFill>
              </a:rPr>
              <a:t>int</a:t>
            </a:r>
            <a:r>
              <a:rPr lang="en-US" altLang="zh-CN" dirty="0">
                <a:solidFill>
                  <a:srgbClr val="00B050"/>
                </a:solidFill>
              </a:rPr>
              <a:t> mov_i2rm_v(uint32_t </a:t>
            </a:r>
            <a:r>
              <a:rPr lang="en-US" altLang="zh-CN" dirty="0" err="1">
                <a:solidFill>
                  <a:srgbClr val="00B050"/>
                </a:solidFill>
              </a:rPr>
              <a:t>eip</a:t>
            </a:r>
            <a:r>
              <a:rPr lang="en-US" altLang="zh-CN" dirty="0">
                <a:solidFill>
                  <a:srgbClr val="00B050"/>
                </a:solidFill>
              </a:rPr>
              <a:t>, uint8_t opcode) {</a:t>
            </a:r>
            <a:endParaRPr lang="zh-CN" altLang="zh-CN" dirty="0">
              <a:solidFill>
                <a:srgbClr val="00B050"/>
              </a:solidFill>
            </a:endParaRPr>
          </a:p>
          <a:p>
            <a:r>
              <a:rPr lang="en-US" altLang="zh-CN" dirty="0" err="1"/>
              <a:t>make_instr_func</a:t>
            </a:r>
            <a:r>
              <a:rPr lang="en-US" altLang="zh-CN" dirty="0"/>
              <a:t>(mov_i2rm_v) { </a:t>
            </a:r>
            <a:endParaRPr lang="zh-CN" altLang="zh-CN" dirty="0"/>
          </a:p>
          <a:p>
            <a:r>
              <a:rPr lang="en-US" altLang="zh-CN" dirty="0"/>
              <a:t>    OPERAND </a:t>
            </a:r>
            <a:r>
              <a:rPr lang="en-US" altLang="zh-CN" dirty="0" err="1"/>
              <a:t>rm</a:t>
            </a:r>
            <a:r>
              <a:rPr lang="en-US" altLang="zh-CN" dirty="0"/>
              <a:t>, </a:t>
            </a:r>
            <a:r>
              <a:rPr lang="en-US" altLang="zh-CN" dirty="0" err="1"/>
              <a:t>imm</a:t>
            </a:r>
            <a:r>
              <a:rPr lang="en-US" altLang="zh-CN" dirty="0"/>
              <a:t>;          </a:t>
            </a:r>
            <a:r>
              <a:rPr lang="en-US" altLang="zh-CN" dirty="0">
                <a:solidFill>
                  <a:srgbClr val="00B050"/>
                </a:solidFill>
              </a:rPr>
              <a:t>// OPERAND</a:t>
            </a:r>
            <a:r>
              <a:rPr lang="zh-CN" altLang="en-US" dirty="0">
                <a:solidFill>
                  <a:srgbClr val="00B050"/>
                </a:solidFill>
              </a:rPr>
              <a:t>定义在</a:t>
            </a:r>
            <a:r>
              <a:rPr lang="en-US" altLang="zh-CN" dirty="0" err="1">
                <a:solidFill>
                  <a:srgbClr val="00B050"/>
                </a:solidFill>
              </a:rPr>
              <a:t>nemu</a:t>
            </a:r>
            <a:r>
              <a:rPr lang="en-US" altLang="zh-CN" dirty="0">
                <a:solidFill>
                  <a:srgbClr val="00B050"/>
                </a:solidFill>
              </a:rPr>
              <a:t>/include/</a:t>
            </a:r>
            <a:r>
              <a:rPr lang="en-US" altLang="zh-CN" dirty="0" err="1">
                <a:solidFill>
                  <a:srgbClr val="00B050"/>
                </a:solidFill>
              </a:rPr>
              <a:t>cpu</a:t>
            </a:r>
            <a:r>
              <a:rPr lang="en-US" altLang="zh-CN" dirty="0">
                <a:solidFill>
                  <a:srgbClr val="00B050"/>
                </a:solidFill>
              </a:rPr>
              <a:t>/</a:t>
            </a:r>
            <a:r>
              <a:rPr lang="en-US" altLang="zh-CN" dirty="0" err="1">
                <a:solidFill>
                  <a:srgbClr val="00B050"/>
                </a:solidFill>
              </a:rPr>
              <a:t>operand.h</a:t>
            </a:r>
            <a:endParaRPr lang="en-US" altLang="zh-CN" dirty="0">
              <a:solidFill>
                <a:srgbClr val="00B050"/>
              </a:solidFill>
            </a:endParaRPr>
          </a:p>
          <a:p>
            <a:r>
              <a:rPr lang="en-US" altLang="zh-CN" dirty="0">
                <a:solidFill>
                  <a:srgbClr val="00B050"/>
                </a:solidFill>
              </a:rPr>
              <a:t>                                                 // </a:t>
            </a:r>
            <a:r>
              <a:rPr lang="zh-CN" altLang="en-US" dirty="0">
                <a:solidFill>
                  <a:srgbClr val="00B050"/>
                </a:solidFill>
              </a:rPr>
              <a:t>看教程</a:t>
            </a:r>
            <a:r>
              <a:rPr lang="en-US" altLang="zh-CN" dirty="0">
                <a:solidFill>
                  <a:srgbClr val="00B050"/>
                </a:solidFill>
              </a:rPr>
              <a:t>§2-1.2.3</a:t>
            </a:r>
            <a:r>
              <a:rPr lang="en-US" altLang="zh-CN" dirty="0"/>
              <a:t> </a:t>
            </a:r>
            <a:endParaRPr lang="zh-CN" altLang="zh-CN" dirty="0"/>
          </a:p>
          <a:p>
            <a:r>
              <a:rPr lang="en-US" altLang="zh-CN" dirty="0"/>
              <a:t>    </a:t>
            </a:r>
            <a:r>
              <a:rPr lang="en-US" altLang="zh-CN" dirty="0" err="1"/>
              <a:t>rm.data_size</a:t>
            </a:r>
            <a:r>
              <a:rPr lang="en-US" altLang="zh-CN" dirty="0"/>
              <a:t> = </a:t>
            </a:r>
            <a:r>
              <a:rPr lang="en-US" altLang="zh-CN" dirty="0" err="1"/>
              <a:t>data_size</a:t>
            </a:r>
            <a:r>
              <a:rPr lang="en-US" altLang="zh-CN" dirty="0"/>
              <a:t>; </a:t>
            </a:r>
            <a:r>
              <a:rPr lang="en-US" altLang="zh-CN" dirty="0">
                <a:solidFill>
                  <a:srgbClr val="00B050"/>
                </a:solidFill>
              </a:rPr>
              <a:t>// </a:t>
            </a:r>
            <a:r>
              <a:rPr lang="en-US" altLang="zh-CN" dirty="0" err="1"/>
              <a:t>data_size</a:t>
            </a:r>
            <a:r>
              <a:rPr lang="zh-CN" altLang="en-US" dirty="0">
                <a:solidFill>
                  <a:srgbClr val="00B050"/>
                </a:solidFill>
              </a:rPr>
              <a:t>是个全局变量，表示</a:t>
            </a:r>
            <a:r>
              <a:rPr lang="zh-CN" altLang="en-US" dirty="0">
                <a:solidFill>
                  <a:srgbClr val="00B0F0"/>
                </a:solidFill>
              </a:rPr>
              <a:t>操作数</a:t>
            </a:r>
            <a:r>
              <a:rPr lang="zh-CN" altLang="en-US" dirty="0">
                <a:solidFill>
                  <a:srgbClr val="00B050"/>
                </a:solidFill>
              </a:rPr>
              <a:t>的</a:t>
            </a:r>
            <a:r>
              <a:rPr lang="zh-CN" altLang="en-US" dirty="0">
                <a:solidFill>
                  <a:srgbClr val="FF0000"/>
                </a:solidFill>
              </a:rPr>
              <a:t>比特长度</a:t>
            </a:r>
            <a:endParaRPr lang="zh-CN" altLang="zh-CN" dirty="0">
              <a:solidFill>
                <a:srgbClr val="FF0000"/>
              </a:solidFill>
            </a:endParaRPr>
          </a:p>
          <a:p>
            <a:r>
              <a:rPr lang="en-US" altLang="zh-CN" dirty="0"/>
              <a:t>    </a:t>
            </a:r>
            <a:r>
              <a:rPr lang="en-US" altLang="zh-CN" dirty="0" err="1"/>
              <a:t>int</a:t>
            </a:r>
            <a:r>
              <a:rPr lang="en-US" altLang="zh-CN" dirty="0"/>
              <a:t> </a:t>
            </a:r>
            <a:r>
              <a:rPr lang="en-US" altLang="zh-CN" dirty="0" err="1"/>
              <a:t>len</a:t>
            </a:r>
            <a:r>
              <a:rPr lang="en-US" altLang="zh-CN" dirty="0"/>
              <a:t> = 1;                          </a:t>
            </a:r>
            <a:r>
              <a:rPr lang="en-US" altLang="zh-CN" dirty="0">
                <a:solidFill>
                  <a:srgbClr val="00B050"/>
                </a:solidFill>
              </a:rPr>
              <a:t>// opcode </a:t>
            </a:r>
            <a:r>
              <a:rPr lang="zh-CN" altLang="zh-CN" dirty="0">
                <a:solidFill>
                  <a:srgbClr val="00B050"/>
                </a:solidFill>
              </a:rPr>
              <a:t>长度</a:t>
            </a:r>
            <a:r>
              <a:rPr lang="en-US" altLang="zh-CN" dirty="0">
                <a:solidFill>
                  <a:srgbClr val="00B050"/>
                </a:solidFill>
              </a:rPr>
              <a:t>1</a:t>
            </a:r>
            <a:r>
              <a:rPr lang="zh-CN" altLang="zh-CN" dirty="0">
                <a:solidFill>
                  <a:srgbClr val="00B050"/>
                </a:solidFill>
              </a:rPr>
              <a:t>字节</a:t>
            </a:r>
            <a:endParaRPr lang="zh-CN" altLang="zh-CN" dirty="0">
              <a:solidFill>
                <a:srgbClr val="00B050"/>
              </a:solidFill>
            </a:endParaRPr>
          </a:p>
          <a:p>
            <a:r>
              <a:rPr lang="en-US" altLang="zh-CN" dirty="0"/>
              <a:t>    </a:t>
            </a:r>
            <a:r>
              <a:rPr lang="en-US" altLang="zh-CN" dirty="0" err="1"/>
              <a:t>len</a:t>
            </a:r>
            <a:r>
              <a:rPr lang="en-US" altLang="zh-CN" dirty="0"/>
              <a:t> += </a:t>
            </a:r>
            <a:r>
              <a:rPr lang="en-US" altLang="zh-CN" dirty="0" err="1"/>
              <a:t>modrm_rm</a:t>
            </a:r>
            <a:r>
              <a:rPr lang="en-US" altLang="zh-CN" dirty="0"/>
              <a:t>(</a:t>
            </a:r>
            <a:r>
              <a:rPr lang="en-US" altLang="zh-CN" dirty="0" err="1"/>
              <a:t>eip</a:t>
            </a:r>
            <a:r>
              <a:rPr lang="en-US" altLang="zh-CN" dirty="0"/>
              <a:t> + 1, &amp;</a:t>
            </a:r>
            <a:r>
              <a:rPr lang="en-US" altLang="zh-CN" dirty="0" err="1"/>
              <a:t>rm</a:t>
            </a:r>
            <a:r>
              <a:rPr lang="en-US" altLang="zh-CN" dirty="0"/>
              <a:t>);</a:t>
            </a:r>
            <a:r>
              <a:rPr lang="en-US" altLang="zh-CN" dirty="0">
                <a:solidFill>
                  <a:srgbClr val="FF0000"/>
                </a:solidFill>
              </a:rPr>
              <a:t> </a:t>
            </a:r>
            <a:r>
              <a:rPr lang="en-US" altLang="zh-CN" dirty="0">
                <a:solidFill>
                  <a:srgbClr val="00B050"/>
                </a:solidFill>
              </a:rPr>
              <a:t>// </a:t>
            </a:r>
            <a:r>
              <a:rPr lang="zh-CN" altLang="zh-CN" dirty="0">
                <a:solidFill>
                  <a:srgbClr val="00B050"/>
                </a:solidFill>
              </a:rPr>
              <a:t>读</a:t>
            </a:r>
            <a:r>
              <a:rPr lang="en-US" altLang="zh-CN" dirty="0" err="1">
                <a:solidFill>
                  <a:srgbClr val="00B050"/>
                </a:solidFill>
              </a:rPr>
              <a:t>ModR</a:t>
            </a:r>
            <a:r>
              <a:rPr lang="en-US" altLang="zh-CN" dirty="0">
                <a:solidFill>
                  <a:srgbClr val="00B050"/>
                </a:solidFill>
              </a:rPr>
              <a:t>/M</a:t>
            </a:r>
            <a:r>
              <a:rPr lang="zh-CN" altLang="zh-CN" dirty="0">
                <a:solidFill>
                  <a:srgbClr val="00B050"/>
                </a:solidFill>
              </a:rPr>
              <a:t>字节，</a:t>
            </a:r>
            <a:r>
              <a:rPr lang="en-US" altLang="zh-CN" dirty="0" err="1">
                <a:solidFill>
                  <a:srgbClr val="00B050"/>
                </a:solidFill>
              </a:rPr>
              <a:t>rm</a:t>
            </a:r>
            <a:r>
              <a:rPr lang="zh-CN" altLang="zh-CN" dirty="0">
                <a:solidFill>
                  <a:srgbClr val="00B050"/>
                </a:solidFill>
              </a:rPr>
              <a:t>的</a:t>
            </a:r>
            <a:r>
              <a:rPr lang="en-US" altLang="zh-CN" dirty="0">
                <a:solidFill>
                  <a:srgbClr val="00B050"/>
                </a:solidFill>
              </a:rPr>
              <a:t>type</a:t>
            </a:r>
            <a:r>
              <a:rPr lang="zh-CN" altLang="zh-CN" dirty="0">
                <a:solidFill>
                  <a:srgbClr val="00B050"/>
                </a:solidFill>
              </a:rPr>
              <a:t>和</a:t>
            </a:r>
            <a:r>
              <a:rPr lang="en-US" altLang="zh-CN" dirty="0" err="1">
                <a:solidFill>
                  <a:srgbClr val="00B050"/>
                </a:solidFill>
              </a:rPr>
              <a:t>addr</a:t>
            </a:r>
            <a:r>
              <a:rPr lang="zh-CN" altLang="zh-CN" dirty="0">
                <a:solidFill>
                  <a:srgbClr val="00B050"/>
                </a:solidFill>
              </a:rPr>
              <a:t>会被填写</a:t>
            </a:r>
            <a:endParaRPr lang="zh-CN" altLang="zh-CN" dirty="0">
              <a:solidFill>
                <a:srgbClr val="00B050"/>
              </a:solidFill>
            </a:endParaRPr>
          </a:p>
          <a:p>
            <a:r>
              <a:rPr lang="en-US" altLang="zh-CN" dirty="0"/>
              <a:t> </a:t>
            </a:r>
            <a:endParaRPr lang="zh-CN" altLang="zh-CN" dirty="0"/>
          </a:p>
          <a:p>
            <a:r>
              <a:rPr lang="en-US" altLang="zh-CN" dirty="0"/>
              <a:t>    </a:t>
            </a:r>
            <a:r>
              <a:rPr lang="en-US" altLang="zh-CN" dirty="0" err="1"/>
              <a:t>imm.type</a:t>
            </a:r>
            <a:r>
              <a:rPr lang="en-US" altLang="zh-CN" dirty="0"/>
              <a:t> = OPR_IMM;       </a:t>
            </a:r>
            <a:r>
              <a:rPr lang="en-US" altLang="zh-CN" dirty="0">
                <a:solidFill>
                  <a:srgbClr val="00B050"/>
                </a:solidFill>
              </a:rPr>
              <a:t> // </a:t>
            </a:r>
            <a:r>
              <a:rPr lang="zh-CN" altLang="zh-CN" dirty="0">
                <a:solidFill>
                  <a:srgbClr val="00B050"/>
                </a:solidFill>
              </a:rPr>
              <a:t>填入立即数类型</a:t>
            </a:r>
            <a:endParaRPr lang="zh-CN" altLang="zh-CN" dirty="0">
              <a:solidFill>
                <a:srgbClr val="00B050"/>
              </a:solidFill>
            </a:endParaRPr>
          </a:p>
          <a:p>
            <a:r>
              <a:rPr lang="en-US" altLang="zh-CN" dirty="0"/>
              <a:t>    </a:t>
            </a:r>
            <a:r>
              <a:rPr lang="en-US" altLang="zh-CN" dirty="0" err="1"/>
              <a:t>imm.addr</a:t>
            </a:r>
            <a:r>
              <a:rPr lang="en-US" altLang="zh-CN" dirty="0"/>
              <a:t> = </a:t>
            </a:r>
            <a:r>
              <a:rPr lang="en-US" altLang="zh-CN" dirty="0" err="1"/>
              <a:t>eip</a:t>
            </a:r>
            <a:r>
              <a:rPr lang="en-US" altLang="zh-CN" dirty="0"/>
              <a:t> + </a:t>
            </a:r>
            <a:r>
              <a:rPr lang="en-US" altLang="zh-CN" dirty="0" err="1"/>
              <a:t>len</a:t>
            </a:r>
            <a:r>
              <a:rPr lang="en-US" altLang="zh-CN" dirty="0"/>
              <a:t>;          </a:t>
            </a:r>
            <a:r>
              <a:rPr lang="en-US" altLang="zh-CN" dirty="0">
                <a:solidFill>
                  <a:srgbClr val="00B050"/>
                </a:solidFill>
              </a:rPr>
              <a:t> // </a:t>
            </a:r>
            <a:r>
              <a:rPr lang="zh-CN" altLang="zh-CN" dirty="0">
                <a:solidFill>
                  <a:srgbClr val="00B050"/>
                </a:solidFill>
              </a:rPr>
              <a:t>找到立即数的地址</a:t>
            </a:r>
            <a:endParaRPr lang="zh-CN" altLang="zh-CN" dirty="0">
              <a:solidFill>
                <a:srgbClr val="00B050"/>
              </a:solidFill>
            </a:endParaRPr>
          </a:p>
          <a:p>
            <a:r>
              <a:rPr lang="en-US" altLang="zh-CN" dirty="0"/>
              <a:t>    </a:t>
            </a:r>
            <a:r>
              <a:rPr lang="en-US" altLang="zh-CN" dirty="0" err="1"/>
              <a:t>imm.data_size</a:t>
            </a:r>
            <a:r>
              <a:rPr lang="en-US" altLang="zh-CN" dirty="0"/>
              <a:t> = </a:t>
            </a:r>
            <a:r>
              <a:rPr lang="en-US" altLang="zh-CN" dirty="0" err="1"/>
              <a:t>data_size</a:t>
            </a:r>
            <a:r>
              <a:rPr lang="en-US" altLang="zh-CN" dirty="0"/>
              <a:t>;       </a:t>
            </a:r>
            <a:endParaRPr lang="zh-CN" altLang="zh-CN" dirty="0"/>
          </a:p>
          <a:p>
            <a:r>
              <a:rPr lang="en-US" altLang="zh-CN" dirty="0"/>
              <a:t> </a:t>
            </a:r>
            <a:endParaRPr lang="zh-CN" altLang="zh-CN" dirty="0"/>
          </a:p>
          <a:p>
            <a:r>
              <a:rPr lang="en-US" altLang="zh-CN" dirty="0"/>
              <a:t>    </a:t>
            </a:r>
            <a:r>
              <a:rPr lang="en-US" altLang="zh-CN" dirty="0" err="1"/>
              <a:t>operand_read</a:t>
            </a:r>
            <a:r>
              <a:rPr lang="en-US" altLang="zh-CN" dirty="0"/>
              <a:t>(&amp;</a:t>
            </a:r>
            <a:r>
              <a:rPr lang="en-US" altLang="zh-CN" dirty="0" err="1"/>
              <a:t>imm</a:t>
            </a:r>
            <a:r>
              <a:rPr lang="en-US" altLang="zh-CN" dirty="0"/>
              <a:t>);        </a:t>
            </a:r>
            <a:r>
              <a:rPr lang="en-US" altLang="zh-CN" dirty="0">
                <a:solidFill>
                  <a:srgbClr val="00B050"/>
                </a:solidFill>
              </a:rPr>
              <a:t> // </a:t>
            </a:r>
            <a:r>
              <a:rPr lang="zh-CN" altLang="zh-CN" dirty="0">
                <a:solidFill>
                  <a:srgbClr val="00B050"/>
                </a:solidFill>
              </a:rPr>
              <a:t>执行</a:t>
            </a:r>
            <a:r>
              <a:rPr lang="en-US" altLang="zh-CN" dirty="0">
                <a:solidFill>
                  <a:srgbClr val="00B050"/>
                </a:solidFill>
              </a:rPr>
              <a:t> </a:t>
            </a:r>
            <a:r>
              <a:rPr lang="en-US" altLang="zh-CN" dirty="0" err="1">
                <a:solidFill>
                  <a:srgbClr val="00B050"/>
                </a:solidFill>
              </a:rPr>
              <a:t>mov</a:t>
            </a:r>
            <a:r>
              <a:rPr lang="en-US" altLang="zh-CN" dirty="0">
                <a:solidFill>
                  <a:srgbClr val="00B050"/>
                </a:solidFill>
              </a:rPr>
              <a:t> </a:t>
            </a:r>
            <a:r>
              <a:rPr lang="zh-CN" altLang="zh-CN" dirty="0">
                <a:solidFill>
                  <a:srgbClr val="00B050"/>
                </a:solidFill>
              </a:rPr>
              <a:t>操作</a:t>
            </a:r>
            <a:endParaRPr lang="zh-CN" altLang="zh-CN" dirty="0">
              <a:solidFill>
                <a:srgbClr val="00B050"/>
              </a:solidFill>
            </a:endParaRPr>
          </a:p>
          <a:p>
            <a:r>
              <a:rPr lang="en-US" altLang="zh-CN" dirty="0"/>
              <a:t>    </a:t>
            </a:r>
            <a:r>
              <a:rPr lang="en-US" altLang="zh-CN" dirty="0" err="1"/>
              <a:t>rm.val</a:t>
            </a:r>
            <a:r>
              <a:rPr lang="en-US" altLang="zh-CN" dirty="0"/>
              <a:t> = </a:t>
            </a:r>
            <a:r>
              <a:rPr lang="en-US" altLang="zh-CN" dirty="0" err="1"/>
              <a:t>imm.val</a:t>
            </a:r>
            <a:r>
              <a:rPr lang="en-US" altLang="zh-CN" dirty="0"/>
              <a:t>;</a:t>
            </a:r>
            <a:endParaRPr lang="zh-CN" altLang="zh-CN" dirty="0"/>
          </a:p>
          <a:p>
            <a:r>
              <a:rPr lang="en-US" altLang="zh-CN" dirty="0"/>
              <a:t>    </a:t>
            </a:r>
            <a:r>
              <a:rPr lang="en-US" altLang="zh-CN" dirty="0" err="1"/>
              <a:t>operand_write</a:t>
            </a:r>
            <a:r>
              <a:rPr lang="en-US" altLang="zh-CN" dirty="0"/>
              <a:t>(&amp;</a:t>
            </a:r>
            <a:r>
              <a:rPr lang="en-US" altLang="zh-CN" dirty="0" err="1"/>
              <a:t>rm</a:t>
            </a:r>
            <a:r>
              <a:rPr lang="en-US" altLang="zh-CN" dirty="0"/>
              <a:t>);</a:t>
            </a:r>
            <a:endParaRPr lang="zh-CN" altLang="zh-CN" dirty="0"/>
          </a:p>
          <a:p>
            <a:r>
              <a:rPr lang="en-US" altLang="zh-CN" dirty="0"/>
              <a:t> </a:t>
            </a:r>
            <a:endParaRPr lang="zh-CN" altLang="zh-CN" dirty="0"/>
          </a:p>
          <a:p>
            <a:r>
              <a:rPr lang="en-US" altLang="zh-CN" dirty="0"/>
              <a:t>   </a:t>
            </a:r>
            <a:r>
              <a:rPr lang="en-US" altLang="zh-CN" dirty="0">
                <a:solidFill>
                  <a:srgbClr val="FF0000"/>
                </a:solidFill>
              </a:rPr>
              <a:t> return </a:t>
            </a:r>
            <a:r>
              <a:rPr lang="en-US" altLang="zh-CN" dirty="0" err="1">
                <a:solidFill>
                  <a:srgbClr val="FF0000"/>
                </a:solidFill>
              </a:rPr>
              <a:t>len</a:t>
            </a:r>
            <a:r>
              <a:rPr lang="en-US" altLang="zh-CN" dirty="0">
                <a:solidFill>
                  <a:srgbClr val="FF0000"/>
                </a:solidFill>
              </a:rPr>
              <a:t> + </a:t>
            </a:r>
            <a:r>
              <a:rPr lang="en-US" altLang="zh-CN" dirty="0" err="1">
                <a:solidFill>
                  <a:srgbClr val="FF0000"/>
                </a:solidFill>
              </a:rPr>
              <a:t>data_size</a:t>
            </a:r>
            <a:r>
              <a:rPr lang="en-US" altLang="zh-CN" dirty="0">
                <a:solidFill>
                  <a:srgbClr val="FF0000"/>
                </a:solidFill>
              </a:rPr>
              <a:t> / 8; </a:t>
            </a:r>
            <a:r>
              <a:rPr lang="en-US" altLang="zh-CN" dirty="0"/>
              <a:t>   </a:t>
            </a:r>
            <a:r>
              <a:rPr lang="en-US" altLang="zh-CN" dirty="0">
                <a:solidFill>
                  <a:srgbClr val="00B050"/>
                </a:solidFill>
              </a:rPr>
              <a:t>// opcode</a:t>
            </a:r>
            <a:r>
              <a:rPr lang="zh-CN" altLang="zh-CN" dirty="0">
                <a:solidFill>
                  <a:srgbClr val="00B050"/>
                </a:solidFill>
              </a:rPr>
              <a:t>长度</a:t>
            </a:r>
            <a:r>
              <a:rPr lang="en-US" altLang="zh-CN" dirty="0">
                <a:solidFill>
                  <a:srgbClr val="00B050"/>
                </a:solidFill>
              </a:rPr>
              <a:t> + </a:t>
            </a:r>
            <a:r>
              <a:rPr lang="en-US" altLang="zh-CN" dirty="0" err="1">
                <a:solidFill>
                  <a:srgbClr val="00B050"/>
                </a:solidFill>
              </a:rPr>
              <a:t>ModR</a:t>
            </a:r>
            <a:r>
              <a:rPr lang="en-US" altLang="zh-CN" dirty="0">
                <a:solidFill>
                  <a:srgbClr val="00B050"/>
                </a:solidFill>
              </a:rPr>
              <a:t>/M</a:t>
            </a:r>
            <a:r>
              <a:rPr lang="zh-CN" altLang="zh-CN" dirty="0">
                <a:solidFill>
                  <a:srgbClr val="00B050"/>
                </a:solidFill>
              </a:rPr>
              <a:t>字节扫描长度 </a:t>
            </a:r>
            <a:r>
              <a:rPr lang="en-US" altLang="zh-CN" dirty="0">
                <a:solidFill>
                  <a:srgbClr val="00B050"/>
                </a:solidFill>
              </a:rPr>
              <a:t>+ </a:t>
            </a:r>
            <a:r>
              <a:rPr lang="zh-CN" altLang="zh-CN" dirty="0">
                <a:solidFill>
                  <a:srgbClr val="00B050"/>
                </a:solidFill>
              </a:rPr>
              <a:t>立即数长度</a:t>
            </a:r>
            <a:endParaRPr lang="zh-CN" altLang="zh-CN" dirty="0">
              <a:solidFill>
                <a:srgbClr val="00B050"/>
              </a:solidFill>
            </a:endParaRPr>
          </a:p>
          <a:p>
            <a:r>
              <a:rPr lang="en-US" altLang="zh-CN" dirty="0"/>
              <a:t>}</a:t>
            </a:r>
            <a:endParaRPr lang="zh-CN" altLang="en-US" dirty="0"/>
          </a:p>
        </p:txBody>
      </p:sp>
      <p:sp>
        <p:nvSpPr>
          <p:cNvPr id="8" name="文本框 7"/>
          <p:cNvSpPr txBox="1"/>
          <p:nvPr/>
        </p:nvSpPr>
        <p:spPr>
          <a:xfrm>
            <a:off x="6866022" y="4928136"/>
            <a:ext cx="2184935" cy="461665"/>
          </a:xfrm>
          <a:prstGeom prst="rect">
            <a:avLst/>
          </a:prstGeom>
          <a:solidFill>
            <a:schemeClr val="bg2"/>
          </a:solidFill>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sz="2400" dirty="0"/>
              <a:t>返回指令长度</a:t>
            </a:r>
            <a:endParaRPr lang="zh-CN" altLang="en-US" sz="2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NEMU</a:t>
            </a:r>
            <a:r>
              <a:rPr lang="zh-CN" altLang="en-US" dirty="0"/>
              <a:t>模拟指令解码和执行</a:t>
            </a:r>
            <a:endParaRPr lang="zh-CN" altLang="en-US" dirty="0"/>
          </a:p>
        </p:txBody>
      </p:sp>
      <p:sp>
        <p:nvSpPr>
          <p:cNvPr id="4" name="日期占位符 3"/>
          <p:cNvSpPr>
            <a:spLocks noGrp="1"/>
          </p:cNvSpPr>
          <p:nvPr>
            <p:ph type="dt" sz="half" idx="10"/>
          </p:nvPr>
        </p:nvSpPr>
        <p:spPr/>
        <p:txBody>
          <a:bodyPr/>
          <a:lstStyle/>
          <a:p>
            <a:fld id="{960AD632-BA1E-4007-A689-FFA6C023ED74}" type="datetime3">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a:t>Programming Assignment</a:t>
            </a:r>
            <a:endParaRPr lang="zh-CN" altLang="en-US"/>
          </a:p>
        </p:txBody>
      </p:sp>
      <p:sp>
        <p:nvSpPr>
          <p:cNvPr id="6" name="灯片编号占位符 5"/>
          <p:cNvSpPr>
            <a:spLocks noGrp="1"/>
          </p:cNvSpPr>
          <p:nvPr>
            <p:ph type="sldNum" sz="quarter" idx="12"/>
          </p:nvPr>
        </p:nvSpPr>
        <p:spPr/>
        <p:txBody>
          <a:bodyPr/>
          <a:lstStyle/>
          <a:p>
            <a:fld id="{A40E146E-410D-4448-BCD3-F60DE2B98E6B}" type="slidenum">
              <a:rPr lang="zh-CN" altLang="en-US" smtClean="0"/>
            </a:fld>
            <a:endParaRPr lang="zh-CN" altLang="en-US"/>
          </a:p>
        </p:txBody>
      </p:sp>
      <p:sp>
        <p:nvSpPr>
          <p:cNvPr id="7" name="文本框 6"/>
          <p:cNvSpPr txBox="1"/>
          <p:nvPr/>
        </p:nvSpPr>
        <p:spPr>
          <a:xfrm>
            <a:off x="2025925" y="1585291"/>
            <a:ext cx="9696175" cy="5078313"/>
          </a:xfrm>
          <a:prstGeom prst="rect">
            <a:avLst/>
          </a:prstGeom>
          <a:noFill/>
        </p:spPr>
        <p:txBody>
          <a:bodyPr wrap="square" rtlCol="0">
            <a:spAutoFit/>
          </a:bodyPr>
          <a:lstStyle/>
          <a:p>
            <a:r>
              <a:rPr lang="en-US" altLang="zh-CN" dirty="0">
                <a:solidFill>
                  <a:srgbClr val="00B050"/>
                </a:solidFill>
              </a:rPr>
              <a:t>// </a:t>
            </a:r>
            <a:r>
              <a:rPr lang="zh-CN" altLang="zh-CN" dirty="0">
                <a:solidFill>
                  <a:srgbClr val="00B050"/>
                </a:solidFill>
              </a:rPr>
              <a:t>宏展开后这一行即为</a:t>
            </a:r>
            <a:r>
              <a:rPr lang="en-US" altLang="zh-CN" dirty="0">
                <a:solidFill>
                  <a:srgbClr val="00B050"/>
                </a:solidFill>
              </a:rPr>
              <a:t> </a:t>
            </a:r>
            <a:r>
              <a:rPr lang="en-US" altLang="zh-CN" dirty="0" err="1">
                <a:solidFill>
                  <a:srgbClr val="00B050"/>
                </a:solidFill>
              </a:rPr>
              <a:t>int</a:t>
            </a:r>
            <a:r>
              <a:rPr lang="en-US" altLang="zh-CN" dirty="0">
                <a:solidFill>
                  <a:srgbClr val="00B050"/>
                </a:solidFill>
              </a:rPr>
              <a:t> mov_i2rm_v(uint32_t </a:t>
            </a:r>
            <a:r>
              <a:rPr lang="en-US" altLang="zh-CN" dirty="0" err="1">
                <a:solidFill>
                  <a:srgbClr val="00B050"/>
                </a:solidFill>
              </a:rPr>
              <a:t>eip</a:t>
            </a:r>
            <a:r>
              <a:rPr lang="en-US" altLang="zh-CN" dirty="0">
                <a:solidFill>
                  <a:srgbClr val="00B050"/>
                </a:solidFill>
              </a:rPr>
              <a:t>, uint8_t opcode) {</a:t>
            </a:r>
            <a:endParaRPr lang="zh-CN" altLang="zh-CN" dirty="0">
              <a:solidFill>
                <a:srgbClr val="00B050"/>
              </a:solidFill>
            </a:endParaRPr>
          </a:p>
          <a:p>
            <a:r>
              <a:rPr lang="en-US" altLang="zh-CN" dirty="0" err="1"/>
              <a:t>make_instr_func</a:t>
            </a:r>
            <a:r>
              <a:rPr lang="en-US" altLang="zh-CN" dirty="0"/>
              <a:t>(mov_i2rm_v) { </a:t>
            </a:r>
            <a:endParaRPr lang="zh-CN" altLang="zh-CN" dirty="0"/>
          </a:p>
          <a:p>
            <a:r>
              <a:rPr lang="en-US" altLang="zh-CN" dirty="0"/>
              <a:t>    OPERAND </a:t>
            </a:r>
            <a:r>
              <a:rPr lang="en-US" altLang="zh-CN" dirty="0" err="1"/>
              <a:t>rm</a:t>
            </a:r>
            <a:r>
              <a:rPr lang="en-US" altLang="zh-CN" dirty="0"/>
              <a:t>, </a:t>
            </a:r>
            <a:r>
              <a:rPr lang="en-US" altLang="zh-CN" dirty="0" err="1"/>
              <a:t>imm</a:t>
            </a:r>
            <a:r>
              <a:rPr lang="en-US" altLang="zh-CN" dirty="0"/>
              <a:t>;          </a:t>
            </a:r>
            <a:r>
              <a:rPr lang="en-US" altLang="zh-CN" dirty="0">
                <a:solidFill>
                  <a:srgbClr val="00B050"/>
                </a:solidFill>
              </a:rPr>
              <a:t>// OPERAND</a:t>
            </a:r>
            <a:r>
              <a:rPr lang="zh-CN" altLang="en-US" dirty="0">
                <a:solidFill>
                  <a:srgbClr val="00B050"/>
                </a:solidFill>
              </a:rPr>
              <a:t>定义在</a:t>
            </a:r>
            <a:r>
              <a:rPr lang="en-US" altLang="zh-CN" dirty="0" err="1">
                <a:solidFill>
                  <a:srgbClr val="00B050"/>
                </a:solidFill>
              </a:rPr>
              <a:t>nemu</a:t>
            </a:r>
            <a:r>
              <a:rPr lang="en-US" altLang="zh-CN" dirty="0">
                <a:solidFill>
                  <a:srgbClr val="00B050"/>
                </a:solidFill>
              </a:rPr>
              <a:t>/include/</a:t>
            </a:r>
            <a:r>
              <a:rPr lang="en-US" altLang="zh-CN" dirty="0" err="1">
                <a:solidFill>
                  <a:srgbClr val="00B050"/>
                </a:solidFill>
              </a:rPr>
              <a:t>cpu</a:t>
            </a:r>
            <a:r>
              <a:rPr lang="en-US" altLang="zh-CN" dirty="0">
                <a:solidFill>
                  <a:srgbClr val="00B050"/>
                </a:solidFill>
              </a:rPr>
              <a:t>/</a:t>
            </a:r>
            <a:r>
              <a:rPr lang="en-US" altLang="zh-CN" dirty="0" err="1">
                <a:solidFill>
                  <a:srgbClr val="00B050"/>
                </a:solidFill>
              </a:rPr>
              <a:t>operand.h</a:t>
            </a:r>
            <a:endParaRPr lang="en-US" altLang="zh-CN" dirty="0">
              <a:solidFill>
                <a:srgbClr val="00B050"/>
              </a:solidFill>
            </a:endParaRPr>
          </a:p>
          <a:p>
            <a:r>
              <a:rPr lang="en-US" altLang="zh-CN" dirty="0">
                <a:solidFill>
                  <a:srgbClr val="00B050"/>
                </a:solidFill>
              </a:rPr>
              <a:t>                                                 // </a:t>
            </a:r>
            <a:r>
              <a:rPr lang="zh-CN" altLang="en-US" dirty="0">
                <a:solidFill>
                  <a:srgbClr val="00B050"/>
                </a:solidFill>
              </a:rPr>
              <a:t>看教程</a:t>
            </a:r>
            <a:r>
              <a:rPr lang="en-US" altLang="zh-CN" dirty="0">
                <a:solidFill>
                  <a:srgbClr val="00B050"/>
                </a:solidFill>
              </a:rPr>
              <a:t>§2-1.2.3</a:t>
            </a:r>
            <a:r>
              <a:rPr lang="en-US" altLang="zh-CN" dirty="0"/>
              <a:t> </a:t>
            </a:r>
            <a:endParaRPr lang="zh-CN" altLang="zh-CN" dirty="0"/>
          </a:p>
          <a:p>
            <a:r>
              <a:rPr lang="en-US" altLang="zh-CN" dirty="0"/>
              <a:t>    </a:t>
            </a:r>
            <a:r>
              <a:rPr lang="en-US" altLang="zh-CN" dirty="0" err="1"/>
              <a:t>rm.data_size</a:t>
            </a:r>
            <a:r>
              <a:rPr lang="en-US" altLang="zh-CN" dirty="0"/>
              <a:t> = </a:t>
            </a:r>
            <a:r>
              <a:rPr lang="en-US" altLang="zh-CN" dirty="0" err="1"/>
              <a:t>data_size</a:t>
            </a:r>
            <a:r>
              <a:rPr lang="en-US" altLang="zh-CN" dirty="0"/>
              <a:t>; </a:t>
            </a:r>
            <a:r>
              <a:rPr lang="en-US" altLang="zh-CN" dirty="0">
                <a:solidFill>
                  <a:srgbClr val="00B050"/>
                </a:solidFill>
              </a:rPr>
              <a:t>// </a:t>
            </a:r>
            <a:r>
              <a:rPr lang="en-US" altLang="zh-CN" dirty="0" err="1"/>
              <a:t>data_size</a:t>
            </a:r>
            <a:r>
              <a:rPr lang="zh-CN" altLang="en-US" dirty="0">
                <a:solidFill>
                  <a:srgbClr val="00B050"/>
                </a:solidFill>
              </a:rPr>
              <a:t>是个全局变量，表示</a:t>
            </a:r>
            <a:r>
              <a:rPr lang="zh-CN" altLang="en-US" dirty="0">
                <a:solidFill>
                  <a:srgbClr val="00B0F0"/>
                </a:solidFill>
              </a:rPr>
              <a:t>操作数</a:t>
            </a:r>
            <a:r>
              <a:rPr lang="zh-CN" altLang="en-US" dirty="0">
                <a:solidFill>
                  <a:srgbClr val="00B050"/>
                </a:solidFill>
              </a:rPr>
              <a:t>的</a:t>
            </a:r>
            <a:r>
              <a:rPr lang="zh-CN" altLang="en-US" dirty="0">
                <a:solidFill>
                  <a:srgbClr val="FF0000"/>
                </a:solidFill>
              </a:rPr>
              <a:t>比特长度</a:t>
            </a:r>
            <a:endParaRPr lang="zh-CN" altLang="zh-CN" dirty="0">
              <a:solidFill>
                <a:srgbClr val="FF0000"/>
              </a:solidFill>
            </a:endParaRPr>
          </a:p>
          <a:p>
            <a:r>
              <a:rPr lang="en-US" altLang="zh-CN" dirty="0"/>
              <a:t>    </a:t>
            </a:r>
            <a:r>
              <a:rPr lang="en-US" altLang="zh-CN" dirty="0" err="1"/>
              <a:t>int</a:t>
            </a:r>
            <a:r>
              <a:rPr lang="en-US" altLang="zh-CN" dirty="0"/>
              <a:t> </a:t>
            </a:r>
            <a:r>
              <a:rPr lang="en-US" altLang="zh-CN" dirty="0" err="1"/>
              <a:t>len</a:t>
            </a:r>
            <a:r>
              <a:rPr lang="en-US" altLang="zh-CN" dirty="0"/>
              <a:t> = 1;                          </a:t>
            </a:r>
            <a:r>
              <a:rPr lang="en-US" altLang="zh-CN" dirty="0">
                <a:solidFill>
                  <a:srgbClr val="00B050"/>
                </a:solidFill>
              </a:rPr>
              <a:t>// opcode </a:t>
            </a:r>
            <a:r>
              <a:rPr lang="zh-CN" altLang="zh-CN" dirty="0">
                <a:solidFill>
                  <a:srgbClr val="00B050"/>
                </a:solidFill>
              </a:rPr>
              <a:t>长度</a:t>
            </a:r>
            <a:r>
              <a:rPr lang="en-US" altLang="zh-CN" dirty="0">
                <a:solidFill>
                  <a:srgbClr val="00B050"/>
                </a:solidFill>
              </a:rPr>
              <a:t>1</a:t>
            </a:r>
            <a:r>
              <a:rPr lang="zh-CN" altLang="zh-CN" dirty="0">
                <a:solidFill>
                  <a:srgbClr val="00B050"/>
                </a:solidFill>
              </a:rPr>
              <a:t>字节</a:t>
            </a:r>
            <a:endParaRPr lang="zh-CN" altLang="zh-CN" dirty="0">
              <a:solidFill>
                <a:srgbClr val="00B050"/>
              </a:solidFill>
            </a:endParaRPr>
          </a:p>
          <a:p>
            <a:r>
              <a:rPr lang="en-US" altLang="zh-CN" dirty="0"/>
              <a:t>    </a:t>
            </a:r>
            <a:r>
              <a:rPr lang="en-US" altLang="zh-CN" dirty="0" err="1"/>
              <a:t>len</a:t>
            </a:r>
            <a:r>
              <a:rPr lang="en-US" altLang="zh-CN" dirty="0"/>
              <a:t> += </a:t>
            </a:r>
            <a:r>
              <a:rPr lang="en-US" altLang="zh-CN" dirty="0" err="1"/>
              <a:t>modrm_rm</a:t>
            </a:r>
            <a:r>
              <a:rPr lang="en-US" altLang="zh-CN" dirty="0"/>
              <a:t>(</a:t>
            </a:r>
            <a:r>
              <a:rPr lang="en-US" altLang="zh-CN" dirty="0" err="1"/>
              <a:t>eip</a:t>
            </a:r>
            <a:r>
              <a:rPr lang="en-US" altLang="zh-CN" dirty="0"/>
              <a:t> + 1, &amp;</a:t>
            </a:r>
            <a:r>
              <a:rPr lang="en-US" altLang="zh-CN" dirty="0" err="1"/>
              <a:t>rm</a:t>
            </a:r>
            <a:r>
              <a:rPr lang="en-US" altLang="zh-CN" dirty="0"/>
              <a:t>);</a:t>
            </a:r>
            <a:r>
              <a:rPr lang="en-US" altLang="zh-CN" dirty="0">
                <a:solidFill>
                  <a:srgbClr val="FF0000"/>
                </a:solidFill>
              </a:rPr>
              <a:t> </a:t>
            </a:r>
            <a:r>
              <a:rPr lang="en-US" altLang="zh-CN" dirty="0">
                <a:solidFill>
                  <a:srgbClr val="00B050"/>
                </a:solidFill>
              </a:rPr>
              <a:t>// </a:t>
            </a:r>
            <a:r>
              <a:rPr lang="zh-CN" altLang="zh-CN" dirty="0">
                <a:solidFill>
                  <a:srgbClr val="00B050"/>
                </a:solidFill>
              </a:rPr>
              <a:t>读</a:t>
            </a:r>
            <a:r>
              <a:rPr lang="en-US" altLang="zh-CN" dirty="0" err="1">
                <a:solidFill>
                  <a:srgbClr val="00B050"/>
                </a:solidFill>
              </a:rPr>
              <a:t>ModR</a:t>
            </a:r>
            <a:r>
              <a:rPr lang="en-US" altLang="zh-CN" dirty="0">
                <a:solidFill>
                  <a:srgbClr val="00B050"/>
                </a:solidFill>
              </a:rPr>
              <a:t>/M</a:t>
            </a:r>
            <a:r>
              <a:rPr lang="zh-CN" altLang="zh-CN" dirty="0">
                <a:solidFill>
                  <a:srgbClr val="00B050"/>
                </a:solidFill>
              </a:rPr>
              <a:t>字节，</a:t>
            </a:r>
            <a:r>
              <a:rPr lang="en-US" altLang="zh-CN" dirty="0" err="1">
                <a:solidFill>
                  <a:srgbClr val="00B050"/>
                </a:solidFill>
              </a:rPr>
              <a:t>rm</a:t>
            </a:r>
            <a:r>
              <a:rPr lang="zh-CN" altLang="zh-CN" dirty="0">
                <a:solidFill>
                  <a:srgbClr val="00B050"/>
                </a:solidFill>
              </a:rPr>
              <a:t>的</a:t>
            </a:r>
            <a:r>
              <a:rPr lang="en-US" altLang="zh-CN" dirty="0">
                <a:solidFill>
                  <a:srgbClr val="00B050"/>
                </a:solidFill>
              </a:rPr>
              <a:t>type</a:t>
            </a:r>
            <a:r>
              <a:rPr lang="zh-CN" altLang="zh-CN" dirty="0">
                <a:solidFill>
                  <a:srgbClr val="00B050"/>
                </a:solidFill>
              </a:rPr>
              <a:t>和</a:t>
            </a:r>
            <a:r>
              <a:rPr lang="en-US" altLang="zh-CN" dirty="0" err="1">
                <a:solidFill>
                  <a:srgbClr val="00B050"/>
                </a:solidFill>
              </a:rPr>
              <a:t>addr</a:t>
            </a:r>
            <a:r>
              <a:rPr lang="zh-CN" altLang="zh-CN" dirty="0">
                <a:solidFill>
                  <a:srgbClr val="00B050"/>
                </a:solidFill>
              </a:rPr>
              <a:t>会被填写</a:t>
            </a:r>
            <a:endParaRPr lang="zh-CN" altLang="zh-CN" dirty="0">
              <a:solidFill>
                <a:srgbClr val="00B050"/>
              </a:solidFill>
            </a:endParaRPr>
          </a:p>
          <a:p>
            <a:r>
              <a:rPr lang="en-US" altLang="zh-CN" dirty="0"/>
              <a:t> </a:t>
            </a:r>
            <a:endParaRPr lang="zh-CN" altLang="zh-CN" dirty="0"/>
          </a:p>
          <a:p>
            <a:r>
              <a:rPr lang="en-US" altLang="zh-CN" dirty="0"/>
              <a:t>    </a:t>
            </a:r>
            <a:r>
              <a:rPr lang="en-US" altLang="zh-CN" dirty="0" err="1"/>
              <a:t>imm.type</a:t>
            </a:r>
            <a:r>
              <a:rPr lang="en-US" altLang="zh-CN" dirty="0"/>
              <a:t> = OPR_IMM;       </a:t>
            </a:r>
            <a:r>
              <a:rPr lang="en-US" altLang="zh-CN" dirty="0">
                <a:solidFill>
                  <a:srgbClr val="00B050"/>
                </a:solidFill>
              </a:rPr>
              <a:t> // </a:t>
            </a:r>
            <a:r>
              <a:rPr lang="zh-CN" altLang="zh-CN" dirty="0">
                <a:solidFill>
                  <a:srgbClr val="00B050"/>
                </a:solidFill>
              </a:rPr>
              <a:t>填入立即数类型</a:t>
            </a:r>
            <a:endParaRPr lang="zh-CN" altLang="zh-CN" dirty="0">
              <a:solidFill>
                <a:srgbClr val="00B050"/>
              </a:solidFill>
            </a:endParaRPr>
          </a:p>
          <a:p>
            <a:r>
              <a:rPr lang="en-US" altLang="zh-CN" dirty="0"/>
              <a:t>    </a:t>
            </a:r>
            <a:r>
              <a:rPr lang="en-US" altLang="zh-CN" dirty="0" err="1"/>
              <a:t>imm.addr</a:t>
            </a:r>
            <a:r>
              <a:rPr lang="en-US" altLang="zh-CN" dirty="0"/>
              <a:t> = </a:t>
            </a:r>
            <a:r>
              <a:rPr lang="en-US" altLang="zh-CN" dirty="0" err="1"/>
              <a:t>eip</a:t>
            </a:r>
            <a:r>
              <a:rPr lang="en-US" altLang="zh-CN" dirty="0"/>
              <a:t> + </a:t>
            </a:r>
            <a:r>
              <a:rPr lang="en-US" altLang="zh-CN" dirty="0" err="1"/>
              <a:t>len</a:t>
            </a:r>
            <a:r>
              <a:rPr lang="en-US" altLang="zh-CN" dirty="0"/>
              <a:t>;          </a:t>
            </a:r>
            <a:r>
              <a:rPr lang="en-US" altLang="zh-CN" dirty="0">
                <a:solidFill>
                  <a:srgbClr val="00B050"/>
                </a:solidFill>
              </a:rPr>
              <a:t> // </a:t>
            </a:r>
            <a:r>
              <a:rPr lang="zh-CN" altLang="zh-CN" dirty="0">
                <a:solidFill>
                  <a:srgbClr val="00B050"/>
                </a:solidFill>
              </a:rPr>
              <a:t>找到立即数的地址</a:t>
            </a:r>
            <a:endParaRPr lang="zh-CN" altLang="zh-CN" dirty="0">
              <a:solidFill>
                <a:srgbClr val="00B050"/>
              </a:solidFill>
            </a:endParaRPr>
          </a:p>
          <a:p>
            <a:r>
              <a:rPr lang="en-US" altLang="zh-CN" dirty="0"/>
              <a:t>    </a:t>
            </a:r>
            <a:r>
              <a:rPr lang="en-US" altLang="zh-CN" dirty="0" err="1"/>
              <a:t>imm.data_size</a:t>
            </a:r>
            <a:r>
              <a:rPr lang="en-US" altLang="zh-CN" dirty="0"/>
              <a:t> = </a:t>
            </a:r>
            <a:r>
              <a:rPr lang="en-US" altLang="zh-CN" dirty="0" err="1"/>
              <a:t>data_size</a:t>
            </a:r>
            <a:r>
              <a:rPr lang="en-US" altLang="zh-CN" dirty="0"/>
              <a:t>;       </a:t>
            </a:r>
            <a:endParaRPr lang="zh-CN" altLang="zh-CN" dirty="0"/>
          </a:p>
          <a:p>
            <a:r>
              <a:rPr lang="en-US" altLang="zh-CN" dirty="0"/>
              <a:t> </a:t>
            </a:r>
            <a:endParaRPr lang="zh-CN" altLang="zh-CN" dirty="0"/>
          </a:p>
          <a:p>
            <a:r>
              <a:rPr lang="en-US" altLang="zh-CN" dirty="0"/>
              <a:t>    </a:t>
            </a:r>
            <a:r>
              <a:rPr lang="en-US" altLang="zh-CN" dirty="0" err="1"/>
              <a:t>operand_read</a:t>
            </a:r>
            <a:r>
              <a:rPr lang="en-US" altLang="zh-CN" dirty="0"/>
              <a:t>(&amp;</a:t>
            </a:r>
            <a:r>
              <a:rPr lang="en-US" altLang="zh-CN" dirty="0" err="1"/>
              <a:t>imm</a:t>
            </a:r>
            <a:r>
              <a:rPr lang="en-US" altLang="zh-CN" dirty="0"/>
              <a:t>);        </a:t>
            </a:r>
            <a:r>
              <a:rPr lang="en-US" altLang="zh-CN" dirty="0">
                <a:solidFill>
                  <a:srgbClr val="00B050"/>
                </a:solidFill>
              </a:rPr>
              <a:t> // </a:t>
            </a:r>
            <a:r>
              <a:rPr lang="zh-CN" altLang="zh-CN" dirty="0">
                <a:solidFill>
                  <a:srgbClr val="00B050"/>
                </a:solidFill>
              </a:rPr>
              <a:t>执行</a:t>
            </a:r>
            <a:r>
              <a:rPr lang="en-US" altLang="zh-CN" dirty="0">
                <a:solidFill>
                  <a:srgbClr val="00B050"/>
                </a:solidFill>
              </a:rPr>
              <a:t> </a:t>
            </a:r>
            <a:r>
              <a:rPr lang="en-US" altLang="zh-CN" dirty="0" err="1">
                <a:solidFill>
                  <a:srgbClr val="00B050"/>
                </a:solidFill>
              </a:rPr>
              <a:t>mov</a:t>
            </a:r>
            <a:r>
              <a:rPr lang="en-US" altLang="zh-CN" dirty="0">
                <a:solidFill>
                  <a:srgbClr val="00B050"/>
                </a:solidFill>
              </a:rPr>
              <a:t> </a:t>
            </a:r>
            <a:r>
              <a:rPr lang="zh-CN" altLang="zh-CN" dirty="0">
                <a:solidFill>
                  <a:srgbClr val="00B050"/>
                </a:solidFill>
              </a:rPr>
              <a:t>操作</a:t>
            </a:r>
            <a:endParaRPr lang="zh-CN" altLang="zh-CN" dirty="0">
              <a:solidFill>
                <a:srgbClr val="00B050"/>
              </a:solidFill>
            </a:endParaRPr>
          </a:p>
          <a:p>
            <a:r>
              <a:rPr lang="en-US" altLang="zh-CN" dirty="0"/>
              <a:t>    </a:t>
            </a:r>
            <a:r>
              <a:rPr lang="en-US" altLang="zh-CN" dirty="0" err="1"/>
              <a:t>rm.val</a:t>
            </a:r>
            <a:r>
              <a:rPr lang="en-US" altLang="zh-CN" dirty="0"/>
              <a:t> = </a:t>
            </a:r>
            <a:r>
              <a:rPr lang="en-US" altLang="zh-CN" dirty="0" err="1"/>
              <a:t>imm.val</a:t>
            </a:r>
            <a:r>
              <a:rPr lang="en-US" altLang="zh-CN" dirty="0"/>
              <a:t>;</a:t>
            </a:r>
            <a:endParaRPr lang="zh-CN" altLang="zh-CN" dirty="0"/>
          </a:p>
          <a:p>
            <a:r>
              <a:rPr lang="en-US" altLang="zh-CN" dirty="0"/>
              <a:t>    </a:t>
            </a:r>
            <a:r>
              <a:rPr lang="en-US" altLang="zh-CN" dirty="0" err="1"/>
              <a:t>operand_write</a:t>
            </a:r>
            <a:r>
              <a:rPr lang="en-US" altLang="zh-CN" dirty="0"/>
              <a:t>(&amp;</a:t>
            </a:r>
            <a:r>
              <a:rPr lang="en-US" altLang="zh-CN" dirty="0" err="1"/>
              <a:t>rm</a:t>
            </a:r>
            <a:r>
              <a:rPr lang="en-US" altLang="zh-CN" dirty="0"/>
              <a:t>);</a:t>
            </a:r>
            <a:endParaRPr lang="zh-CN" altLang="zh-CN" dirty="0"/>
          </a:p>
          <a:p>
            <a:r>
              <a:rPr lang="en-US" altLang="zh-CN" dirty="0"/>
              <a:t> </a:t>
            </a:r>
            <a:endParaRPr lang="zh-CN" altLang="zh-CN" dirty="0"/>
          </a:p>
          <a:p>
            <a:r>
              <a:rPr lang="en-US" altLang="zh-CN" dirty="0"/>
              <a:t>   </a:t>
            </a:r>
            <a:r>
              <a:rPr lang="en-US" altLang="zh-CN" dirty="0">
                <a:solidFill>
                  <a:srgbClr val="FF0000"/>
                </a:solidFill>
              </a:rPr>
              <a:t> return </a:t>
            </a:r>
            <a:r>
              <a:rPr lang="en-US" altLang="zh-CN" dirty="0" err="1">
                <a:solidFill>
                  <a:srgbClr val="FF0000"/>
                </a:solidFill>
              </a:rPr>
              <a:t>len</a:t>
            </a:r>
            <a:r>
              <a:rPr lang="en-US" altLang="zh-CN" dirty="0">
                <a:solidFill>
                  <a:srgbClr val="FF0000"/>
                </a:solidFill>
              </a:rPr>
              <a:t> + </a:t>
            </a:r>
            <a:r>
              <a:rPr lang="en-US" altLang="zh-CN" dirty="0" err="1">
                <a:solidFill>
                  <a:srgbClr val="FF0000"/>
                </a:solidFill>
              </a:rPr>
              <a:t>data_size</a:t>
            </a:r>
            <a:r>
              <a:rPr lang="en-US" altLang="zh-CN" dirty="0">
                <a:solidFill>
                  <a:srgbClr val="FF0000"/>
                </a:solidFill>
              </a:rPr>
              <a:t> / 8; </a:t>
            </a:r>
            <a:r>
              <a:rPr lang="en-US" altLang="zh-CN" dirty="0"/>
              <a:t>   </a:t>
            </a:r>
            <a:r>
              <a:rPr lang="en-US" altLang="zh-CN" dirty="0">
                <a:solidFill>
                  <a:srgbClr val="00B050"/>
                </a:solidFill>
              </a:rPr>
              <a:t>// opcode</a:t>
            </a:r>
            <a:r>
              <a:rPr lang="zh-CN" altLang="zh-CN" dirty="0">
                <a:solidFill>
                  <a:srgbClr val="00B050"/>
                </a:solidFill>
              </a:rPr>
              <a:t>长度</a:t>
            </a:r>
            <a:r>
              <a:rPr lang="en-US" altLang="zh-CN" dirty="0">
                <a:solidFill>
                  <a:srgbClr val="00B050"/>
                </a:solidFill>
              </a:rPr>
              <a:t> + </a:t>
            </a:r>
            <a:r>
              <a:rPr lang="en-US" altLang="zh-CN" dirty="0" err="1">
                <a:solidFill>
                  <a:srgbClr val="00B050"/>
                </a:solidFill>
              </a:rPr>
              <a:t>ModR</a:t>
            </a:r>
            <a:r>
              <a:rPr lang="en-US" altLang="zh-CN" dirty="0">
                <a:solidFill>
                  <a:srgbClr val="00B050"/>
                </a:solidFill>
              </a:rPr>
              <a:t>/M</a:t>
            </a:r>
            <a:r>
              <a:rPr lang="zh-CN" altLang="zh-CN" dirty="0">
                <a:solidFill>
                  <a:srgbClr val="00B050"/>
                </a:solidFill>
              </a:rPr>
              <a:t>字节扫描长度 </a:t>
            </a:r>
            <a:r>
              <a:rPr lang="en-US" altLang="zh-CN" dirty="0">
                <a:solidFill>
                  <a:srgbClr val="00B050"/>
                </a:solidFill>
              </a:rPr>
              <a:t>+ </a:t>
            </a:r>
            <a:r>
              <a:rPr lang="zh-CN" altLang="zh-CN" dirty="0">
                <a:solidFill>
                  <a:srgbClr val="00B050"/>
                </a:solidFill>
              </a:rPr>
              <a:t>立即数长度</a:t>
            </a:r>
            <a:endParaRPr lang="zh-CN" altLang="zh-CN" dirty="0">
              <a:solidFill>
                <a:srgbClr val="00B050"/>
              </a:solidFill>
            </a:endParaRPr>
          </a:p>
          <a:p>
            <a:r>
              <a:rPr lang="en-US" altLang="zh-CN" dirty="0"/>
              <a:t>}</a:t>
            </a:r>
            <a:endParaRPr lang="zh-CN" altLang="en-US" dirty="0"/>
          </a:p>
        </p:txBody>
      </p:sp>
      <p:sp>
        <p:nvSpPr>
          <p:cNvPr id="9" name="文本框 8"/>
          <p:cNvSpPr txBox="1"/>
          <p:nvPr/>
        </p:nvSpPr>
        <p:spPr>
          <a:xfrm>
            <a:off x="7502236" y="1654999"/>
            <a:ext cx="3366655" cy="181588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342900" indent="-342900">
              <a:buAutoNum type="arabicPeriod"/>
            </a:pPr>
            <a:r>
              <a:rPr lang="zh-CN" altLang="en-US" sz="2800" dirty="0"/>
              <a:t>解码操作码</a:t>
            </a:r>
            <a:endParaRPr lang="en-US" altLang="zh-CN" sz="2800" dirty="0"/>
          </a:p>
          <a:p>
            <a:pPr marL="342900" indent="-342900">
              <a:buAutoNum type="arabicPeriod"/>
            </a:pPr>
            <a:r>
              <a:rPr lang="zh-CN" altLang="en-US" sz="2800" dirty="0"/>
              <a:t>解码操作数</a:t>
            </a:r>
            <a:endParaRPr lang="en-US" altLang="zh-CN" sz="2800" dirty="0"/>
          </a:p>
          <a:p>
            <a:pPr marL="342900" indent="-342900">
              <a:buAutoNum type="arabicPeriod"/>
            </a:pPr>
            <a:r>
              <a:rPr lang="zh-CN" altLang="en-US" sz="2800" dirty="0"/>
              <a:t>执行指令的操作</a:t>
            </a:r>
            <a:endParaRPr lang="en-US" altLang="zh-CN" sz="2800" dirty="0"/>
          </a:p>
          <a:p>
            <a:pPr marL="342900" indent="-342900">
              <a:buAutoNum type="arabicPeriod"/>
            </a:pPr>
            <a:r>
              <a:rPr lang="zh-CN" altLang="en-US" sz="2800" dirty="0"/>
              <a:t>返回指令长度</a:t>
            </a:r>
            <a:endParaRPr lang="zh-CN" altLang="en-US" sz="2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NEMU</a:t>
            </a:r>
            <a:r>
              <a:rPr lang="zh-CN" altLang="en-US" dirty="0"/>
              <a:t>模拟指令解码和执行</a:t>
            </a:r>
            <a:endParaRPr lang="zh-CN" altLang="en-US" dirty="0"/>
          </a:p>
        </p:txBody>
      </p:sp>
      <p:sp>
        <p:nvSpPr>
          <p:cNvPr id="4" name="日期占位符 3"/>
          <p:cNvSpPr>
            <a:spLocks noGrp="1"/>
          </p:cNvSpPr>
          <p:nvPr>
            <p:ph type="dt" sz="half" idx="10"/>
          </p:nvPr>
        </p:nvSpPr>
        <p:spPr/>
        <p:txBody>
          <a:bodyPr/>
          <a:lstStyle/>
          <a:p>
            <a:fld id="{960AD632-BA1E-4007-A689-FFA6C023ED74}" type="datetime3">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a:t>Programming Assignment</a:t>
            </a:r>
            <a:endParaRPr lang="zh-CN" altLang="en-US"/>
          </a:p>
        </p:txBody>
      </p:sp>
      <p:sp>
        <p:nvSpPr>
          <p:cNvPr id="6" name="灯片编号占位符 5"/>
          <p:cNvSpPr>
            <a:spLocks noGrp="1"/>
          </p:cNvSpPr>
          <p:nvPr>
            <p:ph type="sldNum" sz="quarter" idx="12"/>
          </p:nvPr>
        </p:nvSpPr>
        <p:spPr/>
        <p:txBody>
          <a:bodyPr/>
          <a:lstStyle/>
          <a:p>
            <a:fld id="{A40E146E-410D-4448-BCD3-F60DE2B98E6B}" type="slidenum">
              <a:rPr lang="zh-CN" altLang="en-US" smtClean="0"/>
            </a:fld>
            <a:endParaRPr lang="zh-CN" altLang="en-US"/>
          </a:p>
        </p:txBody>
      </p:sp>
      <p:sp>
        <p:nvSpPr>
          <p:cNvPr id="7" name="文本框 6"/>
          <p:cNvSpPr txBox="1"/>
          <p:nvPr/>
        </p:nvSpPr>
        <p:spPr>
          <a:xfrm>
            <a:off x="2025925" y="1585291"/>
            <a:ext cx="9696175" cy="5078313"/>
          </a:xfrm>
          <a:prstGeom prst="rect">
            <a:avLst/>
          </a:prstGeom>
          <a:noFill/>
        </p:spPr>
        <p:txBody>
          <a:bodyPr wrap="square" rtlCol="0">
            <a:spAutoFit/>
          </a:bodyPr>
          <a:lstStyle/>
          <a:p>
            <a:r>
              <a:rPr lang="en-US" altLang="zh-CN" dirty="0">
                <a:solidFill>
                  <a:srgbClr val="00B050"/>
                </a:solidFill>
              </a:rPr>
              <a:t>// </a:t>
            </a:r>
            <a:r>
              <a:rPr lang="zh-CN" altLang="zh-CN" dirty="0">
                <a:solidFill>
                  <a:srgbClr val="00B050"/>
                </a:solidFill>
              </a:rPr>
              <a:t>宏展开后这一行即为</a:t>
            </a:r>
            <a:r>
              <a:rPr lang="en-US" altLang="zh-CN" dirty="0">
                <a:solidFill>
                  <a:srgbClr val="00B050"/>
                </a:solidFill>
              </a:rPr>
              <a:t> </a:t>
            </a:r>
            <a:r>
              <a:rPr lang="en-US" altLang="zh-CN" dirty="0" err="1">
                <a:solidFill>
                  <a:srgbClr val="00B050"/>
                </a:solidFill>
              </a:rPr>
              <a:t>int</a:t>
            </a:r>
            <a:r>
              <a:rPr lang="en-US" altLang="zh-CN" dirty="0">
                <a:solidFill>
                  <a:srgbClr val="00B050"/>
                </a:solidFill>
              </a:rPr>
              <a:t> mov_i2rm_v(uint32_t </a:t>
            </a:r>
            <a:r>
              <a:rPr lang="en-US" altLang="zh-CN" dirty="0" err="1">
                <a:solidFill>
                  <a:srgbClr val="00B050"/>
                </a:solidFill>
              </a:rPr>
              <a:t>eip</a:t>
            </a:r>
            <a:r>
              <a:rPr lang="en-US" altLang="zh-CN" dirty="0">
                <a:solidFill>
                  <a:srgbClr val="00B050"/>
                </a:solidFill>
              </a:rPr>
              <a:t>, uint8_t opcode) {</a:t>
            </a:r>
            <a:endParaRPr lang="zh-CN" altLang="zh-CN" dirty="0">
              <a:solidFill>
                <a:srgbClr val="00B050"/>
              </a:solidFill>
            </a:endParaRPr>
          </a:p>
          <a:p>
            <a:r>
              <a:rPr lang="en-US" altLang="zh-CN" dirty="0" err="1"/>
              <a:t>make_instr_func</a:t>
            </a:r>
            <a:r>
              <a:rPr lang="en-US" altLang="zh-CN" dirty="0"/>
              <a:t>(mov_i2rm_v) { </a:t>
            </a:r>
            <a:endParaRPr lang="zh-CN" altLang="zh-CN" dirty="0"/>
          </a:p>
          <a:p>
            <a:r>
              <a:rPr lang="en-US" altLang="zh-CN" dirty="0"/>
              <a:t>    OPERAND </a:t>
            </a:r>
            <a:r>
              <a:rPr lang="en-US" altLang="zh-CN" dirty="0" err="1"/>
              <a:t>rm</a:t>
            </a:r>
            <a:r>
              <a:rPr lang="en-US" altLang="zh-CN" dirty="0"/>
              <a:t>, </a:t>
            </a:r>
            <a:r>
              <a:rPr lang="en-US" altLang="zh-CN" dirty="0" err="1"/>
              <a:t>imm</a:t>
            </a:r>
            <a:r>
              <a:rPr lang="en-US" altLang="zh-CN" dirty="0"/>
              <a:t>;          </a:t>
            </a:r>
            <a:r>
              <a:rPr lang="en-US" altLang="zh-CN" dirty="0">
                <a:solidFill>
                  <a:srgbClr val="00B050"/>
                </a:solidFill>
              </a:rPr>
              <a:t>// OPERAND</a:t>
            </a:r>
            <a:r>
              <a:rPr lang="zh-CN" altLang="en-US" dirty="0">
                <a:solidFill>
                  <a:srgbClr val="00B050"/>
                </a:solidFill>
              </a:rPr>
              <a:t>定义在</a:t>
            </a:r>
            <a:r>
              <a:rPr lang="en-US" altLang="zh-CN" dirty="0" err="1">
                <a:solidFill>
                  <a:srgbClr val="00B050"/>
                </a:solidFill>
              </a:rPr>
              <a:t>nemu</a:t>
            </a:r>
            <a:r>
              <a:rPr lang="en-US" altLang="zh-CN" dirty="0">
                <a:solidFill>
                  <a:srgbClr val="00B050"/>
                </a:solidFill>
              </a:rPr>
              <a:t>/include/</a:t>
            </a:r>
            <a:r>
              <a:rPr lang="en-US" altLang="zh-CN" dirty="0" err="1">
                <a:solidFill>
                  <a:srgbClr val="00B050"/>
                </a:solidFill>
              </a:rPr>
              <a:t>cpu</a:t>
            </a:r>
            <a:r>
              <a:rPr lang="en-US" altLang="zh-CN" dirty="0">
                <a:solidFill>
                  <a:srgbClr val="00B050"/>
                </a:solidFill>
              </a:rPr>
              <a:t>/</a:t>
            </a:r>
            <a:r>
              <a:rPr lang="en-US" altLang="zh-CN" dirty="0" err="1">
                <a:solidFill>
                  <a:srgbClr val="00B050"/>
                </a:solidFill>
              </a:rPr>
              <a:t>operand.h</a:t>
            </a:r>
            <a:endParaRPr lang="en-US" altLang="zh-CN" dirty="0">
              <a:solidFill>
                <a:srgbClr val="00B050"/>
              </a:solidFill>
            </a:endParaRPr>
          </a:p>
          <a:p>
            <a:r>
              <a:rPr lang="en-US" altLang="zh-CN" dirty="0">
                <a:solidFill>
                  <a:srgbClr val="00B050"/>
                </a:solidFill>
              </a:rPr>
              <a:t>                                                 // </a:t>
            </a:r>
            <a:r>
              <a:rPr lang="zh-CN" altLang="en-US" dirty="0">
                <a:solidFill>
                  <a:srgbClr val="00B050"/>
                </a:solidFill>
              </a:rPr>
              <a:t>看教程</a:t>
            </a:r>
            <a:r>
              <a:rPr lang="en-US" altLang="zh-CN" dirty="0">
                <a:solidFill>
                  <a:srgbClr val="00B050"/>
                </a:solidFill>
              </a:rPr>
              <a:t>§2-1.2.3</a:t>
            </a:r>
            <a:r>
              <a:rPr lang="en-US" altLang="zh-CN" dirty="0"/>
              <a:t> </a:t>
            </a:r>
            <a:endParaRPr lang="zh-CN" altLang="zh-CN" dirty="0"/>
          </a:p>
          <a:p>
            <a:r>
              <a:rPr lang="en-US" altLang="zh-CN" dirty="0"/>
              <a:t>    </a:t>
            </a:r>
            <a:r>
              <a:rPr lang="en-US" altLang="zh-CN" dirty="0" err="1"/>
              <a:t>rm.data_size</a:t>
            </a:r>
            <a:r>
              <a:rPr lang="en-US" altLang="zh-CN" dirty="0"/>
              <a:t> = </a:t>
            </a:r>
            <a:r>
              <a:rPr lang="en-US" altLang="zh-CN" dirty="0" err="1"/>
              <a:t>data_size</a:t>
            </a:r>
            <a:r>
              <a:rPr lang="en-US" altLang="zh-CN" dirty="0"/>
              <a:t>; </a:t>
            </a:r>
            <a:r>
              <a:rPr lang="en-US" altLang="zh-CN" dirty="0">
                <a:solidFill>
                  <a:srgbClr val="00B050"/>
                </a:solidFill>
              </a:rPr>
              <a:t>// </a:t>
            </a:r>
            <a:r>
              <a:rPr lang="en-US" altLang="zh-CN" dirty="0" err="1"/>
              <a:t>data_size</a:t>
            </a:r>
            <a:r>
              <a:rPr lang="zh-CN" altLang="en-US" dirty="0">
                <a:solidFill>
                  <a:srgbClr val="00B050"/>
                </a:solidFill>
              </a:rPr>
              <a:t>是个全局变量，表示</a:t>
            </a:r>
            <a:r>
              <a:rPr lang="zh-CN" altLang="en-US" dirty="0">
                <a:solidFill>
                  <a:srgbClr val="00B0F0"/>
                </a:solidFill>
              </a:rPr>
              <a:t>操作数</a:t>
            </a:r>
            <a:r>
              <a:rPr lang="zh-CN" altLang="en-US" dirty="0">
                <a:solidFill>
                  <a:srgbClr val="00B050"/>
                </a:solidFill>
              </a:rPr>
              <a:t>的</a:t>
            </a:r>
            <a:r>
              <a:rPr lang="zh-CN" altLang="en-US" dirty="0">
                <a:solidFill>
                  <a:srgbClr val="FF0000"/>
                </a:solidFill>
              </a:rPr>
              <a:t>比特长度</a:t>
            </a:r>
            <a:endParaRPr lang="zh-CN" altLang="zh-CN" dirty="0">
              <a:solidFill>
                <a:srgbClr val="FF0000"/>
              </a:solidFill>
            </a:endParaRPr>
          </a:p>
          <a:p>
            <a:r>
              <a:rPr lang="en-US" altLang="zh-CN" dirty="0"/>
              <a:t>    </a:t>
            </a:r>
            <a:r>
              <a:rPr lang="en-US" altLang="zh-CN" dirty="0" err="1"/>
              <a:t>int</a:t>
            </a:r>
            <a:r>
              <a:rPr lang="en-US" altLang="zh-CN" dirty="0"/>
              <a:t> </a:t>
            </a:r>
            <a:r>
              <a:rPr lang="en-US" altLang="zh-CN" dirty="0" err="1"/>
              <a:t>len</a:t>
            </a:r>
            <a:r>
              <a:rPr lang="en-US" altLang="zh-CN" dirty="0"/>
              <a:t> = 1;                          </a:t>
            </a:r>
            <a:r>
              <a:rPr lang="en-US" altLang="zh-CN" dirty="0">
                <a:solidFill>
                  <a:srgbClr val="00B050"/>
                </a:solidFill>
              </a:rPr>
              <a:t>// opcode </a:t>
            </a:r>
            <a:r>
              <a:rPr lang="zh-CN" altLang="zh-CN" dirty="0">
                <a:solidFill>
                  <a:srgbClr val="00B050"/>
                </a:solidFill>
              </a:rPr>
              <a:t>长度</a:t>
            </a:r>
            <a:r>
              <a:rPr lang="en-US" altLang="zh-CN" dirty="0">
                <a:solidFill>
                  <a:srgbClr val="00B050"/>
                </a:solidFill>
              </a:rPr>
              <a:t>1</a:t>
            </a:r>
            <a:r>
              <a:rPr lang="zh-CN" altLang="zh-CN" dirty="0">
                <a:solidFill>
                  <a:srgbClr val="00B050"/>
                </a:solidFill>
              </a:rPr>
              <a:t>字节</a:t>
            </a:r>
            <a:endParaRPr lang="zh-CN" altLang="zh-CN" dirty="0">
              <a:solidFill>
                <a:srgbClr val="00B050"/>
              </a:solidFill>
            </a:endParaRPr>
          </a:p>
          <a:p>
            <a:r>
              <a:rPr lang="en-US" altLang="zh-CN" dirty="0"/>
              <a:t>    </a:t>
            </a:r>
            <a:r>
              <a:rPr lang="en-US" altLang="zh-CN" dirty="0" err="1"/>
              <a:t>len</a:t>
            </a:r>
            <a:r>
              <a:rPr lang="en-US" altLang="zh-CN" dirty="0"/>
              <a:t> += </a:t>
            </a:r>
            <a:r>
              <a:rPr lang="en-US" altLang="zh-CN" dirty="0" err="1"/>
              <a:t>modrm_rm</a:t>
            </a:r>
            <a:r>
              <a:rPr lang="en-US" altLang="zh-CN" dirty="0"/>
              <a:t>(</a:t>
            </a:r>
            <a:r>
              <a:rPr lang="en-US" altLang="zh-CN" dirty="0" err="1"/>
              <a:t>eip</a:t>
            </a:r>
            <a:r>
              <a:rPr lang="en-US" altLang="zh-CN" dirty="0"/>
              <a:t> + 1, &amp;</a:t>
            </a:r>
            <a:r>
              <a:rPr lang="en-US" altLang="zh-CN" dirty="0" err="1"/>
              <a:t>rm</a:t>
            </a:r>
            <a:r>
              <a:rPr lang="en-US" altLang="zh-CN" dirty="0"/>
              <a:t>);</a:t>
            </a:r>
            <a:r>
              <a:rPr lang="en-US" altLang="zh-CN" dirty="0">
                <a:solidFill>
                  <a:srgbClr val="FF0000"/>
                </a:solidFill>
              </a:rPr>
              <a:t> </a:t>
            </a:r>
            <a:r>
              <a:rPr lang="en-US" altLang="zh-CN" dirty="0">
                <a:solidFill>
                  <a:srgbClr val="00B050"/>
                </a:solidFill>
              </a:rPr>
              <a:t>// </a:t>
            </a:r>
            <a:r>
              <a:rPr lang="zh-CN" altLang="zh-CN" dirty="0">
                <a:solidFill>
                  <a:srgbClr val="00B050"/>
                </a:solidFill>
              </a:rPr>
              <a:t>读</a:t>
            </a:r>
            <a:r>
              <a:rPr lang="en-US" altLang="zh-CN" dirty="0" err="1">
                <a:solidFill>
                  <a:srgbClr val="00B050"/>
                </a:solidFill>
              </a:rPr>
              <a:t>ModR</a:t>
            </a:r>
            <a:r>
              <a:rPr lang="en-US" altLang="zh-CN" dirty="0">
                <a:solidFill>
                  <a:srgbClr val="00B050"/>
                </a:solidFill>
              </a:rPr>
              <a:t>/M</a:t>
            </a:r>
            <a:r>
              <a:rPr lang="zh-CN" altLang="zh-CN" dirty="0">
                <a:solidFill>
                  <a:srgbClr val="00B050"/>
                </a:solidFill>
              </a:rPr>
              <a:t>字节，</a:t>
            </a:r>
            <a:r>
              <a:rPr lang="en-US" altLang="zh-CN" dirty="0" err="1">
                <a:solidFill>
                  <a:srgbClr val="00B050"/>
                </a:solidFill>
              </a:rPr>
              <a:t>rm</a:t>
            </a:r>
            <a:r>
              <a:rPr lang="zh-CN" altLang="zh-CN" dirty="0">
                <a:solidFill>
                  <a:srgbClr val="00B050"/>
                </a:solidFill>
              </a:rPr>
              <a:t>的</a:t>
            </a:r>
            <a:r>
              <a:rPr lang="en-US" altLang="zh-CN" dirty="0">
                <a:solidFill>
                  <a:srgbClr val="00B050"/>
                </a:solidFill>
              </a:rPr>
              <a:t>type</a:t>
            </a:r>
            <a:r>
              <a:rPr lang="zh-CN" altLang="zh-CN" dirty="0">
                <a:solidFill>
                  <a:srgbClr val="00B050"/>
                </a:solidFill>
              </a:rPr>
              <a:t>和</a:t>
            </a:r>
            <a:r>
              <a:rPr lang="en-US" altLang="zh-CN" dirty="0" err="1">
                <a:solidFill>
                  <a:srgbClr val="00B050"/>
                </a:solidFill>
              </a:rPr>
              <a:t>addr</a:t>
            </a:r>
            <a:r>
              <a:rPr lang="zh-CN" altLang="zh-CN" dirty="0">
                <a:solidFill>
                  <a:srgbClr val="00B050"/>
                </a:solidFill>
              </a:rPr>
              <a:t>会被填写</a:t>
            </a:r>
            <a:endParaRPr lang="zh-CN" altLang="zh-CN" dirty="0">
              <a:solidFill>
                <a:srgbClr val="00B050"/>
              </a:solidFill>
            </a:endParaRPr>
          </a:p>
          <a:p>
            <a:r>
              <a:rPr lang="en-US" altLang="zh-CN" dirty="0"/>
              <a:t> </a:t>
            </a:r>
            <a:endParaRPr lang="zh-CN" altLang="zh-CN" dirty="0"/>
          </a:p>
          <a:p>
            <a:r>
              <a:rPr lang="en-US" altLang="zh-CN" dirty="0"/>
              <a:t>    </a:t>
            </a:r>
            <a:r>
              <a:rPr lang="en-US" altLang="zh-CN" dirty="0" err="1"/>
              <a:t>imm.type</a:t>
            </a:r>
            <a:r>
              <a:rPr lang="en-US" altLang="zh-CN" dirty="0"/>
              <a:t> = OPR_IMM;       </a:t>
            </a:r>
            <a:r>
              <a:rPr lang="en-US" altLang="zh-CN" dirty="0">
                <a:solidFill>
                  <a:srgbClr val="00B050"/>
                </a:solidFill>
              </a:rPr>
              <a:t> // </a:t>
            </a:r>
            <a:r>
              <a:rPr lang="zh-CN" altLang="zh-CN" dirty="0">
                <a:solidFill>
                  <a:srgbClr val="00B050"/>
                </a:solidFill>
              </a:rPr>
              <a:t>填入立即数类型</a:t>
            </a:r>
            <a:endParaRPr lang="zh-CN" altLang="zh-CN" dirty="0">
              <a:solidFill>
                <a:srgbClr val="00B050"/>
              </a:solidFill>
            </a:endParaRPr>
          </a:p>
          <a:p>
            <a:r>
              <a:rPr lang="en-US" altLang="zh-CN" dirty="0"/>
              <a:t>    </a:t>
            </a:r>
            <a:r>
              <a:rPr lang="en-US" altLang="zh-CN" dirty="0" err="1"/>
              <a:t>imm.addr</a:t>
            </a:r>
            <a:r>
              <a:rPr lang="en-US" altLang="zh-CN" dirty="0"/>
              <a:t> = </a:t>
            </a:r>
            <a:r>
              <a:rPr lang="en-US" altLang="zh-CN" dirty="0" err="1"/>
              <a:t>eip</a:t>
            </a:r>
            <a:r>
              <a:rPr lang="en-US" altLang="zh-CN" dirty="0"/>
              <a:t> + </a:t>
            </a:r>
            <a:r>
              <a:rPr lang="en-US" altLang="zh-CN" dirty="0" err="1"/>
              <a:t>len</a:t>
            </a:r>
            <a:r>
              <a:rPr lang="en-US" altLang="zh-CN" dirty="0"/>
              <a:t>;          </a:t>
            </a:r>
            <a:r>
              <a:rPr lang="en-US" altLang="zh-CN" dirty="0">
                <a:solidFill>
                  <a:srgbClr val="00B050"/>
                </a:solidFill>
              </a:rPr>
              <a:t> // </a:t>
            </a:r>
            <a:r>
              <a:rPr lang="zh-CN" altLang="zh-CN" dirty="0">
                <a:solidFill>
                  <a:srgbClr val="00B050"/>
                </a:solidFill>
              </a:rPr>
              <a:t>找到立即数的地址</a:t>
            </a:r>
            <a:endParaRPr lang="zh-CN" altLang="zh-CN" dirty="0">
              <a:solidFill>
                <a:srgbClr val="00B050"/>
              </a:solidFill>
            </a:endParaRPr>
          </a:p>
          <a:p>
            <a:r>
              <a:rPr lang="en-US" altLang="zh-CN" dirty="0"/>
              <a:t>    </a:t>
            </a:r>
            <a:r>
              <a:rPr lang="en-US" altLang="zh-CN" dirty="0" err="1"/>
              <a:t>imm.data_size</a:t>
            </a:r>
            <a:r>
              <a:rPr lang="en-US" altLang="zh-CN" dirty="0"/>
              <a:t> = </a:t>
            </a:r>
            <a:r>
              <a:rPr lang="en-US" altLang="zh-CN" dirty="0" err="1"/>
              <a:t>data_size</a:t>
            </a:r>
            <a:r>
              <a:rPr lang="en-US" altLang="zh-CN" dirty="0"/>
              <a:t>;       </a:t>
            </a:r>
            <a:endParaRPr lang="zh-CN" altLang="zh-CN" dirty="0"/>
          </a:p>
          <a:p>
            <a:r>
              <a:rPr lang="en-US" altLang="zh-CN" dirty="0"/>
              <a:t> </a:t>
            </a:r>
            <a:endParaRPr lang="zh-CN" altLang="zh-CN" dirty="0"/>
          </a:p>
          <a:p>
            <a:r>
              <a:rPr lang="en-US" altLang="zh-CN" dirty="0"/>
              <a:t>    </a:t>
            </a:r>
            <a:r>
              <a:rPr lang="en-US" altLang="zh-CN" dirty="0" err="1"/>
              <a:t>operand_read</a:t>
            </a:r>
            <a:r>
              <a:rPr lang="en-US" altLang="zh-CN" dirty="0"/>
              <a:t>(&amp;</a:t>
            </a:r>
            <a:r>
              <a:rPr lang="en-US" altLang="zh-CN" dirty="0" err="1"/>
              <a:t>imm</a:t>
            </a:r>
            <a:r>
              <a:rPr lang="en-US" altLang="zh-CN" dirty="0"/>
              <a:t>);        </a:t>
            </a:r>
            <a:r>
              <a:rPr lang="en-US" altLang="zh-CN" dirty="0">
                <a:solidFill>
                  <a:srgbClr val="00B050"/>
                </a:solidFill>
              </a:rPr>
              <a:t> // </a:t>
            </a:r>
            <a:r>
              <a:rPr lang="zh-CN" altLang="zh-CN" dirty="0">
                <a:solidFill>
                  <a:srgbClr val="00B050"/>
                </a:solidFill>
              </a:rPr>
              <a:t>执行</a:t>
            </a:r>
            <a:r>
              <a:rPr lang="en-US" altLang="zh-CN" dirty="0">
                <a:solidFill>
                  <a:srgbClr val="00B050"/>
                </a:solidFill>
              </a:rPr>
              <a:t> </a:t>
            </a:r>
            <a:r>
              <a:rPr lang="en-US" altLang="zh-CN" dirty="0" err="1">
                <a:solidFill>
                  <a:srgbClr val="00B050"/>
                </a:solidFill>
              </a:rPr>
              <a:t>mov</a:t>
            </a:r>
            <a:r>
              <a:rPr lang="en-US" altLang="zh-CN" dirty="0">
                <a:solidFill>
                  <a:srgbClr val="00B050"/>
                </a:solidFill>
              </a:rPr>
              <a:t> </a:t>
            </a:r>
            <a:r>
              <a:rPr lang="zh-CN" altLang="zh-CN" dirty="0">
                <a:solidFill>
                  <a:srgbClr val="00B050"/>
                </a:solidFill>
              </a:rPr>
              <a:t>操作</a:t>
            </a:r>
            <a:endParaRPr lang="zh-CN" altLang="zh-CN" dirty="0">
              <a:solidFill>
                <a:srgbClr val="00B050"/>
              </a:solidFill>
            </a:endParaRPr>
          </a:p>
          <a:p>
            <a:r>
              <a:rPr lang="en-US" altLang="zh-CN" dirty="0"/>
              <a:t>    </a:t>
            </a:r>
            <a:r>
              <a:rPr lang="en-US" altLang="zh-CN" dirty="0" err="1"/>
              <a:t>rm.val</a:t>
            </a:r>
            <a:r>
              <a:rPr lang="en-US" altLang="zh-CN" dirty="0"/>
              <a:t> = </a:t>
            </a:r>
            <a:r>
              <a:rPr lang="en-US" altLang="zh-CN" dirty="0" err="1"/>
              <a:t>imm.val</a:t>
            </a:r>
            <a:r>
              <a:rPr lang="en-US" altLang="zh-CN" dirty="0"/>
              <a:t>;</a:t>
            </a:r>
            <a:endParaRPr lang="zh-CN" altLang="zh-CN" dirty="0"/>
          </a:p>
          <a:p>
            <a:r>
              <a:rPr lang="en-US" altLang="zh-CN" dirty="0"/>
              <a:t>    </a:t>
            </a:r>
            <a:r>
              <a:rPr lang="en-US" altLang="zh-CN" dirty="0" err="1"/>
              <a:t>operand_write</a:t>
            </a:r>
            <a:r>
              <a:rPr lang="en-US" altLang="zh-CN" dirty="0"/>
              <a:t>(&amp;</a:t>
            </a:r>
            <a:r>
              <a:rPr lang="en-US" altLang="zh-CN" dirty="0" err="1"/>
              <a:t>rm</a:t>
            </a:r>
            <a:r>
              <a:rPr lang="en-US" altLang="zh-CN" dirty="0"/>
              <a:t>);</a:t>
            </a:r>
            <a:endParaRPr lang="zh-CN" altLang="zh-CN" dirty="0"/>
          </a:p>
          <a:p>
            <a:r>
              <a:rPr lang="en-US" altLang="zh-CN" dirty="0"/>
              <a:t> </a:t>
            </a:r>
            <a:endParaRPr lang="zh-CN" altLang="zh-CN" dirty="0"/>
          </a:p>
          <a:p>
            <a:r>
              <a:rPr lang="en-US" altLang="zh-CN" dirty="0"/>
              <a:t>   </a:t>
            </a:r>
            <a:r>
              <a:rPr lang="en-US" altLang="zh-CN" dirty="0">
                <a:solidFill>
                  <a:srgbClr val="FF0000"/>
                </a:solidFill>
              </a:rPr>
              <a:t> return </a:t>
            </a:r>
            <a:r>
              <a:rPr lang="en-US" altLang="zh-CN" dirty="0" err="1">
                <a:solidFill>
                  <a:srgbClr val="FF0000"/>
                </a:solidFill>
              </a:rPr>
              <a:t>len</a:t>
            </a:r>
            <a:r>
              <a:rPr lang="en-US" altLang="zh-CN" dirty="0">
                <a:solidFill>
                  <a:srgbClr val="FF0000"/>
                </a:solidFill>
              </a:rPr>
              <a:t> + </a:t>
            </a:r>
            <a:r>
              <a:rPr lang="en-US" altLang="zh-CN" dirty="0" err="1">
                <a:solidFill>
                  <a:srgbClr val="FF0000"/>
                </a:solidFill>
              </a:rPr>
              <a:t>data_size</a:t>
            </a:r>
            <a:r>
              <a:rPr lang="en-US" altLang="zh-CN" dirty="0">
                <a:solidFill>
                  <a:srgbClr val="FF0000"/>
                </a:solidFill>
              </a:rPr>
              <a:t> / 8; </a:t>
            </a:r>
            <a:r>
              <a:rPr lang="en-US" altLang="zh-CN" dirty="0"/>
              <a:t>   </a:t>
            </a:r>
            <a:r>
              <a:rPr lang="en-US" altLang="zh-CN" dirty="0">
                <a:solidFill>
                  <a:srgbClr val="00B050"/>
                </a:solidFill>
              </a:rPr>
              <a:t>// opcode</a:t>
            </a:r>
            <a:r>
              <a:rPr lang="zh-CN" altLang="zh-CN" dirty="0">
                <a:solidFill>
                  <a:srgbClr val="00B050"/>
                </a:solidFill>
              </a:rPr>
              <a:t>长度</a:t>
            </a:r>
            <a:r>
              <a:rPr lang="en-US" altLang="zh-CN" dirty="0">
                <a:solidFill>
                  <a:srgbClr val="00B050"/>
                </a:solidFill>
              </a:rPr>
              <a:t> + </a:t>
            </a:r>
            <a:r>
              <a:rPr lang="en-US" altLang="zh-CN" dirty="0" err="1">
                <a:solidFill>
                  <a:srgbClr val="00B050"/>
                </a:solidFill>
              </a:rPr>
              <a:t>ModR</a:t>
            </a:r>
            <a:r>
              <a:rPr lang="en-US" altLang="zh-CN" dirty="0">
                <a:solidFill>
                  <a:srgbClr val="00B050"/>
                </a:solidFill>
              </a:rPr>
              <a:t>/M</a:t>
            </a:r>
            <a:r>
              <a:rPr lang="zh-CN" altLang="zh-CN" dirty="0">
                <a:solidFill>
                  <a:srgbClr val="00B050"/>
                </a:solidFill>
              </a:rPr>
              <a:t>字节扫描长度 </a:t>
            </a:r>
            <a:r>
              <a:rPr lang="en-US" altLang="zh-CN" dirty="0">
                <a:solidFill>
                  <a:srgbClr val="00B050"/>
                </a:solidFill>
              </a:rPr>
              <a:t>+ </a:t>
            </a:r>
            <a:r>
              <a:rPr lang="zh-CN" altLang="zh-CN" dirty="0">
                <a:solidFill>
                  <a:srgbClr val="00B050"/>
                </a:solidFill>
              </a:rPr>
              <a:t>立即数长度</a:t>
            </a:r>
            <a:endParaRPr lang="zh-CN" altLang="zh-CN" dirty="0">
              <a:solidFill>
                <a:srgbClr val="00B050"/>
              </a:solidFill>
            </a:endParaRPr>
          </a:p>
          <a:p>
            <a:r>
              <a:rPr lang="en-US" altLang="zh-CN" dirty="0"/>
              <a:t>}</a:t>
            </a:r>
            <a:endParaRPr lang="zh-CN" altLang="en-US" dirty="0"/>
          </a:p>
        </p:txBody>
      </p:sp>
      <p:sp>
        <p:nvSpPr>
          <p:cNvPr id="3" name="矩形 2"/>
          <p:cNvSpPr/>
          <p:nvPr/>
        </p:nvSpPr>
        <p:spPr>
          <a:xfrm>
            <a:off x="200891" y="4124447"/>
            <a:ext cx="1593273" cy="20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注意此处我们没有加入段寄存器的赋值，</a:t>
            </a:r>
            <a:r>
              <a:rPr lang="en-US" altLang="zh-CN" dirty="0"/>
              <a:t>PA 3-2</a:t>
            </a:r>
            <a:r>
              <a:rPr lang="zh-CN" altLang="en-US" dirty="0"/>
              <a:t>阶段再考虑</a:t>
            </a:r>
            <a:endParaRPr lang="zh-CN" altLang="en-US" dirty="0"/>
          </a:p>
        </p:txBody>
      </p:sp>
      <p:sp>
        <p:nvSpPr>
          <p:cNvPr id="9" name="文本框 8"/>
          <p:cNvSpPr txBox="1"/>
          <p:nvPr/>
        </p:nvSpPr>
        <p:spPr>
          <a:xfrm>
            <a:off x="7502236" y="1654999"/>
            <a:ext cx="3366655" cy="181588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342900" indent="-342900">
              <a:buAutoNum type="arabicPeriod"/>
            </a:pPr>
            <a:r>
              <a:rPr lang="zh-CN" altLang="en-US" sz="2800" dirty="0"/>
              <a:t>解码操作码</a:t>
            </a:r>
            <a:endParaRPr lang="en-US" altLang="zh-CN" sz="2800" dirty="0"/>
          </a:p>
          <a:p>
            <a:pPr marL="342900" indent="-342900">
              <a:buAutoNum type="arabicPeriod"/>
            </a:pPr>
            <a:r>
              <a:rPr lang="zh-CN" altLang="en-US" sz="2800" dirty="0"/>
              <a:t>解码操作数</a:t>
            </a:r>
            <a:endParaRPr lang="en-US" altLang="zh-CN" sz="2800" dirty="0"/>
          </a:p>
          <a:p>
            <a:pPr marL="342900" indent="-342900">
              <a:buAutoNum type="arabicPeriod"/>
            </a:pPr>
            <a:r>
              <a:rPr lang="zh-CN" altLang="en-US" sz="2800" dirty="0"/>
              <a:t>执行指令的操作</a:t>
            </a:r>
            <a:endParaRPr lang="en-US" altLang="zh-CN" sz="2800" dirty="0"/>
          </a:p>
          <a:p>
            <a:pPr marL="342900" indent="-342900">
              <a:buAutoNum type="arabicPeriod"/>
            </a:pPr>
            <a:r>
              <a:rPr lang="zh-CN" altLang="en-US" sz="2800" dirty="0"/>
              <a:t>返回指令长度</a:t>
            </a:r>
            <a:endParaRPr lang="zh-CN" altLang="en-US" sz="2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383325" y="109316"/>
            <a:ext cx="7752443" cy="646331"/>
          </a:xfrm>
          <a:prstGeom prst="rect">
            <a:avLst/>
          </a:prstGeom>
        </p:spPr>
        <p:txBody>
          <a:bodyPr wrap="none">
            <a:spAutoFit/>
          </a:bodyPr>
          <a:lstStyle/>
          <a:p>
            <a:pPr algn="ctr">
              <a:spcBef>
                <a:spcPts val="600"/>
              </a:spcBef>
            </a:pPr>
            <a:r>
              <a:rPr lang="zh-CN" altLang="en-US" sz="3600" kern="100" dirty="0">
                <a:latin typeface="等线" panose="02010600030101010101" charset="-122"/>
                <a:cs typeface="Times New Roman" panose="02020603050405020304" pitchFamily="18" charset="0"/>
              </a:rPr>
              <a:t>内存： </a:t>
            </a:r>
            <a:r>
              <a:rPr lang="en-US" altLang="zh-CN" sz="3600" kern="100" dirty="0">
                <a:latin typeface="等线" panose="02010600030101010101" charset="-122"/>
                <a:cs typeface="Times New Roman" panose="02020603050405020304" pitchFamily="18" charset="0"/>
              </a:rPr>
              <a:t>C7 05 48 11 10 00 02 00 00 00</a:t>
            </a:r>
            <a:endParaRPr lang="zh-CN" altLang="zh-CN" sz="3600" kern="100" dirty="0">
              <a:latin typeface="等线" panose="02010600030101010101" charset="-122"/>
              <a:cs typeface="Times New Roman" panose="02020603050405020304" pitchFamily="18" charset="0"/>
            </a:endParaRPr>
          </a:p>
        </p:txBody>
      </p:sp>
      <p:sp>
        <p:nvSpPr>
          <p:cNvPr id="8" name="矩形 7"/>
          <p:cNvSpPr/>
          <p:nvPr/>
        </p:nvSpPr>
        <p:spPr>
          <a:xfrm>
            <a:off x="7057515" y="1054896"/>
            <a:ext cx="3275256" cy="523220"/>
          </a:xfrm>
          <a:prstGeom prst="rect">
            <a:avLst/>
          </a:prstGeom>
        </p:spPr>
        <p:txBody>
          <a:bodyPr wrap="none">
            <a:spAutoFit/>
          </a:bodyPr>
          <a:lstStyle/>
          <a:p>
            <a:r>
              <a:rPr lang="en-US" altLang="zh-CN" sz="2800" i="1" dirty="0" err="1">
                <a:solidFill>
                  <a:srgbClr val="0070C0"/>
                </a:solidFill>
              </a:rPr>
              <a:t>nemu</a:t>
            </a:r>
            <a:r>
              <a:rPr lang="en-US" altLang="zh-CN" sz="2800" i="1" dirty="0">
                <a:solidFill>
                  <a:srgbClr val="0070C0"/>
                </a:solidFill>
              </a:rPr>
              <a:t>/</a:t>
            </a:r>
            <a:r>
              <a:rPr lang="en-US" altLang="zh-CN" sz="2800" i="1" dirty="0" err="1">
                <a:solidFill>
                  <a:srgbClr val="0070C0"/>
                </a:solidFill>
              </a:rPr>
              <a:t>src</a:t>
            </a:r>
            <a:r>
              <a:rPr lang="en-US" altLang="zh-CN" sz="2800" i="1" dirty="0">
                <a:solidFill>
                  <a:srgbClr val="0070C0"/>
                </a:solidFill>
              </a:rPr>
              <a:t>/</a:t>
            </a:r>
            <a:r>
              <a:rPr lang="en-US" altLang="zh-CN" sz="2800" i="1" dirty="0" err="1">
                <a:solidFill>
                  <a:srgbClr val="0070C0"/>
                </a:solidFill>
              </a:rPr>
              <a:t>cpu</a:t>
            </a:r>
            <a:r>
              <a:rPr lang="en-US" altLang="zh-CN" sz="2800" i="1" dirty="0">
                <a:solidFill>
                  <a:srgbClr val="0070C0"/>
                </a:solidFill>
              </a:rPr>
              <a:t>/</a:t>
            </a:r>
            <a:r>
              <a:rPr lang="en-US" altLang="zh-CN" sz="2800" i="1" dirty="0" err="1">
                <a:solidFill>
                  <a:srgbClr val="0070C0"/>
                </a:solidFill>
              </a:rPr>
              <a:t>cpu.c</a:t>
            </a:r>
            <a:endParaRPr lang="en-US" altLang="zh-CN" sz="2800" i="1" dirty="0">
              <a:solidFill>
                <a:srgbClr val="0070C0"/>
              </a:solidFill>
            </a:endParaRPr>
          </a:p>
        </p:txBody>
      </p:sp>
      <p:sp>
        <p:nvSpPr>
          <p:cNvPr id="9" name="文本框 8"/>
          <p:cNvSpPr txBox="1"/>
          <p:nvPr/>
        </p:nvSpPr>
        <p:spPr>
          <a:xfrm>
            <a:off x="4959928" y="1122959"/>
            <a:ext cx="5582885" cy="3970318"/>
          </a:xfrm>
          <a:prstGeom prst="rect">
            <a:avLst/>
          </a:prstGeom>
          <a:noFill/>
          <a:ln>
            <a:solidFill>
              <a:schemeClr val="tx1"/>
            </a:solidFill>
          </a:ln>
        </p:spPr>
        <p:txBody>
          <a:bodyPr wrap="square" rtlCol="0">
            <a:spAutoFit/>
          </a:bodyPr>
          <a:lstStyle/>
          <a:p>
            <a:r>
              <a:rPr lang="en-US" altLang="zh-CN" sz="1400" dirty="0"/>
              <a:t>void </a:t>
            </a:r>
            <a:r>
              <a:rPr lang="en-US" altLang="zh-CN" sz="1400" dirty="0">
                <a:solidFill>
                  <a:srgbClr val="FF0000"/>
                </a:solidFill>
              </a:rPr>
              <a:t>exec</a:t>
            </a:r>
            <a:r>
              <a:rPr lang="en-US" altLang="zh-CN" sz="1400" dirty="0"/>
              <a:t>(uint32_t n) {</a:t>
            </a:r>
            <a:endParaRPr lang="en-US" altLang="zh-CN" sz="1400" dirty="0"/>
          </a:p>
          <a:p>
            <a:r>
              <a:rPr lang="en-US" altLang="zh-CN" sz="1400"/>
              <a:t>	…</a:t>
            </a:r>
            <a:endParaRPr lang="en-US" altLang="zh-CN" sz="1400" dirty="0"/>
          </a:p>
          <a:p>
            <a:r>
              <a:rPr lang="en-US" altLang="zh-CN" sz="1400"/>
              <a:t>	while</a:t>
            </a:r>
            <a:r>
              <a:rPr lang="en-US" altLang="zh-CN" sz="1400" dirty="0"/>
              <a:t>( n &gt; 0 &amp;&amp; </a:t>
            </a:r>
            <a:r>
              <a:rPr lang="en-US" altLang="zh-CN" sz="1400" dirty="0" err="1"/>
              <a:t>nemu_state</a:t>
            </a:r>
            <a:r>
              <a:rPr lang="en-US" altLang="zh-CN" sz="1400" dirty="0"/>
              <a:t> == NEMU_RUN) {</a:t>
            </a:r>
            <a:endParaRPr lang="en-US" altLang="zh-CN" sz="1400" dirty="0"/>
          </a:p>
          <a:p>
            <a:r>
              <a:rPr lang="en-US" altLang="zh-CN" sz="1400"/>
              <a:t>		…</a:t>
            </a:r>
            <a:endParaRPr lang="en-US" altLang="zh-CN" sz="1400" dirty="0"/>
          </a:p>
          <a:p>
            <a:r>
              <a:rPr lang="en-US" altLang="zh-CN" sz="1400"/>
              <a:t>		instr_len </a:t>
            </a:r>
            <a:r>
              <a:rPr lang="en-US" altLang="zh-CN" sz="1400" dirty="0"/>
              <a:t>= </a:t>
            </a:r>
            <a:r>
              <a:rPr lang="en-US" altLang="zh-CN" sz="1400" dirty="0" err="1">
                <a:solidFill>
                  <a:srgbClr val="FF0000"/>
                </a:solidFill>
              </a:rPr>
              <a:t>exec_inst</a:t>
            </a:r>
            <a:r>
              <a:rPr lang="en-US" altLang="zh-CN" sz="1400" dirty="0"/>
              <a:t>();</a:t>
            </a:r>
            <a:endParaRPr lang="en-US" altLang="zh-CN" sz="1400" dirty="0"/>
          </a:p>
          <a:p>
            <a:r>
              <a:rPr lang="en-US" altLang="zh-CN" sz="1400"/>
              <a:t>		cpu.eip </a:t>
            </a:r>
            <a:r>
              <a:rPr lang="en-US" altLang="zh-CN" sz="1400" dirty="0"/>
              <a:t>+= </a:t>
            </a:r>
            <a:r>
              <a:rPr lang="en-US" altLang="zh-CN" sz="1400" dirty="0" err="1"/>
              <a:t>instr_len</a:t>
            </a:r>
            <a:r>
              <a:rPr lang="en-US" altLang="zh-CN" sz="1400" dirty="0"/>
              <a:t>;</a:t>
            </a:r>
            <a:endParaRPr lang="en-US" altLang="zh-CN" sz="1400" dirty="0"/>
          </a:p>
          <a:p>
            <a:r>
              <a:rPr lang="en-US" altLang="zh-CN" sz="1400"/>
              <a:t>		n-</a:t>
            </a:r>
            <a:r>
              <a:rPr lang="en-US" altLang="zh-CN" sz="1400" dirty="0"/>
              <a:t>-;</a:t>
            </a:r>
            <a:endParaRPr lang="en-US" altLang="zh-CN" sz="1400" dirty="0"/>
          </a:p>
          <a:p>
            <a:r>
              <a:rPr lang="en-US" altLang="zh-CN" sz="1400"/>
              <a:t>		…</a:t>
            </a:r>
            <a:endParaRPr lang="en-US" altLang="zh-CN" sz="1400" dirty="0"/>
          </a:p>
          <a:p>
            <a:r>
              <a:rPr lang="en-US" altLang="zh-CN" sz="1400"/>
              <a:t>	}</a:t>
            </a:r>
            <a:endParaRPr lang="en-US" altLang="zh-CN" sz="1400" dirty="0"/>
          </a:p>
          <a:p>
            <a:r>
              <a:rPr lang="en-US" altLang="zh-CN" sz="1400"/>
              <a:t>	…</a:t>
            </a:r>
            <a:endParaRPr lang="en-US" altLang="zh-CN" sz="1400" dirty="0"/>
          </a:p>
          <a:p>
            <a:r>
              <a:rPr lang="en-US" altLang="zh-CN" sz="1400" dirty="0"/>
              <a:t>}</a:t>
            </a:r>
            <a:endParaRPr lang="en-US" altLang="zh-CN" sz="1400" dirty="0"/>
          </a:p>
          <a:p>
            <a:endParaRPr lang="en-US" altLang="zh-CN" sz="1400" dirty="0"/>
          </a:p>
          <a:p>
            <a:r>
              <a:rPr lang="zh-CN" altLang="en-US" sz="1400" dirty="0"/>
              <a:t>int </a:t>
            </a:r>
            <a:r>
              <a:rPr lang="zh-CN" altLang="en-US" sz="1400" dirty="0">
                <a:solidFill>
                  <a:srgbClr val="FF0000"/>
                </a:solidFill>
              </a:rPr>
              <a:t>exec_inst</a:t>
            </a:r>
            <a:r>
              <a:rPr lang="zh-CN" altLang="en-US" sz="1400" dirty="0"/>
              <a:t>() {</a:t>
            </a:r>
            <a:endParaRPr lang="zh-CN" altLang="en-US" sz="1400" dirty="0"/>
          </a:p>
          <a:p>
            <a:r>
              <a:rPr lang="zh-CN" altLang="en-US" sz="1400"/>
              <a:t>	uint</a:t>
            </a:r>
            <a:r>
              <a:rPr lang="zh-CN" altLang="en-US" sz="1400" dirty="0"/>
              <a:t>8_t opcode = 0;</a:t>
            </a:r>
            <a:endParaRPr lang="zh-CN" altLang="en-US" sz="1400" dirty="0"/>
          </a:p>
          <a:p>
            <a:r>
              <a:rPr lang="zh-CN" altLang="en-US" sz="1400"/>
              <a:t>	opcode </a:t>
            </a:r>
            <a:r>
              <a:rPr lang="zh-CN" altLang="en-US" sz="1400" dirty="0"/>
              <a:t>= instr_fetch(cpu.eip, 1);</a:t>
            </a:r>
            <a:endParaRPr lang="zh-CN" altLang="en-US" sz="1400" dirty="0"/>
          </a:p>
          <a:p>
            <a:r>
              <a:rPr lang="zh-CN" altLang="en-US" sz="1400"/>
              <a:t>	int </a:t>
            </a:r>
            <a:r>
              <a:rPr lang="zh-CN" altLang="en-US" sz="1400" dirty="0"/>
              <a:t>len = </a:t>
            </a:r>
            <a:r>
              <a:rPr lang="zh-CN" altLang="en-US" sz="1400" dirty="0">
                <a:solidFill>
                  <a:srgbClr val="FF0000"/>
                </a:solidFill>
              </a:rPr>
              <a:t>opcode_entry</a:t>
            </a:r>
            <a:r>
              <a:rPr lang="zh-CN" altLang="en-US" sz="1400" dirty="0"/>
              <a:t>[opcode](cpu.eip, opcode);</a:t>
            </a:r>
            <a:endParaRPr lang="zh-CN" altLang="en-US" sz="1400" dirty="0"/>
          </a:p>
          <a:p>
            <a:r>
              <a:rPr lang="zh-CN" altLang="en-US" sz="1400"/>
              <a:t>	return </a:t>
            </a:r>
            <a:r>
              <a:rPr lang="zh-CN" altLang="en-US" sz="1400" dirty="0"/>
              <a:t>len;  </a:t>
            </a:r>
            <a:r>
              <a:rPr lang="en-US" altLang="zh-CN" sz="1400" dirty="0">
                <a:solidFill>
                  <a:srgbClr val="00B050"/>
                </a:solidFill>
              </a:rPr>
              <a:t>// </a:t>
            </a:r>
            <a:r>
              <a:rPr lang="zh-CN" altLang="en-US" sz="1400" dirty="0">
                <a:solidFill>
                  <a:srgbClr val="00B050"/>
                </a:solidFill>
              </a:rPr>
              <a:t>返回指令长度</a:t>
            </a:r>
            <a:endParaRPr lang="zh-CN" altLang="en-US" sz="1400" dirty="0">
              <a:solidFill>
                <a:srgbClr val="00B050"/>
              </a:solidFill>
            </a:endParaRPr>
          </a:p>
          <a:p>
            <a:r>
              <a:rPr lang="zh-CN" altLang="en-US" sz="1400" dirty="0"/>
              <a:t>}</a:t>
            </a:r>
            <a:endParaRPr lang="zh-CN" altLang="en-US" sz="1400" dirty="0"/>
          </a:p>
        </p:txBody>
      </p:sp>
      <p:cxnSp>
        <p:nvCxnSpPr>
          <p:cNvPr id="11" name="直接箭头连接符 10"/>
          <p:cNvCxnSpPr/>
          <p:nvPr/>
        </p:nvCxnSpPr>
        <p:spPr>
          <a:xfrm>
            <a:off x="4489345" y="755646"/>
            <a:ext cx="3262025" cy="342897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7120082" y="3151030"/>
            <a:ext cx="1864613" cy="369332"/>
          </a:xfrm>
          <a:prstGeom prst="rect">
            <a:avLst/>
          </a:prstGeom>
          <a:noFill/>
        </p:spPr>
        <p:txBody>
          <a:bodyPr wrap="none" rtlCol="0">
            <a:spAutoFit/>
          </a:bodyPr>
          <a:lstStyle/>
          <a:p>
            <a:r>
              <a:rPr lang="en-US" altLang="zh-CN" dirty="0">
                <a:solidFill>
                  <a:srgbClr val="FF0000"/>
                </a:solidFill>
              </a:rPr>
              <a:t>1. </a:t>
            </a:r>
            <a:r>
              <a:rPr lang="en-US" altLang="zh-CN" dirty="0" err="1">
                <a:solidFill>
                  <a:srgbClr val="FF0000"/>
                </a:solidFill>
              </a:rPr>
              <a:t>cpu.eip</a:t>
            </a:r>
            <a:r>
              <a:rPr lang="zh-CN" altLang="en-US" dirty="0">
                <a:solidFill>
                  <a:srgbClr val="FF0000"/>
                </a:solidFill>
              </a:rPr>
              <a:t>指向</a:t>
            </a:r>
            <a:r>
              <a:rPr lang="en-US" altLang="zh-CN" dirty="0">
                <a:solidFill>
                  <a:srgbClr val="FF0000"/>
                </a:solidFill>
              </a:rPr>
              <a:t>C7</a:t>
            </a:r>
            <a:endParaRPr lang="zh-CN" altLang="en-US" dirty="0">
              <a:solidFill>
                <a:srgbClr val="FF0000"/>
              </a:solidFill>
            </a:endParaRPr>
          </a:p>
        </p:txBody>
      </p:sp>
      <p:sp>
        <p:nvSpPr>
          <p:cNvPr id="14" name="文本框 13"/>
          <p:cNvSpPr txBox="1"/>
          <p:nvPr/>
        </p:nvSpPr>
        <p:spPr>
          <a:xfrm>
            <a:off x="8355244" y="4122153"/>
            <a:ext cx="2173993" cy="369332"/>
          </a:xfrm>
          <a:prstGeom prst="rect">
            <a:avLst/>
          </a:prstGeom>
          <a:noFill/>
        </p:spPr>
        <p:txBody>
          <a:bodyPr wrap="none" rtlCol="0">
            <a:spAutoFit/>
          </a:bodyPr>
          <a:lstStyle/>
          <a:p>
            <a:r>
              <a:rPr lang="en-US" altLang="zh-CN" dirty="0">
                <a:solidFill>
                  <a:srgbClr val="FF0000"/>
                </a:solidFill>
              </a:rPr>
              <a:t>2. Opcode</a:t>
            </a:r>
            <a:r>
              <a:rPr lang="zh-CN" altLang="en-US" dirty="0">
                <a:solidFill>
                  <a:srgbClr val="FF0000"/>
                </a:solidFill>
              </a:rPr>
              <a:t>取出为</a:t>
            </a:r>
            <a:r>
              <a:rPr lang="en-US" altLang="zh-CN" dirty="0">
                <a:solidFill>
                  <a:srgbClr val="FF0000"/>
                </a:solidFill>
              </a:rPr>
              <a:t>C7</a:t>
            </a:r>
            <a:endParaRPr lang="zh-CN" altLang="en-US" dirty="0">
              <a:solidFill>
                <a:srgbClr val="FF0000"/>
              </a:solidFill>
            </a:endParaRPr>
          </a:p>
        </p:txBody>
      </p:sp>
      <p:sp>
        <p:nvSpPr>
          <p:cNvPr id="15" name="矩形 14"/>
          <p:cNvSpPr/>
          <p:nvPr/>
        </p:nvSpPr>
        <p:spPr>
          <a:xfrm>
            <a:off x="5500736" y="6296859"/>
            <a:ext cx="3389069" cy="369332"/>
          </a:xfrm>
          <a:prstGeom prst="rect">
            <a:avLst/>
          </a:prstGeom>
        </p:spPr>
        <p:txBody>
          <a:bodyPr wrap="none">
            <a:spAutoFit/>
          </a:bodyPr>
          <a:lstStyle/>
          <a:p>
            <a:r>
              <a:rPr lang="en-US" altLang="zh-CN" i="1" dirty="0" err="1">
                <a:solidFill>
                  <a:srgbClr val="0070C0"/>
                </a:solidFill>
              </a:rPr>
              <a:t>nemu</a:t>
            </a:r>
            <a:r>
              <a:rPr lang="en-US" altLang="zh-CN" i="1" dirty="0">
                <a:solidFill>
                  <a:srgbClr val="0070C0"/>
                </a:solidFill>
              </a:rPr>
              <a:t>/</a:t>
            </a:r>
            <a:r>
              <a:rPr lang="en-US" altLang="zh-CN" i="1" dirty="0" err="1">
                <a:solidFill>
                  <a:srgbClr val="0070C0"/>
                </a:solidFill>
              </a:rPr>
              <a:t>src</a:t>
            </a:r>
            <a:r>
              <a:rPr lang="en-US" altLang="zh-CN" i="1" dirty="0">
                <a:solidFill>
                  <a:srgbClr val="0070C0"/>
                </a:solidFill>
              </a:rPr>
              <a:t>/</a:t>
            </a:r>
            <a:r>
              <a:rPr lang="en-US" altLang="zh-CN" i="1" dirty="0" err="1">
                <a:solidFill>
                  <a:srgbClr val="0070C0"/>
                </a:solidFill>
              </a:rPr>
              <a:t>cpu</a:t>
            </a:r>
            <a:r>
              <a:rPr lang="en-US" altLang="zh-CN" i="1" dirty="0">
                <a:solidFill>
                  <a:srgbClr val="0070C0"/>
                </a:solidFill>
              </a:rPr>
              <a:t>/decode/</a:t>
            </a:r>
            <a:r>
              <a:rPr lang="en-US" altLang="zh-CN" i="1" dirty="0" err="1">
                <a:solidFill>
                  <a:srgbClr val="0070C0"/>
                </a:solidFill>
              </a:rPr>
              <a:t>opcode.c</a:t>
            </a:r>
            <a:endParaRPr lang="en-US" altLang="zh-CN" i="1" dirty="0">
              <a:solidFill>
                <a:srgbClr val="0070C0"/>
              </a:solidFill>
            </a:endParaRPr>
          </a:p>
        </p:txBody>
      </p:sp>
      <p:sp>
        <p:nvSpPr>
          <p:cNvPr id="16" name="矩形 15"/>
          <p:cNvSpPr/>
          <p:nvPr/>
        </p:nvSpPr>
        <p:spPr>
          <a:xfrm>
            <a:off x="4959927" y="5281197"/>
            <a:ext cx="4682692" cy="1384995"/>
          </a:xfrm>
          <a:prstGeom prst="rect">
            <a:avLst/>
          </a:prstGeom>
          <a:ln>
            <a:solidFill>
              <a:schemeClr val="tx1"/>
            </a:solidFill>
          </a:ln>
        </p:spPr>
        <p:txBody>
          <a:bodyPr wrap="none">
            <a:spAutoFit/>
          </a:bodyPr>
          <a:lstStyle/>
          <a:p>
            <a:r>
              <a:rPr lang="en-US" altLang="zh-CN" sz="1400" dirty="0"/>
              <a:t>#include "</a:t>
            </a:r>
            <a:r>
              <a:rPr lang="en-US" altLang="zh-CN" sz="1400" dirty="0" err="1"/>
              <a:t>cpu</a:t>
            </a:r>
            <a:r>
              <a:rPr lang="en-US" altLang="zh-CN" sz="1400" dirty="0"/>
              <a:t>/</a:t>
            </a:r>
            <a:r>
              <a:rPr lang="en-US" altLang="zh-CN" sz="1400" dirty="0" err="1"/>
              <a:t>instr.h</a:t>
            </a:r>
            <a:r>
              <a:rPr lang="en-US" altLang="zh-CN" sz="1400" dirty="0"/>
              <a:t>"</a:t>
            </a:r>
            <a:endParaRPr lang="en-US" altLang="zh-CN" sz="1400" dirty="0"/>
          </a:p>
          <a:p>
            <a:r>
              <a:rPr lang="zh-CN" altLang="en-US" sz="1400" dirty="0"/>
              <a:t>instr_func opcode_entry[256] = {</a:t>
            </a:r>
            <a:endParaRPr lang="en-US" altLang="zh-CN" sz="1400" dirty="0"/>
          </a:p>
          <a:p>
            <a:r>
              <a:rPr lang="zh-CN" altLang="en-US" sz="1400"/>
              <a:t> </a:t>
            </a:r>
            <a:r>
              <a:rPr lang="en-US" altLang="zh-CN" sz="1400"/>
              <a:t>	…</a:t>
            </a:r>
            <a:endParaRPr lang="en-US" altLang="zh-CN" sz="1400" dirty="0"/>
          </a:p>
          <a:p>
            <a:r>
              <a:rPr lang="en-US" altLang="zh-CN" sz="1400" dirty="0"/>
              <a:t>/* 0xc4 - </a:t>
            </a:r>
            <a:r>
              <a:rPr lang="en-US" altLang="zh-CN" sz="1400">
                <a:solidFill>
                  <a:srgbClr val="FF0000"/>
                </a:solidFill>
              </a:rPr>
              <a:t>0xc7</a:t>
            </a:r>
            <a:r>
              <a:rPr lang="en-US" altLang="zh-CN" sz="1400"/>
              <a:t>*/	inv</a:t>
            </a:r>
            <a:r>
              <a:rPr lang="en-US" altLang="zh-CN" sz="1400" dirty="0"/>
              <a:t>, </a:t>
            </a:r>
            <a:r>
              <a:rPr lang="en-US" altLang="zh-CN" sz="1400" dirty="0" err="1"/>
              <a:t>inv</a:t>
            </a:r>
            <a:r>
              <a:rPr lang="en-US" altLang="zh-CN" sz="1400" dirty="0"/>
              <a:t>, mov_i2rm_b,</a:t>
            </a:r>
            <a:r>
              <a:rPr lang="en-US" altLang="zh-CN" sz="1400" dirty="0">
                <a:solidFill>
                  <a:srgbClr val="FF0000"/>
                </a:solidFill>
              </a:rPr>
              <a:t> mov_i2rm_v</a:t>
            </a:r>
            <a:r>
              <a:rPr lang="en-US" altLang="zh-CN" sz="1400" dirty="0"/>
              <a:t>, </a:t>
            </a:r>
            <a:endParaRPr lang="en-US" altLang="zh-CN" sz="1400" dirty="0"/>
          </a:p>
          <a:p>
            <a:r>
              <a:rPr lang="en-US" altLang="zh-CN" sz="1400"/>
              <a:t>	…</a:t>
            </a:r>
            <a:endParaRPr lang="en-US" altLang="zh-CN" sz="1400" dirty="0"/>
          </a:p>
          <a:p>
            <a:r>
              <a:rPr lang="en-US" altLang="zh-CN" sz="1400" dirty="0"/>
              <a:t>}</a:t>
            </a:r>
            <a:endParaRPr lang="zh-CN" altLang="en-US" sz="1400" dirty="0"/>
          </a:p>
        </p:txBody>
      </p:sp>
      <p:cxnSp>
        <p:nvCxnSpPr>
          <p:cNvPr id="18" name="直接箭头连接符 17"/>
          <p:cNvCxnSpPr/>
          <p:nvPr/>
        </p:nvCxnSpPr>
        <p:spPr>
          <a:xfrm>
            <a:off x="8211127" y="4568673"/>
            <a:ext cx="258618" cy="140502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7618279" y="5325736"/>
            <a:ext cx="2489784" cy="369332"/>
          </a:xfrm>
          <a:prstGeom prst="rect">
            <a:avLst/>
          </a:prstGeom>
          <a:noFill/>
        </p:spPr>
        <p:txBody>
          <a:bodyPr wrap="none" rtlCol="0">
            <a:spAutoFit/>
          </a:bodyPr>
          <a:lstStyle/>
          <a:p>
            <a:r>
              <a:rPr lang="en-US" altLang="zh-CN" dirty="0">
                <a:solidFill>
                  <a:srgbClr val="FF0000"/>
                </a:solidFill>
              </a:rPr>
              <a:t>3. </a:t>
            </a:r>
            <a:r>
              <a:rPr lang="zh-CN" altLang="en-US" dirty="0">
                <a:solidFill>
                  <a:srgbClr val="FF0000"/>
                </a:solidFill>
              </a:rPr>
              <a:t>访问数组即函数调用</a:t>
            </a:r>
            <a:endParaRPr lang="zh-CN" altLang="en-US" dirty="0">
              <a:solidFill>
                <a:srgbClr val="FF0000"/>
              </a:solidFill>
            </a:endParaRPr>
          </a:p>
        </p:txBody>
      </p:sp>
      <p:sp>
        <p:nvSpPr>
          <p:cNvPr id="23" name="文本框 22"/>
          <p:cNvSpPr txBox="1"/>
          <p:nvPr/>
        </p:nvSpPr>
        <p:spPr>
          <a:xfrm>
            <a:off x="1634377" y="3108118"/>
            <a:ext cx="3012904" cy="353943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zh-CN" sz="1400" dirty="0" err="1"/>
              <a:t>make_instr_func</a:t>
            </a:r>
            <a:r>
              <a:rPr lang="en-US" altLang="zh-CN" sz="1400" dirty="0"/>
              <a:t>(</a:t>
            </a:r>
            <a:r>
              <a:rPr lang="en-US" altLang="zh-CN" sz="1400" dirty="0">
                <a:solidFill>
                  <a:srgbClr val="7030A0"/>
                </a:solidFill>
              </a:rPr>
              <a:t>mov_i2rm_v</a:t>
            </a:r>
            <a:r>
              <a:rPr lang="en-US" altLang="zh-CN" sz="1400" dirty="0"/>
              <a:t>) { </a:t>
            </a:r>
            <a:endParaRPr lang="zh-CN" altLang="zh-CN" sz="1400" dirty="0"/>
          </a:p>
          <a:p>
            <a:r>
              <a:rPr lang="en-US" altLang="zh-CN" sz="1400" dirty="0"/>
              <a:t>    OPERAND </a:t>
            </a:r>
            <a:r>
              <a:rPr lang="en-US" altLang="zh-CN" sz="1400" dirty="0" err="1"/>
              <a:t>rm</a:t>
            </a:r>
            <a:r>
              <a:rPr lang="en-US" altLang="zh-CN" sz="1400" dirty="0"/>
              <a:t>, </a:t>
            </a:r>
            <a:r>
              <a:rPr lang="en-US" altLang="zh-CN" sz="1400" dirty="0" err="1"/>
              <a:t>imm</a:t>
            </a:r>
            <a:r>
              <a:rPr lang="en-US" altLang="zh-CN" sz="1400" dirty="0"/>
              <a:t>; </a:t>
            </a:r>
            <a:endParaRPr lang="zh-CN" altLang="zh-CN" sz="1400" dirty="0"/>
          </a:p>
          <a:p>
            <a:r>
              <a:rPr lang="en-US" altLang="zh-CN" sz="1400" dirty="0"/>
              <a:t>    </a:t>
            </a:r>
            <a:r>
              <a:rPr lang="en-US" altLang="zh-CN" sz="1400" dirty="0" err="1"/>
              <a:t>rm.data_size</a:t>
            </a:r>
            <a:r>
              <a:rPr lang="en-US" altLang="zh-CN" sz="1400" dirty="0"/>
              <a:t> = </a:t>
            </a:r>
            <a:r>
              <a:rPr lang="en-US" altLang="zh-CN" sz="1400" dirty="0" err="1"/>
              <a:t>data_size</a:t>
            </a:r>
            <a:r>
              <a:rPr lang="en-US" altLang="zh-CN" sz="1400" dirty="0"/>
              <a:t>; </a:t>
            </a:r>
            <a:endParaRPr lang="zh-CN" altLang="zh-CN" sz="1400" dirty="0">
              <a:solidFill>
                <a:srgbClr val="FF0000"/>
              </a:solidFill>
            </a:endParaRPr>
          </a:p>
          <a:p>
            <a:r>
              <a:rPr lang="en-US" altLang="zh-CN" sz="1400" dirty="0"/>
              <a:t>    </a:t>
            </a:r>
            <a:r>
              <a:rPr lang="en-US" altLang="zh-CN" sz="1400" dirty="0" err="1"/>
              <a:t>int</a:t>
            </a:r>
            <a:r>
              <a:rPr lang="en-US" altLang="zh-CN" sz="1400" dirty="0"/>
              <a:t> </a:t>
            </a:r>
            <a:r>
              <a:rPr lang="en-US" altLang="zh-CN" sz="1400" dirty="0" err="1"/>
              <a:t>len</a:t>
            </a:r>
            <a:r>
              <a:rPr lang="en-US" altLang="zh-CN" sz="1400" dirty="0"/>
              <a:t> = 1;                        </a:t>
            </a:r>
            <a:endParaRPr lang="zh-CN" altLang="zh-CN" sz="1400" dirty="0">
              <a:solidFill>
                <a:srgbClr val="00B050"/>
              </a:solidFill>
            </a:endParaRPr>
          </a:p>
          <a:p>
            <a:r>
              <a:rPr lang="en-US" altLang="zh-CN" sz="1400" dirty="0"/>
              <a:t>    </a:t>
            </a:r>
            <a:r>
              <a:rPr lang="en-US" altLang="zh-CN" sz="1400" dirty="0" err="1"/>
              <a:t>len</a:t>
            </a:r>
            <a:r>
              <a:rPr lang="en-US" altLang="zh-CN" sz="1400" dirty="0"/>
              <a:t> += </a:t>
            </a:r>
            <a:r>
              <a:rPr lang="en-US" altLang="zh-CN" sz="1400" dirty="0" err="1"/>
              <a:t>modrm_rm</a:t>
            </a:r>
            <a:r>
              <a:rPr lang="en-US" altLang="zh-CN" sz="1400" dirty="0"/>
              <a:t>(</a:t>
            </a:r>
            <a:r>
              <a:rPr lang="en-US" altLang="zh-CN" sz="1400" dirty="0" err="1"/>
              <a:t>eip</a:t>
            </a:r>
            <a:r>
              <a:rPr lang="en-US" altLang="zh-CN" sz="1400" dirty="0"/>
              <a:t> + 1, &amp;</a:t>
            </a:r>
            <a:r>
              <a:rPr lang="en-US" altLang="zh-CN" sz="1400" dirty="0" err="1"/>
              <a:t>rm</a:t>
            </a:r>
            <a:r>
              <a:rPr lang="en-US" altLang="zh-CN" sz="1400" dirty="0"/>
              <a:t>);</a:t>
            </a:r>
            <a:r>
              <a:rPr lang="en-US" altLang="zh-CN" sz="1400" dirty="0">
                <a:solidFill>
                  <a:srgbClr val="FF0000"/>
                </a:solidFill>
              </a:rPr>
              <a:t> </a:t>
            </a:r>
            <a:endParaRPr lang="zh-CN" altLang="zh-CN" sz="1400" dirty="0">
              <a:solidFill>
                <a:srgbClr val="00B050"/>
              </a:solidFill>
            </a:endParaRPr>
          </a:p>
          <a:p>
            <a:r>
              <a:rPr lang="en-US" altLang="zh-CN" sz="1400" dirty="0"/>
              <a:t> </a:t>
            </a:r>
            <a:endParaRPr lang="zh-CN" altLang="zh-CN" sz="1400" dirty="0"/>
          </a:p>
          <a:p>
            <a:r>
              <a:rPr lang="en-US" altLang="zh-CN" sz="1400" dirty="0"/>
              <a:t>    </a:t>
            </a:r>
            <a:r>
              <a:rPr lang="en-US" altLang="zh-CN" sz="1400" dirty="0" err="1"/>
              <a:t>imm.type</a:t>
            </a:r>
            <a:r>
              <a:rPr lang="en-US" altLang="zh-CN" sz="1400" dirty="0"/>
              <a:t> = OPR_IMM;  </a:t>
            </a:r>
            <a:endParaRPr lang="zh-CN" altLang="zh-CN" sz="1400" dirty="0">
              <a:solidFill>
                <a:srgbClr val="00B050"/>
              </a:solidFill>
            </a:endParaRPr>
          </a:p>
          <a:p>
            <a:r>
              <a:rPr lang="en-US" altLang="zh-CN" sz="1400" dirty="0"/>
              <a:t>    </a:t>
            </a:r>
            <a:r>
              <a:rPr lang="en-US" altLang="zh-CN" sz="1400" dirty="0" err="1"/>
              <a:t>imm.addr</a:t>
            </a:r>
            <a:r>
              <a:rPr lang="en-US" altLang="zh-CN" sz="1400" dirty="0"/>
              <a:t> = </a:t>
            </a:r>
            <a:r>
              <a:rPr lang="en-US" altLang="zh-CN" sz="1400" dirty="0" err="1"/>
              <a:t>eip</a:t>
            </a:r>
            <a:r>
              <a:rPr lang="en-US" altLang="zh-CN" sz="1400" dirty="0"/>
              <a:t> + </a:t>
            </a:r>
            <a:r>
              <a:rPr lang="en-US" altLang="zh-CN" sz="1400" dirty="0" err="1"/>
              <a:t>len</a:t>
            </a:r>
            <a:r>
              <a:rPr lang="en-US" altLang="zh-CN" sz="1400" dirty="0"/>
              <a:t>; </a:t>
            </a:r>
            <a:endParaRPr lang="en-US" altLang="zh-CN" sz="1400" dirty="0"/>
          </a:p>
          <a:p>
            <a:r>
              <a:rPr lang="en-US" altLang="zh-CN" sz="1400" dirty="0"/>
              <a:t>    </a:t>
            </a:r>
            <a:r>
              <a:rPr lang="en-US" altLang="zh-CN" sz="1400" dirty="0" err="1"/>
              <a:t>imm.data_size</a:t>
            </a:r>
            <a:r>
              <a:rPr lang="en-US" altLang="zh-CN" sz="1400" dirty="0"/>
              <a:t> = </a:t>
            </a:r>
            <a:r>
              <a:rPr lang="en-US" altLang="zh-CN" sz="1400" dirty="0" err="1"/>
              <a:t>data_size</a:t>
            </a:r>
            <a:r>
              <a:rPr lang="en-US" altLang="zh-CN" sz="1400" dirty="0"/>
              <a:t>;       </a:t>
            </a:r>
            <a:endParaRPr lang="zh-CN" altLang="zh-CN" sz="1400" dirty="0"/>
          </a:p>
          <a:p>
            <a:r>
              <a:rPr lang="en-US" altLang="zh-CN" sz="1400" dirty="0"/>
              <a:t> </a:t>
            </a:r>
            <a:endParaRPr lang="zh-CN" altLang="zh-CN" sz="1400" dirty="0"/>
          </a:p>
          <a:p>
            <a:r>
              <a:rPr lang="en-US" altLang="zh-CN" sz="1400" dirty="0"/>
              <a:t>    </a:t>
            </a:r>
            <a:r>
              <a:rPr lang="en-US" altLang="zh-CN" sz="1400" dirty="0" err="1"/>
              <a:t>operand_read</a:t>
            </a:r>
            <a:r>
              <a:rPr lang="en-US" altLang="zh-CN" sz="1400" dirty="0"/>
              <a:t>(&amp;</a:t>
            </a:r>
            <a:r>
              <a:rPr lang="en-US" altLang="zh-CN" sz="1400" dirty="0" err="1"/>
              <a:t>imm</a:t>
            </a:r>
            <a:r>
              <a:rPr lang="en-US" altLang="zh-CN" sz="1400" dirty="0"/>
              <a:t>);  </a:t>
            </a:r>
            <a:endParaRPr lang="zh-CN" altLang="zh-CN" sz="1400" dirty="0">
              <a:solidFill>
                <a:srgbClr val="00B050"/>
              </a:solidFill>
            </a:endParaRPr>
          </a:p>
          <a:p>
            <a:r>
              <a:rPr lang="en-US" altLang="zh-CN" sz="1400" dirty="0"/>
              <a:t>    </a:t>
            </a:r>
            <a:r>
              <a:rPr lang="en-US" altLang="zh-CN" sz="1400" dirty="0" err="1"/>
              <a:t>rm.val</a:t>
            </a:r>
            <a:r>
              <a:rPr lang="en-US" altLang="zh-CN" sz="1400" dirty="0"/>
              <a:t> = </a:t>
            </a:r>
            <a:r>
              <a:rPr lang="en-US" altLang="zh-CN" sz="1400" dirty="0" err="1"/>
              <a:t>imm.val</a:t>
            </a:r>
            <a:r>
              <a:rPr lang="en-US" altLang="zh-CN" sz="1400" dirty="0"/>
              <a:t>;</a:t>
            </a:r>
            <a:endParaRPr lang="zh-CN" altLang="zh-CN" sz="1400" dirty="0"/>
          </a:p>
          <a:p>
            <a:r>
              <a:rPr lang="en-US" altLang="zh-CN" sz="1400" dirty="0"/>
              <a:t>    </a:t>
            </a:r>
            <a:r>
              <a:rPr lang="en-US" altLang="zh-CN" sz="1400" dirty="0" err="1"/>
              <a:t>operand_write</a:t>
            </a:r>
            <a:r>
              <a:rPr lang="en-US" altLang="zh-CN" sz="1400" dirty="0"/>
              <a:t>(&amp;</a:t>
            </a:r>
            <a:r>
              <a:rPr lang="en-US" altLang="zh-CN" sz="1400" dirty="0" err="1"/>
              <a:t>rm</a:t>
            </a:r>
            <a:r>
              <a:rPr lang="en-US" altLang="zh-CN" sz="1400" dirty="0"/>
              <a:t>);</a:t>
            </a:r>
            <a:endParaRPr lang="zh-CN" altLang="zh-CN" sz="1400" dirty="0"/>
          </a:p>
          <a:p>
            <a:r>
              <a:rPr lang="en-US" altLang="zh-CN" sz="1400" dirty="0"/>
              <a:t> </a:t>
            </a:r>
            <a:endParaRPr lang="zh-CN" altLang="zh-CN" sz="1400" dirty="0"/>
          </a:p>
          <a:p>
            <a:r>
              <a:rPr lang="en-US" altLang="zh-CN" sz="1400" dirty="0"/>
              <a:t>   </a:t>
            </a:r>
            <a:r>
              <a:rPr lang="en-US" altLang="zh-CN" sz="1400" dirty="0">
                <a:solidFill>
                  <a:srgbClr val="FF0000"/>
                </a:solidFill>
              </a:rPr>
              <a:t> return </a:t>
            </a:r>
            <a:r>
              <a:rPr lang="en-US" altLang="zh-CN" sz="1400" dirty="0" err="1">
                <a:solidFill>
                  <a:srgbClr val="FF0000"/>
                </a:solidFill>
              </a:rPr>
              <a:t>len</a:t>
            </a:r>
            <a:r>
              <a:rPr lang="en-US" altLang="zh-CN" sz="1400" dirty="0">
                <a:solidFill>
                  <a:srgbClr val="FF0000"/>
                </a:solidFill>
              </a:rPr>
              <a:t> + </a:t>
            </a:r>
            <a:r>
              <a:rPr lang="en-US" altLang="zh-CN" sz="1400" dirty="0" err="1">
                <a:solidFill>
                  <a:srgbClr val="FF0000"/>
                </a:solidFill>
              </a:rPr>
              <a:t>data_size</a:t>
            </a:r>
            <a:r>
              <a:rPr lang="en-US" altLang="zh-CN" sz="1400" dirty="0">
                <a:solidFill>
                  <a:srgbClr val="FF0000"/>
                </a:solidFill>
              </a:rPr>
              <a:t> / 8;</a:t>
            </a:r>
            <a:endParaRPr lang="zh-CN" altLang="zh-CN" sz="1400" dirty="0">
              <a:solidFill>
                <a:srgbClr val="00B050"/>
              </a:solidFill>
            </a:endParaRPr>
          </a:p>
          <a:p>
            <a:r>
              <a:rPr lang="en-US" altLang="zh-CN" sz="1400" dirty="0"/>
              <a:t>}</a:t>
            </a:r>
            <a:endParaRPr lang="zh-CN" altLang="en-US" sz="1400" dirty="0"/>
          </a:p>
        </p:txBody>
      </p:sp>
      <p:sp>
        <p:nvSpPr>
          <p:cNvPr id="24" name="文本框 23"/>
          <p:cNvSpPr txBox="1"/>
          <p:nvPr/>
        </p:nvSpPr>
        <p:spPr>
          <a:xfrm>
            <a:off x="1870296" y="2655756"/>
            <a:ext cx="2752677" cy="369332"/>
          </a:xfrm>
          <a:prstGeom prst="rect">
            <a:avLst/>
          </a:prstGeom>
          <a:noFill/>
        </p:spPr>
        <p:txBody>
          <a:bodyPr wrap="none" rtlCol="0">
            <a:spAutoFit/>
          </a:bodyPr>
          <a:lstStyle/>
          <a:p>
            <a:r>
              <a:rPr lang="en-US" altLang="zh-CN" dirty="0" err="1">
                <a:solidFill>
                  <a:srgbClr val="0070C0"/>
                </a:solidFill>
              </a:rPr>
              <a:t>nemu</a:t>
            </a:r>
            <a:r>
              <a:rPr lang="en-US" altLang="zh-CN" dirty="0">
                <a:solidFill>
                  <a:srgbClr val="0070C0"/>
                </a:solidFill>
              </a:rPr>
              <a:t>/</a:t>
            </a:r>
            <a:r>
              <a:rPr lang="en-US" altLang="zh-CN" dirty="0" err="1">
                <a:solidFill>
                  <a:srgbClr val="0070C0"/>
                </a:solidFill>
              </a:rPr>
              <a:t>src</a:t>
            </a:r>
            <a:r>
              <a:rPr lang="en-US" altLang="zh-CN" dirty="0">
                <a:solidFill>
                  <a:srgbClr val="0070C0"/>
                </a:solidFill>
              </a:rPr>
              <a:t>/</a:t>
            </a:r>
            <a:r>
              <a:rPr lang="en-US" altLang="zh-CN" dirty="0" err="1">
                <a:solidFill>
                  <a:srgbClr val="0070C0"/>
                </a:solidFill>
              </a:rPr>
              <a:t>cpu</a:t>
            </a:r>
            <a:r>
              <a:rPr lang="en-US" altLang="zh-CN" dirty="0">
                <a:solidFill>
                  <a:srgbClr val="0070C0"/>
                </a:solidFill>
              </a:rPr>
              <a:t>/</a:t>
            </a:r>
            <a:r>
              <a:rPr lang="en-US" altLang="zh-CN" dirty="0" err="1">
                <a:solidFill>
                  <a:srgbClr val="0070C0"/>
                </a:solidFill>
              </a:rPr>
              <a:t>instr</a:t>
            </a:r>
            <a:r>
              <a:rPr lang="en-US" altLang="zh-CN" dirty="0">
                <a:solidFill>
                  <a:srgbClr val="0070C0"/>
                </a:solidFill>
              </a:rPr>
              <a:t>/</a:t>
            </a:r>
            <a:r>
              <a:rPr lang="en-US" altLang="zh-CN" dirty="0" err="1">
                <a:solidFill>
                  <a:srgbClr val="0070C0"/>
                </a:solidFill>
              </a:rPr>
              <a:t>mov.c</a:t>
            </a:r>
            <a:endParaRPr lang="zh-CN" altLang="en-US" dirty="0">
              <a:solidFill>
                <a:srgbClr val="0070C0"/>
              </a:solidFill>
            </a:endParaRPr>
          </a:p>
        </p:txBody>
      </p:sp>
      <p:cxnSp>
        <p:nvCxnSpPr>
          <p:cNvPr id="26" name="直接箭头连接符 25"/>
          <p:cNvCxnSpPr/>
          <p:nvPr/>
        </p:nvCxnSpPr>
        <p:spPr>
          <a:xfrm flipH="1" flipV="1">
            <a:off x="3834244" y="3395037"/>
            <a:ext cx="4387709" cy="257865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a:xfrm flipV="1">
            <a:off x="4136175" y="4588861"/>
            <a:ext cx="2123371" cy="157275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a:xfrm>
            <a:off x="4018775" y="6187510"/>
            <a:ext cx="1797287" cy="369332"/>
          </a:xfrm>
          <a:prstGeom prst="rect">
            <a:avLst/>
          </a:prstGeom>
          <a:noFill/>
        </p:spPr>
        <p:txBody>
          <a:bodyPr wrap="none" rtlCol="0">
            <a:spAutoFit/>
          </a:bodyPr>
          <a:lstStyle/>
          <a:p>
            <a:r>
              <a:rPr lang="en-US" altLang="zh-CN" dirty="0">
                <a:solidFill>
                  <a:srgbClr val="FF0000"/>
                </a:solidFill>
              </a:rPr>
              <a:t>4. </a:t>
            </a:r>
            <a:r>
              <a:rPr lang="zh-CN" altLang="en-US" dirty="0">
                <a:solidFill>
                  <a:srgbClr val="FF0000"/>
                </a:solidFill>
              </a:rPr>
              <a:t>返回指令长度</a:t>
            </a:r>
            <a:endParaRPr lang="zh-CN" altLang="en-US" dirty="0">
              <a:solidFill>
                <a:srgbClr val="FF0000"/>
              </a:solidFill>
            </a:endParaRPr>
          </a:p>
        </p:txBody>
      </p:sp>
      <p:sp>
        <p:nvSpPr>
          <p:cNvPr id="35" name="任意多边形 34"/>
          <p:cNvSpPr/>
          <p:nvPr/>
        </p:nvSpPr>
        <p:spPr>
          <a:xfrm>
            <a:off x="5550166" y="2373745"/>
            <a:ext cx="1201617" cy="2327564"/>
          </a:xfrm>
          <a:custGeom>
            <a:avLst/>
            <a:gdLst>
              <a:gd name="connsiteX0" fmla="*/ 333399 w 1201617"/>
              <a:gd name="connsiteY0" fmla="*/ 2327564 h 2327564"/>
              <a:gd name="connsiteX1" fmla="*/ 47071 w 1201617"/>
              <a:gd name="connsiteY1" fmla="*/ 701964 h 2327564"/>
              <a:gd name="connsiteX2" fmla="*/ 1201617 w 1201617"/>
              <a:gd name="connsiteY2" fmla="*/ 0 h 2327564"/>
            </a:gdLst>
            <a:ahLst/>
            <a:cxnLst>
              <a:cxn ang="0">
                <a:pos x="connsiteX0" y="connsiteY0"/>
              </a:cxn>
              <a:cxn ang="0">
                <a:pos x="connsiteX1" y="connsiteY1"/>
              </a:cxn>
              <a:cxn ang="0">
                <a:pos x="connsiteX2" y="connsiteY2"/>
              </a:cxn>
            </a:cxnLst>
            <a:rect l="l" t="t" r="r" b="b"/>
            <a:pathLst>
              <a:path w="1201617" h="2327564">
                <a:moveTo>
                  <a:pt x="333399" y="2327564"/>
                </a:moveTo>
                <a:cubicBezTo>
                  <a:pt x="117883" y="1708727"/>
                  <a:pt x="-97632" y="1089891"/>
                  <a:pt x="47071" y="701964"/>
                </a:cubicBezTo>
                <a:cubicBezTo>
                  <a:pt x="191774" y="314037"/>
                  <a:pt x="696695" y="157018"/>
                  <a:pt x="1201617" y="0"/>
                </a:cubicBezTo>
              </a:path>
            </a:pathLst>
          </a:custGeom>
          <a:noFill/>
          <a:ln>
            <a:solidFill>
              <a:srgbClr val="FF000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p:cNvSpPr txBox="1"/>
          <p:nvPr/>
        </p:nvSpPr>
        <p:spPr>
          <a:xfrm>
            <a:off x="4489344" y="2196728"/>
            <a:ext cx="1960330" cy="646331"/>
          </a:xfrm>
          <a:prstGeom prst="rect">
            <a:avLst/>
          </a:prstGeom>
          <a:noFill/>
        </p:spPr>
        <p:txBody>
          <a:bodyPr wrap="square" rtlCol="0">
            <a:spAutoFit/>
          </a:bodyPr>
          <a:lstStyle/>
          <a:p>
            <a:r>
              <a:rPr lang="en-US" altLang="zh-CN" dirty="0">
                <a:solidFill>
                  <a:srgbClr val="FF0000"/>
                </a:solidFill>
              </a:rPr>
              <a:t>5. </a:t>
            </a:r>
            <a:r>
              <a:rPr lang="zh-CN" altLang="en-US" dirty="0">
                <a:solidFill>
                  <a:srgbClr val="FF0000"/>
                </a:solidFill>
              </a:rPr>
              <a:t>循环开启下一条指令</a:t>
            </a:r>
            <a:endParaRPr lang="en-US" altLang="zh-CN" dirty="0">
              <a:solidFill>
                <a:srgbClr val="FF0000"/>
              </a:solidFill>
            </a:endParaRPr>
          </a:p>
        </p:txBody>
      </p:sp>
      <p:sp>
        <p:nvSpPr>
          <p:cNvPr id="39" name="等腰三角形 38"/>
          <p:cNvSpPr/>
          <p:nvPr/>
        </p:nvSpPr>
        <p:spPr>
          <a:xfrm>
            <a:off x="4136174" y="755646"/>
            <a:ext cx="383372" cy="463554"/>
          </a:xfrm>
          <a:prstGeom prst="triangl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0" name="文本框 39"/>
          <p:cNvSpPr txBox="1"/>
          <p:nvPr/>
        </p:nvSpPr>
        <p:spPr>
          <a:xfrm>
            <a:off x="3668739" y="1271278"/>
            <a:ext cx="946093" cy="369332"/>
          </a:xfrm>
          <a:prstGeom prst="rect">
            <a:avLst/>
          </a:prstGeom>
          <a:noFill/>
        </p:spPr>
        <p:txBody>
          <a:bodyPr wrap="none" rtlCol="0">
            <a:spAutoFit/>
          </a:bodyPr>
          <a:lstStyle/>
          <a:p>
            <a:r>
              <a:rPr lang="zh-CN" altLang="en-US" dirty="0"/>
              <a:t>当前</a:t>
            </a:r>
            <a:r>
              <a:rPr lang="en-US" altLang="zh-CN" dirty="0"/>
              <a:t>EIP</a:t>
            </a:r>
            <a:endParaRPr lang="zh-CN" altLang="en-US" dirty="0"/>
          </a:p>
        </p:txBody>
      </p:sp>
      <p:sp>
        <p:nvSpPr>
          <p:cNvPr id="2" name="文本框 1"/>
          <p:cNvSpPr txBox="1"/>
          <p:nvPr/>
        </p:nvSpPr>
        <p:spPr>
          <a:xfrm>
            <a:off x="1882619" y="1770792"/>
            <a:ext cx="2136142" cy="646331"/>
          </a:xfrm>
          <a:prstGeom prst="rect">
            <a:avLst/>
          </a:prstGeom>
          <a:noFill/>
        </p:spPr>
        <p:txBody>
          <a:bodyPr wrap="square" rtlCol="0">
            <a:spAutoFit/>
          </a:bodyPr>
          <a:lstStyle/>
          <a:p>
            <a:r>
              <a:rPr lang="en-US" altLang="zh-CN" dirty="0">
                <a:solidFill>
                  <a:srgbClr val="7030A0"/>
                </a:solidFill>
              </a:rPr>
              <a:t>mov_i2rm_v</a:t>
            </a:r>
            <a:r>
              <a:rPr lang="zh-CN" altLang="en-US" dirty="0">
                <a:solidFill>
                  <a:srgbClr val="7030A0"/>
                </a:solidFill>
              </a:rPr>
              <a:t>是模拟</a:t>
            </a:r>
            <a:r>
              <a:rPr lang="en-US" altLang="zh-CN" dirty="0">
                <a:solidFill>
                  <a:srgbClr val="7030A0"/>
                </a:solidFill>
              </a:rPr>
              <a:t>C7</a:t>
            </a:r>
            <a:r>
              <a:rPr lang="zh-CN" altLang="en-US" dirty="0">
                <a:solidFill>
                  <a:srgbClr val="7030A0"/>
                </a:solidFill>
              </a:rPr>
              <a:t>指令的函数</a:t>
            </a:r>
            <a:endParaRPr lang="zh-CN" altLang="en-US" dirty="0">
              <a:solidFill>
                <a:srgbClr val="7030A0"/>
              </a:solidFill>
            </a:endParaRPr>
          </a:p>
        </p:txBody>
      </p:sp>
      <p:sp>
        <p:nvSpPr>
          <p:cNvPr id="25" name="文本框 24"/>
          <p:cNvSpPr txBox="1"/>
          <p:nvPr/>
        </p:nvSpPr>
        <p:spPr>
          <a:xfrm>
            <a:off x="35080" y="4848682"/>
            <a:ext cx="1847539" cy="95410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342900" indent="-342900">
              <a:buAutoNum type="arabicPeriod"/>
            </a:pPr>
            <a:r>
              <a:rPr lang="zh-CN" altLang="en-US" sz="1400" dirty="0"/>
              <a:t>解码操作码</a:t>
            </a:r>
            <a:endParaRPr lang="en-US" altLang="zh-CN" sz="1400" dirty="0"/>
          </a:p>
          <a:p>
            <a:pPr marL="342900" indent="-342900">
              <a:buAutoNum type="arabicPeriod"/>
            </a:pPr>
            <a:r>
              <a:rPr lang="zh-CN" altLang="en-US" sz="1400" dirty="0"/>
              <a:t>解码操作数</a:t>
            </a:r>
            <a:endParaRPr lang="en-US" altLang="zh-CN" sz="1400" dirty="0"/>
          </a:p>
          <a:p>
            <a:pPr marL="342900" indent="-342900">
              <a:buAutoNum type="arabicPeriod"/>
            </a:pPr>
            <a:r>
              <a:rPr lang="zh-CN" altLang="en-US" sz="1400" dirty="0"/>
              <a:t>执行指令的操作</a:t>
            </a:r>
            <a:endParaRPr lang="en-US" altLang="zh-CN" sz="1400" dirty="0"/>
          </a:p>
          <a:p>
            <a:pPr marL="342900" indent="-342900">
              <a:buAutoNum type="arabicPeriod"/>
            </a:pPr>
            <a:r>
              <a:rPr lang="zh-CN" altLang="en-US" sz="1400" dirty="0"/>
              <a:t>返回指令长度</a:t>
            </a:r>
            <a:endParaRPr lang="zh-CN" altLang="en-US" sz="1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容易写出低质量代码：代码克隆</a:t>
            </a:r>
            <a:endParaRPr lang="zh-CN" altLang="en-US" dirty="0"/>
          </a:p>
        </p:txBody>
      </p:sp>
      <p:sp>
        <p:nvSpPr>
          <p:cNvPr id="4" name="日期占位符 3"/>
          <p:cNvSpPr>
            <a:spLocks noGrp="1"/>
          </p:cNvSpPr>
          <p:nvPr>
            <p:ph type="dt" sz="half" idx="10"/>
          </p:nvPr>
        </p:nvSpPr>
        <p:spPr/>
        <p:txBody>
          <a:bodyPr/>
          <a:lstStyle/>
          <a:p>
            <a:fld id="{41D2AEF5-D648-4728-8573-61956C55922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sp>
        <p:nvSpPr>
          <p:cNvPr id="7" name="文本框 6"/>
          <p:cNvSpPr txBox="1"/>
          <p:nvPr/>
        </p:nvSpPr>
        <p:spPr>
          <a:xfrm>
            <a:off x="18393" y="1553759"/>
            <a:ext cx="4049054" cy="369331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zh-CN" dirty="0" err="1"/>
              <a:t>make_instr_func</a:t>
            </a:r>
            <a:r>
              <a:rPr lang="en-US" altLang="zh-CN" dirty="0"/>
              <a:t>(mov_i2rm_v) { </a:t>
            </a:r>
            <a:endParaRPr lang="zh-CN" altLang="zh-CN" dirty="0"/>
          </a:p>
          <a:p>
            <a:r>
              <a:rPr lang="en-US" altLang="zh-CN" dirty="0"/>
              <a:t>    OPERAND </a:t>
            </a:r>
            <a:r>
              <a:rPr lang="en-US" altLang="zh-CN" dirty="0" err="1"/>
              <a:t>rm</a:t>
            </a:r>
            <a:r>
              <a:rPr lang="en-US" altLang="zh-CN" dirty="0"/>
              <a:t>, </a:t>
            </a:r>
            <a:r>
              <a:rPr lang="en-US" altLang="zh-CN" dirty="0" err="1"/>
              <a:t>imm</a:t>
            </a:r>
            <a:r>
              <a:rPr lang="en-US" altLang="zh-CN" dirty="0"/>
              <a:t>; </a:t>
            </a:r>
            <a:endParaRPr lang="en-US" altLang="zh-CN" dirty="0"/>
          </a:p>
          <a:p>
            <a:r>
              <a:rPr lang="en-US" altLang="zh-CN" dirty="0"/>
              <a:t>    </a:t>
            </a:r>
            <a:r>
              <a:rPr lang="en-US" altLang="zh-CN" dirty="0" err="1"/>
              <a:t>rm.data_size</a:t>
            </a:r>
            <a:r>
              <a:rPr lang="en-US" altLang="zh-CN" dirty="0"/>
              <a:t> = </a:t>
            </a:r>
            <a:r>
              <a:rPr lang="en-US" altLang="zh-CN" dirty="0" err="1"/>
              <a:t>data_size</a:t>
            </a:r>
            <a:r>
              <a:rPr lang="en-US" altLang="zh-CN" dirty="0"/>
              <a:t>;</a:t>
            </a:r>
            <a:endParaRPr lang="en-US" altLang="zh-CN" dirty="0"/>
          </a:p>
          <a:p>
            <a:r>
              <a:rPr lang="en-US" altLang="zh-CN" dirty="0"/>
              <a:t>    </a:t>
            </a:r>
            <a:r>
              <a:rPr lang="en-US" altLang="zh-CN" dirty="0" err="1"/>
              <a:t>int</a:t>
            </a:r>
            <a:r>
              <a:rPr lang="en-US" altLang="zh-CN" dirty="0"/>
              <a:t> </a:t>
            </a:r>
            <a:r>
              <a:rPr lang="en-US" altLang="zh-CN" dirty="0" err="1"/>
              <a:t>len</a:t>
            </a:r>
            <a:r>
              <a:rPr lang="en-US" altLang="zh-CN" dirty="0"/>
              <a:t> = 1;  </a:t>
            </a:r>
            <a:endParaRPr lang="zh-CN" altLang="zh-CN" dirty="0">
              <a:solidFill>
                <a:srgbClr val="00B050"/>
              </a:solidFill>
            </a:endParaRPr>
          </a:p>
          <a:p>
            <a:r>
              <a:rPr lang="en-US" altLang="zh-CN" dirty="0"/>
              <a:t>    </a:t>
            </a:r>
            <a:r>
              <a:rPr lang="en-US" altLang="zh-CN" dirty="0" err="1"/>
              <a:t>len</a:t>
            </a:r>
            <a:r>
              <a:rPr lang="en-US" altLang="zh-CN" dirty="0"/>
              <a:t> += </a:t>
            </a:r>
            <a:r>
              <a:rPr lang="en-US" altLang="zh-CN" dirty="0" err="1"/>
              <a:t>modrm_rm</a:t>
            </a:r>
            <a:r>
              <a:rPr lang="en-US" altLang="zh-CN" dirty="0"/>
              <a:t>(</a:t>
            </a:r>
            <a:r>
              <a:rPr lang="en-US" altLang="zh-CN" dirty="0" err="1"/>
              <a:t>eip</a:t>
            </a:r>
            <a:r>
              <a:rPr lang="en-US" altLang="zh-CN" dirty="0"/>
              <a:t> + 1, &amp;</a:t>
            </a:r>
            <a:r>
              <a:rPr lang="en-US" altLang="zh-CN" dirty="0" err="1"/>
              <a:t>rm</a:t>
            </a:r>
            <a:r>
              <a:rPr lang="en-US" altLang="zh-CN" dirty="0"/>
              <a:t>);</a:t>
            </a:r>
            <a:r>
              <a:rPr lang="en-US" altLang="zh-CN" dirty="0">
                <a:solidFill>
                  <a:srgbClr val="FF0000"/>
                </a:solidFill>
              </a:rPr>
              <a:t> </a:t>
            </a:r>
            <a:endParaRPr lang="zh-CN" altLang="zh-CN" dirty="0">
              <a:solidFill>
                <a:srgbClr val="00B050"/>
              </a:solidFill>
            </a:endParaRPr>
          </a:p>
          <a:p>
            <a:r>
              <a:rPr lang="en-US" altLang="zh-CN" dirty="0"/>
              <a:t>    </a:t>
            </a:r>
            <a:r>
              <a:rPr lang="en-US" altLang="zh-CN" dirty="0" err="1"/>
              <a:t>imm.type</a:t>
            </a:r>
            <a:r>
              <a:rPr lang="en-US" altLang="zh-CN" dirty="0"/>
              <a:t> = OPR_IMM;       </a:t>
            </a:r>
            <a:endParaRPr lang="zh-CN" altLang="zh-CN" dirty="0">
              <a:solidFill>
                <a:srgbClr val="00B050"/>
              </a:solidFill>
            </a:endParaRPr>
          </a:p>
          <a:p>
            <a:r>
              <a:rPr lang="en-US" altLang="zh-CN" dirty="0"/>
              <a:t>    </a:t>
            </a:r>
            <a:r>
              <a:rPr lang="en-US" altLang="zh-CN" dirty="0" err="1"/>
              <a:t>imm.addr</a:t>
            </a:r>
            <a:r>
              <a:rPr lang="en-US" altLang="zh-CN" dirty="0"/>
              <a:t> = </a:t>
            </a:r>
            <a:r>
              <a:rPr lang="en-US" altLang="zh-CN" dirty="0" err="1"/>
              <a:t>eip</a:t>
            </a:r>
            <a:r>
              <a:rPr lang="en-US" altLang="zh-CN" dirty="0"/>
              <a:t> + </a:t>
            </a:r>
            <a:r>
              <a:rPr lang="en-US" altLang="zh-CN" dirty="0" err="1"/>
              <a:t>len</a:t>
            </a:r>
            <a:r>
              <a:rPr lang="en-US" altLang="zh-CN" dirty="0"/>
              <a:t>;       </a:t>
            </a:r>
            <a:endParaRPr lang="zh-CN" altLang="zh-CN" dirty="0">
              <a:solidFill>
                <a:srgbClr val="00B050"/>
              </a:solidFill>
            </a:endParaRPr>
          </a:p>
          <a:p>
            <a:r>
              <a:rPr lang="en-US" altLang="zh-CN" dirty="0"/>
              <a:t>    </a:t>
            </a:r>
            <a:r>
              <a:rPr lang="en-US" altLang="zh-CN" dirty="0" err="1"/>
              <a:t>imm.data_size</a:t>
            </a:r>
            <a:r>
              <a:rPr lang="en-US" altLang="zh-CN" dirty="0"/>
              <a:t> = </a:t>
            </a:r>
            <a:r>
              <a:rPr lang="en-US" altLang="zh-CN" dirty="0" err="1"/>
              <a:t>data_size</a:t>
            </a:r>
            <a:r>
              <a:rPr lang="en-US" altLang="zh-CN" dirty="0"/>
              <a:t>;       </a:t>
            </a:r>
            <a:endParaRPr lang="zh-CN" altLang="zh-CN" dirty="0"/>
          </a:p>
          <a:p>
            <a:r>
              <a:rPr lang="en-US" altLang="zh-CN" dirty="0"/>
              <a:t>    </a:t>
            </a:r>
            <a:r>
              <a:rPr lang="en-US" altLang="zh-CN" dirty="0" err="1"/>
              <a:t>operand_read</a:t>
            </a:r>
            <a:r>
              <a:rPr lang="en-US" altLang="zh-CN" dirty="0"/>
              <a:t>(&amp;</a:t>
            </a:r>
            <a:r>
              <a:rPr lang="en-US" altLang="zh-CN" dirty="0" err="1"/>
              <a:t>imm</a:t>
            </a:r>
            <a:r>
              <a:rPr lang="en-US" altLang="zh-CN" dirty="0"/>
              <a:t>);      </a:t>
            </a:r>
            <a:endParaRPr lang="zh-CN" altLang="zh-CN" dirty="0">
              <a:solidFill>
                <a:srgbClr val="00B050"/>
              </a:solidFill>
            </a:endParaRPr>
          </a:p>
          <a:p>
            <a:r>
              <a:rPr lang="en-US" altLang="zh-CN" dirty="0"/>
              <a:t>    </a:t>
            </a:r>
            <a:r>
              <a:rPr lang="en-US" altLang="zh-CN" dirty="0" err="1"/>
              <a:t>rm.val</a:t>
            </a:r>
            <a:r>
              <a:rPr lang="en-US" altLang="zh-CN" dirty="0"/>
              <a:t> = </a:t>
            </a:r>
            <a:r>
              <a:rPr lang="en-US" altLang="zh-CN" dirty="0" err="1"/>
              <a:t>imm.val</a:t>
            </a:r>
            <a:r>
              <a:rPr lang="en-US" altLang="zh-CN" dirty="0"/>
              <a:t>;</a:t>
            </a:r>
            <a:endParaRPr lang="zh-CN" altLang="zh-CN" dirty="0"/>
          </a:p>
          <a:p>
            <a:r>
              <a:rPr lang="en-US" altLang="zh-CN" dirty="0"/>
              <a:t>    </a:t>
            </a:r>
            <a:r>
              <a:rPr lang="en-US" altLang="zh-CN" dirty="0" err="1"/>
              <a:t>operand_write</a:t>
            </a:r>
            <a:r>
              <a:rPr lang="en-US" altLang="zh-CN" dirty="0"/>
              <a:t>(&amp;</a:t>
            </a:r>
            <a:r>
              <a:rPr lang="en-US" altLang="zh-CN" dirty="0" err="1"/>
              <a:t>rm</a:t>
            </a:r>
            <a:r>
              <a:rPr lang="en-US" altLang="zh-CN" dirty="0"/>
              <a:t>);</a:t>
            </a:r>
            <a:endParaRPr lang="zh-CN" altLang="zh-CN" dirty="0"/>
          </a:p>
          <a:p>
            <a:r>
              <a:rPr lang="en-US" altLang="zh-CN" dirty="0"/>
              <a:t>    return </a:t>
            </a:r>
            <a:r>
              <a:rPr lang="en-US" altLang="zh-CN" dirty="0" err="1"/>
              <a:t>len</a:t>
            </a:r>
            <a:r>
              <a:rPr lang="en-US" altLang="zh-CN" dirty="0"/>
              <a:t> + </a:t>
            </a:r>
            <a:r>
              <a:rPr lang="en-US" altLang="zh-CN" dirty="0" err="1"/>
              <a:t>data_size</a:t>
            </a:r>
            <a:r>
              <a:rPr lang="en-US" altLang="zh-CN" dirty="0"/>
              <a:t> / 8;</a:t>
            </a:r>
            <a:endParaRPr lang="zh-CN" altLang="zh-CN" dirty="0"/>
          </a:p>
          <a:p>
            <a:r>
              <a:rPr lang="en-US" altLang="zh-CN" dirty="0"/>
              <a:t>}</a:t>
            </a:r>
            <a:endParaRPr lang="zh-CN" altLang="en-US" dirty="0"/>
          </a:p>
        </p:txBody>
      </p:sp>
      <p:sp>
        <p:nvSpPr>
          <p:cNvPr id="8" name="文本框 7"/>
          <p:cNvSpPr txBox="1"/>
          <p:nvPr/>
        </p:nvSpPr>
        <p:spPr>
          <a:xfrm>
            <a:off x="4222530" y="1553759"/>
            <a:ext cx="4183059" cy="313932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zh-CN" dirty="0" err="1"/>
              <a:t>make_instr_func</a:t>
            </a:r>
            <a:r>
              <a:rPr lang="en-US" altLang="zh-CN" dirty="0"/>
              <a:t>(mov_r2rm_v) { </a:t>
            </a:r>
            <a:endParaRPr lang="zh-CN" altLang="zh-CN" dirty="0"/>
          </a:p>
          <a:p>
            <a:r>
              <a:rPr lang="en-US" altLang="zh-CN" dirty="0"/>
              <a:t>    OPERAND </a:t>
            </a:r>
            <a:r>
              <a:rPr lang="en-US" altLang="zh-CN" dirty="0" err="1"/>
              <a:t>rm</a:t>
            </a:r>
            <a:r>
              <a:rPr lang="en-US" altLang="zh-CN" dirty="0"/>
              <a:t>, r; </a:t>
            </a:r>
            <a:endParaRPr lang="en-US" altLang="zh-CN" dirty="0"/>
          </a:p>
          <a:p>
            <a:r>
              <a:rPr lang="en-US" altLang="zh-CN" dirty="0"/>
              <a:t>    </a:t>
            </a:r>
            <a:r>
              <a:rPr lang="en-US" altLang="zh-CN" dirty="0" err="1"/>
              <a:t>rm.data_size</a:t>
            </a:r>
            <a:r>
              <a:rPr lang="en-US" altLang="zh-CN" dirty="0"/>
              <a:t> = </a:t>
            </a:r>
            <a:r>
              <a:rPr lang="en-US" altLang="zh-CN" dirty="0" err="1"/>
              <a:t>data_size</a:t>
            </a:r>
            <a:r>
              <a:rPr lang="en-US" altLang="zh-CN" dirty="0"/>
              <a:t>;</a:t>
            </a:r>
            <a:endParaRPr lang="en-US" altLang="zh-CN" dirty="0"/>
          </a:p>
          <a:p>
            <a:r>
              <a:rPr lang="en-US" altLang="zh-CN" dirty="0">
                <a:solidFill>
                  <a:srgbClr val="C00000"/>
                </a:solidFill>
              </a:rPr>
              <a:t>    </a:t>
            </a:r>
            <a:r>
              <a:rPr lang="en-US" altLang="zh-CN" dirty="0" err="1">
                <a:solidFill>
                  <a:srgbClr val="C00000"/>
                </a:solidFill>
              </a:rPr>
              <a:t>r.data_size</a:t>
            </a:r>
            <a:r>
              <a:rPr lang="en-US" altLang="zh-CN" dirty="0">
                <a:solidFill>
                  <a:srgbClr val="C00000"/>
                </a:solidFill>
              </a:rPr>
              <a:t> = </a:t>
            </a:r>
            <a:r>
              <a:rPr lang="en-US" altLang="zh-CN" dirty="0" err="1">
                <a:solidFill>
                  <a:srgbClr val="C00000"/>
                </a:solidFill>
              </a:rPr>
              <a:t>data_size</a:t>
            </a:r>
            <a:endParaRPr lang="en-US" altLang="zh-CN" dirty="0">
              <a:solidFill>
                <a:srgbClr val="C00000"/>
              </a:solidFill>
            </a:endParaRPr>
          </a:p>
          <a:p>
            <a:r>
              <a:rPr lang="en-US" altLang="zh-CN" dirty="0"/>
              <a:t>    </a:t>
            </a:r>
            <a:r>
              <a:rPr lang="en-US" altLang="zh-CN" dirty="0" err="1"/>
              <a:t>int</a:t>
            </a:r>
            <a:r>
              <a:rPr lang="en-US" altLang="zh-CN" dirty="0"/>
              <a:t> </a:t>
            </a:r>
            <a:r>
              <a:rPr lang="en-US" altLang="zh-CN" dirty="0" err="1"/>
              <a:t>len</a:t>
            </a:r>
            <a:r>
              <a:rPr lang="en-US" altLang="zh-CN" dirty="0"/>
              <a:t> = 1;  </a:t>
            </a:r>
            <a:endParaRPr lang="zh-CN" altLang="zh-CN" dirty="0">
              <a:solidFill>
                <a:srgbClr val="00B050"/>
              </a:solidFill>
            </a:endParaRPr>
          </a:p>
          <a:p>
            <a:r>
              <a:rPr lang="en-US" altLang="zh-CN" dirty="0">
                <a:solidFill>
                  <a:srgbClr val="C00000"/>
                </a:solidFill>
              </a:rPr>
              <a:t>    </a:t>
            </a:r>
            <a:r>
              <a:rPr lang="en-US" altLang="zh-CN" dirty="0" err="1">
                <a:solidFill>
                  <a:srgbClr val="C00000"/>
                </a:solidFill>
              </a:rPr>
              <a:t>len</a:t>
            </a:r>
            <a:r>
              <a:rPr lang="en-US" altLang="zh-CN" dirty="0">
                <a:solidFill>
                  <a:srgbClr val="C00000"/>
                </a:solidFill>
              </a:rPr>
              <a:t> += </a:t>
            </a:r>
            <a:r>
              <a:rPr lang="en-US" altLang="zh-CN" dirty="0" err="1">
                <a:solidFill>
                  <a:srgbClr val="C00000"/>
                </a:solidFill>
              </a:rPr>
              <a:t>modrm_r_rm</a:t>
            </a:r>
            <a:r>
              <a:rPr lang="en-US" altLang="zh-CN" dirty="0">
                <a:solidFill>
                  <a:srgbClr val="C00000"/>
                </a:solidFill>
              </a:rPr>
              <a:t>(</a:t>
            </a:r>
            <a:r>
              <a:rPr lang="en-US" altLang="zh-CN" dirty="0" err="1">
                <a:solidFill>
                  <a:srgbClr val="C00000"/>
                </a:solidFill>
              </a:rPr>
              <a:t>eip</a:t>
            </a:r>
            <a:r>
              <a:rPr lang="en-US" altLang="zh-CN" dirty="0">
                <a:solidFill>
                  <a:srgbClr val="C00000"/>
                </a:solidFill>
              </a:rPr>
              <a:t> + 1, &amp;r, &amp;</a:t>
            </a:r>
            <a:r>
              <a:rPr lang="en-US" altLang="zh-CN" dirty="0" err="1">
                <a:solidFill>
                  <a:srgbClr val="C00000"/>
                </a:solidFill>
              </a:rPr>
              <a:t>rm</a:t>
            </a:r>
            <a:r>
              <a:rPr lang="en-US" altLang="zh-CN" dirty="0">
                <a:solidFill>
                  <a:srgbClr val="C00000"/>
                </a:solidFill>
              </a:rPr>
              <a:t>); </a:t>
            </a:r>
            <a:endParaRPr lang="zh-CN" altLang="zh-CN" dirty="0">
              <a:solidFill>
                <a:srgbClr val="C00000"/>
              </a:solidFill>
            </a:endParaRPr>
          </a:p>
          <a:p>
            <a:r>
              <a:rPr lang="en-US" altLang="zh-CN" dirty="0">
                <a:solidFill>
                  <a:srgbClr val="C00000"/>
                </a:solidFill>
              </a:rPr>
              <a:t>    </a:t>
            </a:r>
            <a:r>
              <a:rPr lang="en-US" altLang="zh-CN" dirty="0" err="1">
                <a:solidFill>
                  <a:srgbClr val="C00000"/>
                </a:solidFill>
              </a:rPr>
              <a:t>operand_read</a:t>
            </a:r>
            <a:r>
              <a:rPr lang="en-US" altLang="zh-CN" dirty="0">
                <a:solidFill>
                  <a:srgbClr val="C00000"/>
                </a:solidFill>
              </a:rPr>
              <a:t>(&amp;r);      </a:t>
            </a:r>
            <a:endParaRPr lang="zh-CN" altLang="zh-CN" dirty="0">
              <a:solidFill>
                <a:srgbClr val="C00000"/>
              </a:solidFill>
            </a:endParaRPr>
          </a:p>
          <a:p>
            <a:r>
              <a:rPr lang="en-US" altLang="zh-CN" dirty="0">
                <a:solidFill>
                  <a:srgbClr val="C00000"/>
                </a:solidFill>
              </a:rPr>
              <a:t>    </a:t>
            </a:r>
            <a:r>
              <a:rPr lang="en-US" altLang="zh-CN" dirty="0" err="1">
                <a:solidFill>
                  <a:srgbClr val="C00000"/>
                </a:solidFill>
              </a:rPr>
              <a:t>rm.val</a:t>
            </a:r>
            <a:r>
              <a:rPr lang="en-US" altLang="zh-CN" dirty="0">
                <a:solidFill>
                  <a:srgbClr val="C00000"/>
                </a:solidFill>
              </a:rPr>
              <a:t> = </a:t>
            </a:r>
            <a:r>
              <a:rPr lang="en-US" altLang="zh-CN" dirty="0" err="1">
                <a:solidFill>
                  <a:srgbClr val="C00000"/>
                </a:solidFill>
              </a:rPr>
              <a:t>r.val</a:t>
            </a:r>
            <a:r>
              <a:rPr lang="en-US" altLang="zh-CN" dirty="0">
                <a:solidFill>
                  <a:srgbClr val="C00000"/>
                </a:solidFill>
              </a:rPr>
              <a:t>;</a:t>
            </a:r>
            <a:endParaRPr lang="zh-CN" altLang="zh-CN" dirty="0">
              <a:solidFill>
                <a:srgbClr val="C00000"/>
              </a:solidFill>
            </a:endParaRPr>
          </a:p>
          <a:p>
            <a:r>
              <a:rPr lang="en-US" altLang="zh-CN" dirty="0"/>
              <a:t>    </a:t>
            </a:r>
            <a:r>
              <a:rPr lang="en-US" altLang="zh-CN" dirty="0" err="1"/>
              <a:t>operand_write</a:t>
            </a:r>
            <a:r>
              <a:rPr lang="en-US" altLang="zh-CN" dirty="0"/>
              <a:t>(&amp;</a:t>
            </a:r>
            <a:r>
              <a:rPr lang="en-US" altLang="zh-CN" dirty="0" err="1"/>
              <a:t>rm</a:t>
            </a:r>
            <a:r>
              <a:rPr lang="en-US" altLang="zh-CN" dirty="0"/>
              <a:t>);</a:t>
            </a:r>
            <a:endParaRPr lang="zh-CN" altLang="zh-CN" dirty="0"/>
          </a:p>
          <a:p>
            <a:r>
              <a:rPr lang="en-US" altLang="zh-CN" dirty="0">
                <a:solidFill>
                  <a:srgbClr val="C00000"/>
                </a:solidFill>
              </a:rPr>
              <a:t>    return </a:t>
            </a:r>
            <a:r>
              <a:rPr lang="en-US" altLang="zh-CN" dirty="0" err="1">
                <a:solidFill>
                  <a:srgbClr val="C00000"/>
                </a:solidFill>
              </a:rPr>
              <a:t>len</a:t>
            </a:r>
            <a:r>
              <a:rPr lang="en-US" altLang="zh-CN" dirty="0">
                <a:solidFill>
                  <a:srgbClr val="C00000"/>
                </a:solidFill>
              </a:rPr>
              <a:t>;</a:t>
            </a:r>
            <a:endParaRPr lang="zh-CN" altLang="zh-CN" dirty="0">
              <a:solidFill>
                <a:srgbClr val="C00000"/>
              </a:solidFill>
            </a:endParaRPr>
          </a:p>
          <a:p>
            <a:r>
              <a:rPr lang="en-US" altLang="zh-CN" dirty="0"/>
              <a:t>}</a:t>
            </a:r>
            <a:endParaRPr lang="zh-CN" altLang="en-US" dirty="0"/>
          </a:p>
        </p:txBody>
      </p:sp>
      <p:sp>
        <p:nvSpPr>
          <p:cNvPr id="9" name="文本框 8"/>
          <p:cNvSpPr txBox="1"/>
          <p:nvPr/>
        </p:nvSpPr>
        <p:spPr>
          <a:xfrm>
            <a:off x="7291550" y="3450876"/>
            <a:ext cx="4183059" cy="313932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zh-CN" dirty="0" err="1">
                <a:solidFill>
                  <a:schemeClr val="tx1"/>
                </a:solidFill>
              </a:rPr>
              <a:t>make_instr_func</a:t>
            </a:r>
            <a:r>
              <a:rPr lang="en-US" altLang="zh-CN" dirty="0">
                <a:solidFill>
                  <a:schemeClr val="tx1"/>
                </a:solidFill>
              </a:rPr>
              <a:t>(mov_rm2r_v) { </a:t>
            </a:r>
            <a:endParaRPr lang="zh-CN" altLang="zh-CN" dirty="0">
              <a:solidFill>
                <a:schemeClr val="tx1"/>
              </a:solidFill>
            </a:endParaRPr>
          </a:p>
          <a:p>
            <a:r>
              <a:rPr lang="en-US" altLang="zh-CN" dirty="0">
                <a:solidFill>
                  <a:schemeClr val="tx1"/>
                </a:solidFill>
              </a:rPr>
              <a:t>    OPERAND </a:t>
            </a:r>
            <a:r>
              <a:rPr lang="en-US" altLang="zh-CN" dirty="0" err="1">
                <a:solidFill>
                  <a:schemeClr val="tx1"/>
                </a:solidFill>
              </a:rPr>
              <a:t>rm</a:t>
            </a:r>
            <a:r>
              <a:rPr lang="en-US" altLang="zh-CN" dirty="0">
                <a:solidFill>
                  <a:schemeClr val="tx1"/>
                </a:solidFill>
              </a:rPr>
              <a:t>, r; </a:t>
            </a:r>
            <a:endParaRPr lang="en-US" altLang="zh-CN" dirty="0">
              <a:solidFill>
                <a:schemeClr val="tx1"/>
              </a:solidFill>
            </a:endParaRPr>
          </a:p>
          <a:p>
            <a:r>
              <a:rPr lang="en-US" altLang="zh-CN" dirty="0">
                <a:solidFill>
                  <a:schemeClr val="tx1"/>
                </a:solidFill>
              </a:rPr>
              <a:t>    </a:t>
            </a:r>
            <a:r>
              <a:rPr lang="en-US" altLang="zh-CN" dirty="0" err="1">
                <a:solidFill>
                  <a:schemeClr val="tx1"/>
                </a:solidFill>
              </a:rPr>
              <a:t>rm.data_size</a:t>
            </a:r>
            <a:r>
              <a:rPr lang="en-US" altLang="zh-CN" dirty="0">
                <a:solidFill>
                  <a:schemeClr val="tx1"/>
                </a:solidFill>
              </a:rPr>
              <a:t> = </a:t>
            </a:r>
            <a:r>
              <a:rPr lang="en-US" altLang="zh-CN" dirty="0" err="1">
                <a:solidFill>
                  <a:schemeClr val="tx1"/>
                </a:solidFill>
              </a:rPr>
              <a:t>data_size</a:t>
            </a:r>
            <a:r>
              <a:rPr lang="en-US" altLang="zh-CN" dirty="0">
                <a:solidFill>
                  <a:schemeClr val="tx1"/>
                </a:solidFill>
              </a:rPr>
              <a:t>;</a:t>
            </a:r>
            <a:endParaRPr lang="en-US" altLang="zh-CN" dirty="0">
              <a:solidFill>
                <a:schemeClr val="tx1"/>
              </a:solidFill>
            </a:endParaRPr>
          </a:p>
          <a:p>
            <a:r>
              <a:rPr lang="en-US" altLang="zh-CN" dirty="0">
                <a:solidFill>
                  <a:schemeClr val="tx1"/>
                </a:solidFill>
              </a:rPr>
              <a:t>    </a:t>
            </a:r>
            <a:r>
              <a:rPr lang="en-US" altLang="zh-CN" dirty="0" err="1">
                <a:solidFill>
                  <a:schemeClr val="tx1"/>
                </a:solidFill>
              </a:rPr>
              <a:t>r.data_size</a:t>
            </a:r>
            <a:r>
              <a:rPr lang="en-US" altLang="zh-CN" dirty="0">
                <a:solidFill>
                  <a:schemeClr val="tx1"/>
                </a:solidFill>
              </a:rPr>
              <a:t> = </a:t>
            </a:r>
            <a:r>
              <a:rPr lang="en-US" altLang="zh-CN" dirty="0" err="1">
                <a:solidFill>
                  <a:schemeClr val="tx1"/>
                </a:solidFill>
              </a:rPr>
              <a:t>data_size</a:t>
            </a:r>
            <a:endParaRPr lang="en-US" altLang="zh-CN" dirty="0">
              <a:solidFill>
                <a:schemeClr val="tx1"/>
              </a:solidFill>
            </a:endParaRPr>
          </a:p>
          <a:p>
            <a:r>
              <a:rPr lang="en-US" altLang="zh-CN" dirty="0">
                <a:solidFill>
                  <a:schemeClr val="tx1"/>
                </a:solidFill>
              </a:rPr>
              <a:t>    </a:t>
            </a:r>
            <a:r>
              <a:rPr lang="en-US" altLang="zh-CN" dirty="0" err="1">
                <a:solidFill>
                  <a:schemeClr val="tx1"/>
                </a:solidFill>
              </a:rPr>
              <a:t>int</a:t>
            </a:r>
            <a:r>
              <a:rPr lang="en-US" altLang="zh-CN" dirty="0">
                <a:solidFill>
                  <a:schemeClr val="tx1"/>
                </a:solidFill>
              </a:rPr>
              <a:t> </a:t>
            </a:r>
            <a:r>
              <a:rPr lang="en-US" altLang="zh-CN" dirty="0" err="1">
                <a:solidFill>
                  <a:schemeClr val="tx1"/>
                </a:solidFill>
              </a:rPr>
              <a:t>len</a:t>
            </a:r>
            <a:r>
              <a:rPr lang="en-US" altLang="zh-CN" dirty="0">
                <a:solidFill>
                  <a:schemeClr val="tx1"/>
                </a:solidFill>
              </a:rPr>
              <a:t> = 1;  </a:t>
            </a:r>
            <a:endParaRPr lang="zh-CN" altLang="zh-CN" dirty="0">
              <a:solidFill>
                <a:schemeClr val="tx1"/>
              </a:solidFill>
            </a:endParaRPr>
          </a:p>
          <a:p>
            <a:r>
              <a:rPr lang="en-US" altLang="zh-CN" dirty="0">
                <a:solidFill>
                  <a:schemeClr val="tx1"/>
                </a:solidFill>
              </a:rPr>
              <a:t>    </a:t>
            </a:r>
            <a:r>
              <a:rPr lang="en-US" altLang="zh-CN" dirty="0" err="1">
                <a:solidFill>
                  <a:schemeClr val="tx1"/>
                </a:solidFill>
              </a:rPr>
              <a:t>len</a:t>
            </a:r>
            <a:r>
              <a:rPr lang="en-US" altLang="zh-CN" dirty="0">
                <a:solidFill>
                  <a:schemeClr val="tx1"/>
                </a:solidFill>
              </a:rPr>
              <a:t> += </a:t>
            </a:r>
            <a:r>
              <a:rPr lang="en-US" altLang="zh-CN" dirty="0" err="1">
                <a:solidFill>
                  <a:schemeClr val="tx1"/>
                </a:solidFill>
              </a:rPr>
              <a:t>modrm_r_rm</a:t>
            </a:r>
            <a:r>
              <a:rPr lang="en-US" altLang="zh-CN" dirty="0">
                <a:solidFill>
                  <a:schemeClr val="tx1"/>
                </a:solidFill>
              </a:rPr>
              <a:t>(</a:t>
            </a:r>
            <a:r>
              <a:rPr lang="en-US" altLang="zh-CN" dirty="0" err="1">
                <a:solidFill>
                  <a:schemeClr val="tx1"/>
                </a:solidFill>
              </a:rPr>
              <a:t>eip</a:t>
            </a:r>
            <a:r>
              <a:rPr lang="en-US" altLang="zh-CN" dirty="0">
                <a:solidFill>
                  <a:schemeClr val="tx1"/>
                </a:solidFill>
              </a:rPr>
              <a:t> + 1, &amp;r, &amp;</a:t>
            </a:r>
            <a:r>
              <a:rPr lang="en-US" altLang="zh-CN" dirty="0" err="1">
                <a:solidFill>
                  <a:schemeClr val="tx1"/>
                </a:solidFill>
              </a:rPr>
              <a:t>rm</a:t>
            </a:r>
            <a:r>
              <a:rPr lang="en-US" altLang="zh-CN" dirty="0">
                <a:solidFill>
                  <a:schemeClr val="tx1"/>
                </a:solidFill>
              </a:rPr>
              <a:t>); </a:t>
            </a:r>
            <a:endParaRPr lang="zh-CN" altLang="zh-CN" dirty="0">
              <a:solidFill>
                <a:schemeClr val="tx1"/>
              </a:solidFill>
            </a:endParaRPr>
          </a:p>
          <a:p>
            <a:r>
              <a:rPr lang="en-US" altLang="zh-CN" dirty="0">
                <a:solidFill>
                  <a:srgbClr val="C00000"/>
                </a:solidFill>
              </a:rPr>
              <a:t>    </a:t>
            </a:r>
            <a:r>
              <a:rPr lang="en-US" altLang="zh-CN" dirty="0" err="1">
                <a:solidFill>
                  <a:srgbClr val="C00000"/>
                </a:solidFill>
              </a:rPr>
              <a:t>operand_read</a:t>
            </a:r>
            <a:r>
              <a:rPr lang="en-US" altLang="zh-CN" dirty="0">
                <a:solidFill>
                  <a:srgbClr val="C00000"/>
                </a:solidFill>
              </a:rPr>
              <a:t>(&amp;</a:t>
            </a:r>
            <a:r>
              <a:rPr lang="en-US" altLang="zh-CN" dirty="0" err="1">
                <a:solidFill>
                  <a:srgbClr val="C00000"/>
                </a:solidFill>
              </a:rPr>
              <a:t>rm</a:t>
            </a:r>
            <a:r>
              <a:rPr lang="en-US" altLang="zh-CN" dirty="0">
                <a:solidFill>
                  <a:srgbClr val="C00000"/>
                </a:solidFill>
              </a:rPr>
              <a:t>);      </a:t>
            </a:r>
            <a:endParaRPr lang="zh-CN" altLang="zh-CN" dirty="0">
              <a:solidFill>
                <a:srgbClr val="C00000"/>
              </a:solidFill>
            </a:endParaRPr>
          </a:p>
          <a:p>
            <a:r>
              <a:rPr lang="en-US" altLang="zh-CN" dirty="0">
                <a:solidFill>
                  <a:srgbClr val="C00000"/>
                </a:solidFill>
              </a:rPr>
              <a:t>    </a:t>
            </a:r>
            <a:r>
              <a:rPr lang="en-US" altLang="zh-CN" dirty="0" err="1">
                <a:solidFill>
                  <a:srgbClr val="C00000"/>
                </a:solidFill>
              </a:rPr>
              <a:t>r.val</a:t>
            </a:r>
            <a:r>
              <a:rPr lang="en-US" altLang="zh-CN" dirty="0">
                <a:solidFill>
                  <a:srgbClr val="C00000"/>
                </a:solidFill>
              </a:rPr>
              <a:t> = </a:t>
            </a:r>
            <a:r>
              <a:rPr lang="en-US" altLang="zh-CN" dirty="0" err="1">
                <a:solidFill>
                  <a:srgbClr val="C00000"/>
                </a:solidFill>
              </a:rPr>
              <a:t>rm.val</a:t>
            </a:r>
            <a:r>
              <a:rPr lang="en-US" altLang="zh-CN" dirty="0">
                <a:solidFill>
                  <a:srgbClr val="C00000"/>
                </a:solidFill>
              </a:rPr>
              <a:t>;</a:t>
            </a:r>
            <a:endParaRPr lang="zh-CN" altLang="zh-CN" dirty="0">
              <a:solidFill>
                <a:srgbClr val="C00000"/>
              </a:solidFill>
            </a:endParaRPr>
          </a:p>
          <a:p>
            <a:r>
              <a:rPr lang="en-US" altLang="zh-CN" dirty="0">
                <a:solidFill>
                  <a:srgbClr val="C00000"/>
                </a:solidFill>
              </a:rPr>
              <a:t>    </a:t>
            </a:r>
            <a:r>
              <a:rPr lang="en-US" altLang="zh-CN" dirty="0" err="1">
                <a:solidFill>
                  <a:srgbClr val="C00000"/>
                </a:solidFill>
              </a:rPr>
              <a:t>operand_write</a:t>
            </a:r>
            <a:r>
              <a:rPr lang="en-US" altLang="zh-CN" dirty="0">
                <a:solidFill>
                  <a:srgbClr val="C00000"/>
                </a:solidFill>
              </a:rPr>
              <a:t>(&amp;r);</a:t>
            </a:r>
            <a:endParaRPr lang="zh-CN" altLang="zh-CN" dirty="0">
              <a:solidFill>
                <a:srgbClr val="C00000"/>
              </a:solidFill>
            </a:endParaRPr>
          </a:p>
          <a:p>
            <a:r>
              <a:rPr lang="en-US" altLang="zh-CN" dirty="0">
                <a:solidFill>
                  <a:schemeClr val="tx1"/>
                </a:solidFill>
              </a:rPr>
              <a:t>    return </a:t>
            </a:r>
            <a:r>
              <a:rPr lang="en-US" altLang="zh-CN" dirty="0" err="1">
                <a:solidFill>
                  <a:schemeClr val="tx1"/>
                </a:solidFill>
              </a:rPr>
              <a:t>len</a:t>
            </a:r>
            <a:r>
              <a:rPr lang="en-US" altLang="zh-CN" dirty="0">
                <a:solidFill>
                  <a:schemeClr val="tx1"/>
                </a:solidFill>
              </a:rPr>
              <a:t>;</a:t>
            </a:r>
            <a:endParaRPr lang="zh-CN" altLang="zh-CN" dirty="0">
              <a:solidFill>
                <a:schemeClr val="tx1"/>
              </a:solidFill>
            </a:endParaRPr>
          </a:p>
          <a:p>
            <a:r>
              <a:rPr lang="en-US" altLang="zh-CN" dirty="0">
                <a:solidFill>
                  <a:schemeClr val="tx1"/>
                </a:solidFill>
              </a:rPr>
              <a:t>}</a:t>
            </a:r>
            <a:endParaRPr lang="zh-CN" altLang="en-US" dirty="0">
              <a:solidFill>
                <a:schemeClr val="tx1"/>
              </a:solidFill>
            </a:endParaRPr>
          </a:p>
        </p:txBody>
      </p:sp>
      <p:sp>
        <p:nvSpPr>
          <p:cNvPr id="10" name="文本框 9"/>
          <p:cNvSpPr txBox="1"/>
          <p:nvPr/>
        </p:nvSpPr>
        <p:spPr>
          <a:xfrm>
            <a:off x="8681544" y="2504945"/>
            <a:ext cx="2874579" cy="830997"/>
          </a:xfrm>
          <a:prstGeom prst="rect">
            <a:avLst/>
          </a:prstGeom>
          <a:solidFill>
            <a:schemeClr val="bg1"/>
          </a:solidFill>
        </p:spPr>
        <p:txBody>
          <a:bodyPr wrap="square" rtlCol="0">
            <a:spAutoFit/>
          </a:bodyPr>
          <a:lstStyle/>
          <a:p>
            <a:pPr marL="285750" indent="-285750">
              <a:buFont typeface="Arial" panose="020B0604020202020204" pitchFamily="34" charset="0"/>
              <a:buChar char="•"/>
            </a:pPr>
            <a:r>
              <a:rPr lang="zh-CN" altLang="en-US" sz="2400" dirty="0"/>
              <a:t>代码冗长难理解</a:t>
            </a:r>
            <a:endParaRPr lang="en-US" altLang="zh-CN" sz="2400" dirty="0"/>
          </a:p>
          <a:p>
            <a:pPr marL="285750" indent="-285750">
              <a:buFont typeface="Arial" panose="020B0604020202020204" pitchFamily="34" charset="0"/>
              <a:buChar char="•"/>
            </a:pPr>
            <a:r>
              <a:rPr lang="zh-CN" altLang="en-US" sz="2400" dirty="0"/>
              <a:t>容易引入错误</a:t>
            </a:r>
            <a:endParaRPr lang="zh-CN" altLang="en-US" sz="2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目录</a:t>
            </a:r>
            <a:endParaRPr lang="zh-CN" altLang="en-US" dirty="0"/>
          </a:p>
        </p:txBody>
      </p:sp>
      <p:sp>
        <p:nvSpPr>
          <p:cNvPr id="3" name="内容占位符 2"/>
          <p:cNvSpPr>
            <a:spLocks noGrp="1"/>
          </p:cNvSpPr>
          <p:nvPr>
            <p:ph idx="1"/>
          </p:nvPr>
        </p:nvSpPr>
        <p:spPr/>
        <p:txBody>
          <a:bodyPr/>
          <a:lstStyle/>
          <a:p>
            <a:pPr>
              <a:lnSpc>
                <a:spcPct val="200000"/>
              </a:lnSpc>
            </a:pPr>
            <a:r>
              <a:rPr lang="zh-CN" altLang="en-US" b="1" dirty="0"/>
              <a:t>程序执行的宏观过程与模拟</a:t>
            </a:r>
            <a:endParaRPr lang="zh-CN" altLang="en-US" b="1" dirty="0"/>
          </a:p>
          <a:p>
            <a:pPr>
              <a:lnSpc>
                <a:spcPct val="200000"/>
              </a:lnSpc>
            </a:pPr>
            <a:r>
              <a:rPr lang="zh-CN" altLang="en-US" b="1" dirty="0"/>
              <a:t>单条指令的解码与</a:t>
            </a:r>
            <a:r>
              <a:rPr lang="en-US" altLang="zh-CN" b="1" dirty="0">
                <a:solidFill>
                  <a:srgbClr val="C00000"/>
                </a:solidFill>
              </a:rPr>
              <a:t>NEMU</a:t>
            </a:r>
            <a:r>
              <a:rPr lang="zh-CN" altLang="en-US" b="1" dirty="0">
                <a:solidFill>
                  <a:srgbClr val="C00000"/>
                </a:solidFill>
              </a:rPr>
              <a:t>实现</a:t>
            </a:r>
            <a:endParaRPr lang="en-US" altLang="zh-CN" b="1" dirty="0">
              <a:solidFill>
                <a:srgbClr val="C00000"/>
              </a:solidFill>
            </a:endParaRPr>
          </a:p>
          <a:p>
            <a:pPr lvl="1">
              <a:lnSpc>
                <a:spcPct val="200000"/>
              </a:lnSpc>
            </a:pPr>
            <a:r>
              <a:rPr lang="zh-CN" altLang="en-US" b="1" dirty="0"/>
              <a:t>操作码的解码方式</a:t>
            </a:r>
            <a:endParaRPr lang="en-US" altLang="zh-CN" b="1" dirty="0"/>
          </a:p>
          <a:p>
            <a:pPr lvl="1">
              <a:lnSpc>
                <a:spcPct val="200000"/>
              </a:lnSpc>
            </a:pPr>
            <a:r>
              <a:rPr lang="zh-CN" altLang="en-US" b="1" dirty="0"/>
              <a:t>单条指令的实现方法</a:t>
            </a:r>
            <a:endParaRPr lang="en-US" altLang="zh-CN" b="1" dirty="0"/>
          </a:p>
          <a:p>
            <a:pPr lvl="1">
              <a:lnSpc>
                <a:spcPct val="200000"/>
              </a:lnSpc>
            </a:pPr>
            <a:r>
              <a:rPr lang="zh-CN" altLang="en-US" b="1" dirty="0">
                <a:solidFill>
                  <a:srgbClr val="C00000"/>
                </a:solidFill>
              </a:rPr>
              <a:t>利用框架代码中的宏来高效、简洁地实现多条指令</a:t>
            </a:r>
            <a:endParaRPr lang="zh-CN" altLang="en-US" b="1" dirty="0">
              <a:solidFill>
                <a:srgbClr val="C00000"/>
              </a:solidFill>
            </a:endParaRPr>
          </a:p>
        </p:txBody>
      </p:sp>
      <p:sp>
        <p:nvSpPr>
          <p:cNvPr id="4" name="日期占位符 3"/>
          <p:cNvSpPr>
            <a:spLocks noGrp="1"/>
          </p:cNvSpPr>
          <p:nvPr>
            <p:ph type="dt" sz="half" idx="10"/>
          </p:nvPr>
        </p:nvSpPr>
        <p:spPr/>
        <p:txBody>
          <a:bodyPr/>
          <a:lstStyle/>
          <a:p>
            <a:fld id="{41D2AEF5-D648-4728-8573-61956C55922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观察操作码编码规律</a:t>
            </a:r>
            <a:endParaRPr lang="zh-CN" altLang="en-US" dirty="0"/>
          </a:p>
        </p:txBody>
      </p:sp>
      <p:sp>
        <p:nvSpPr>
          <p:cNvPr id="4" name="日期占位符 3"/>
          <p:cNvSpPr>
            <a:spLocks noGrp="1"/>
          </p:cNvSpPr>
          <p:nvPr>
            <p:ph type="dt" sz="half" idx="10"/>
          </p:nvPr>
        </p:nvSpPr>
        <p:spPr/>
        <p:txBody>
          <a:bodyPr/>
          <a:lstStyle/>
          <a:p>
            <a:fld id="{41D2AEF5-D648-4728-8573-61956C55922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pic>
        <p:nvPicPr>
          <p:cNvPr id="7" name="图片 6"/>
          <p:cNvPicPr>
            <a:picLocks noChangeAspect="1"/>
          </p:cNvPicPr>
          <p:nvPr/>
        </p:nvPicPr>
        <p:blipFill>
          <a:blip r:embed="rId1"/>
          <a:stretch>
            <a:fillRect/>
          </a:stretch>
        </p:blipFill>
        <p:spPr>
          <a:xfrm>
            <a:off x="3136663" y="1750919"/>
            <a:ext cx="4946103" cy="2960307"/>
          </a:xfrm>
          <a:prstGeom prst="rect">
            <a:avLst/>
          </a:prstGeom>
        </p:spPr>
      </p:pic>
      <p:sp>
        <p:nvSpPr>
          <p:cNvPr id="8" name="文本框 7"/>
          <p:cNvSpPr txBox="1"/>
          <p:nvPr/>
        </p:nvSpPr>
        <p:spPr>
          <a:xfrm>
            <a:off x="2929084" y="5021281"/>
            <a:ext cx="6711478" cy="523220"/>
          </a:xfrm>
          <a:prstGeom prst="rect">
            <a:avLst/>
          </a:prstGeom>
          <a:noFill/>
        </p:spPr>
        <p:txBody>
          <a:bodyPr wrap="square" rtlCol="0">
            <a:spAutoFit/>
          </a:bodyPr>
          <a:lstStyle/>
          <a:p>
            <a:r>
              <a:rPr lang="zh-CN" altLang="en-US" sz="2800" dirty="0"/>
              <a:t>操作相同，仅操作数的类型和长度不同</a:t>
            </a:r>
            <a:endParaRPr lang="zh-CN" altLang="en-US" sz="2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1600" y="118865"/>
            <a:ext cx="10515600" cy="734002"/>
          </a:xfrm>
        </p:spPr>
        <p:txBody>
          <a:bodyPr/>
          <a:lstStyle/>
          <a:p>
            <a:r>
              <a:rPr lang="zh-CN" altLang="en-US" dirty="0"/>
              <a:t>思路：将功能抽象出来</a:t>
            </a:r>
            <a:endParaRPr lang="zh-CN" altLang="en-US" dirty="0"/>
          </a:p>
        </p:txBody>
      </p:sp>
      <p:sp>
        <p:nvSpPr>
          <p:cNvPr id="4" name="日期占位符 3"/>
          <p:cNvSpPr>
            <a:spLocks noGrp="1"/>
          </p:cNvSpPr>
          <p:nvPr>
            <p:ph type="dt" sz="half" idx="10"/>
          </p:nvPr>
        </p:nvSpPr>
        <p:spPr/>
        <p:txBody>
          <a:bodyPr/>
          <a:lstStyle/>
          <a:p>
            <a:fld id="{41D2AEF5-D648-4728-8573-61956C55922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sp>
        <p:nvSpPr>
          <p:cNvPr id="7" name="文本框 6"/>
          <p:cNvSpPr txBox="1"/>
          <p:nvPr/>
        </p:nvSpPr>
        <p:spPr>
          <a:xfrm>
            <a:off x="57150" y="1283284"/>
            <a:ext cx="6356131" cy="507831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zh-CN" dirty="0">
                <a:solidFill>
                  <a:srgbClr val="C00000"/>
                </a:solidFill>
              </a:rPr>
              <a:t>void </a:t>
            </a:r>
            <a:r>
              <a:rPr lang="en-US" altLang="zh-CN" dirty="0" err="1">
                <a:solidFill>
                  <a:srgbClr val="C00000"/>
                </a:solidFill>
              </a:rPr>
              <a:t>execute_mov</a:t>
            </a:r>
            <a:r>
              <a:rPr lang="en-US" altLang="zh-CN" dirty="0">
                <a:solidFill>
                  <a:srgbClr val="C00000"/>
                </a:solidFill>
              </a:rPr>
              <a:t>(OPERAND * </a:t>
            </a:r>
            <a:r>
              <a:rPr lang="en-US" altLang="zh-CN" dirty="0" err="1">
                <a:solidFill>
                  <a:srgbClr val="C00000"/>
                </a:solidFill>
              </a:rPr>
              <a:t>opr_dest</a:t>
            </a:r>
            <a:r>
              <a:rPr lang="en-US" altLang="zh-CN" dirty="0">
                <a:solidFill>
                  <a:srgbClr val="C00000"/>
                </a:solidFill>
              </a:rPr>
              <a:t>, OPERAND * </a:t>
            </a:r>
            <a:r>
              <a:rPr lang="en-US" altLang="zh-CN" dirty="0" err="1">
                <a:solidFill>
                  <a:srgbClr val="C00000"/>
                </a:solidFill>
              </a:rPr>
              <a:t>opr_src</a:t>
            </a:r>
            <a:r>
              <a:rPr lang="en-US" altLang="zh-CN" dirty="0">
                <a:solidFill>
                  <a:srgbClr val="C00000"/>
                </a:solidFill>
              </a:rPr>
              <a:t>)</a:t>
            </a:r>
            <a:endParaRPr lang="en-US" altLang="zh-CN" dirty="0">
              <a:solidFill>
                <a:srgbClr val="C00000"/>
              </a:solidFill>
            </a:endParaRPr>
          </a:p>
          <a:p>
            <a:r>
              <a:rPr lang="en-US" altLang="zh-CN" dirty="0">
                <a:solidFill>
                  <a:srgbClr val="C00000"/>
                </a:solidFill>
              </a:rPr>
              <a:t>{</a:t>
            </a:r>
            <a:endParaRPr lang="en-US" altLang="zh-CN" dirty="0">
              <a:solidFill>
                <a:srgbClr val="C00000"/>
              </a:solidFill>
            </a:endParaRPr>
          </a:p>
          <a:p>
            <a:r>
              <a:rPr lang="en-US" altLang="zh-CN" dirty="0">
                <a:solidFill>
                  <a:srgbClr val="C00000"/>
                </a:solidFill>
              </a:rPr>
              <a:t>    </a:t>
            </a:r>
            <a:r>
              <a:rPr lang="en-US" altLang="zh-CN" dirty="0" err="1">
                <a:solidFill>
                  <a:srgbClr val="C00000"/>
                </a:solidFill>
              </a:rPr>
              <a:t>operand_read</a:t>
            </a:r>
            <a:r>
              <a:rPr lang="en-US" altLang="zh-CN" dirty="0">
                <a:solidFill>
                  <a:srgbClr val="C00000"/>
                </a:solidFill>
              </a:rPr>
              <a:t>(</a:t>
            </a:r>
            <a:r>
              <a:rPr lang="en-US" altLang="zh-CN" dirty="0" err="1">
                <a:solidFill>
                  <a:srgbClr val="C00000"/>
                </a:solidFill>
              </a:rPr>
              <a:t>opr_src</a:t>
            </a:r>
            <a:r>
              <a:rPr lang="en-US" altLang="zh-CN" dirty="0">
                <a:solidFill>
                  <a:srgbClr val="C00000"/>
                </a:solidFill>
              </a:rPr>
              <a:t>);      </a:t>
            </a:r>
            <a:endParaRPr lang="zh-CN" altLang="zh-CN" dirty="0">
              <a:solidFill>
                <a:srgbClr val="C00000"/>
              </a:solidFill>
            </a:endParaRPr>
          </a:p>
          <a:p>
            <a:r>
              <a:rPr lang="en-US" altLang="zh-CN" dirty="0">
                <a:solidFill>
                  <a:srgbClr val="C00000"/>
                </a:solidFill>
              </a:rPr>
              <a:t>    </a:t>
            </a:r>
            <a:r>
              <a:rPr lang="en-US" altLang="zh-CN" dirty="0" err="1">
                <a:solidFill>
                  <a:srgbClr val="C00000"/>
                </a:solidFill>
              </a:rPr>
              <a:t>opr_dest.val</a:t>
            </a:r>
            <a:r>
              <a:rPr lang="en-US" altLang="zh-CN" dirty="0">
                <a:solidFill>
                  <a:srgbClr val="C00000"/>
                </a:solidFill>
              </a:rPr>
              <a:t> = </a:t>
            </a:r>
            <a:r>
              <a:rPr lang="en-US" altLang="zh-CN" dirty="0" err="1">
                <a:solidFill>
                  <a:srgbClr val="C00000"/>
                </a:solidFill>
              </a:rPr>
              <a:t>opr_src.val</a:t>
            </a:r>
            <a:r>
              <a:rPr lang="en-US" altLang="zh-CN" dirty="0">
                <a:solidFill>
                  <a:srgbClr val="C00000"/>
                </a:solidFill>
              </a:rPr>
              <a:t>;</a:t>
            </a:r>
            <a:endParaRPr lang="zh-CN" altLang="zh-CN" dirty="0">
              <a:solidFill>
                <a:srgbClr val="C00000"/>
              </a:solidFill>
            </a:endParaRPr>
          </a:p>
          <a:p>
            <a:r>
              <a:rPr lang="en-US" altLang="zh-CN" dirty="0">
                <a:solidFill>
                  <a:srgbClr val="C00000"/>
                </a:solidFill>
              </a:rPr>
              <a:t>    </a:t>
            </a:r>
            <a:r>
              <a:rPr lang="en-US" altLang="zh-CN" dirty="0" err="1">
                <a:solidFill>
                  <a:srgbClr val="C00000"/>
                </a:solidFill>
              </a:rPr>
              <a:t>operand_write</a:t>
            </a:r>
            <a:r>
              <a:rPr lang="en-US" altLang="zh-CN" dirty="0">
                <a:solidFill>
                  <a:srgbClr val="C00000"/>
                </a:solidFill>
              </a:rPr>
              <a:t>(&amp;</a:t>
            </a:r>
            <a:r>
              <a:rPr lang="en-US" altLang="zh-CN" dirty="0" err="1">
                <a:solidFill>
                  <a:srgbClr val="C00000"/>
                </a:solidFill>
              </a:rPr>
              <a:t>opr_dest</a:t>
            </a:r>
            <a:r>
              <a:rPr lang="en-US" altLang="zh-CN" dirty="0">
                <a:solidFill>
                  <a:srgbClr val="C00000"/>
                </a:solidFill>
              </a:rPr>
              <a:t>);</a:t>
            </a:r>
            <a:endParaRPr lang="en-US" altLang="zh-CN" dirty="0">
              <a:solidFill>
                <a:srgbClr val="C00000"/>
              </a:solidFill>
            </a:endParaRPr>
          </a:p>
          <a:p>
            <a:r>
              <a:rPr lang="en-US" altLang="zh-CN" dirty="0">
                <a:solidFill>
                  <a:srgbClr val="C00000"/>
                </a:solidFill>
              </a:rPr>
              <a:t>}</a:t>
            </a:r>
            <a:endParaRPr lang="en-US" altLang="zh-CN" dirty="0">
              <a:solidFill>
                <a:srgbClr val="C00000"/>
              </a:solidFill>
            </a:endParaRPr>
          </a:p>
          <a:p>
            <a:endParaRPr lang="en-US" altLang="zh-CN" dirty="0"/>
          </a:p>
          <a:p>
            <a:r>
              <a:rPr lang="en-US" altLang="zh-CN" dirty="0" err="1"/>
              <a:t>make_instr_func</a:t>
            </a:r>
            <a:r>
              <a:rPr lang="en-US" altLang="zh-CN" dirty="0"/>
              <a:t>(mov_i2rm_v) { </a:t>
            </a:r>
            <a:endParaRPr lang="zh-CN" altLang="zh-CN" dirty="0"/>
          </a:p>
          <a:p>
            <a:r>
              <a:rPr lang="en-US" altLang="zh-CN" dirty="0"/>
              <a:t>    OPERAND </a:t>
            </a:r>
            <a:r>
              <a:rPr lang="en-US" altLang="zh-CN" dirty="0" err="1"/>
              <a:t>opr_dest</a:t>
            </a:r>
            <a:r>
              <a:rPr lang="en-US" altLang="zh-CN" dirty="0"/>
              <a:t>, </a:t>
            </a:r>
            <a:r>
              <a:rPr lang="en-US" altLang="zh-CN" dirty="0" err="1"/>
              <a:t>opr_src</a:t>
            </a:r>
            <a:r>
              <a:rPr lang="en-US" altLang="zh-CN" dirty="0"/>
              <a:t>; </a:t>
            </a:r>
            <a:endParaRPr lang="en-US" altLang="zh-CN" dirty="0"/>
          </a:p>
          <a:p>
            <a:r>
              <a:rPr lang="en-US" altLang="zh-CN" dirty="0"/>
              <a:t>    </a:t>
            </a:r>
            <a:r>
              <a:rPr lang="en-US" altLang="zh-CN" dirty="0" err="1"/>
              <a:t>opr_dest.data_size</a:t>
            </a:r>
            <a:r>
              <a:rPr lang="en-US" altLang="zh-CN" dirty="0"/>
              <a:t> = </a:t>
            </a:r>
            <a:r>
              <a:rPr lang="en-US" altLang="zh-CN" dirty="0" err="1"/>
              <a:t>data_size</a:t>
            </a:r>
            <a:r>
              <a:rPr lang="en-US" altLang="zh-CN" dirty="0"/>
              <a:t>;</a:t>
            </a:r>
            <a:endParaRPr lang="en-US" altLang="zh-CN" dirty="0"/>
          </a:p>
          <a:p>
            <a:r>
              <a:rPr lang="en-US" altLang="zh-CN" dirty="0"/>
              <a:t>    </a:t>
            </a:r>
            <a:r>
              <a:rPr lang="en-US" altLang="zh-CN" dirty="0" err="1"/>
              <a:t>int</a:t>
            </a:r>
            <a:r>
              <a:rPr lang="en-US" altLang="zh-CN" dirty="0"/>
              <a:t> </a:t>
            </a:r>
            <a:r>
              <a:rPr lang="en-US" altLang="zh-CN" dirty="0" err="1"/>
              <a:t>len</a:t>
            </a:r>
            <a:r>
              <a:rPr lang="en-US" altLang="zh-CN" dirty="0"/>
              <a:t> = 1;  </a:t>
            </a:r>
            <a:endParaRPr lang="zh-CN" altLang="zh-CN" dirty="0">
              <a:solidFill>
                <a:srgbClr val="00B050"/>
              </a:solidFill>
            </a:endParaRPr>
          </a:p>
          <a:p>
            <a:r>
              <a:rPr lang="en-US" altLang="zh-CN" dirty="0"/>
              <a:t>    </a:t>
            </a:r>
            <a:r>
              <a:rPr lang="en-US" altLang="zh-CN" dirty="0" err="1"/>
              <a:t>len</a:t>
            </a:r>
            <a:r>
              <a:rPr lang="en-US" altLang="zh-CN" dirty="0"/>
              <a:t> += </a:t>
            </a:r>
            <a:r>
              <a:rPr lang="en-US" altLang="zh-CN" dirty="0" err="1"/>
              <a:t>modrm_rm</a:t>
            </a:r>
            <a:r>
              <a:rPr lang="en-US" altLang="zh-CN" dirty="0"/>
              <a:t>(</a:t>
            </a:r>
            <a:r>
              <a:rPr lang="en-US" altLang="zh-CN" dirty="0" err="1"/>
              <a:t>eip</a:t>
            </a:r>
            <a:r>
              <a:rPr lang="en-US" altLang="zh-CN" dirty="0"/>
              <a:t> + 1, &amp;</a:t>
            </a:r>
            <a:r>
              <a:rPr lang="en-US" altLang="zh-CN" dirty="0" err="1"/>
              <a:t>opr_dest</a:t>
            </a:r>
            <a:r>
              <a:rPr lang="en-US" altLang="zh-CN" dirty="0"/>
              <a:t>);</a:t>
            </a:r>
            <a:r>
              <a:rPr lang="en-US" altLang="zh-CN" dirty="0">
                <a:solidFill>
                  <a:srgbClr val="FF0000"/>
                </a:solidFill>
              </a:rPr>
              <a:t> </a:t>
            </a:r>
            <a:endParaRPr lang="zh-CN" altLang="zh-CN" dirty="0">
              <a:solidFill>
                <a:srgbClr val="00B050"/>
              </a:solidFill>
            </a:endParaRPr>
          </a:p>
          <a:p>
            <a:r>
              <a:rPr lang="en-US" altLang="zh-CN" dirty="0"/>
              <a:t>    </a:t>
            </a:r>
            <a:r>
              <a:rPr lang="en-US" altLang="zh-CN" dirty="0" err="1"/>
              <a:t>opr_src.type</a:t>
            </a:r>
            <a:r>
              <a:rPr lang="en-US" altLang="zh-CN" dirty="0"/>
              <a:t> = OPR_IMM;       </a:t>
            </a:r>
            <a:endParaRPr lang="zh-CN" altLang="zh-CN" dirty="0">
              <a:solidFill>
                <a:srgbClr val="00B050"/>
              </a:solidFill>
            </a:endParaRPr>
          </a:p>
          <a:p>
            <a:r>
              <a:rPr lang="en-US" altLang="zh-CN" dirty="0"/>
              <a:t>    </a:t>
            </a:r>
            <a:r>
              <a:rPr lang="en-US" altLang="zh-CN" dirty="0" err="1"/>
              <a:t>opr_src.addr</a:t>
            </a:r>
            <a:r>
              <a:rPr lang="en-US" altLang="zh-CN" dirty="0"/>
              <a:t> = </a:t>
            </a:r>
            <a:r>
              <a:rPr lang="en-US" altLang="zh-CN" dirty="0" err="1"/>
              <a:t>eip</a:t>
            </a:r>
            <a:r>
              <a:rPr lang="en-US" altLang="zh-CN" dirty="0"/>
              <a:t> + </a:t>
            </a:r>
            <a:r>
              <a:rPr lang="en-US" altLang="zh-CN" dirty="0" err="1"/>
              <a:t>len</a:t>
            </a:r>
            <a:r>
              <a:rPr lang="en-US" altLang="zh-CN" dirty="0"/>
              <a:t>;       </a:t>
            </a:r>
            <a:endParaRPr lang="zh-CN" altLang="zh-CN" dirty="0">
              <a:solidFill>
                <a:srgbClr val="00B050"/>
              </a:solidFill>
            </a:endParaRPr>
          </a:p>
          <a:p>
            <a:r>
              <a:rPr lang="en-US" altLang="zh-CN" dirty="0"/>
              <a:t>    </a:t>
            </a:r>
            <a:r>
              <a:rPr lang="en-US" altLang="zh-CN" dirty="0" err="1"/>
              <a:t>opr_src.data_size</a:t>
            </a:r>
            <a:r>
              <a:rPr lang="en-US" altLang="zh-CN" dirty="0"/>
              <a:t> = </a:t>
            </a:r>
            <a:r>
              <a:rPr lang="en-US" altLang="zh-CN" dirty="0" err="1"/>
              <a:t>data_size</a:t>
            </a:r>
            <a:r>
              <a:rPr lang="en-US" altLang="zh-CN" dirty="0"/>
              <a:t>;       </a:t>
            </a:r>
            <a:endParaRPr lang="en-US" altLang="zh-CN" dirty="0"/>
          </a:p>
          <a:p>
            <a:r>
              <a:rPr lang="en-US" altLang="zh-CN" b="1" dirty="0">
                <a:solidFill>
                  <a:srgbClr val="C00000"/>
                </a:solidFill>
              </a:rPr>
              <a:t>    </a:t>
            </a:r>
            <a:r>
              <a:rPr lang="en-US" altLang="zh-CN" b="1" dirty="0" err="1">
                <a:solidFill>
                  <a:srgbClr val="C00000"/>
                </a:solidFill>
              </a:rPr>
              <a:t>execute_mov</a:t>
            </a:r>
            <a:r>
              <a:rPr lang="en-US" altLang="zh-CN" b="1" dirty="0">
                <a:solidFill>
                  <a:srgbClr val="C00000"/>
                </a:solidFill>
              </a:rPr>
              <a:t>(&amp;</a:t>
            </a:r>
            <a:r>
              <a:rPr lang="en-US" altLang="zh-CN" b="1" dirty="0" err="1">
                <a:solidFill>
                  <a:srgbClr val="C00000"/>
                </a:solidFill>
              </a:rPr>
              <a:t>opr_dest</a:t>
            </a:r>
            <a:r>
              <a:rPr lang="en-US" altLang="zh-CN" b="1" dirty="0">
                <a:solidFill>
                  <a:srgbClr val="C00000"/>
                </a:solidFill>
              </a:rPr>
              <a:t>, &amp;</a:t>
            </a:r>
            <a:r>
              <a:rPr lang="en-US" altLang="zh-CN" b="1" dirty="0" err="1">
                <a:solidFill>
                  <a:srgbClr val="C00000"/>
                </a:solidFill>
              </a:rPr>
              <a:t>opr_src</a:t>
            </a:r>
            <a:r>
              <a:rPr lang="en-US" altLang="zh-CN" b="1" dirty="0">
                <a:solidFill>
                  <a:srgbClr val="C00000"/>
                </a:solidFill>
              </a:rPr>
              <a:t>);</a:t>
            </a:r>
            <a:endParaRPr lang="zh-CN" altLang="zh-CN" b="1" dirty="0">
              <a:solidFill>
                <a:srgbClr val="C00000"/>
              </a:solidFill>
            </a:endParaRPr>
          </a:p>
          <a:p>
            <a:r>
              <a:rPr lang="en-US" altLang="zh-CN" dirty="0"/>
              <a:t>    return </a:t>
            </a:r>
            <a:r>
              <a:rPr lang="en-US" altLang="zh-CN" dirty="0" err="1"/>
              <a:t>len</a:t>
            </a:r>
            <a:r>
              <a:rPr lang="en-US" altLang="zh-CN" dirty="0"/>
              <a:t> + </a:t>
            </a:r>
            <a:r>
              <a:rPr lang="en-US" altLang="zh-CN" dirty="0" err="1"/>
              <a:t>data_size</a:t>
            </a:r>
            <a:r>
              <a:rPr lang="en-US" altLang="zh-CN" dirty="0"/>
              <a:t> / 8;</a:t>
            </a:r>
            <a:endParaRPr lang="zh-CN" altLang="zh-CN" dirty="0"/>
          </a:p>
          <a:p>
            <a:r>
              <a:rPr lang="en-US" altLang="zh-CN" dirty="0"/>
              <a:t>}</a:t>
            </a:r>
            <a:endParaRPr lang="zh-CN" altLang="en-US" dirty="0"/>
          </a:p>
        </p:txBody>
      </p:sp>
      <p:sp>
        <p:nvSpPr>
          <p:cNvPr id="8" name="文本框 7"/>
          <p:cNvSpPr txBox="1"/>
          <p:nvPr/>
        </p:nvSpPr>
        <p:spPr>
          <a:xfrm>
            <a:off x="6468459" y="1145039"/>
            <a:ext cx="5494941" cy="258532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zh-CN" dirty="0" err="1">
                <a:solidFill>
                  <a:schemeClr val="tx1"/>
                </a:solidFill>
              </a:rPr>
              <a:t>make_instr_func</a:t>
            </a:r>
            <a:r>
              <a:rPr lang="en-US" altLang="zh-CN" dirty="0">
                <a:solidFill>
                  <a:schemeClr val="tx1"/>
                </a:solidFill>
              </a:rPr>
              <a:t>(mov_r2rm_v) { </a:t>
            </a:r>
            <a:endParaRPr lang="zh-CN" altLang="zh-CN" dirty="0">
              <a:solidFill>
                <a:schemeClr val="tx1"/>
              </a:solidFill>
            </a:endParaRPr>
          </a:p>
          <a:p>
            <a:r>
              <a:rPr lang="en-US" altLang="zh-CN" dirty="0">
                <a:solidFill>
                  <a:schemeClr val="tx1"/>
                </a:solidFill>
              </a:rPr>
              <a:t>    OPERAND </a:t>
            </a:r>
            <a:r>
              <a:rPr lang="en-US" altLang="zh-CN" dirty="0" err="1">
                <a:solidFill>
                  <a:schemeClr val="tx1"/>
                </a:solidFill>
              </a:rPr>
              <a:t>opr_dest</a:t>
            </a:r>
            <a:r>
              <a:rPr lang="en-US" altLang="zh-CN" dirty="0">
                <a:solidFill>
                  <a:schemeClr val="tx1"/>
                </a:solidFill>
              </a:rPr>
              <a:t>, </a:t>
            </a:r>
            <a:r>
              <a:rPr lang="en-US" altLang="zh-CN" dirty="0" err="1">
                <a:solidFill>
                  <a:schemeClr val="tx1"/>
                </a:solidFill>
              </a:rPr>
              <a:t>opr_src</a:t>
            </a:r>
            <a:r>
              <a:rPr lang="en-US" altLang="zh-CN" dirty="0">
                <a:solidFill>
                  <a:schemeClr val="tx1"/>
                </a:solidFill>
              </a:rPr>
              <a:t>; </a:t>
            </a:r>
            <a:endParaRPr lang="en-US" altLang="zh-CN" dirty="0">
              <a:solidFill>
                <a:schemeClr val="tx1"/>
              </a:solidFill>
            </a:endParaRPr>
          </a:p>
          <a:p>
            <a:r>
              <a:rPr lang="en-US" altLang="zh-CN" dirty="0">
                <a:solidFill>
                  <a:schemeClr val="tx1"/>
                </a:solidFill>
              </a:rPr>
              <a:t>    </a:t>
            </a:r>
            <a:r>
              <a:rPr lang="en-US" altLang="zh-CN" dirty="0" err="1">
                <a:solidFill>
                  <a:schemeClr val="tx1"/>
                </a:solidFill>
              </a:rPr>
              <a:t>opr_dest.data_size</a:t>
            </a:r>
            <a:r>
              <a:rPr lang="en-US" altLang="zh-CN" dirty="0">
                <a:solidFill>
                  <a:schemeClr val="tx1"/>
                </a:solidFill>
              </a:rPr>
              <a:t> = </a:t>
            </a:r>
            <a:r>
              <a:rPr lang="en-US" altLang="zh-CN" dirty="0" err="1">
                <a:solidFill>
                  <a:schemeClr val="tx1"/>
                </a:solidFill>
              </a:rPr>
              <a:t>data_size</a:t>
            </a:r>
            <a:r>
              <a:rPr lang="en-US" altLang="zh-CN" dirty="0">
                <a:solidFill>
                  <a:schemeClr val="tx1"/>
                </a:solidFill>
              </a:rPr>
              <a:t>;</a:t>
            </a:r>
            <a:endParaRPr lang="en-US" altLang="zh-CN" dirty="0">
              <a:solidFill>
                <a:schemeClr val="tx1"/>
              </a:solidFill>
            </a:endParaRPr>
          </a:p>
          <a:p>
            <a:r>
              <a:rPr lang="en-US" altLang="zh-CN" dirty="0">
                <a:solidFill>
                  <a:schemeClr val="tx1"/>
                </a:solidFill>
              </a:rPr>
              <a:t>    </a:t>
            </a:r>
            <a:r>
              <a:rPr lang="en-US" altLang="zh-CN" dirty="0" err="1">
                <a:solidFill>
                  <a:schemeClr val="tx1"/>
                </a:solidFill>
              </a:rPr>
              <a:t>opr_src.data_size</a:t>
            </a:r>
            <a:r>
              <a:rPr lang="en-US" altLang="zh-CN" dirty="0">
                <a:solidFill>
                  <a:schemeClr val="tx1"/>
                </a:solidFill>
              </a:rPr>
              <a:t> = </a:t>
            </a:r>
            <a:r>
              <a:rPr lang="en-US" altLang="zh-CN" dirty="0" err="1">
                <a:solidFill>
                  <a:schemeClr val="tx1"/>
                </a:solidFill>
              </a:rPr>
              <a:t>data_size</a:t>
            </a:r>
            <a:endParaRPr lang="en-US" altLang="zh-CN" dirty="0">
              <a:solidFill>
                <a:schemeClr val="tx1"/>
              </a:solidFill>
            </a:endParaRPr>
          </a:p>
          <a:p>
            <a:r>
              <a:rPr lang="en-US" altLang="zh-CN" dirty="0">
                <a:solidFill>
                  <a:schemeClr val="tx1"/>
                </a:solidFill>
              </a:rPr>
              <a:t>    </a:t>
            </a:r>
            <a:r>
              <a:rPr lang="en-US" altLang="zh-CN" dirty="0" err="1">
                <a:solidFill>
                  <a:schemeClr val="tx1"/>
                </a:solidFill>
              </a:rPr>
              <a:t>int</a:t>
            </a:r>
            <a:r>
              <a:rPr lang="en-US" altLang="zh-CN" dirty="0">
                <a:solidFill>
                  <a:schemeClr val="tx1"/>
                </a:solidFill>
              </a:rPr>
              <a:t> </a:t>
            </a:r>
            <a:r>
              <a:rPr lang="en-US" altLang="zh-CN" dirty="0" err="1">
                <a:solidFill>
                  <a:schemeClr val="tx1"/>
                </a:solidFill>
              </a:rPr>
              <a:t>len</a:t>
            </a:r>
            <a:r>
              <a:rPr lang="en-US" altLang="zh-CN" dirty="0">
                <a:solidFill>
                  <a:schemeClr val="tx1"/>
                </a:solidFill>
              </a:rPr>
              <a:t> = 1;  </a:t>
            </a:r>
            <a:endParaRPr lang="zh-CN" altLang="zh-CN" dirty="0">
              <a:solidFill>
                <a:schemeClr val="tx1"/>
              </a:solidFill>
            </a:endParaRPr>
          </a:p>
          <a:p>
            <a:r>
              <a:rPr lang="en-US" altLang="zh-CN" dirty="0">
                <a:solidFill>
                  <a:schemeClr val="tx1"/>
                </a:solidFill>
              </a:rPr>
              <a:t>    </a:t>
            </a:r>
            <a:r>
              <a:rPr lang="en-US" altLang="zh-CN" dirty="0" err="1">
                <a:solidFill>
                  <a:schemeClr val="tx1"/>
                </a:solidFill>
              </a:rPr>
              <a:t>len</a:t>
            </a:r>
            <a:r>
              <a:rPr lang="en-US" altLang="zh-CN" dirty="0">
                <a:solidFill>
                  <a:schemeClr val="tx1"/>
                </a:solidFill>
              </a:rPr>
              <a:t> += </a:t>
            </a:r>
            <a:r>
              <a:rPr lang="en-US" altLang="zh-CN" dirty="0" err="1">
                <a:solidFill>
                  <a:schemeClr val="tx1"/>
                </a:solidFill>
              </a:rPr>
              <a:t>modrm_r_rm</a:t>
            </a:r>
            <a:r>
              <a:rPr lang="en-US" altLang="zh-CN" dirty="0">
                <a:solidFill>
                  <a:schemeClr val="tx1"/>
                </a:solidFill>
              </a:rPr>
              <a:t>(</a:t>
            </a:r>
            <a:r>
              <a:rPr lang="en-US" altLang="zh-CN" dirty="0" err="1">
                <a:solidFill>
                  <a:schemeClr val="tx1"/>
                </a:solidFill>
              </a:rPr>
              <a:t>eip</a:t>
            </a:r>
            <a:r>
              <a:rPr lang="en-US" altLang="zh-CN" dirty="0">
                <a:solidFill>
                  <a:schemeClr val="tx1"/>
                </a:solidFill>
              </a:rPr>
              <a:t> + 1, &amp;</a:t>
            </a:r>
            <a:r>
              <a:rPr lang="en-US" altLang="zh-CN" dirty="0" err="1">
                <a:solidFill>
                  <a:schemeClr val="tx1"/>
                </a:solidFill>
              </a:rPr>
              <a:t>opr_src</a:t>
            </a:r>
            <a:r>
              <a:rPr lang="en-US" altLang="zh-CN" dirty="0">
                <a:solidFill>
                  <a:schemeClr val="tx1"/>
                </a:solidFill>
              </a:rPr>
              <a:t>, &amp;</a:t>
            </a:r>
            <a:r>
              <a:rPr lang="en-US" altLang="zh-CN" dirty="0" err="1">
                <a:solidFill>
                  <a:schemeClr val="tx1"/>
                </a:solidFill>
              </a:rPr>
              <a:t>opr_dest</a:t>
            </a:r>
            <a:r>
              <a:rPr lang="en-US" altLang="zh-CN" dirty="0">
                <a:solidFill>
                  <a:schemeClr val="tx1"/>
                </a:solidFill>
              </a:rPr>
              <a:t>); </a:t>
            </a:r>
            <a:endParaRPr lang="zh-CN" altLang="zh-CN" dirty="0">
              <a:solidFill>
                <a:schemeClr val="tx1"/>
              </a:solidFill>
            </a:endParaRPr>
          </a:p>
          <a:p>
            <a:r>
              <a:rPr lang="en-US" altLang="zh-CN" b="1" dirty="0">
                <a:solidFill>
                  <a:srgbClr val="C00000"/>
                </a:solidFill>
              </a:rPr>
              <a:t>    </a:t>
            </a:r>
            <a:r>
              <a:rPr lang="en-US" altLang="zh-CN" b="1" dirty="0" err="1">
                <a:solidFill>
                  <a:srgbClr val="C00000"/>
                </a:solidFill>
              </a:rPr>
              <a:t>execute_mov</a:t>
            </a:r>
            <a:r>
              <a:rPr lang="en-US" altLang="zh-CN" b="1" dirty="0">
                <a:solidFill>
                  <a:srgbClr val="C00000"/>
                </a:solidFill>
              </a:rPr>
              <a:t>(&amp;</a:t>
            </a:r>
            <a:r>
              <a:rPr lang="en-US" altLang="zh-CN" b="1" dirty="0" err="1">
                <a:solidFill>
                  <a:srgbClr val="C00000"/>
                </a:solidFill>
              </a:rPr>
              <a:t>opr_dest</a:t>
            </a:r>
            <a:r>
              <a:rPr lang="en-US" altLang="zh-CN" b="1" dirty="0">
                <a:solidFill>
                  <a:srgbClr val="C00000"/>
                </a:solidFill>
              </a:rPr>
              <a:t>, &amp;</a:t>
            </a:r>
            <a:r>
              <a:rPr lang="en-US" altLang="zh-CN" b="1" dirty="0" err="1">
                <a:solidFill>
                  <a:srgbClr val="C00000"/>
                </a:solidFill>
              </a:rPr>
              <a:t>opr_src</a:t>
            </a:r>
            <a:r>
              <a:rPr lang="en-US" altLang="zh-CN" b="1" dirty="0">
                <a:solidFill>
                  <a:srgbClr val="C00000"/>
                </a:solidFill>
              </a:rPr>
              <a:t>);</a:t>
            </a:r>
            <a:endParaRPr lang="en-US" altLang="zh-CN" b="1" dirty="0">
              <a:solidFill>
                <a:srgbClr val="C00000"/>
              </a:solidFill>
            </a:endParaRPr>
          </a:p>
          <a:p>
            <a:r>
              <a:rPr lang="en-US" altLang="zh-CN" dirty="0">
                <a:solidFill>
                  <a:schemeClr val="tx1"/>
                </a:solidFill>
              </a:rPr>
              <a:t>    return </a:t>
            </a:r>
            <a:r>
              <a:rPr lang="en-US" altLang="zh-CN" dirty="0" err="1">
                <a:solidFill>
                  <a:schemeClr val="tx1"/>
                </a:solidFill>
              </a:rPr>
              <a:t>len</a:t>
            </a:r>
            <a:r>
              <a:rPr lang="en-US" altLang="zh-CN" dirty="0">
                <a:solidFill>
                  <a:schemeClr val="tx1"/>
                </a:solidFill>
              </a:rPr>
              <a:t>;</a:t>
            </a:r>
            <a:endParaRPr lang="zh-CN" altLang="zh-CN" dirty="0">
              <a:solidFill>
                <a:schemeClr val="tx1"/>
              </a:solidFill>
            </a:endParaRPr>
          </a:p>
          <a:p>
            <a:r>
              <a:rPr lang="en-US" altLang="zh-CN" dirty="0">
                <a:solidFill>
                  <a:schemeClr val="tx1"/>
                </a:solidFill>
              </a:rPr>
              <a:t>}</a:t>
            </a:r>
            <a:endParaRPr lang="zh-CN" altLang="en-US" dirty="0">
              <a:solidFill>
                <a:schemeClr val="tx1"/>
              </a:solidFill>
            </a:endParaRPr>
          </a:p>
        </p:txBody>
      </p:sp>
      <p:sp>
        <p:nvSpPr>
          <p:cNvPr id="9" name="文本框 8"/>
          <p:cNvSpPr txBox="1"/>
          <p:nvPr/>
        </p:nvSpPr>
        <p:spPr>
          <a:xfrm>
            <a:off x="6462109" y="3776274"/>
            <a:ext cx="5494941" cy="258532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zh-CN" dirty="0" err="1">
                <a:solidFill>
                  <a:schemeClr val="tx1"/>
                </a:solidFill>
              </a:rPr>
              <a:t>make_instr_func</a:t>
            </a:r>
            <a:r>
              <a:rPr lang="en-US" altLang="zh-CN" dirty="0">
                <a:solidFill>
                  <a:schemeClr val="tx1"/>
                </a:solidFill>
              </a:rPr>
              <a:t>(mov_r2rm_v) { </a:t>
            </a:r>
            <a:endParaRPr lang="zh-CN" altLang="zh-CN" dirty="0">
              <a:solidFill>
                <a:schemeClr val="tx1"/>
              </a:solidFill>
            </a:endParaRPr>
          </a:p>
          <a:p>
            <a:r>
              <a:rPr lang="en-US" altLang="zh-CN" dirty="0">
                <a:solidFill>
                  <a:schemeClr val="tx1"/>
                </a:solidFill>
              </a:rPr>
              <a:t>    OPERAND </a:t>
            </a:r>
            <a:r>
              <a:rPr lang="en-US" altLang="zh-CN" dirty="0" err="1">
                <a:solidFill>
                  <a:schemeClr val="tx1"/>
                </a:solidFill>
              </a:rPr>
              <a:t>opr_dest</a:t>
            </a:r>
            <a:r>
              <a:rPr lang="en-US" altLang="zh-CN" dirty="0">
                <a:solidFill>
                  <a:schemeClr val="tx1"/>
                </a:solidFill>
              </a:rPr>
              <a:t>, </a:t>
            </a:r>
            <a:r>
              <a:rPr lang="en-US" altLang="zh-CN" dirty="0" err="1">
                <a:solidFill>
                  <a:schemeClr val="tx1"/>
                </a:solidFill>
              </a:rPr>
              <a:t>opr_src</a:t>
            </a:r>
            <a:r>
              <a:rPr lang="en-US" altLang="zh-CN" dirty="0">
                <a:solidFill>
                  <a:schemeClr val="tx1"/>
                </a:solidFill>
              </a:rPr>
              <a:t>; </a:t>
            </a:r>
            <a:endParaRPr lang="en-US" altLang="zh-CN" dirty="0">
              <a:solidFill>
                <a:schemeClr val="tx1"/>
              </a:solidFill>
            </a:endParaRPr>
          </a:p>
          <a:p>
            <a:r>
              <a:rPr lang="en-US" altLang="zh-CN" dirty="0">
                <a:solidFill>
                  <a:schemeClr val="tx1"/>
                </a:solidFill>
              </a:rPr>
              <a:t>    </a:t>
            </a:r>
            <a:r>
              <a:rPr lang="en-US" altLang="zh-CN" dirty="0" err="1">
                <a:solidFill>
                  <a:schemeClr val="tx1"/>
                </a:solidFill>
              </a:rPr>
              <a:t>opr_dest.data_size</a:t>
            </a:r>
            <a:r>
              <a:rPr lang="en-US" altLang="zh-CN" dirty="0">
                <a:solidFill>
                  <a:schemeClr val="tx1"/>
                </a:solidFill>
              </a:rPr>
              <a:t> = </a:t>
            </a:r>
            <a:r>
              <a:rPr lang="en-US" altLang="zh-CN" dirty="0" err="1">
                <a:solidFill>
                  <a:schemeClr val="tx1"/>
                </a:solidFill>
              </a:rPr>
              <a:t>data_size</a:t>
            </a:r>
            <a:r>
              <a:rPr lang="en-US" altLang="zh-CN" dirty="0">
                <a:solidFill>
                  <a:schemeClr val="tx1"/>
                </a:solidFill>
              </a:rPr>
              <a:t>;</a:t>
            </a:r>
            <a:endParaRPr lang="en-US" altLang="zh-CN" dirty="0">
              <a:solidFill>
                <a:schemeClr val="tx1"/>
              </a:solidFill>
            </a:endParaRPr>
          </a:p>
          <a:p>
            <a:r>
              <a:rPr lang="en-US" altLang="zh-CN" dirty="0">
                <a:solidFill>
                  <a:schemeClr val="tx1"/>
                </a:solidFill>
              </a:rPr>
              <a:t>    </a:t>
            </a:r>
            <a:r>
              <a:rPr lang="en-US" altLang="zh-CN" dirty="0" err="1">
                <a:solidFill>
                  <a:schemeClr val="tx1"/>
                </a:solidFill>
              </a:rPr>
              <a:t>opr_src.data_size</a:t>
            </a:r>
            <a:r>
              <a:rPr lang="en-US" altLang="zh-CN" dirty="0">
                <a:solidFill>
                  <a:schemeClr val="tx1"/>
                </a:solidFill>
              </a:rPr>
              <a:t> = </a:t>
            </a:r>
            <a:r>
              <a:rPr lang="en-US" altLang="zh-CN" dirty="0" err="1">
                <a:solidFill>
                  <a:schemeClr val="tx1"/>
                </a:solidFill>
              </a:rPr>
              <a:t>data_size</a:t>
            </a:r>
            <a:endParaRPr lang="en-US" altLang="zh-CN" dirty="0">
              <a:solidFill>
                <a:schemeClr val="tx1"/>
              </a:solidFill>
            </a:endParaRPr>
          </a:p>
          <a:p>
            <a:r>
              <a:rPr lang="en-US" altLang="zh-CN" dirty="0">
                <a:solidFill>
                  <a:schemeClr val="tx1"/>
                </a:solidFill>
              </a:rPr>
              <a:t>    </a:t>
            </a:r>
            <a:r>
              <a:rPr lang="en-US" altLang="zh-CN" dirty="0" err="1">
                <a:solidFill>
                  <a:schemeClr val="tx1"/>
                </a:solidFill>
              </a:rPr>
              <a:t>int</a:t>
            </a:r>
            <a:r>
              <a:rPr lang="en-US" altLang="zh-CN" dirty="0">
                <a:solidFill>
                  <a:schemeClr val="tx1"/>
                </a:solidFill>
              </a:rPr>
              <a:t> </a:t>
            </a:r>
            <a:r>
              <a:rPr lang="en-US" altLang="zh-CN" dirty="0" err="1">
                <a:solidFill>
                  <a:schemeClr val="tx1"/>
                </a:solidFill>
              </a:rPr>
              <a:t>len</a:t>
            </a:r>
            <a:r>
              <a:rPr lang="en-US" altLang="zh-CN" dirty="0">
                <a:solidFill>
                  <a:schemeClr val="tx1"/>
                </a:solidFill>
              </a:rPr>
              <a:t> = 1;  </a:t>
            </a:r>
            <a:endParaRPr lang="zh-CN" altLang="zh-CN" dirty="0">
              <a:solidFill>
                <a:schemeClr val="tx1"/>
              </a:solidFill>
            </a:endParaRPr>
          </a:p>
          <a:p>
            <a:r>
              <a:rPr lang="en-US" altLang="zh-CN" dirty="0">
                <a:solidFill>
                  <a:schemeClr val="tx1"/>
                </a:solidFill>
              </a:rPr>
              <a:t>    </a:t>
            </a:r>
            <a:r>
              <a:rPr lang="en-US" altLang="zh-CN" dirty="0" err="1">
                <a:solidFill>
                  <a:schemeClr val="tx1"/>
                </a:solidFill>
              </a:rPr>
              <a:t>len</a:t>
            </a:r>
            <a:r>
              <a:rPr lang="en-US" altLang="zh-CN" dirty="0">
                <a:solidFill>
                  <a:schemeClr val="tx1"/>
                </a:solidFill>
              </a:rPr>
              <a:t> += </a:t>
            </a:r>
            <a:r>
              <a:rPr lang="en-US" altLang="zh-CN" dirty="0" err="1">
                <a:solidFill>
                  <a:schemeClr val="tx1"/>
                </a:solidFill>
              </a:rPr>
              <a:t>modrm_r_rm</a:t>
            </a:r>
            <a:r>
              <a:rPr lang="en-US" altLang="zh-CN" dirty="0">
                <a:solidFill>
                  <a:schemeClr val="tx1"/>
                </a:solidFill>
              </a:rPr>
              <a:t>(</a:t>
            </a:r>
            <a:r>
              <a:rPr lang="en-US" altLang="zh-CN" dirty="0" err="1">
                <a:solidFill>
                  <a:schemeClr val="tx1"/>
                </a:solidFill>
              </a:rPr>
              <a:t>eip</a:t>
            </a:r>
            <a:r>
              <a:rPr lang="en-US" altLang="zh-CN" dirty="0">
                <a:solidFill>
                  <a:schemeClr val="tx1"/>
                </a:solidFill>
              </a:rPr>
              <a:t> + 1, &amp;</a:t>
            </a:r>
            <a:r>
              <a:rPr lang="en-US" altLang="zh-CN" dirty="0" err="1">
                <a:solidFill>
                  <a:schemeClr val="tx1"/>
                </a:solidFill>
              </a:rPr>
              <a:t>opr_dest</a:t>
            </a:r>
            <a:r>
              <a:rPr lang="en-US" altLang="zh-CN" dirty="0">
                <a:solidFill>
                  <a:schemeClr val="tx1"/>
                </a:solidFill>
              </a:rPr>
              <a:t>, &amp;</a:t>
            </a:r>
            <a:r>
              <a:rPr lang="en-US" altLang="zh-CN" dirty="0" err="1">
                <a:solidFill>
                  <a:schemeClr val="tx1"/>
                </a:solidFill>
              </a:rPr>
              <a:t>opr_src</a:t>
            </a:r>
            <a:r>
              <a:rPr lang="en-US" altLang="zh-CN" dirty="0">
                <a:solidFill>
                  <a:schemeClr val="tx1"/>
                </a:solidFill>
              </a:rPr>
              <a:t>); </a:t>
            </a:r>
            <a:endParaRPr lang="zh-CN" altLang="zh-CN" dirty="0">
              <a:solidFill>
                <a:schemeClr val="tx1"/>
              </a:solidFill>
            </a:endParaRPr>
          </a:p>
          <a:p>
            <a:r>
              <a:rPr lang="en-US" altLang="zh-CN" b="1" dirty="0">
                <a:solidFill>
                  <a:srgbClr val="C00000"/>
                </a:solidFill>
              </a:rPr>
              <a:t>    </a:t>
            </a:r>
            <a:r>
              <a:rPr lang="en-US" altLang="zh-CN" b="1" dirty="0" err="1">
                <a:solidFill>
                  <a:srgbClr val="C00000"/>
                </a:solidFill>
              </a:rPr>
              <a:t>execute_mov</a:t>
            </a:r>
            <a:r>
              <a:rPr lang="en-US" altLang="zh-CN" b="1" dirty="0">
                <a:solidFill>
                  <a:srgbClr val="C00000"/>
                </a:solidFill>
              </a:rPr>
              <a:t>(&amp;</a:t>
            </a:r>
            <a:r>
              <a:rPr lang="en-US" altLang="zh-CN" b="1" dirty="0" err="1">
                <a:solidFill>
                  <a:srgbClr val="C00000"/>
                </a:solidFill>
              </a:rPr>
              <a:t>opr_dest</a:t>
            </a:r>
            <a:r>
              <a:rPr lang="en-US" altLang="zh-CN" b="1" dirty="0">
                <a:solidFill>
                  <a:srgbClr val="C00000"/>
                </a:solidFill>
              </a:rPr>
              <a:t>, &amp;</a:t>
            </a:r>
            <a:r>
              <a:rPr lang="en-US" altLang="zh-CN" b="1" dirty="0" err="1">
                <a:solidFill>
                  <a:srgbClr val="C00000"/>
                </a:solidFill>
              </a:rPr>
              <a:t>opr_src</a:t>
            </a:r>
            <a:r>
              <a:rPr lang="en-US" altLang="zh-CN" b="1" dirty="0">
                <a:solidFill>
                  <a:srgbClr val="C00000"/>
                </a:solidFill>
              </a:rPr>
              <a:t>);</a:t>
            </a:r>
            <a:endParaRPr lang="en-US" altLang="zh-CN" b="1" dirty="0">
              <a:solidFill>
                <a:srgbClr val="C00000"/>
              </a:solidFill>
            </a:endParaRPr>
          </a:p>
          <a:p>
            <a:r>
              <a:rPr lang="en-US" altLang="zh-CN" dirty="0">
                <a:solidFill>
                  <a:schemeClr val="tx1"/>
                </a:solidFill>
              </a:rPr>
              <a:t>    return </a:t>
            </a:r>
            <a:r>
              <a:rPr lang="en-US" altLang="zh-CN" dirty="0" err="1">
                <a:solidFill>
                  <a:schemeClr val="tx1"/>
                </a:solidFill>
              </a:rPr>
              <a:t>len</a:t>
            </a:r>
            <a:r>
              <a:rPr lang="en-US" altLang="zh-CN" dirty="0">
                <a:solidFill>
                  <a:schemeClr val="tx1"/>
                </a:solidFill>
              </a:rPr>
              <a:t>;</a:t>
            </a:r>
            <a:endParaRPr lang="zh-CN" altLang="zh-CN" dirty="0">
              <a:solidFill>
                <a:schemeClr val="tx1"/>
              </a:solidFill>
            </a:endParaRPr>
          </a:p>
          <a:p>
            <a:r>
              <a:rPr lang="en-US" altLang="zh-CN" dirty="0">
                <a:solidFill>
                  <a:schemeClr val="tx1"/>
                </a:solidFill>
              </a:rPr>
              <a:t>}</a:t>
            </a:r>
            <a:endParaRPr lang="zh-CN" altLang="en-US" dirty="0">
              <a:solidFill>
                <a:schemeClr val="tx1"/>
              </a:solidFill>
            </a:endParaRPr>
          </a:p>
        </p:txBody>
      </p:sp>
      <p:sp>
        <p:nvSpPr>
          <p:cNvPr id="3" name="圆角矩形 2"/>
          <p:cNvSpPr/>
          <p:nvPr/>
        </p:nvSpPr>
        <p:spPr>
          <a:xfrm>
            <a:off x="4406900" y="2895600"/>
            <a:ext cx="1898650" cy="14732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操作数解码能不能抽象？</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644650" y="2174075"/>
            <a:ext cx="4648200" cy="4470455"/>
          </a:xfrm>
          <a:prstGeom prst="rect">
            <a:avLst/>
          </a:prstGeom>
          <a:ln>
            <a:solidFill>
              <a:schemeClr val="tx1"/>
            </a:solidFill>
            <a:prstDash val="dash"/>
          </a:ln>
        </p:spPr>
        <p:txBody>
          <a:bodyPr wrap="square">
            <a:spAutoFit/>
          </a:bodyPr>
          <a:lstStyle/>
          <a:p>
            <a:pPr marL="228600" algn="just">
              <a:spcBef>
                <a:spcPts val="250"/>
              </a:spcBef>
            </a:pPr>
            <a:r>
              <a:rPr lang="en-US" altLang="zh-CN" kern="100" dirty="0" err="1">
                <a:latin typeface="等线" panose="02010600030101010101" charset="-122"/>
                <a:cs typeface="Times New Roman" panose="02020603050405020304" pitchFamily="18" charset="0"/>
              </a:rPr>
              <a:t>make_instr_func</a:t>
            </a:r>
            <a:r>
              <a:rPr lang="en-US" altLang="zh-CN" kern="100" dirty="0">
                <a:latin typeface="等线" panose="02010600030101010101" charset="-122"/>
                <a:cs typeface="Times New Roman" panose="02020603050405020304" pitchFamily="18" charset="0"/>
              </a:rPr>
              <a:t>(mov_r2rm_v) {</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OPERAND r, </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zh-CN" kern="100" dirty="0">
                <a:solidFill>
                  <a:srgbClr val="00B050"/>
                </a:solidFill>
                <a:latin typeface="等线" panose="02010600030101010101" charset="-122"/>
                <a:cs typeface="Times New Roman" panose="02020603050405020304" pitchFamily="18" charset="0"/>
              </a:rPr>
              <a:t>指定操作数长度</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rm.data_size</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r.data_size</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data_size</a:t>
            </a:r>
            <a:r>
              <a:rPr lang="en-US" altLang="zh-CN" kern="100" dirty="0">
                <a:latin typeface="等线" panose="02010600030101010101" charset="-122"/>
                <a:cs typeface="Times New Roman" panose="02020603050405020304" pitchFamily="18" charset="0"/>
              </a:rPr>
              <a:t>;  </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int</a:t>
            </a: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 = 1;</a:t>
            </a:r>
            <a:endParaRPr lang="en-US"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zh-CN" kern="100" dirty="0">
                <a:solidFill>
                  <a:srgbClr val="00B050"/>
                </a:solidFill>
                <a:latin typeface="等线" panose="02010600030101010101" charset="-122"/>
                <a:cs typeface="Times New Roman" panose="02020603050405020304" pitchFamily="18" charset="0"/>
              </a:rPr>
              <a:t>操作数寻址</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modrm_r_rm</a:t>
            </a:r>
            <a:r>
              <a:rPr lang="en-US" altLang="zh-CN" kern="100" dirty="0">
                <a:latin typeface="等线" panose="02010600030101010101" charset="-122"/>
                <a:cs typeface="Times New Roman" panose="02020603050405020304" pitchFamily="18" charset="0"/>
              </a:rPr>
              <a:t>(</a:t>
            </a:r>
            <a:r>
              <a:rPr lang="en-US" altLang="zh-CN" kern="100" dirty="0" err="1">
                <a:latin typeface="等线" panose="02010600030101010101" charset="-122"/>
                <a:cs typeface="Times New Roman" panose="02020603050405020304" pitchFamily="18" charset="0"/>
              </a:rPr>
              <a:t>eip</a:t>
            </a:r>
            <a:r>
              <a:rPr lang="en-US" altLang="zh-CN" kern="100" dirty="0">
                <a:latin typeface="等线" panose="02010600030101010101" charset="-122"/>
                <a:cs typeface="Times New Roman" panose="02020603050405020304" pitchFamily="18" charset="0"/>
              </a:rPr>
              <a:t> + 1, &amp;r, &amp;</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 </a:t>
            </a:r>
            <a:endParaRPr lang="en-US"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en-US" kern="100" dirty="0">
                <a:solidFill>
                  <a:srgbClr val="00B050"/>
                </a:solidFill>
                <a:latin typeface="等线" panose="02010600030101010101" charset="-122"/>
                <a:cs typeface="Times New Roman" panose="02020603050405020304" pitchFamily="18" charset="0"/>
              </a:rPr>
              <a:t>执行</a:t>
            </a:r>
            <a:r>
              <a:rPr lang="en-US" altLang="zh-CN" kern="100" dirty="0" err="1">
                <a:solidFill>
                  <a:srgbClr val="00B050"/>
                </a:solidFill>
                <a:latin typeface="等线" panose="02010600030101010101" charset="-122"/>
                <a:cs typeface="Times New Roman" panose="02020603050405020304" pitchFamily="18" charset="0"/>
              </a:rPr>
              <a:t>mov</a:t>
            </a:r>
            <a:r>
              <a:rPr lang="zh-CN" altLang="en-US" kern="100" dirty="0">
                <a:solidFill>
                  <a:srgbClr val="00B050"/>
                </a:solidFill>
                <a:latin typeface="等线" panose="02010600030101010101" charset="-122"/>
                <a:cs typeface="Times New Roman" panose="02020603050405020304" pitchFamily="18" charset="0"/>
              </a:rPr>
              <a:t>操作</a:t>
            </a:r>
            <a:r>
              <a:rPr lang="en-US" altLang="zh-CN" kern="100" dirty="0">
                <a:solidFill>
                  <a:srgbClr val="00B050"/>
                </a:solidFill>
                <a:latin typeface="等线" panose="02010600030101010101" charset="-122"/>
                <a:cs typeface="Times New Roman" panose="02020603050405020304" pitchFamily="18" charset="0"/>
              </a:rPr>
              <a:t> </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operand_read</a:t>
            </a:r>
            <a:r>
              <a:rPr lang="en-US" altLang="zh-CN" kern="100" dirty="0">
                <a:latin typeface="等线" panose="02010600030101010101" charset="-122"/>
                <a:cs typeface="Times New Roman" panose="02020603050405020304" pitchFamily="18" charset="0"/>
              </a:rPr>
              <a:t>(&amp;r);</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rm.val</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r.val</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operand_write</a:t>
            </a:r>
            <a:r>
              <a:rPr lang="en-US" altLang="zh-CN" kern="100" dirty="0">
                <a:latin typeface="等线" panose="02010600030101010101" charset="-122"/>
                <a:cs typeface="Times New Roman" panose="02020603050405020304" pitchFamily="18" charset="0"/>
              </a:rPr>
              <a:t>(&amp;</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en-US" kern="100" dirty="0">
                <a:solidFill>
                  <a:srgbClr val="00B050"/>
                </a:solidFill>
                <a:latin typeface="等线" panose="02010600030101010101" charset="-122"/>
                <a:cs typeface="Times New Roman" panose="02020603050405020304" pitchFamily="18" charset="0"/>
              </a:rPr>
              <a:t>返回操作数长度</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return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p:txBody>
      </p:sp>
      <p:sp>
        <p:nvSpPr>
          <p:cNvPr id="5" name="矩形 4"/>
          <p:cNvSpPr/>
          <p:nvPr/>
        </p:nvSpPr>
        <p:spPr>
          <a:xfrm>
            <a:off x="6604000" y="2174075"/>
            <a:ext cx="3879850" cy="2585323"/>
          </a:xfrm>
          <a:prstGeom prst="rect">
            <a:avLst/>
          </a:prstGeom>
          <a:ln>
            <a:solidFill>
              <a:schemeClr val="tx1"/>
            </a:solidFill>
            <a:prstDash val="dash"/>
          </a:ln>
        </p:spPr>
        <p:txBody>
          <a:bodyPr wrap="square">
            <a:spAutoFit/>
          </a:bodyPr>
          <a:lstStyle/>
          <a:p>
            <a:r>
              <a:rPr lang="zh-CN" altLang="en-US" dirty="0"/>
              <a:t>#include "cpu/instr.h"</a:t>
            </a:r>
            <a:endParaRPr lang="zh-CN" altLang="en-US" dirty="0"/>
          </a:p>
          <a:p>
            <a:endParaRPr lang="zh-CN" altLang="en-US" dirty="0"/>
          </a:p>
          <a:p>
            <a:r>
              <a:rPr lang="zh-CN" altLang="en-US" dirty="0"/>
              <a:t>static void instr_execute_2op() {</a:t>
            </a:r>
            <a:endParaRPr lang="zh-CN" altLang="en-US" dirty="0"/>
          </a:p>
          <a:p>
            <a:r>
              <a:rPr lang="zh-CN" altLang="en-US"/>
              <a:t>	operand</a:t>
            </a:r>
            <a:r>
              <a:rPr lang="zh-CN" altLang="en-US" dirty="0"/>
              <a:t>_read(&amp;opr_src);</a:t>
            </a:r>
            <a:endParaRPr lang="zh-CN" altLang="en-US" dirty="0"/>
          </a:p>
          <a:p>
            <a:r>
              <a:rPr lang="zh-CN" altLang="en-US"/>
              <a:t>	opr</a:t>
            </a:r>
            <a:r>
              <a:rPr lang="zh-CN" altLang="en-US" dirty="0"/>
              <a:t>_dest.val = opr_src.val;</a:t>
            </a:r>
            <a:endParaRPr lang="zh-CN" altLang="en-US" dirty="0"/>
          </a:p>
          <a:p>
            <a:r>
              <a:rPr lang="zh-CN" altLang="en-US"/>
              <a:t>	operand</a:t>
            </a:r>
            <a:r>
              <a:rPr lang="zh-CN" altLang="en-US" dirty="0"/>
              <a:t>_write(&amp;opr_dest);</a:t>
            </a:r>
            <a:endParaRPr lang="zh-CN" altLang="en-US" dirty="0"/>
          </a:p>
          <a:p>
            <a:r>
              <a:rPr lang="zh-CN" altLang="en-US" dirty="0"/>
              <a:t>}</a:t>
            </a:r>
            <a:endParaRPr lang="zh-CN" altLang="en-US" dirty="0"/>
          </a:p>
          <a:p>
            <a:endParaRPr lang="zh-CN" altLang="en-US" dirty="0"/>
          </a:p>
          <a:p>
            <a:r>
              <a:rPr lang="zh-CN" altLang="en-US" dirty="0">
                <a:solidFill>
                  <a:srgbClr val="C00000"/>
                </a:solidFill>
              </a:rPr>
              <a:t>make_instr_impl_2op(mov, r, rm, v)</a:t>
            </a:r>
            <a:endParaRPr lang="zh-CN" altLang="en-US" dirty="0">
              <a:solidFill>
                <a:srgbClr val="C00000"/>
              </a:solidFill>
            </a:endParaRPr>
          </a:p>
        </p:txBody>
      </p:sp>
      <p:sp>
        <p:nvSpPr>
          <p:cNvPr id="6" name="文本框 5"/>
          <p:cNvSpPr txBox="1"/>
          <p:nvPr/>
        </p:nvSpPr>
        <p:spPr>
          <a:xfrm>
            <a:off x="6496050" y="4895851"/>
            <a:ext cx="4629150" cy="523220"/>
          </a:xfrm>
          <a:prstGeom prst="rect">
            <a:avLst/>
          </a:prstGeom>
          <a:noFill/>
        </p:spPr>
        <p:txBody>
          <a:bodyPr wrap="square" rtlCol="0">
            <a:spAutoFit/>
          </a:bodyPr>
          <a:lstStyle/>
          <a:p>
            <a:r>
              <a:rPr lang="en-US" altLang="zh-CN" sz="2800" i="1" dirty="0" err="1">
                <a:solidFill>
                  <a:srgbClr val="0070C0"/>
                </a:solidFill>
              </a:rPr>
              <a:t>nemu</a:t>
            </a:r>
            <a:r>
              <a:rPr lang="en-US" altLang="zh-CN" sz="2800" i="1" dirty="0">
                <a:solidFill>
                  <a:srgbClr val="0070C0"/>
                </a:solidFill>
              </a:rPr>
              <a:t>/</a:t>
            </a:r>
            <a:r>
              <a:rPr lang="en-US" altLang="zh-CN" sz="2800" i="1" dirty="0" err="1">
                <a:solidFill>
                  <a:srgbClr val="0070C0"/>
                </a:solidFill>
              </a:rPr>
              <a:t>src</a:t>
            </a:r>
            <a:r>
              <a:rPr lang="en-US" altLang="zh-CN" sz="2800" i="1" dirty="0">
                <a:solidFill>
                  <a:srgbClr val="0070C0"/>
                </a:solidFill>
              </a:rPr>
              <a:t>/</a:t>
            </a:r>
            <a:r>
              <a:rPr lang="en-US" altLang="zh-CN" sz="2800" i="1" dirty="0" err="1">
                <a:solidFill>
                  <a:srgbClr val="0070C0"/>
                </a:solidFill>
              </a:rPr>
              <a:t>cpu</a:t>
            </a:r>
            <a:r>
              <a:rPr lang="en-US" altLang="zh-CN" sz="2800" i="1" dirty="0">
                <a:solidFill>
                  <a:srgbClr val="0070C0"/>
                </a:solidFill>
              </a:rPr>
              <a:t>/</a:t>
            </a:r>
            <a:r>
              <a:rPr lang="en-US" altLang="zh-CN" sz="2800" i="1" dirty="0" err="1">
                <a:solidFill>
                  <a:srgbClr val="0070C0"/>
                </a:solidFill>
              </a:rPr>
              <a:t>instr</a:t>
            </a:r>
            <a:r>
              <a:rPr lang="en-US" altLang="zh-CN" sz="2800" i="1" dirty="0">
                <a:solidFill>
                  <a:srgbClr val="0070C0"/>
                </a:solidFill>
              </a:rPr>
              <a:t>/</a:t>
            </a:r>
            <a:r>
              <a:rPr lang="en-US" altLang="zh-CN" sz="2800" i="1" dirty="0" err="1">
                <a:solidFill>
                  <a:srgbClr val="0070C0"/>
                </a:solidFill>
              </a:rPr>
              <a:t>mov.c</a:t>
            </a:r>
            <a:r>
              <a:rPr lang="en-US" altLang="zh-CN" sz="2800" i="1" dirty="0">
                <a:solidFill>
                  <a:srgbClr val="0070C0"/>
                </a:solidFill>
              </a:rPr>
              <a:t> </a:t>
            </a:r>
            <a:endParaRPr lang="zh-CN" altLang="en-US" sz="2800" i="1" dirty="0">
              <a:solidFill>
                <a:srgbClr val="0070C0"/>
              </a:solidFill>
            </a:endParaRPr>
          </a:p>
        </p:txBody>
      </p:sp>
      <p:sp>
        <p:nvSpPr>
          <p:cNvPr id="3" name="标题 2"/>
          <p:cNvSpPr>
            <a:spLocks noGrp="1"/>
          </p:cNvSpPr>
          <p:nvPr>
            <p:ph type="title"/>
          </p:nvPr>
        </p:nvSpPr>
        <p:spPr/>
        <p:txBody>
          <a:bodyPr/>
          <a:lstStyle/>
          <a:p>
            <a:r>
              <a:rPr lang="zh-CN" altLang="en-US" dirty="0"/>
              <a:t>用于精简指令实现的宏</a:t>
            </a:r>
            <a:endParaRPr lang="zh-CN" altLang="en-US" dirty="0"/>
          </a:p>
        </p:txBody>
      </p:sp>
      <p:sp>
        <p:nvSpPr>
          <p:cNvPr id="7" name="文本框 6"/>
          <p:cNvSpPr txBox="1"/>
          <p:nvPr/>
        </p:nvSpPr>
        <p:spPr>
          <a:xfrm>
            <a:off x="3575050" y="1282658"/>
            <a:ext cx="2717800" cy="707886"/>
          </a:xfrm>
          <a:prstGeom prst="rect">
            <a:avLst/>
          </a:prstGeom>
          <a:noFill/>
        </p:spPr>
        <p:txBody>
          <a:bodyPr wrap="square" rtlCol="0">
            <a:spAutoFit/>
          </a:bodyPr>
          <a:lstStyle/>
          <a:p>
            <a:pPr algn="r"/>
            <a:r>
              <a:rPr lang="zh-CN" altLang="en-US" sz="4000" dirty="0">
                <a:solidFill>
                  <a:srgbClr val="C00000"/>
                </a:solidFill>
              </a:rPr>
              <a:t>普通实现</a:t>
            </a:r>
            <a:endParaRPr lang="zh-CN" altLang="en-US" sz="4000" dirty="0">
              <a:solidFill>
                <a:srgbClr val="C00000"/>
              </a:solidFill>
            </a:endParaRPr>
          </a:p>
        </p:txBody>
      </p:sp>
      <p:sp>
        <p:nvSpPr>
          <p:cNvPr id="8" name="文本框 7"/>
          <p:cNvSpPr txBox="1"/>
          <p:nvPr/>
        </p:nvSpPr>
        <p:spPr>
          <a:xfrm>
            <a:off x="6604000" y="1282658"/>
            <a:ext cx="2717800" cy="707886"/>
          </a:xfrm>
          <a:prstGeom prst="rect">
            <a:avLst/>
          </a:prstGeom>
          <a:noFill/>
        </p:spPr>
        <p:txBody>
          <a:bodyPr wrap="square" rtlCol="0">
            <a:spAutoFit/>
          </a:bodyPr>
          <a:lstStyle/>
          <a:p>
            <a:r>
              <a:rPr lang="zh-CN" altLang="en-US" sz="4000" dirty="0">
                <a:solidFill>
                  <a:srgbClr val="C00000"/>
                </a:solidFill>
              </a:rPr>
              <a:t>精简实现</a:t>
            </a:r>
            <a:endParaRPr lang="zh-CN" altLang="en-US" sz="4000" dirty="0">
              <a:solidFill>
                <a:srgbClr val="C00000"/>
              </a:solidFill>
            </a:endParaRPr>
          </a:p>
        </p:txBody>
      </p:sp>
      <p:sp>
        <p:nvSpPr>
          <p:cNvPr id="2" name="文本框 1"/>
          <p:cNvSpPr txBox="1"/>
          <p:nvPr/>
        </p:nvSpPr>
        <p:spPr>
          <a:xfrm>
            <a:off x="199697" y="2953407"/>
            <a:ext cx="1072055" cy="1200329"/>
          </a:xfrm>
          <a:prstGeom prst="rect">
            <a:avLst/>
          </a:prstGeom>
          <a:noFill/>
        </p:spPr>
        <p:txBody>
          <a:bodyPr wrap="square" rtlCol="0">
            <a:spAutoFit/>
          </a:bodyPr>
          <a:lstStyle/>
          <a:p>
            <a:r>
              <a:rPr lang="zh-CN" altLang="en-US" dirty="0"/>
              <a:t>会出现大量相似的重复代码</a:t>
            </a:r>
            <a:endParaRPr lang="zh-CN" altLang="en-US" dirty="0"/>
          </a:p>
        </p:txBody>
      </p:sp>
      <p:sp>
        <p:nvSpPr>
          <p:cNvPr id="9" name="文本框 8"/>
          <p:cNvSpPr txBox="1"/>
          <p:nvPr/>
        </p:nvSpPr>
        <p:spPr>
          <a:xfrm>
            <a:off x="10662745" y="2804106"/>
            <a:ext cx="1072055" cy="923330"/>
          </a:xfrm>
          <a:prstGeom prst="rect">
            <a:avLst/>
          </a:prstGeom>
          <a:noFill/>
        </p:spPr>
        <p:txBody>
          <a:bodyPr wrap="square" rtlCol="0">
            <a:spAutoFit/>
          </a:bodyPr>
          <a:lstStyle/>
          <a:p>
            <a:r>
              <a:rPr lang="zh-CN" altLang="en-US" dirty="0"/>
              <a:t>同样指令同样的逻辑</a:t>
            </a:r>
            <a:endParaRPr lang="zh-CN" altLang="en-US" dirty="0"/>
          </a:p>
        </p:txBody>
      </p:sp>
      <p:sp>
        <p:nvSpPr>
          <p:cNvPr id="10" name="文本框 9"/>
          <p:cNvSpPr txBox="1"/>
          <p:nvPr/>
        </p:nvSpPr>
        <p:spPr>
          <a:xfrm>
            <a:off x="10711793" y="4153736"/>
            <a:ext cx="1284014" cy="923330"/>
          </a:xfrm>
          <a:prstGeom prst="rect">
            <a:avLst/>
          </a:prstGeom>
          <a:noFill/>
        </p:spPr>
        <p:txBody>
          <a:bodyPr wrap="square" rtlCol="0">
            <a:spAutoFit/>
          </a:bodyPr>
          <a:lstStyle/>
          <a:p>
            <a:r>
              <a:rPr lang="zh-CN" altLang="en-US" dirty="0">
                <a:solidFill>
                  <a:srgbClr val="C00000"/>
                </a:solidFill>
              </a:rPr>
              <a:t>一行对应一条指令的实现</a:t>
            </a:r>
            <a:endParaRPr lang="zh-CN" altLang="en-US" dirty="0">
              <a:solidFill>
                <a:srgbClr val="C00000"/>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644650" y="2174074"/>
            <a:ext cx="4648200" cy="4562788"/>
          </a:xfrm>
          <a:prstGeom prst="rect">
            <a:avLst/>
          </a:prstGeom>
          <a:ln>
            <a:solidFill>
              <a:schemeClr val="tx1"/>
            </a:solidFill>
            <a:prstDash val="dash"/>
          </a:ln>
        </p:spPr>
        <p:txBody>
          <a:bodyPr wrap="square">
            <a:spAutoFit/>
          </a:bodyPr>
          <a:lstStyle/>
          <a:p>
            <a:pPr marL="228600" algn="just">
              <a:spcBef>
                <a:spcPts val="250"/>
              </a:spcBef>
            </a:pPr>
            <a:r>
              <a:rPr lang="en-US" altLang="zh-CN" sz="2400" kern="100" dirty="0" err="1">
                <a:solidFill>
                  <a:srgbClr val="C00000"/>
                </a:solidFill>
                <a:latin typeface="等线" panose="02010600030101010101" charset="-122"/>
                <a:cs typeface="Times New Roman" panose="02020603050405020304" pitchFamily="18" charset="0"/>
              </a:rPr>
              <a:t>make_instr_func</a:t>
            </a:r>
            <a:r>
              <a:rPr lang="en-US" altLang="zh-CN" sz="2400" kern="100" dirty="0">
                <a:solidFill>
                  <a:srgbClr val="C00000"/>
                </a:solidFill>
                <a:latin typeface="等线" panose="02010600030101010101" charset="-122"/>
                <a:cs typeface="Times New Roman" panose="02020603050405020304" pitchFamily="18" charset="0"/>
              </a:rPr>
              <a:t>(mov_r2rm_v)</a:t>
            </a:r>
            <a:r>
              <a:rPr lang="en-US" altLang="zh-CN" kern="100" dirty="0">
                <a:latin typeface="等线" panose="02010600030101010101" charset="-122"/>
                <a:cs typeface="Times New Roman" panose="02020603050405020304" pitchFamily="18" charset="0"/>
              </a:rPr>
              <a:t> {</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OPERAND r, </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zh-CN" kern="100" dirty="0">
                <a:solidFill>
                  <a:srgbClr val="00B050"/>
                </a:solidFill>
                <a:latin typeface="等线" panose="02010600030101010101" charset="-122"/>
                <a:cs typeface="Times New Roman" panose="02020603050405020304" pitchFamily="18" charset="0"/>
              </a:rPr>
              <a:t>指定操作数长度</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rm.data_size</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r.data_size</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data_size</a:t>
            </a:r>
            <a:r>
              <a:rPr lang="en-US" altLang="zh-CN" kern="100" dirty="0">
                <a:latin typeface="等线" panose="02010600030101010101" charset="-122"/>
                <a:cs typeface="Times New Roman" panose="02020603050405020304" pitchFamily="18" charset="0"/>
              </a:rPr>
              <a:t>;  </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int</a:t>
            </a: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 = 1;</a:t>
            </a:r>
            <a:endParaRPr lang="en-US"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zh-CN" kern="100" dirty="0">
                <a:solidFill>
                  <a:srgbClr val="00B050"/>
                </a:solidFill>
                <a:latin typeface="等线" panose="02010600030101010101" charset="-122"/>
                <a:cs typeface="Times New Roman" panose="02020603050405020304" pitchFamily="18" charset="0"/>
              </a:rPr>
              <a:t>操作数寻址</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modrm_r_rm</a:t>
            </a:r>
            <a:r>
              <a:rPr lang="en-US" altLang="zh-CN" kern="100" dirty="0">
                <a:latin typeface="等线" panose="02010600030101010101" charset="-122"/>
                <a:cs typeface="Times New Roman" panose="02020603050405020304" pitchFamily="18" charset="0"/>
              </a:rPr>
              <a:t>(</a:t>
            </a:r>
            <a:r>
              <a:rPr lang="en-US" altLang="zh-CN" kern="100" dirty="0" err="1">
                <a:latin typeface="等线" panose="02010600030101010101" charset="-122"/>
                <a:cs typeface="Times New Roman" panose="02020603050405020304" pitchFamily="18" charset="0"/>
              </a:rPr>
              <a:t>eip</a:t>
            </a:r>
            <a:r>
              <a:rPr lang="en-US" altLang="zh-CN" kern="100" dirty="0">
                <a:latin typeface="等线" panose="02010600030101010101" charset="-122"/>
                <a:cs typeface="Times New Roman" panose="02020603050405020304" pitchFamily="18" charset="0"/>
              </a:rPr>
              <a:t> + 1, &amp;r, &amp;</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 </a:t>
            </a:r>
            <a:endParaRPr lang="en-US"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en-US" kern="100" dirty="0">
                <a:solidFill>
                  <a:srgbClr val="00B050"/>
                </a:solidFill>
                <a:latin typeface="等线" panose="02010600030101010101" charset="-122"/>
                <a:cs typeface="Times New Roman" panose="02020603050405020304" pitchFamily="18" charset="0"/>
              </a:rPr>
              <a:t>执行</a:t>
            </a:r>
            <a:r>
              <a:rPr lang="en-US" altLang="zh-CN" kern="100" dirty="0" err="1">
                <a:solidFill>
                  <a:srgbClr val="00B050"/>
                </a:solidFill>
                <a:latin typeface="等线" panose="02010600030101010101" charset="-122"/>
                <a:cs typeface="Times New Roman" panose="02020603050405020304" pitchFamily="18" charset="0"/>
              </a:rPr>
              <a:t>mov</a:t>
            </a:r>
            <a:r>
              <a:rPr lang="zh-CN" altLang="en-US" kern="100" dirty="0">
                <a:solidFill>
                  <a:srgbClr val="00B050"/>
                </a:solidFill>
                <a:latin typeface="等线" panose="02010600030101010101" charset="-122"/>
                <a:cs typeface="Times New Roman" panose="02020603050405020304" pitchFamily="18" charset="0"/>
              </a:rPr>
              <a:t>操作</a:t>
            </a:r>
            <a:r>
              <a:rPr lang="en-US" altLang="zh-CN" kern="100" dirty="0">
                <a:solidFill>
                  <a:srgbClr val="00B050"/>
                </a:solidFill>
                <a:latin typeface="等线" panose="02010600030101010101" charset="-122"/>
                <a:cs typeface="Times New Roman" panose="02020603050405020304" pitchFamily="18" charset="0"/>
              </a:rPr>
              <a:t> </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operand_read</a:t>
            </a:r>
            <a:r>
              <a:rPr lang="en-US" altLang="zh-CN" kern="100" dirty="0">
                <a:latin typeface="等线" panose="02010600030101010101" charset="-122"/>
                <a:cs typeface="Times New Roman" panose="02020603050405020304" pitchFamily="18" charset="0"/>
              </a:rPr>
              <a:t>(&amp;r);</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rm.val</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r.val</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operand_write</a:t>
            </a:r>
            <a:r>
              <a:rPr lang="en-US" altLang="zh-CN" kern="100" dirty="0">
                <a:latin typeface="等线" panose="02010600030101010101" charset="-122"/>
                <a:cs typeface="Times New Roman" panose="02020603050405020304" pitchFamily="18" charset="0"/>
              </a:rPr>
              <a:t>(&amp;</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en-US" kern="100" dirty="0">
                <a:solidFill>
                  <a:srgbClr val="00B050"/>
                </a:solidFill>
                <a:latin typeface="等线" panose="02010600030101010101" charset="-122"/>
                <a:cs typeface="Times New Roman" panose="02020603050405020304" pitchFamily="18" charset="0"/>
              </a:rPr>
              <a:t>返回操作数长度</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return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p:txBody>
      </p:sp>
      <p:sp>
        <p:nvSpPr>
          <p:cNvPr id="5" name="矩形 4"/>
          <p:cNvSpPr/>
          <p:nvPr/>
        </p:nvSpPr>
        <p:spPr>
          <a:xfrm>
            <a:off x="6604000" y="2174075"/>
            <a:ext cx="3879850" cy="2585323"/>
          </a:xfrm>
          <a:prstGeom prst="rect">
            <a:avLst/>
          </a:prstGeom>
          <a:ln>
            <a:solidFill>
              <a:schemeClr val="tx1"/>
            </a:solidFill>
            <a:prstDash val="dash"/>
          </a:ln>
        </p:spPr>
        <p:txBody>
          <a:bodyPr wrap="square">
            <a:spAutoFit/>
          </a:bodyPr>
          <a:lstStyle/>
          <a:p>
            <a:r>
              <a:rPr lang="zh-CN" altLang="en-US" dirty="0"/>
              <a:t>#include "cpu/instr.h"</a:t>
            </a:r>
            <a:endParaRPr lang="zh-CN" altLang="en-US" dirty="0"/>
          </a:p>
          <a:p>
            <a:endParaRPr lang="zh-CN" altLang="en-US" dirty="0"/>
          </a:p>
          <a:p>
            <a:r>
              <a:rPr lang="zh-CN" altLang="en-US" dirty="0"/>
              <a:t>static void instr_execute_2op() {</a:t>
            </a:r>
            <a:endParaRPr lang="zh-CN" altLang="en-US" dirty="0"/>
          </a:p>
          <a:p>
            <a:r>
              <a:rPr lang="zh-CN" altLang="en-US"/>
              <a:t>	operand</a:t>
            </a:r>
            <a:r>
              <a:rPr lang="zh-CN" altLang="en-US" dirty="0"/>
              <a:t>_read(&amp;opr_src);</a:t>
            </a:r>
            <a:endParaRPr lang="zh-CN" altLang="en-US" dirty="0"/>
          </a:p>
          <a:p>
            <a:r>
              <a:rPr lang="zh-CN" altLang="en-US"/>
              <a:t>	opr</a:t>
            </a:r>
            <a:r>
              <a:rPr lang="zh-CN" altLang="en-US" dirty="0"/>
              <a:t>_dest.val = opr_src.val;</a:t>
            </a:r>
            <a:endParaRPr lang="zh-CN" altLang="en-US" dirty="0"/>
          </a:p>
          <a:p>
            <a:r>
              <a:rPr lang="zh-CN" altLang="en-US"/>
              <a:t>	operand</a:t>
            </a:r>
            <a:r>
              <a:rPr lang="zh-CN" altLang="en-US" dirty="0"/>
              <a:t>_write(&amp;opr_dest);</a:t>
            </a:r>
            <a:endParaRPr lang="zh-CN" altLang="en-US" dirty="0"/>
          </a:p>
          <a:p>
            <a:r>
              <a:rPr lang="zh-CN" altLang="en-US" dirty="0"/>
              <a:t>}</a:t>
            </a:r>
            <a:endParaRPr lang="zh-CN" altLang="en-US" dirty="0"/>
          </a:p>
          <a:p>
            <a:endParaRPr lang="zh-CN" altLang="en-US" dirty="0"/>
          </a:p>
          <a:p>
            <a:r>
              <a:rPr lang="zh-CN" altLang="en-US" dirty="0"/>
              <a:t>make_instr_impl_2op(mov, r, rm, v)</a:t>
            </a:r>
            <a:endParaRPr lang="zh-CN" altLang="en-US" dirty="0"/>
          </a:p>
        </p:txBody>
      </p:sp>
      <p:sp>
        <p:nvSpPr>
          <p:cNvPr id="6" name="文本框 5"/>
          <p:cNvSpPr txBox="1"/>
          <p:nvPr/>
        </p:nvSpPr>
        <p:spPr>
          <a:xfrm>
            <a:off x="6496050" y="4895851"/>
            <a:ext cx="4591050" cy="523220"/>
          </a:xfrm>
          <a:prstGeom prst="rect">
            <a:avLst/>
          </a:prstGeom>
          <a:noFill/>
        </p:spPr>
        <p:txBody>
          <a:bodyPr wrap="square" rtlCol="0">
            <a:spAutoFit/>
          </a:bodyPr>
          <a:lstStyle/>
          <a:p>
            <a:r>
              <a:rPr lang="en-US" altLang="zh-CN" sz="2800" i="1" dirty="0" err="1">
                <a:solidFill>
                  <a:srgbClr val="0070C0"/>
                </a:solidFill>
              </a:rPr>
              <a:t>nemu</a:t>
            </a:r>
            <a:r>
              <a:rPr lang="en-US" altLang="zh-CN" sz="2800" i="1" dirty="0">
                <a:solidFill>
                  <a:srgbClr val="0070C0"/>
                </a:solidFill>
              </a:rPr>
              <a:t>/</a:t>
            </a:r>
            <a:r>
              <a:rPr lang="en-US" altLang="zh-CN" sz="2800" i="1" dirty="0" err="1">
                <a:solidFill>
                  <a:srgbClr val="0070C0"/>
                </a:solidFill>
              </a:rPr>
              <a:t>src</a:t>
            </a:r>
            <a:r>
              <a:rPr lang="en-US" altLang="zh-CN" sz="2800" i="1" dirty="0">
                <a:solidFill>
                  <a:srgbClr val="0070C0"/>
                </a:solidFill>
              </a:rPr>
              <a:t>/</a:t>
            </a:r>
            <a:r>
              <a:rPr lang="en-US" altLang="zh-CN" sz="2800" i="1" dirty="0" err="1">
                <a:solidFill>
                  <a:srgbClr val="0070C0"/>
                </a:solidFill>
              </a:rPr>
              <a:t>cpu</a:t>
            </a:r>
            <a:r>
              <a:rPr lang="en-US" altLang="zh-CN" sz="2800" i="1" dirty="0">
                <a:solidFill>
                  <a:srgbClr val="0070C0"/>
                </a:solidFill>
              </a:rPr>
              <a:t>/</a:t>
            </a:r>
            <a:r>
              <a:rPr lang="en-US" altLang="zh-CN" sz="2800" i="1" dirty="0" err="1">
                <a:solidFill>
                  <a:srgbClr val="0070C0"/>
                </a:solidFill>
              </a:rPr>
              <a:t>instr</a:t>
            </a:r>
            <a:r>
              <a:rPr lang="en-US" altLang="zh-CN" sz="2800" i="1" dirty="0">
                <a:solidFill>
                  <a:srgbClr val="0070C0"/>
                </a:solidFill>
              </a:rPr>
              <a:t>/</a:t>
            </a:r>
            <a:r>
              <a:rPr lang="en-US" altLang="zh-CN" sz="2800" i="1" dirty="0" err="1">
                <a:solidFill>
                  <a:srgbClr val="0070C0"/>
                </a:solidFill>
              </a:rPr>
              <a:t>mov.c</a:t>
            </a:r>
            <a:r>
              <a:rPr lang="en-US" altLang="zh-CN" sz="2800" i="1" dirty="0">
                <a:solidFill>
                  <a:srgbClr val="0070C0"/>
                </a:solidFill>
              </a:rPr>
              <a:t> </a:t>
            </a:r>
            <a:endParaRPr lang="zh-CN" altLang="en-US" sz="2800" i="1" dirty="0">
              <a:solidFill>
                <a:srgbClr val="0070C0"/>
              </a:solidFill>
            </a:endParaRPr>
          </a:p>
        </p:txBody>
      </p:sp>
      <p:sp>
        <p:nvSpPr>
          <p:cNvPr id="3" name="矩形 2"/>
          <p:cNvSpPr/>
          <p:nvPr/>
        </p:nvSpPr>
        <p:spPr>
          <a:xfrm>
            <a:off x="1752600" y="564646"/>
            <a:ext cx="8839200" cy="723275"/>
          </a:xfrm>
          <a:prstGeom prst="rect">
            <a:avLst/>
          </a:prstGeom>
          <a:ln>
            <a:solidFill>
              <a:schemeClr val="tx1"/>
            </a:solidFill>
            <a:prstDash val="dash"/>
          </a:ln>
        </p:spPr>
        <p:txBody>
          <a:bodyPr wrap="square">
            <a:spAutoFit/>
          </a:bodyPr>
          <a:lstStyle/>
          <a:p>
            <a:r>
              <a:rPr lang="zh-CN" altLang="en-US" dirty="0"/>
              <a:t>// macro for making an instruction entry</a:t>
            </a:r>
            <a:endParaRPr lang="zh-CN" altLang="en-US" dirty="0"/>
          </a:p>
          <a:p>
            <a:r>
              <a:rPr lang="zh-CN" altLang="en-US" sz="2300" dirty="0">
                <a:solidFill>
                  <a:srgbClr val="C00000"/>
                </a:solidFill>
              </a:rPr>
              <a:t>#define make_instr_func(name) int name(uint32_t eip, uint8_t opcode)</a:t>
            </a:r>
            <a:endParaRPr lang="zh-CN" altLang="en-US" sz="2300" dirty="0">
              <a:solidFill>
                <a:srgbClr val="C00000"/>
              </a:solidFill>
            </a:endParaRPr>
          </a:p>
        </p:txBody>
      </p:sp>
      <p:sp>
        <p:nvSpPr>
          <p:cNvPr id="7" name="文本框 6"/>
          <p:cNvSpPr txBox="1"/>
          <p:nvPr/>
        </p:nvSpPr>
        <p:spPr>
          <a:xfrm>
            <a:off x="4381500" y="0"/>
            <a:ext cx="5918200" cy="523220"/>
          </a:xfrm>
          <a:prstGeom prst="rect">
            <a:avLst/>
          </a:prstGeom>
          <a:noFill/>
        </p:spPr>
        <p:txBody>
          <a:bodyPr wrap="square" rtlCol="0">
            <a:spAutoFit/>
          </a:bodyPr>
          <a:lstStyle/>
          <a:p>
            <a:r>
              <a:rPr lang="en-US" altLang="zh-CN" sz="2800" i="1" dirty="0" err="1">
                <a:solidFill>
                  <a:srgbClr val="0070C0"/>
                </a:solidFill>
              </a:rPr>
              <a:t>nemu</a:t>
            </a:r>
            <a:r>
              <a:rPr lang="en-US" altLang="zh-CN" sz="2800" i="1" dirty="0">
                <a:solidFill>
                  <a:srgbClr val="0070C0"/>
                </a:solidFill>
              </a:rPr>
              <a:t>/include/</a:t>
            </a:r>
            <a:r>
              <a:rPr lang="en-US" altLang="zh-CN" sz="2800" i="1" dirty="0" err="1">
                <a:solidFill>
                  <a:srgbClr val="0070C0"/>
                </a:solidFill>
              </a:rPr>
              <a:t>cpu</a:t>
            </a:r>
            <a:r>
              <a:rPr lang="en-US" altLang="zh-CN" sz="2800" i="1" dirty="0">
                <a:solidFill>
                  <a:srgbClr val="0070C0"/>
                </a:solidFill>
              </a:rPr>
              <a:t>/</a:t>
            </a:r>
            <a:r>
              <a:rPr lang="en-US" altLang="zh-CN" sz="2800" i="1" dirty="0" err="1">
                <a:solidFill>
                  <a:srgbClr val="0070C0"/>
                </a:solidFill>
              </a:rPr>
              <a:t>instr_helper.h</a:t>
            </a:r>
            <a:endParaRPr lang="zh-CN" altLang="en-US" sz="2800" i="1" dirty="0">
              <a:solidFill>
                <a:srgbClr val="0070C0"/>
              </a:solidFill>
            </a:endParaRPr>
          </a:p>
        </p:txBody>
      </p:sp>
      <p:sp>
        <p:nvSpPr>
          <p:cNvPr id="8" name="左右箭头 7"/>
          <p:cNvSpPr/>
          <p:nvPr/>
        </p:nvSpPr>
        <p:spPr>
          <a:xfrm rot="19615567">
            <a:off x="5725772" y="1642507"/>
            <a:ext cx="1818366" cy="241300"/>
          </a:xfrm>
          <a:prstGeom prst="leftRight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1752600" y="1504117"/>
            <a:ext cx="4661854" cy="369332"/>
          </a:xfrm>
          <a:prstGeom prst="rect">
            <a:avLst/>
          </a:prstGeom>
        </p:spPr>
        <p:txBody>
          <a:bodyPr wrap="none">
            <a:spAutoFit/>
          </a:bodyPr>
          <a:lstStyle/>
          <a:p>
            <a:r>
              <a:rPr lang="zh-CN" altLang="en-US" dirty="0">
                <a:solidFill>
                  <a:srgbClr val="C00000"/>
                </a:solidFill>
              </a:rPr>
              <a:t>int </a:t>
            </a:r>
            <a:r>
              <a:rPr lang="en-US" altLang="zh-CN" dirty="0">
                <a:solidFill>
                  <a:srgbClr val="C00000"/>
                </a:solidFill>
              </a:rPr>
              <a:t>mov_r2rm_v </a:t>
            </a:r>
            <a:r>
              <a:rPr lang="zh-CN" altLang="en-US" dirty="0">
                <a:solidFill>
                  <a:srgbClr val="C00000"/>
                </a:solidFill>
              </a:rPr>
              <a:t>(uint32_t eip, uint8_t opcode)</a:t>
            </a:r>
            <a:endParaRPr lang="zh-CN" altLang="en-US" dirty="0">
              <a:solidFill>
                <a:srgbClr val="C00000"/>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644650" y="2174075"/>
            <a:ext cx="4648200" cy="4470455"/>
          </a:xfrm>
          <a:prstGeom prst="rect">
            <a:avLst/>
          </a:prstGeom>
          <a:ln>
            <a:solidFill>
              <a:schemeClr val="tx1"/>
            </a:solidFill>
            <a:prstDash val="dash"/>
          </a:ln>
        </p:spPr>
        <p:txBody>
          <a:bodyPr wrap="square">
            <a:spAutoFit/>
          </a:bodyPr>
          <a:lstStyle/>
          <a:p>
            <a:pPr marL="228600" algn="just">
              <a:spcBef>
                <a:spcPts val="250"/>
              </a:spcBef>
            </a:pPr>
            <a:r>
              <a:rPr lang="en-US" altLang="zh-CN" kern="100" dirty="0" err="1">
                <a:latin typeface="等线" panose="02010600030101010101" charset="-122"/>
                <a:cs typeface="Times New Roman" panose="02020603050405020304" pitchFamily="18" charset="0"/>
              </a:rPr>
              <a:t>make_instr_func</a:t>
            </a:r>
            <a:r>
              <a:rPr lang="en-US" altLang="zh-CN" kern="100" dirty="0">
                <a:latin typeface="等线" panose="02010600030101010101" charset="-122"/>
                <a:cs typeface="Times New Roman" panose="02020603050405020304" pitchFamily="18" charset="0"/>
              </a:rPr>
              <a:t>(mov_r2rm_v) {</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OPERAND r, </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zh-CN" kern="100" dirty="0">
                <a:solidFill>
                  <a:srgbClr val="00B050"/>
                </a:solidFill>
                <a:latin typeface="等线" panose="02010600030101010101" charset="-122"/>
                <a:cs typeface="Times New Roman" panose="02020603050405020304" pitchFamily="18" charset="0"/>
              </a:rPr>
              <a:t>指定操作数长度</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rm.data_size</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r.data_size</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data_size</a:t>
            </a:r>
            <a:r>
              <a:rPr lang="en-US" altLang="zh-CN" kern="100" dirty="0">
                <a:latin typeface="等线" panose="02010600030101010101" charset="-122"/>
                <a:cs typeface="Times New Roman" panose="02020603050405020304" pitchFamily="18" charset="0"/>
              </a:rPr>
              <a:t>;  </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int</a:t>
            </a: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 = 1;</a:t>
            </a:r>
            <a:endParaRPr lang="en-US"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zh-CN" kern="100" dirty="0">
                <a:solidFill>
                  <a:srgbClr val="00B050"/>
                </a:solidFill>
                <a:latin typeface="等线" panose="02010600030101010101" charset="-122"/>
                <a:cs typeface="Times New Roman" panose="02020603050405020304" pitchFamily="18" charset="0"/>
              </a:rPr>
              <a:t>操作数寻址</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modrm_r_rm</a:t>
            </a:r>
            <a:r>
              <a:rPr lang="en-US" altLang="zh-CN" kern="100" dirty="0">
                <a:latin typeface="等线" panose="02010600030101010101" charset="-122"/>
                <a:cs typeface="Times New Roman" panose="02020603050405020304" pitchFamily="18" charset="0"/>
              </a:rPr>
              <a:t>(</a:t>
            </a:r>
            <a:r>
              <a:rPr lang="en-US" altLang="zh-CN" kern="100" dirty="0" err="1">
                <a:latin typeface="等线" panose="02010600030101010101" charset="-122"/>
                <a:cs typeface="Times New Roman" panose="02020603050405020304" pitchFamily="18" charset="0"/>
              </a:rPr>
              <a:t>eip</a:t>
            </a:r>
            <a:r>
              <a:rPr lang="en-US" altLang="zh-CN" kern="100" dirty="0">
                <a:latin typeface="等线" panose="02010600030101010101" charset="-122"/>
                <a:cs typeface="Times New Roman" panose="02020603050405020304" pitchFamily="18" charset="0"/>
              </a:rPr>
              <a:t> + 1, &amp;r, &amp;</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 </a:t>
            </a:r>
            <a:endParaRPr lang="en-US"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en-US" kern="100" dirty="0">
                <a:solidFill>
                  <a:srgbClr val="00B050"/>
                </a:solidFill>
                <a:latin typeface="等线" panose="02010600030101010101" charset="-122"/>
                <a:cs typeface="Times New Roman" panose="02020603050405020304" pitchFamily="18" charset="0"/>
              </a:rPr>
              <a:t>执行</a:t>
            </a:r>
            <a:r>
              <a:rPr lang="en-US" altLang="zh-CN" kern="100" dirty="0" err="1">
                <a:solidFill>
                  <a:srgbClr val="00B050"/>
                </a:solidFill>
                <a:latin typeface="等线" panose="02010600030101010101" charset="-122"/>
                <a:cs typeface="Times New Roman" panose="02020603050405020304" pitchFamily="18" charset="0"/>
              </a:rPr>
              <a:t>mov</a:t>
            </a:r>
            <a:r>
              <a:rPr lang="zh-CN" altLang="en-US" kern="100" dirty="0">
                <a:solidFill>
                  <a:srgbClr val="00B050"/>
                </a:solidFill>
                <a:latin typeface="等线" panose="02010600030101010101" charset="-122"/>
                <a:cs typeface="Times New Roman" panose="02020603050405020304" pitchFamily="18" charset="0"/>
              </a:rPr>
              <a:t>操作</a:t>
            </a:r>
            <a:r>
              <a:rPr lang="en-US" altLang="zh-CN" kern="100" dirty="0">
                <a:solidFill>
                  <a:srgbClr val="00B050"/>
                </a:solidFill>
                <a:latin typeface="等线" panose="02010600030101010101" charset="-122"/>
                <a:cs typeface="Times New Roman" panose="02020603050405020304" pitchFamily="18" charset="0"/>
              </a:rPr>
              <a:t> </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operand_read</a:t>
            </a:r>
            <a:r>
              <a:rPr lang="en-US" altLang="zh-CN" kern="100" dirty="0">
                <a:latin typeface="等线" panose="02010600030101010101" charset="-122"/>
                <a:cs typeface="Times New Roman" panose="02020603050405020304" pitchFamily="18" charset="0"/>
              </a:rPr>
              <a:t>(&amp;r);</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rm.val</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r.val</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operand_write</a:t>
            </a:r>
            <a:r>
              <a:rPr lang="en-US" altLang="zh-CN" kern="100" dirty="0">
                <a:latin typeface="等线" panose="02010600030101010101" charset="-122"/>
                <a:cs typeface="Times New Roman" panose="02020603050405020304" pitchFamily="18" charset="0"/>
              </a:rPr>
              <a:t>(&amp;</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en-US" kern="100" dirty="0">
                <a:solidFill>
                  <a:srgbClr val="00B050"/>
                </a:solidFill>
                <a:latin typeface="等线" panose="02010600030101010101" charset="-122"/>
                <a:cs typeface="Times New Roman" panose="02020603050405020304" pitchFamily="18" charset="0"/>
              </a:rPr>
              <a:t>返回操作数长度</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return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p:txBody>
      </p:sp>
      <p:sp>
        <p:nvSpPr>
          <p:cNvPr id="5" name="矩形 4"/>
          <p:cNvSpPr/>
          <p:nvPr/>
        </p:nvSpPr>
        <p:spPr>
          <a:xfrm>
            <a:off x="6604000" y="2174075"/>
            <a:ext cx="4368800" cy="2616101"/>
          </a:xfrm>
          <a:prstGeom prst="rect">
            <a:avLst/>
          </a:prstGeom>
          <a:ln>
            <a:solidFill>
              <a:schemeClr val="tx1"/>
            </a:solidFill>
            <a:prstDash val="dash"/>
          </a:ln>
        </p:spPr>
        <p:txBody>
          <a:bodyPr wrap="square">
            <a:spAutoFit/>
          </a:bodyPr>
          <a:lstStyle/>
          <a:p>
            <a:r>
              <a:rPr lang="zh-CN" altLang="en-US" dirty="0"/>
              <a:t>#include "cpu/instr.h"</a:t>
            </a:r>
            <a:endParaRPr lang="zh-CN" altLang="en-US" dirty="0"/>
          </a:p>
          <a:p>
            <a:endParaRPr lang="zh-CN" altLang="en-US" dirty="0"/>
          </a:p>
          <a:p>
            <a:r>
              <a:rPr lang="zh-CN" altLang="en-US" dirty="0"/>
              <a:t>static void instr_execute_2op() {</a:t>
            </a:r>
            <a:endParaRPr lang="zh-CN" altLang="en-US" dirty="0"/>
          </a:p>
          <a:p>
            <a:r>
              <a:rPr lang="zh-CN" altLang="en-US"/>
              <a:t>	operand</a:t>
            </a:r>
            <a:r>
              <a:rPr lang="zh-CN" altLang="en-US" dirty="0"/>
              <a:t>_read(&amp;opr_src);</a:t>
            </a:r>
            <a:endParaRPr lang="zh-CN" altLang="en-US" dirty="0"/>
          </a:p>
          <a:p>
            <a:r>
              <a:rPr lang="zh-CN" altLang="en-US"/>
              <a:t>	opr</a:t>
            </a:r>
            <a:r>
              <a:rPr lang="zh-CN" altLang="en-US" dirty="0"/>
              <a:t>_dest.val = opr_src.val;</a:t>
            </a:r>
            <a:endParaRPr lang="zh-CN" altLang="en-US" dirty="0"/>
          </a:p>
          <a:p>
            <a:r>
              <a:rPr lang="zh-CN" altLang="en-US"/>
              <a:t>	operand</a:t>
            </a:r>
            <a:r>
              <a:rPr lang="zh-CN" altLang="en-US" dirty="0"/>
              <a:t>_write(&amp;opr_dest);</a:t>
            </a:r>
            <a:endParaRPr lang="zh-CN" altLang="en-US" dirty="0"/>
          </a:p>
          <a:p>
            <a:r>
              <a:rPr lang="zh-CN" altLang="en-US" dirty="0"/>
              <a:t>}</a:t>
            </a:r>
            <a:endParaRPr lang="zh-CN" altLang="en-US" dirty="0"/>
          </a:p>
          <a:p>
            <a:endParaRPr lang="zh-CN" altLang="en-US" dirty="0"/>
          </a:p>
          <a:p>
            <a:r>
              <a:rPr lang="zh-CN" altLang="en-US" sz="2000" dirty="0">
                <a:solidFill>
                  <a:srgbClr val="C00000"/>
                </a:solidFill>
              </a:rPr>
              <a:t>make_instr_impl_2op(mov, r, rm, v)</a:t>
            </a:r>
            <a:endParaRPr lang="zh-CN" altLang="en-US" sz="2000" dirty="0">
              <a:solidFill>
                <a:srgbClr val="C00000"/>
              </a:solidFill>
            </a:endParaRPr>
          </a:p>
        </p:txBody>
      </p:sp>
      <p:sp>
        <p:nvSpPr>
          <p:cNvPr id="6" name="文本框 5"/>
          <p:cNvSpPr txBox="1"/>
          <p:nvPr/>
        </p:nvSpPr>
        <p:spPr>
          <a:xfrm>
            <a:off x="6496050" y="5097952"/>
            <a:ext cx="4695825" cy="523220"/>
          </a:xfrm>
          <a:prstGeom prst="rect">
            <a:avLst/>
          </a:prstGeom>
          <a:noFill/>
        </p:spPr>
        <p:txBody>
          <a:bodyPr wrap="square" rtlCol="0">
            <a:spAutoFit/>
          </a:bodyPr>
          <a:lstStyle/>
          <a:p>
            <a:r>
              <a:rPr lang="en-US" altLang="zh-CN" sz="2800" i="1" dirty="0" err="1">
                <a:solidFill>
                  <a:srgbClr val="0070C0"/>
                </a:solidFill>
              </a:rPr>
              <a:t>nemu</a:t>
            </a:r>
            <a:r>
              <a:rPr lang="en-US" altLang="zh-CN" sz="2800" i="1" dirty="0">
                <a:solidFill>
                  <a:srgbClr val="0070C0"/>
                </a:solidFill>
              </a:rPr>
              <a:t>/</a:t>
            </a:r>
            <a:r>
              <a:rPr lang="en-US" altLang="zh-CN" sz="2800" i="1" dirty="0" err="1">
                <a:solidFill>
                  <a:srgbClr val="0070C0"/>
                </a:solidFill>
              </a:rPr>
              <a:t>src</a:t>
            </a:r>
            <a:r>
              <a:rPr lang="en-US" altLang="zh-CN" sz="2800" i="1" dirty="0">
                <a:solidFill>
                  <a:srgbClr val="0070C0"/>
                </a:solidFill>
              </a:rPr>
              <a:t>/</a:t>
            </a:r>
            <a:r>
              <a:rPr lang="en-US" altLang="zh-CN" sz="2800" i="1" dirty="0" err="1">
                <a:solidFill>
                  <a:srgbClr val="0070C0"/>
                </a:solidFill>
              </a:rPr>
              <a:t>cpu</a:t>
            </a:r>
            <a:r>
              <a:rPr lang="en-US" altLang="zh-CN" sz="2800" i="1" dirty="0">
                <a:solidFill>
                  <a:srgbClr val="0070C0"/>
                </a:solidFill>
              </a:rPr>
              <a:t>/</a:t>
            </a:r>
            <a:r>
              <a:rPr lang="en-US" altLang="zh-CN" sz="2800" i="1" dirty="0" err="1">
                <a:solidFill>
                  <a:srgbClr val="0070C0"/>
                </a:solidFill>
              </a:rPr>
              <a:t>instr</a:t>
            </a:r>
            <a:r>
              <a:rPr lang="en-US" altLang="zh-CN" sz="2800" i="1" dirty="0">
                <a:solidFill>
                  <a:srgbClr val="0070C0"/>
                </a:solidFill>
              </a:rPr>
              <a:t>/</a:t>
            </a:r>
            <a:r>
              <a:rPr lang="en-US" altLang="zh-CN" sz="2800" i="1" dirty="0" err="1">
                <a:solidFill>
                  <a:srgbClr val="0070C0"/>
                </a:solidFill>
              </a:rPr>
              <a:t>mov.c</a:t>
            </a:r>
            <a:r>
              <a:rPr lang="en-US" altLang="zh-CN" sz="2800" i="1" dirty="0">
                <a:solidFill>
                  <a:srgbClr val="0070C0"/>
                </a:solidFill>
              </a:rPr>
              <a:t> </a:t>
            </a:r>
            <a:endParaRPr lang="zh-CN" altLang="en-US" sz="2800" i="1" dirty="0">
              <a:solidFill>
                <a:srgbClr val="0070C0"/>
              </a:solidFill>
            </a:endParaRPr>
          </a:p>
        </p:txBody>
      </p:sp>
      <p:sp>
        <p:nvSpPr>
          <p:cNvPr id="7" name="矩形 6"/>
          <p:cNvSpPr/>
          <p:nvPr/>
        </p:nvSpPr>
        <p:spPr>
          <a:xfrm>
            <a:off x="1600201" y="236702"/>
            <a:ext cx="8991599" cy="3477875"/>
          </a:xfrm>
          <a:prstGeom prst="rect">
            <a:avLst/>
          </a:prstGeom>
          <a:solidFill>
            <a:schemeClr val="bg2"/>
          </a:solidFill>
          <a:ln>
            <a:solidFill>
              <a:schemeClr val="tx1"/>
            </a:solidFill>
            <a:prstDash val="dash"/>
          </a:ln>
        </p:spPr>
        <p:txBody>
          <a:bodyPr wrap="square">
            <a:spAutoFit/>
          </a:bodyPr>
          <a:lstStyle/>
          <a:p>
            <a:r>
              <a:rPr lang="zh-CN" altLang="en-US" dirty="0"/>
              <a:t>// macro for generating the implementation of an instruction with two operands</a:t>
            </a:r>
            <a:endParaRPr lang="zh-CN" altLang="en-US" dirty="0"/>
          </a:p>
          <a:p>
            <a:r>
              <a:rPr lang="zh-CN" altLang="en-US" sz="2000" dirty="0">
                <a:solidFill>
                  <a:srgbClr val="C00000"/>
                </a:solidFill>
              </a:rPr>
              <a:t>#define make_instr_impl_2op(inst_name, src_type, dest_type, suffix) \</a:t>
            </a:r>
            <a:endParaRPr lang="en-US" altLang="zh-CN" sz="2000" dirty="0">
              <a:solidFill>
                <a:srgbClr val="C00000"/>
              </a:solidFill>
            </a:endParaRPr>
          </a:p>
          <a:p>
            <a:r>
              <a:rPr lang="en-US" altLang="zh-CN" sz="2000" dirty="0">
                <a:solidFill>
                  <a:srgbClr val="C00000"/>
                </a:solidFill>
              </a:rPr>
              <a:t>                // </a:t>
            </a:r>
            <a:r>
              <a:rPr lang="zh-CN" altLang="en-US" sz="2000" dirty="0">
                <a:solidFill>
                  <a:srgbClr val="C00000"/>
                </a:solidFill>
              </a:rPr>
              <a:t>等于 </a:t>
            </a:r>
            <a:r>
              <a:rPr lang="en-US" altLang="zh-CN" sz="2000" dirty="0">
                <a:solidFill>
                  <a:srgbClr val="C00000"/>
                </a:solidFill>
              </a:rPr>
              <a:t> </a:t>
            </a:r>
            <a:r>
              <a:rPr lang="zh-CN" altLang="en-US" sz="2000" dirty="0">
                <a:solidFill>
                  <a:srgbClr val="C00000"/>
                </a:solidFill>
              </a:rPr>
              <a:t>make_instr_impl_2op(mov, r, rm, v)</a:t>
            </a:r>
            <a:endParaRPr lang="zh-CN" altLang="en-US" sz="2000" dirty="0">
              <a:solidFill>
                <a:srgbClr val="C00000"/>
              </a:solidFill>
            </a:endParaRPr>
          </a:p>
          <a:p>
            <a:r>
              <a:rPr lang="zh-CN" altLang="en-US"/>
              <a:t>	make</a:t>
            </a:r>
            <a:r>
              <a:rPr lang="zh-CN" altLang="en-US" dirty="0"/>
              <a:t>_instr_func(concat7(inst_name, _, src_type, 2, dest_type, _, suffix)) {\</a:t>
            </a:r>
            <a:endParaRPr lang="en-US" altLang="zh-CN" dirty="0"/>
          </a:p>
          <a:p>
            <a:r>
              <a:rPr lang="en-US" altLang="zh-CN">
                <a:solidFill>
                  <a:srgbClr val="00B050"/>
                </a:solidFill>
              </a:rPr>
              <a:t>	 </a:t>
            </a:r>
            <a:r>
              <a:rPr lang="en-US" altLang="zh-CN" dirty="0">
                <a:solidFill>
                  <a:srgbClr val="C00000"/>
                </a:solidFill>
              </a:rPr>
              <a:t>// </a:t>
            </a:r>
            <a:r>
              <a:rPr lang="zh-CN" altLang="en-US" dirty="0">
                <a:solidFill>
                  <a:srgbClr val="C00000"/>
                </a:solidFill>
              </a:rPr>
              <a:t>宏展开等于 </a:t>
            </a:r>
            <a:r>
              <a:rPr lang="en-US" altLang="zh-CN" dirty="0">
                <a:solidFill>
                  <a:srgbClr val="C00000"/>
                </a:solidFill>
              </a:rPr>
              <a:t> </a:t>
            </a:r>
            <a:r>
              <a:rPr lang="zh-CN" altLang="en-US" dirty="0">
                <a:solidFill>
                  <a:srgbClr val="C00000"/>
                </a:solidFill>
              </a:rPr>
              <a:t>make_instr_</a:t>
            </a:r>
            <a:r>
              <a:rPr lang="en-US" altLang="zh-CN" dirty="0" err="1">
                <a:solidFill>
                  <a:srgbClr val="C00000"/>
                </a:solidFill>
              </a:rPr>
              <a:t>func</a:t>
            </a:r>
            <a:r>
              <a:rPr lang="zh-CN" altLang="en-US" dirty="0">
                <a:solidFill>
                  <a:srgbClr val="C00000"/>
                </a:solidFill>
              </a:rPr>
              <a:t>(mov</a:t>
            </a:r>
            <a:r>
              <a:rPr lang="en-US" altLang="zh-CN" dirty="0">
                <a:solidFill>
                  <a:srgbClr val="C00000"/>
                </a:solidFill>
              </a:rPr>
              <a:t>_</a:t>
            </a:r>
            <a:r>
              <a:rPr lang="zh-CN" altLang="en-US" dirty="0">
                <a:solidFill>
                  <a:srgbClr val="C00000"/>
                </a:solidFill>
              </a:rPr>
              <a:t> r</a:t>
            </a:r>
            <a:r>
              <a:rPr lang="en-US" altLang="zh-CN" dirty="0">
                <a:solidFill>
                  <a:srgbClr val="C00000"/>
                </a:solidFill>
              </a:rPr>
              <a:t>2</a:t>
            </a:r>
            <a:r>
              <a:rPr lang="zh-CN" altLang="en-US" dirty="0">
                <a:solidFill>
                  <a:srgbClr val="C00000"/>
                </a:solidFill>
              </a:rPr>
              <a:t>rm</a:t>
            </a:r>
            <a:r>
              <a:rPr lang="en-US" altLang="zh-CN" dirty="0">
                <a:solidFill>
                  <a:srgbClr val="C00000"/>
                </a:solidFill>
              </a:rPr>
              <a:t>_</a:t>
            </a:r>
            <a:r>
              <a:rPr lang="zh-CN" altLang="en-US" dirty="0">
                <a:solidFill>
                  <a:srgbClr val="C00000"/>
                </a:solidFill>
              </a:rPr>
              <a:t>v) </a:t>
            </a:r>
            <a:r>
              <a:rPr lang="en-US" altLang="zh-CN" dirty="0">
                <a:solidFill>
                  <a:srgbClr val="C00000"/>
                </a:solidFill>
              </a:rPr>
              <a:t>{</a:t>
            </a:r>
            <a:endParaRPr lang="zh-CN" altLang="en-US" dirty="0">
              <a:solidFill>
                <a:srgbClr val="C00000"/>
              </a:solidFill>
            </a:endParaRPr>
          </a:p>
          <a:p>
            <a:r>
              <a:rPr lang="zh-CN" altLang="en-US"/>
              <a:t>		int </a:t>
            </a:r>
            <a:r>
              <a:rPr lang="zh-CN" altLang="en-US" dirty="0"/>
              <a:t>len = 1; \</a:t>
            </a:r>
            <a:endParaRPr lang="zh-CN" altLang="en-US" dirty="0"/>
          </a:p>
          <a:p>
            <a:r>
              <a:rPr lang="zh-CN" altLang="en-US"/>
              <a:t>		concat</a:t>
            </a:r>
            <a:r>
              <a:rPr lang="zh-CN" altLang="en-US" dirty="0"/>
              <a:t>(decode_data_size_, suffix) \</a:t>
            </a:r>
            <a:endParaRPr lang="zh-CN" altLang="en-US" dirty="0"/>
          </a:p>
          <a:p>
            <a:r>
              <a:rPr lang="zh-CN" altLang="en-US"/>
              <a:t>		concat</a:t>
            </a:r>
            <a:r>
              <a:rPr lang="zh-CN" altLang="en-US" dirty="0"/>
              <a:t>3(decode_operand, _, concat3(src_type, 2, dest_type)) \</a:t>
            </a:r>
            <a:endParaRPr lang="zh-CN" altLang="en-US" dirty="0"/>
          </a:p>
          <a:p>
            <a:r>
              <a:rPr lang="zh-CN" altLang="en-US"/>
              <a:t>		print</a:t>
            </a:r>
            <a:r>
              <a:rPr lang="zh-CN" altLang="en-US" dirty="0"/>
              <a:t>_asm_2(</a:t>
            </a:r>
            <a:r>
              <a:rPr lang="en-US" altLang="zh-CN" dirty="0"/>
              <a:t>…</a:t>
            </a:r>
            <a:r>
              <a:rPr lang="zh-CN" altLang="en-US" dirty="0"/>
              <a:t>); \</a:t>
            </a:r>
            <a:endParaRPr lang="zh-CN" altLang="en-US" dirty="0"/>
          </a:p>
          <a:p>
            <a:r>
              <a:rPr lang="zh-CN" altLang="en-US"/>
              <a:t>		instr</a:t>
            </a:r>
            <a:r>
              <a:rPr lang="zh-CN" altLang="en-US" dirty="0"/>
              <a:t>_execute_2op(); \</a:t>
            </a:r>
            <a:endParaRPr lang="zh-CN" altLang="en-US" dirty="0"/>
          </a:p>
          <a:p>
            <a:r>
              <a:rPr lang="zh-CN" altLang="en-US"/>
              <a:t>		return </a:t>
            </a:r>
            <a:r>
              <a:rPr lang="zh-CN" altLang="en-US" dirty="0"/>
              <a:t>len; \</a:t>
            </a:r>
            <a:endParaRPr lang="zh-CN" altLang="en-US" dirty="0"/>
          </a:p>
          <a:p>
            <a:r>
              <a:rPr lang="zh-CN" altLang="en-US"/>
              <a:t>	}</a:t>
            </a:r>
            <a:endParaRPr lang="zh-CN" altLang="en-US" dirty="0"/>
          </a:p>
        </p:txBody>
      </p:sp>
      <p:sp>
        <p:nvSpPr>
          <p:cNvPr id="8" name="文本框 7"/>
          <p:cNvSpPr txBox="1"/>
          <p:nvPr/>
        </p:nvSpPr>
        <p:spPr>
          <a:xfrm>
            <a:off x="5273675" y="3142334"/>
            <a:ext cx="5918200" cy="523220"/>
          </a:xfrm>
          <a:prstGeom prst="rect">
            <a:avLst/>
          </a:prstGeom>
          <a:noFill/>
        </p:spPr>
        <p:txBody>
          <a:bodyPr wrap="square" rtlCol="0">
            <a:spAutoFit/>
          </a:bodyPr>
          <a:lstStyle/>
          <a:p>
            <a:r>
              <a:rPr lang="en-US" altLang="zh-CN" sz="2800" i="1" dirty="0" err="1">
                <a:solidFill>
                  <a:srgbClr val="0070C0"/>
                </a:solidFill>
              </a:rPr>
              <a:t>nemu</a:t>
            </a:r>
            <a:r>
              <a:rPr lang="en-US" altLang="zh-CN" sz="2800" i="1" dirty="0">
                <a:solidFill>
                  <a:srgbClr val="0070C0"/>
                </a:solidFill>
              </a:rPr>
              <a:t>/include/</a:t>
            </a:r>
            <a:r>
              <a:rPr lang="en-US" altLang="zh-CN" sz="2800" i="1" dirty="0" err="1">
                <a:solidFill>
                  <a:srgbClr val="0070C0"/>
                </a:solidFill>
              </a:rPr>
              <a:t>cpu</a:t>
            </a:r>
            <a:r>
              <a:rPr lang="en-US" altLang="zh-CN" sz="2800" i="1" dirty="0">
                <a:solidFill>
                  <a:srgbClr val="0070C0"/>
                </a:solidFill>
              </a:rPr>
              <a:t>/</a:t>
            </a:r>
            <a:r>
              <a:rPr lang="en-US" altLang="zh-CN" sz="2800" i="1" dirty="0" err="1">
                <a:solidFill>
                  <a:srgbClr val="0070C0"/>
                </a:solidFill>
              </a:rPr>
              <a:t>instr_helper.h</a:t>
            </a:r>
            <a:endParaRPr lang="zh-CN" altLang="en-US" sz="2800" i="1" dirty="0">
              <a:solidFill>
                <a:srgbClr val="0070C0"/>
              </a:solidFill>
            </a:endParaRPr>
          </a:p>
        </p:txBody>
      </p:sp>
      <p:sp>
        <p:nvSpPr>
          <p:cNvPr id="9" name="任意多边形 8"/>
          <p:cNvSpPr/>
          <p:nvPr/>
        </p:nvSpPr>
        <p:spPr>
          <a:xfrm>
            <a:off x="2383986" y="939800"/>
            <a:ext cx="4327965" cy="3524250"/>
          </a:xfrm>
          <a:custGeom>
            <a:avLst/>
            <a:gdLst>
              <a:gd name="connsiteX0" fmla="*/ 4327965 w 4327965"/>
              <a:gd name="connsiteY0" fmla="*/ 3524250 h 3524250"/>
              <a:gd name="connsiteX1" fmla="*/ 676715 w 4327965"/>
              <a:gd name="connsiteY1" fmla="*/ 1790700 h 3524250"/>
              <a:gd name="connsiteX2" fmla="*/ 9965 w 4327965"/>
              <a:gd name="connsiteY2" fmla="*/ 0 h 3524250"/>
            </a:gdLst>
            <a:ahLst/>
            <a:cxnLst>
              <a:cxn ang="0">
                <a:pos x="connsiteX0" y="connsiteY0"/>
              </a:cxn>
              <a:cxn ang="0">
                <a:pos x="connsiteX1" y="connsiteY1"/>
              </a:cxn>
              <a:cxn ang="0">
                <a:pos x="connsiteX2" y="connsiteY2"/>
              </a:cxn>
            </a:cxnLst>
            <a:rect l="l" t="t" r="r" b="b"/>
            <a:pathLst>
              <a:path w="4327965" h="3524250">
                <a:moveTo>
                  <a:pt x="4327965" y="3524250"/>
                </a:moveTo>
                <a:cubicBezTo>
                  <a:pt x="2862173" y="2951162"/>
                  <a:pt x="1396382" y="2378075"/>
                  <a:pt x="676715" y="1790700"/>
                </a:cubicBezTo>
                <a:cubicBezTo>
                  <a:pt x="-42952" y="1203325"/>
                  <a:pt x="-16494" y="601662"/>
                  <a:pt x="9965" y="0"/>
                </a:cubicBezTo>
              </a:path>
            </a:pathLst>
          </a:custGeom>
          <a:noFill/>
          <a:ln w="38100">
            <a:solidFill>
              <a:srgbClr val="C00000"/>
            </a:solid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644650" y="2174075"/>
            <a:ext cx="4648200" cy="4470455"/>
          </a:xfrm>
          <a:prstGeom prst="rect">
            <a:avLst/>
          </a:prstGeom>
          <a:ln>
            <a:solidFill>
              <a:schemeClr val="tx1"/>
            </a:solidFill>
            <a:prstDash val="dash"/>
          </a:ln>
        </p:spPr>
        <p:txBody>
          <a:bodyPr wrap="square">
            <a:spAutoFit/>
          </a:bodyPr>
          <a:lstStyle/>
          <a:p>
            <a:pPr marL="228600" algn="just">
              <a:spcBef>
                <a:spcPts val="250"/>
              </a:spcBef>
            </a:pPr>
            <a:r>
              <a:rPr lang="en-US" altLang="zh-CN" kern="100" dirty="0" err="1">
                <a:latin typeface="等线" panose="02010600030101010101" charset="-122"/>
                <a:cs typeface="Times New Roman" panose="02020603050405020304" pitchFamily="18" charset="0"/>
              </a:rPr>
              <a:t>make_instr_func</a:t>
            </a:r>
            <a:r>
              <a:rPr lang="en-US" altLang="zh-CN" kern="100" dirty="0">
                <a:latin typeface="等线" panose="02010600030101010101" charset="-122"/>
                <a:cs typeface="Times New Roman" panose="02020603050405020304" pitchFamily="18" charset="0"/>
              </a:rPr>
              <a:t>(mov_r2rm_v) {</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OPERAND r, </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zh-CN" kern="100" dirty="0">
                <a:solidFill>
                  <a:srgbClr val="00B050"/>
                </a:solidFill>
                <a:latin typeface="等线" panose="02010600030101010101" charset="-122"/>
                <a:cs typeface="Times New Roman" panose="02020603050405020304" pitchFamily="18" charset="0"/>
              </a:rPr>
              <a:t>指定操作数长度</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rm.data_size</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r.data_size</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data_size</a:t>
            </a:r>
            <a:r>
              <a:rPr lang="en-US" altLang="zh-CN" kern="100" dirty="0">
                <a:latin typeface="等线" panose="02010600030101010101" charset="-122"/>
                <a:cs typeface="Times New Roman" panose="02020603050405020304" pitchFamily="18" charset="0"/>
              </a:rPr>
              <a:t>;  </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int</a:t>
            </a: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 = 1;</a:t>
            </a:r>
            <a:endParaRPr lang="en-US"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zh-CN" kern="100" dirty="0">
                <a:solidFill>
                  <a:srgbClr val="00B050"/>
                </a:solidFill>
                <a:latin typeface="等线" panose="02010600030101010101" charset="-122"/>
                <a:cs typeface="Times New Roman" panose="02020603050405020304" pitchFamily="18" charset="0"/>
              </a:rPr>
              <a:t>操作数寻址</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modrm_r_rm</a:t>
            </a:r>
            <a:r>
              <a:rPr lang="en-US" altLang="zh-CN" kern="100" dirty="0">
                <a:latin typeface="等线" panose="02010600030101010101" charset="-122"/>
                <a:cs typeface="Times New Roman" panose="02020603050405020304" pitchFamily="18" charset="0"/>
              </a:rPr>
              <a:t>(</a:t>
            </a:r>
            <a:r>
              <a:rPr lang="en-US" altLang="zh-CN" kern="100" dirty="0" err="1">
                <a:latin typeface="等线" panose="02010600030101010101" charset="-122"/>
                <a:cs typeface="Times New Roman" panose="02020603050405020304" pitchFamily="18" charset="0"/>
              </a:rPr>
              <a:t>eip</a:t>
            </a:r>
            <a:r>
              <a:rPr lang="en-US" altLang="zh-CN" kern="100" dirty="0">
                <a:latin typeface="等线" panose="02010600030101010101" charset="-122"/>
                <a:cs typeface="Times New Roman" panose="02020603050405020304" pitchFamily="18" charset="0"/>
              </a:rPr>
              <a:t> + 1, &amp;r, &amp;</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 </a:t>
            </a:r>
            <a:endParaRPr lang="en-US"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en-US" kern="100" dirty="0">
                <a:solidFill>
                  <a:srgbClr val="00B050"/>
                </a:solidFill>
                <a:latin typeface="等线" panose="02010600030101010101" charset="-122"/>
                <a:cs typeface="Times New Roman" panose="02020603050405020304" pitchFamily="18" charset="0"/>
              </a:rPr>
              <a:t>执行</a:t>
            </a:r>
            <a:r>
              <a:rPr lang="en-US" altLang="zh-CN" kern="100" dirty="0" err="1">
                <a:solidFill>
                  <a:srgbClr val="00B050"/>
                </a:solidFill>
                <a:latin typeface="等线" panose="02010600030101010101" charset="-122"/>
                <a:cs typeface="Times New Roman" panose="02020603050405020304" pitchFamily="18" charset="0"/>
              </a:rPr>
              <a:t>mov</a:t>
            </a:r>
            <a:r>
              <a:rPr lang="zh-CN" altLang="en-US" kern="100" dirty="0">
                <a:solidFill>
                  <a:srgbClr val="00B050"/>
                </a:solidFill>
                <a:latin typeface="等线" panose="02010600030101010101" charset="-122"/>
                <a:cs typeface="Times New Roman" panose="02020603050405020304" pitchFamily="18" charset="0"/>
              </a:rPr>
              <a:t>操作</a:t>
            </a:r>
            <a:r>
              <a:rPr lang="en-US" altLang="zh-CN" kern="100" dirty="0">
                <a:solidFill>
                  <a:srgbClr val="00B050"/>
                </a:solidFill>
                <a:latin typeface="等线" panose="02010600030101010101" charset="-122"/>
                <a:cs typeface="Times New Roman" panose="02020603050405020304" pitchFamily="18" charset="0"/>
              </a:rPr>
              <a:t> </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operand_read</a:t>
            </a:r>
            <a:r>
              <a:rPr lang="en-US" altLang="zh-CN" kern="100" dirty="0">
                <a:latin typeface="等线" panose="02010600030101010101" charset="-122"/>
                <a:cs typeface="Times New Roman" panose="02020603050405020304" pitchFamily="18" charset="0"/>
              </a:rPr>
              <a:t>(&amp;r);</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rm.val</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r.val</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operand_write</a:t>
            </a:r>
            <a:r>
              <a:rPr lang="en-US" altLang="zh-CN" kern="100" dirty="0">
                <a:latin typeface="等线" panose="02010600030101010101" charset="-122"/>
                <a:cs typeface="Times New Roman" panose="02020603050405020304" pitchFamily="18" charset="0"/>
              </a:rPr>
              <a:t>(&amp;</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en-US" kern="100" dirty="0">
                <a:solidFill>
                  <a:srgbClr val="00B050"/>
                </a:solidFill>
                <a:latin typeface="等线" panose="02010600030101010101" charset="-122"/>
                <a:cs typeface="Times New Roman" panose="02020603050405020304" pitchFamily="18" charset="0"/>
              </a:rPr>
              <a:t>返回操作数长度</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return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p:txBody>
      </p:sp>
      <p:sp>
        <p:nvSpPr>
          <p:cNvPr id="5" name="矩形 4"/>
          <p:cNvSpPr/>
          <p:nvPr/>
        </p:nvSpPr>
        <p:spPr>
          <a:xfrm>
            <a:off x="6604000" y="2174075"/>
            <a:ext cx="4279900" cy="2616101"/>
          </a:xfrm>
          <a:prstGeom prst="rect">
            <a:avLst/>
          </a:prstGeom>
          <a:ln>
            <a:solidFill>
              <a:schemeClr val="tx1"/>
            </a:solidFill>
            <a:prstDash val="dash"/>
          </a:ln>
        </p:spPr>
        <p:txBody>
          <a:bodyPr wrap="square">
            <a:spAutoFit/>
          </a:bodyPr>
          <a:lstStyle/>
          <a:p>
            <a:r>
              <a:rPr lang="zh-CN" altLang="en-US" dirty="0"/>
              <a:t>#include "cpu/instr.h"</a:t>
            </a:r>
            <a:endParaRPr lang="zh-CN" altLang="en-US" dirty="0"/>
          </a:p>
          <a:p>
            <a:endParaRPr lang="zh-CN" altLang="en-US" dirty="0"/>
          </a:p>
          <a:p>
            <a:r>
              <a:rPr lang="zh-CN" altLang="en-US" dirty="0"/>
              <a:t>static void instr_execute_2op() {</a:t>
            </a:r>
            <a:endParaRPr lang="zh-CN" altLang="en-US" dirty="0"/>
          </a:p>
          <a:p>
            <a:r>
              <a:rPr lang="zh-CN" altLang="en-US"/>
              <a:t>	operand</a:t>
            </a:r>
            <a:r>
              <a:rPr lang="zh-CN" altLang="en-US" dirty="0"/>
              <a:t>_read(&amp;opr_src);</a:t>
            </a:r>
            <a:endParaRPr lang="zh-CN" altLang="en-US" dirty="0"/>
          </a:p>
          <a:p>
            <a:r>
              <a:rPr lang="zh-CN" altLang="en-US"/>
              <a:t>	opr</a:t>
            </a:r>
            <a:r>
              <a:rPr lang="zh-CN" altLang="en-US" dirty="0"/>
              <a:t>_dest.val = opr_src.val;</a:t>
            </a:r>
            <a:endParaRPr lang="zh-CN" altLang="en-US" dirty="0"/>
          </a:p>
          <a:p>
            <a:r>
              <a:rPr lang="zh-CN" altLang="en-US"/>
              <a:t>	operand</a:t>
            </a:r>
            <a:r>
              <a:rPr lang="zh-CN" altLang="en-US" dirty="0"/>
              <a:t>_write(&amp;opr_dest);</a:t>
            </a:r>
            <a:endParaRPr lang="zh-CN" altLang="en-US" dirty="0"/>
          </a:p>
          <a:p>
            <a:r>
              <a:rPr lang="zh-CN" altLang="en-US" dirty="0"/>
              <a:t>}</a:t>
            </a:r>
            <a:endParaRPr lang="zh-CN" altLang="en-US" dirty="0"/>
          </a:p>
          <a:p>
            <a:endParaRPr lang="zh-CN" altLang="en-US" dirty="0"/>
          </a:p>
          <a:p>
            <a:r>
              <a:rPr lang="zh-CN" altLang="en-US" sz="2000" dirty="0">
                <a:solidFill>
                  <a:srgbClr val="C00000"/>
                </a:solidFill>
              </a:rPr>
              <a:t>make_instr_impl_2op(mov, r, rm, v)</a:t>
            </a:r>
            <a:endParaRPr lang="zh-CN" altLang="en-US" sz="2000" dirty="0">
              <a:solidFill>
                <a:srgbClr val="C00000"/>
              </a:solidFill>
            </a:endParaRPr>
          </a:p>
        </p:txBody>
      </p:sp>
      <p:sp>
        <p:nvSpPr>
          <p:cNvPr id="6" name="文本框 5"/>
          <p:cNvSpPr txBox="1"/>
          <p:nvPr/>
        </p:nvSpPr>
        <p:spPr>
          <a:xfrm>
            <a:off x="6496050" y="4895851"/>
            <a:ext cx="4502150" cy="523220"/>
          </a:xfrm>
          <a:prstGeom prst="rect">
            <a:avLst/>
          </a:prstGeom>
          <a:noFill/>
        </p:spPr>
        <p:txBody>
          <a:bodyPr wrap="square" rtlCol="0">
            <a:spAutoFit/>
          </a:bodyPr>
          <a:lstStyle/>
          <a:p>
            <a:r>
              <a:rPr lang="en-US" altLang="zh-CN" sz="2800" i="1" dirty="0" err="1">
                <a:solidFill>
                  <a:srgbClr val="0070C0"/>
                </a:solidFill>
              </a:rPr>
              <a:t>nemu</a:t>
            </a:r>
            <a:r>
              <a:rPr lang="en-US" altLang="zh-CN" sz="2800" i="1" dirty="0">
                <a:solidFill>
                  <a:srgbClr val="0070C0"/>
                </a:solidFill>
              </a:rPr>
              <a:t>/</a:t>
            </a:r>
            <a:r>
              <a:rPr lang="en-US" altLang="zh-CN" sz="2800" i="1" dirty="0" err="1">
                <a:solidFill>
                  <a:srgbClr val="0070C0"/>
                </a:solidFill>
              </a:rPr>
              <a:t>src</a:t>
            </a:r>
            <a:r>
              <a:rPr lang="en-US" altLang="zh-CN" sz="2800" i="1" dirty="0">
                <a:solidFill>
                  <a:srgbClr val="0070C0"/>
                </a:solidFill>
              </a:rPr>
              <a:t>/</a:t>
            </a:r>
            <a:r>
              <a:rPr lang="en-US" altLang="zh-CN" sz="2800" i="1" dirty="0" err="1">
                <a:solidFill>
                  <a:srgbClr val="0070C0"/>
                </a:solidFill>
              </a:rPr>
              <a:t>cpu</a:t>
            </a:r>
            <a:r>
              <a:rPr lang="en-US" altLang="zh-CN" sz="2800" i="1" dirty="0">
                <a:solidFill>
                  <a:srgbClr val="0070C0"/>
                </a:solidFill>
              </a:rPr>
              <a:t>/</a:t>
            </a:r>
            <a:r>
              <a:rPr lang="en-US" altLang="zh-CN" sz="2800" i="1" dirty="0" err="1">
                <a:solidFill>
                  <a:srgbClr val="0070C0"/>
                </a:solidFill>
              </a:rPr>
              <a:t>instr</a:t>
            </a:r>
            <a:r>
              <a:rPr lang="en-US" altLang="zh-CN" sz="2800" i="1" dirty="0">
                <a:solidFill>
                  <a:srgbClr val="0070C0"/>
                </a:solidFill>
              </a:rPr>
              <a:t>/</a:t>
            </a:r>
            <a:r>
              <a:rPr lang="en-US" altLang="zh-CN" sz="2800" i="1" dirty="0" err="1">
                <a:solidFill>
                  <a:srgbClr val="0070C0"/>
                </a:solidFill>
              </a:rPr>
              <a:t>mov.c</a:t>
            </a:r>
            <a:r>
              <a:rPr lang="en-US" altLang="zh-CN" sz="2800" i="1" dirty="0">
                <a:solidFill>
                  <a:srgbClr val="0070C0"/>
                </a:solidFill>
              </a:rPr>
              <a:t> </a:t>
            </a:r>
            <a:endParaRPr lang="zh-CN" altLang="en-US" sz="2800" i="1" dirty="0">
              <a:solidFill>
                <a:srgbClr val="0070C0"/>
              </a:solidFill>
            </a:endParaRPr>
          </a:p>
        </p:txBody>
      </p:sp>
      <p:sp>
        <p:nvSpPr>
          <p:cNvPr id="7" name="矩形 6"/>
          <p:cNvSpPr/>
          <p:nvPr/>
        </p:nvSpPr>
        <p:spPr>
          <a:xfrm>
            <a:off x="1600201" y="236702"/>
            <a:ext cx="8991599" cy="3477875"/>
          </a:xfrm>
          <a:prstGeom prst="rect">
            <a:avLst/>
          </a:prstGeom>
          <a:solidFill>
            <a:schemeClr val="bg2"/>
          </a:solidFill>
          <a:ln>
            <a:solidFill>
              <a:schemeClr val="tx1"/>
            </a:solidFill>
            <a:prstDash val="dash"/>
          </a:ln>
        </p:spPr>
        <p:txBody>
          <a:bodyPr wrap="square">
            <a:spAutoFit/>
          </a:bodyPr>
          <a:lstStyle/>
          <a:p>
            <a:r>
              <a:rPr lang="zh-CN" altLang="en-US" dirty="0"/>
              <a:t>// macro for generating the implementation of an instruction with two operands</a:t>
            </a:r>
            <a:endParaRPr lang="zh-CN" altLang="en-US" dirty="0"/>
          </a:p>
          <a:p>
            <a:r>
              <a:rPr lang="zh-CN" altLang="en-US" sz="2000" dirty="0"/>
              <a:t>#define make_instr_impl_2op(inst_name, src_type, dest_type, suffix) \</a:t>
            </a:r>
            <a:endParaRPr lang="en-US" altLang="zh-CN" sz="2000" dirty="0"/>
          </a:p>
          <a:p>
            <a:r>
              <a:rPr lang="en-US" altLang="zh-CN" sz="2000" dirty="0">
                <a:solidFill>
                  <a:schemeClr val="tx1">
                    <a:lumMod val="50000"/>
                    <a:lumOff val="50000"/>
                  </a:schemeClr>
                </a:solidFill>
              </a:rPr>
              <a:t>                // </a:t>
            </a:r>
            <a:r>
              <a:rPr lang="zh-CN" altLang="en-US" sz="2000" dirty="0">
                <a:solidFill>
                  <a:schemeClr val="tx1">
                    <a:lumMod val="50000"/>
                    <a:lumOff val="50000"/>
                  </a:schemeClr>
                </a:solidFill>
              </a:rPr>
              <a:t>等于 </a:t>
            </a:r>
            <a:r>
              <a:rPr lang="en-US" altLang="zh-CN" sz="2000" dirty="0">
                <a:solidFill>
                  <a:schemeClr val="tx1">
                    <a:lumMod val="50000"/>
                    <a:lumOff val="50000"/>
                  </a:schemeClr>
                </a:solidFill>
              </a:rPr>
              <a:t> </a:t>
            </a:r>
            <a:r>
              <a:rPr lang="zh-CN" altLang="en-US" sz="2000" dirty="0">
                <a:solidFill>
                  <a:schemeClr val="tx1">
                    <a:lumMod val="50000"/>
                    <a:lumOff val="50000"/>
                  </a:schemeClr>
                </a:solidFill>
              </a:rPr>
              <a:t>make_instr_impl_2op(mov, r, rm, v)</a:t>
            </a:r>
            <a:endParaRPr lang="zh-CN" altLang="en-US" sz="2000" dirty="0">
              <a:solidFill>
                <a:schemeClr val="tx1">
                  <a:lumMod val="50000"/>
                  <a:lumOff val="50000"/>
                </a:schemeClr>
              </a:solidFill>
            </a:endParaRPr>
          </a:p>
          <a:p>
            <a:r>
              <a:rPr lang="zh-CN" altLang="en-US"/>
              <a:t>	make</a:t>
            </a:r>
            <a:r>
              <a:rPr lang="zh-CN" altLang="en-US" dirty="0"/>
              <a:t>_instr_func(concat7(inst_name, _, src_type, 2, dest_type, _, suffix)) {\</a:t>
            </a:r>
            <a:endParaRPr lang="en-US" altLang="zh-CN" dirty="0"/>
          </a:p>
          <a:p>
            <a:r>
              <a:rPr lang="en-US" altLang="zh-CN">
                <a:solidFill>
                  <a:schemeClr val="tx1">
                    <a:lumMod val="50000"/>
                    <a:lumOff val="50000"/>
                  </a:schemeClr>
                </a:solidFill>
              </a:rPr>
              <a:t>	 </a:t>
            </a:r>
            <a:r>
              <a:rPr lang="en-US" altLang="zh-CN" dirty="0">
                <a:solidFill>
                  <a:schemeClr val="tx1">
                    <a:lumMod val="50000"/>
                    <a:lumOff val="50000"/>
                  </a:schemeClr>
                </a:solidFill>
              </a:rPr>
              <a:t>// </a:t>
            </a:r>
            <a:r>
              <a:rPr lang="zh-CN" altLang="en-US" dirty="0">
                <a:solidFill>
                  <a:schemeClr val="tx1">
                    <a:lumMod val="50000"/>
                    <a:lumOff val="50000"/>
                  </a:schemeClr>
                </a:solidFill>
              </a:rPr>
              <a:t>宏展开等于 </a:t>
            </a:r>
            <a:r>
              <a:rPr lang="en-US" altLang="zh-CN" dirty="0">
                <a:solidFill>
                  <a:schemeClr val="tx1">
                    <a:lumMod val="50000"/>
                    <a:lumOff val="50000"/>
                  </a:schemeClr>
                </a:solidFill>
              </a:rPr>
              <a:t> </a:t>
            </a:r>
            <a:r>
              <a:rPr lang="zh-CN" altLang="en-US" dirty="0">
                <a:solidFill>
                  <a:schemeClr val="tx1">
                    <a:lumMod val="50000"/>
                    <a:lumOff val="50000"/>
                  </a:schemeClr>
                </a:solidFill>
              </a:rPr>
              <a:t>make_instr_</a:t>
            </a:r>
            <a:r>
              <a:rPr lang="en-US" altLang="zh-CN" dirty="0" err="1">
                <a:solidFill>
                  <a:schemeClr val="tx1">
                    <a:lumMod val="50000"/>
                    <a:lumOff val="50000"/>
                  </a:schemeClr>
                </a:solidFill>
              </a:rPr>
              <a:t>func</a:t>
            </a:r>
            <a:r>
              <a:rPr lang="zh-CN" altLang="en-US" dirty="0">
                <a:solidFill>
                  <a:schemeClr val="tx1">
                    <a:lumMod val="50000"/>
                    <a:lumOff val="50000"/>
                  </a:schemeClr>
                </a:solidFill>
              </a:rPr>
              <a:t>(mov</a:t>
            </a:r>
            <a:r>
              <a:rPr lang="en-US" altLang="zh-CN" dirty="0">
                <a:solidFill>
                  <a:schemeClr val="tx1">
                    <a:lumMod val="50000"/>
                    <a:lumOff val="50000"/>
                  </a:schemeClr>
                </a:solidFill>
              </a:rPr>
              <a:t>_</a:t>
            </a:r>
            <a:r>
              <a:rPr lang="zh-CN" altLang="en-US" dirty="0">
                <a:solidFill>
                  <a:schemeClr val="tx1">
                    <a:lumMod val="50000"/>
                    <a:lumOff val="50000"/>
                  </a:schemeClr>
                </a:solidFill>
              </a:rPr>
              <a:t> r</a:t>
            </a:r>
            <a:r>
              <a:rPr lang="en-US" altLang="zh-CN" dirty="0">
                <a:solidFill>
                  <a:schemeClr val="tx1">
                    <a:lumMod val="50000"/>
                    <a:lumOff val="50000"/>
                  </a:schemeClr>
                </a:solidFill>
              </a:rPr>
              <a:t>2</a:t>
            </a:r>
            <a:r>
              <a:rPr lang="zh-CN" altLang="en-US" dirty="0">
                <a:solidFill>
                  <a:schemeClr val="tx1">
                    <a:lumMod val="50000"/>
                    <a:lumOff val="50000"/>
                  </a:schemeClr>
                </a:solidFill>
              </a:rPr>
              <a:t>rm</a:t>
            </a:r>
            <a:r>
              <a:rPr lang="en-US" altLang="zh-CN" dirty="0">
                <a:solidFill>
                  <a:schemeClr val="tx1">
                    <a:lumMod val="50000"/>
                    <a:lumOff val="50000"/>
                  </a:schemeClr>
                </a:solidFill>
              </a:rPr>
              <a:t>_</a:t>
            </a:r>
            <a:r>
              <a:rPr lang="zh-CN" altLang="en-US" dirty="0">
                <a:solidFill>
                  <a:schemeClr val="tx1">
                    <a:lumMod val="50000"/>
                    <a:lumOff val="50000"/>
                  </a:schemeClr>
                </a:solidFill>
              </a:rPr>
              <a:t>v) </a:t>
            </a:r>
            <a:r>
              <a:rPr lang="en-US" altLang="zh-CN" dirty="0">
                <a:solidFill>
                  <a:schemeClr val="tx1">
                    <a:lumMod val="50000"/>
                    <a:lumOff val="50000"/>
                  </a:schemeClr>
                </a:solidFill>
              </a:rPr>
              <a:t>{</a:t>
            </a:r>
            <a:endParaRPr lang="zh-CN" altLang="en-US" dirty="0">
              <a:solidFill>
                <a:schemeClr val="tx1">
                  <a:lumMod val="50000"/>
                  <a:lumOff val="50000"/>
                </a:schemeClr>
              </a:solidFill>
            </a:endParaRPr>
          </a:p>
          <a:p>
            <a:r>
              <a:rPr lang="zh-CN" altLang="en-US"/>
              <a:t>		</a:t>
            </a:r>
            <a:r>
              <a:rPr lang="zh-CN" altLang="en-US">
                <a:solidFill>
                  <a:srgbClr val="C00000"/>
                </a:solidFill>
              </a:rPr>
              <a:t>int </a:t>
            </a:r>
            <a:r>
              <a:rPr lang="zh-CN" altLang="en-US" dirty="0">
                <a:solidFill>
                  <a:srgbClr val="C00000"/>
                </a:solidFill>
              </a:rPr>
              <a:t>len = 1; \ </a:t>
            </a:r>
            <a:r>
              <a:rPr lang="en-US" altLang="zh-CN" dirty="0">
                <a:solidFill>
                  <a:srgbClr val="C00000"/>
                </a:solidFill>
              </a:rPr>
              <a:t>// </a:t>
            </a:r>
            <a:r>
              <a:rPr lang="zh-CN" altLang="en-US" dirty="0">
                <a:solidFill>
                  <a:srgbClr val="C00000"/>
                </a:solidFill>
              </a:rPr>
              <a:t>不变</a:t>
            </a:r>
            <a:endParaRPr lang="zh-CN" altLang="en-US" dirty="0">
              <a:solidFill>
                <a:srgbClr val="C00000"/>
              </a:solidFill>
            </a:endParaRPr>
          </a:p>
          <a:p>
            <a:r>
              <a:rPr lang="zh-CN" altLang="en-US"/>
              <a:t>		concat</a:t>
            </a:r>
            <a:r>
              <a:rPr lang="zh-CN" altLang="en-US" dirty="0"/>
              <a:t>(decode_data_size_, suffix) \</a:t>
            </a:r>
            <a:endParaRPr lang="zh-CN" altLang="en-US" dirty="0"/>
          </a:p>
          <a:p>
            <a:r>
              <a:rPr lang="zh-CN" altLang="en-US"/>
              <a:t>		concat</a:t>
            </a:r>
            <a:r>
              <a:rPr lang="zh-CN" altLang="en-US" dirty="0"/>
              <a:t>3(decode_operand, _, concat3(src_type, 2, dest_type)) \</a:t>
            </a:r>
            <a:endParaRPr lang="zh-CN" altLang="en-US" dirty="0"/>
          </a:p>
          <a:p>
            <a:r>
              <a:rPr lang="zh-CN" altLang="en-US"/>
              <a:t>		print</a:t>
            </a:r>
            <a:r>
              <a:rPr lang="zh-CN" altLang="en-US" dirty="0"/>
              <a:t>_asm_2(</a:t>
            </a:r>
            <a:r>
              <a:rPr lang="en-US" altLang="zh-CN" dirty="0"/>
              <a:t>…</a:t>
            </a:r>
            <a:r>
              <a:rPr lang="zh-CN" altLang="en-US" dirty="0"/>
              <a:t>); \</a:t>
            </a:r>
            <a:endParaRPr lang="zh-CN" altLang="en-US" dirty="0"/>
          </a:p>
          <a:p>
            <a:r>
              <a:rPr lang="zh-CN" altLang="en-US"/>
              <a:t>		instr</a:t>
            </a:r>
            <a:r>
              <a:rPr lang="zh-CN" altLang="en-US" dirty="0"/>
              <a:t>_execute_2op(); \</a:t>
            </a:r>
            <a:endParaRPr lang="zh-CN" altLang="en-US" dirty="0"/>
          </a:p>
          <a:p>
            <a:r>
              <a:rPr lang="zh-CN" altLang="en-US"/>
              <a:t>		return </a:t>
            </a:r>
            <a:r>
              <a:rPr lang="zh-CN" altLang="en-US" dirty="0"/>
              <a:t>len; \</a:t>
            </a:r>
            <a:endParaRPr lang="zh-CN" altLang="en-US" dirty="0"/>
          </a:p>
          <a:p>
            <a:r>
              <a:rPr lang="zh-CN" altLang="en-US"/>
              <a:t>	}</a:t>
            </a:r>
            <a:endParaRPr lang="zh-CN" altLang="en-US" dirty="0"/>
          </a:p>
        </p:txBody>
      </p:sp>
      <p:sp>
        <p:nvSpPr>
          <p:cNvPr id="8" name="文本框 7"/>
          <p:cNvSpPr txBox="1"/>
          <p:nvPr/>
        </p:nvSpPr>
        <p:spPr>
          <a:xfrm>
            <a:off x="5407025" y="3142335"/>
            <a:ext cx="5918200" cy="523220"/>
          </a:xfrm>
          <a:prstGeom prst="rect">
            <a:avLst/>
          </a:prstGeom>
          <a:noFill/>
        </p:spPr>
        <p:txBody>
          <a:bodyPr wrap="square" rtlCol="0">
            <a:spAutoFit/>
          </a:bodyPr>
          <a:lstStyle/>
          <a:p>
            <a:r>
              <a:rPr lang="en-US" altLang="zh-CN" sz="2800" i="1" dirty="0" err="1">
                <a:solidFill>
                  <a:srgbClr val="0070C0"/>
                </a:solidFill>
              </a:rPr>
              <a:t>nemu</a:t>
            </a:r>
            <a:r>
              <a:rPr lang="en-US" altLang="zh-CN" sz="2800" i="1" dirty="0">
                <a:solidFill>
                  <a:srgbClr val="0070C0"/>
                </a:solidFill>
              </a:rPr>
              <a:t>/include/</a:t>
            </a:r>
            <a:r>
              <a:rPr lang="en-US" altLang="zh-CN" sz="2800" i="1" dirty="0" err="1">
                <a:solidFill>
                  <a:srgbClr val="0070C0"/>
                </a:solidFill>
              </a:rPr>
              <a:t>cpu</a:t>
            </a:r>
            <a:r>
              <a:rPr lang="en-US" altLang="zh-CN" sz="2800" i="1" dirty="0">
                <a:solidFill>
                  <a:srgbClr val="0070C0"/>
                </a:solidFill>
              </a:rPr>
              <a:t>/</a:t>
            </a:r>
            <a:r>
              <a:rPr lang="en-US" altLang="zh-CN" sz="2800" i="1" dirty="0" err="1">
                <a:solidFill>
                  <a:srgbClr val="0070C0"/>
                </a:solidFill>
              </a:rPr>
              <a:t>instr_helper.h</a:t>
            </a:r>
            <a:endParaRPr lang="zh-CN" altLang="en-US" sz="2800" i="1" dirty="0">
              <a:solidFill>
                <a:srgbClr val="0070C0"/>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644650" y="2174075"/>
            <a:ext cx="4648200" cy="4470455"/>
          </a:xfrm>
          <a:prstGeom prst="rect">
            <a:avLst/>
          </a:prstGeom>
          <a:ln>
            <a:solidFill>
              <a:schemeClr val="tx1"/>
            </a:solidFill>
            <a:prstDash val="dash"/>
          </a:ln>
        </p:spPr>
        <p:txBody>
          <a:bodyPr wrap="square">
            <a:spAutoFit/>
          </a:bodyPr>
          <a:lstStyle/>
          <a:p>
            <a:pPr marL="228600" algn="just">
              <a:spcBef>
                <a:spcPts val="250"/>
              </a:spcBef>
            </a:pPr>
            <a:r>
              <a:rPr lang="en-US" altLang="zh-CN" kern="100" dirty="0" err="1">
                <a:latin typeface="等线" panose="02010600030101010101" charset="-122"/>
                <a:cs typeface="Times New Roman" panose="02020603050405020304" pitchFamily="18" charset="0"/>
              </a:rPr>
              <a:t>make_instr_func</a:t>
            </a:r>
            <a:r>
              <a:rPr lang="en-US" altLang="zh-CN" kern="100" dirty="0">
                <a:latin typeface="等线" panose="02010600030101010101" charset="-122"/>
                <a:cs typeface="Times New Roman" panose="02020603050405020304" pitchFamily="18" charset="0"/>
              </a:rPr>
              <a:t>(mov_r2rm_v) {</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OPERAND r, </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zh-CN" kern="100" dirty="0">
                <a:solidFill>
                  <a:srgbClr val="00B050"/>
                </a:solidFill>
                <a:latin typeface="等线" panose="02010600030101010101" charset="-122"/>
                <a:cs typeface="Times New Roman" panose="02020603050405020304" pitchFamily="18" charset="0"/>
              </a:rPr>
              <a:t>指定操作数长度</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rm.data_size</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r.data_size</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data_size</a:t>
            </a:r>
            <a:r>
              <a:rPr lang="en-US" altLang="zh-CN" kern="100" dirty="0">
                <a:latin typeface="等线" panose="02010600030101010101" charset="-122"/>
                <a:cs typeface="Times New Roman" panose="02020603050405020304" pitchFamily="18" charset="0"/>
              </a:rPr>
              <a:t>;  </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int</a:t>
            </a: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 = 1;</a:t>
            </a:r>
            <a:endParaRPr lang="en-US"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zh-CN" kern="100" dirty="0">
                <a:solidFill>
                  <a:srgbClr val="00B050"/>
                </a:solidFill>
                <a:latin typeface="等线" panose="02010600030101010101" charset="-122"/>
                <a:cs typeface="Times New Roman" panose="02020603050405020304" pitchFamily="18" charset="0"/>
              </a:rPr>
              <a:t>操作数寻址</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modrm_r_rm</a:t>
            </a:r>
            <a:r>
              <a:rPr lang="en-US" altLang="zh-CN" kern="100" dirty="0">
                <a:latin typeface="等线" panose="02010600030101010101" charset="-122"/>
                <a:cs typeface="Times New Roman" panose="02020603050405020304" pitchFamily="18" charset="0"/>
              </a:rPr>
              <a:t>(</a:t>
            </a:r>
            <a:r>
              <a:rPr lang="en-US" altLang="zh-CN" kern="100" dirty="0" err="1">
                <a:latin typeface="等线" panose="02010600030101010101" charset="-122"/>
                <a:cs typeface="Times New Roman" panose="02020603050405020304" pitchFamily="18" charset="0"/>
              </a:rPr>
              <a:t>eip</a:t>
            </a:r>
            <a:r>
              <a:rPr lang="en-US" altLang="zh-CN" kern="100" dirty="0">
                <a:latin typeface="等线" panose="02010600030101010101" charset="-122"/>
                <a:cs typeface="Times New Roman" panose="02020603050405020304" pitchFamily="18" charset="0"/>
              </a:rPr>
              <a:t> + 1, &amp;r, &amp;</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 </a:t>
            </a:r>
            <a:endParaRPr lang="en-US"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en-US" kern="100" dirty="0">
                <a:solidFill>
                  <a:srgbClr val="00B050"/>
                </a:solidFill>
                <a:latin typeface="等线" panose="02010600030101010101" charset="-122"/>
                <a:cs typeface="Times New Roman" panose="02020603050405020304" pitchFamily="18" charset="0"/>
              </a:rPr>
              <a:t>执行</a:t>
            </a:r>
            <a:r>
              <a:rPr lang="en-US" altLang="zh-CN" kern="100" dirty="0" err="1">
                <a:solidFill>
                  <a:srgbClr val="00B050"/>
                </a:solidFill>
                <a:latin typeface="等线" panose="02010600030101010101" charset="-122"/>
                <a:cs typeface="Times New Roman" panose="02020603050405020304" pitchFamily="18" charset="0"/>
              </a:rPr>
              <a:t>mov</a:t>
            </a:r>
            <a:r>
              <a:rPr lang="zh-CN" altLang="en-US" kern="100" dirty="0">
                <a:solidFill>
                  <a:srgbClr val="00B050"/>
                </a:solidFill>
                <a:latin typeface="等线" panose="02010600030101010101" charset="-122"/>
                <a:cs typeface="Times New Roman" panose="02020603050405020304" pitchFamily="18" charset="0"/>
              </a:rPr>
              <a:t>操作</a:t>
            </a:r>
            <a:r>
              <a:rPr lang="en-US" altLang="zh-CN" kern="100" dirty="0">
                <a:solidFill>
                  <a:srgbClr val="00B050"/>
                </a:solidFill>
                <a:latin typeface="等线" panose="02010600030101010101" charset="-122"/>
                <a:cs typeface="Times New Roman" panose="02020603050405020304" pitchFamily="18" charset="0"/>
              </a:rPr>
              <a:t> </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operand_read</a:t>
            </a:r>
            <a:r>
              <a:rPr lang="en-US" altLang="zh-CN" kern="100" dirty="0">
                <a:latin typeface="等线" panose="02010600030101010101" charset="-122"/>
                <a:cs typeface="Times New Roman" panose="02020603050405020304" pitchFamily="18" charset="0"/>
              </a:rPr>
              <a:t>(&amp;r);</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rm.val</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r.val</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operand_write</a:t>
            </a:r>
            <a:r>
              <a:rPr lang="en-US" altLang="zh-CN" kern="100" dirty="0">
                <a:latin typeface="等线" panose="02010600030101010101" charset="-122"/>
                <a:cs typeface="Times New Roman" panose="02020603050405020304" pitchFamily="18" charset="0"/>
              </a:rPr>
              <a:t>(&amp;</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en-US" kern="100" dirty="0">
                <a:solidFill>
                  <a:srgbClr val="00B050"/>
                </a:solidFill>
                <a:latin typeface="等线" panose="02010600030101010101" charset="-122"/>
                <a:cs typeface="Times New Roman" panose="02020603050405020304" pitchFamily="18" charset="0"/>
              </a:rPr>
              <a:t>返回操作数长度</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return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p:txBody>
      </p:sp>
      <p:sp>
        <p:nvSpPr>
          <p:cNvPr id="5" name="矩形 4"/>
          <p:cNvSpPr/>
          <p:nvPr/>
        </p:nvSpPr>
        <p:spPr>
          <a:xfrm>
            <a:off x="6604000" y="2174075"/>
            <a:ext cx="4622800" cy="2616101"/>
          </a:xfrm>
          <a:prstGeom prst="rect">
            <a:avLst/>
          </a:prstGeom>
          <a:ln>
            <a:solidFill>
              <a:schemeClr val="tx1"/>
            </a:solidFill>
            <a:prstDash val="dash"/>
          </a:ln>
        </p:spPr>
        <p:txBody>
          <a:bodyPr wrap="square">
            <a:spAutoFit/>
          </a:bodyPr>
          <a:lstStyle/>
          <a:p>
            <a:r>
              <a:rPr lang="zh-CN" altLang="en-US" dirty="0"/>
              <a:t>#include "cpu/instr.h"</a:t>
            </a:r>
            <a:endParaRPr lang="zh-CN" altLang="en-US" dirty="0"/>
          </a:p>
          <a:p>
            <a:endParaRPr lang="zh-CN" altLang="en-US" dirty="0"/>
          </a:p>
          <a:p>
            <a:r>
              <a:rPr lang="zh-CN" altLang="en-US" dirty="0"/>
              <a:t>static void instr_execute_2op() {</a:t>
            </a:r>
            <a:endParaRPr lang="zh-CN" altLang="en-US" dirty="0"/>
          </a:p>
          <a:p>
            <a:r>
              <a:rPr lang="zh-CN" altLang="en-US"/>
              <a:t>	operand</a:t>
            </a:r>
            <a:r>
              <a:rPr lang="zh-CN" altLang="en-US" dirty="0"/>
              <a:t>_read(&amp;opr_src);</a:t>
            </a:r>
            <a:endParaRPr lang="zh-CN" altLang="en-US" dirty="0"/>
          </a:p>
          <a:p>
            <a:r>
              <a:rPr lang="zh-CN" altLang="en-US"/>
              <a:t>	opr</a:t>
            </a:r>
            <a:r>
              <a:rPr lang="zh-CN" altLang="en-US" dirty="0"/>
              <a:t>_dest.val = opr_src.val;</a:t>
            </a:r>
            <a:endParaRPr lang="zh-CN" altLang="en-US" dirty="0"/>
          </a:p>
          <a:p>
            <a:r>
              <a:rPr lang="zh-CN" altLang="en-US"/>
              <a:t>	operand</a:t>
            </a:r>
            <a:r>
              <a:rPr lang="zh-CN" altLang="en-US" dirty="0"/>
              <a:t>_write(&amp;opr_dest);</a:t>
            </a:r>
            <a:endParaRPr lang="zh-CN" altLang="en-US" dirty="0"/>
          </a:p>
          <a:p>
            <a:r>
              <a:rPr lang="zh-CN" altLang="en-US" dirty="0"/>
              <a:t>}</a:t>
            </a:r>
            <a:endParaRPr lang="zh-CN" altLang="en-US" dirty="0"/>
          </a:p>
          <a:p>
            <a:endParaRPr lang="zh-CN" altLang="en-US" dirty="0"/>
          </a:p>
          <a:p>
            <a:r>
              <a:rPr lang="zh-CN" altLang="en-US" sz="2000" dirty="0">
                <a:solidFill>
                  <a:srgbClr val="C00000"/>
                </a:solidFill>
              </a:rPr>
              <a:t>make_instr_impl_2op(mov, r, rm, v)</a:t>
            </a:r>
            <a:endParaRPr lang="zh-CN" altLang="en-US" sz="2000" dirty="0">
              <a:solidFill>
                <a:srgbClr val="C00000"/>
              </a:solidFill>
            </a:endParaRPr>
          </a:p>
        </p:txBody>
      </p:sp>
      <p:sp>
        <p:nvSpPr>
          <p:cNvPr id="6" name="文本框 5"/>
          <p:cNvSpPr txBox="1"/>
          <p:nvPr/>
        </p:nvSpPr>
        <p:spPr>
          <a:xfrm>
            <a:off x="6496050" y="4895851"/>
            <a:ext cx="4527550" cy="523220"/>
          </a:xfrm>
          <a:prstGeom prst="rect">
            <a:avLst/>
          </a:prstGeom>
          <a:noFill/>
        </p:spPr>
        <p:txBody>
          <a:bodyPr wrap="square" rtlCol="0">
            <a:spAutoFit/>
          </a:bodyPr>
          <a:lstStyle/>
          <a:p>
            <a:r>
              <a:rPr lang="en-US" altLang="zh-CN" sz="2800" i="1" dirty="0" err="1">
                <a:solidFill>
                  <a:srgbClr val="0070C0"/>
                </a:solidFill>
              </a:rPr>
              <a:t>nemu</a:t>
            </a:r>
            <a:r>
              <a:rPr lang="en-US" altLang="zh-CN" sz="2800" i="1" dirty="0">
                <a:solidFill>
                  <a:srgbClr val="0070C0"/>
                </a:solidFill>
              </a:rPr>
              <a:t>/</a:t>
            </a:r>
            <a:r>
              <a:rPr lang="en-US" altLang="zh-CN" sz="2800" i="1" dirty="0" err="1">
                <a:solidFill>
                  <a:srgbClr val="0070C0"/>
                </a:solidFill>
              </a:rPr>
              <a:t>src</a:t>
            </a:r>
            <a:r>
              <a:rPr lang="en-US" altLang="zh-CN" sz="2800" i="1" dirty="0">
                <a:solidFill>
                  <a:srgbClr val="0070C0"/>
                </a:solidFill>
              </a:rPr>
              <a:t>/</a:t>
            </a:r>
            <a:r>
              <a:rPr lang="en-US" altLang="zh-CN" sz="2800" i="1" dirty="0" err="1">
                <a:solidFill>
                  <a:srgbClr val="0070C0"/>
                </a:solidFill>
              </a:rPr>
              <a:t>cpu</a:t>
            </a:r>
            <a:r>
              <a:rPr lang="en-US" altLang="zh-CN" sz="2800" i="1" dirty="0">
                <a:solidFill>
                  <a:srgbClr val="0070C0"/>
                </a:solidFill>
              </a:rPr>
              <a:t>/</a:t>
            </a:r>
            <a:r>
              <a:rPr lang="en-US" altLang="zh-CN" sz="2800" i="1" dirty="0" err="1">
                <a:solidFill>
                  <a:srgbClr val="0070C0"/>
                </a:solidFill>
              </a:rPr>
              <a:t>instr</a:t>
            </a:r>
            <a:r>
              <a:rPr lang="en-US" altLang="zh-CN" sz="2800" i="1" dirty="0">
                <a:solidFill>
                  <a:srgbClr val="0070C0"/>
                </a:solidFill>
              </a:rPr>
              <a:t>/</a:t>
            </a:r>
            <a:r>
              <a:rPr lang="en-US" altLang="zh-CN" sz="2800" i="1" dirty="0" err="1">
                <a:solidFill>
                  <a:srgbClr val="0070C0"/>
                </a:solidFill>
              </a:rPr>
              <a:t>mov.c</a:t>
            </a:r>
            <a:r>
              <a:rPr lang="en-US" altLang="zh-CN" sz="2800" i="1" dirty="0">
                <a:solidFill>
                  <a:srgbClr val="0070C0"/>
                </a:solidFill>
              </a:rPr>
              <a:t> </a:t>
            </a:r>
            <a:endParaRPr lang="zh-CN" altLang="en-US" sz="2800" i="1" dirty="0">
              <a:solidFill>
                <a:srgbClr val="0070C0"/>
              </a:solidFill>
            </a:endParaRPr>
          </a:p>
        </p:txBody>
      </p:sp>
      <p:sp>
        <p:nvSpPr>
          <p:cNvPr id="7" name="矩形 6"/>
          <p:cNvSpPr/>
          <p:nvPr/>
        </p:nvSpPr>
        <p:spPr>
          <a:xfrm>
            <a:off x="1600201" y="115586"/>
            <a:ext cx="8991599" cy="4308872"/>
          </a:xfrm>
          <a:prstGeom prst="rect">
            <a:avLst/>
          </a:prstGeom>
          <a:solidFill>
            <a:schemeClr val="bg2"/>
          </a:solidFill>
          <a:ln>
            <a:solidFill>
              <a:schemeClr val="tx1"/>
            </a:solidFill>
            <a:prstDash val="dash"/>
          </a:ln>
        </p:spPr>
        <p:txBody>
          <a:bodyPr wrap="square">
            <a:spAutoFit/>
          </a:bodyPr>
          <a:lstStyle/>
          <a:p>
            <a:r>
              <a:rPr lang="zh-CN" altLang="en-US" dirty="0"/>
              <a:t>// macro for generating the implementation of an instruction with two operands</a:t>
            </a:r>
            <a:endParaRPr lang="zh-CN" altLang="en-US" dirty="0"/>
          </a:p>
          <a:p>
            <a:r>
              <a:rPr lang="zh-CN" altLang="en-US" sz="2000" dirty="0"/>
              <a:t>#define make_instr_impl_2op(inst_name, src_type, dest_type, suffix) \</a:t>
            </a:r>
            <a:endParaRPr lang="en-US" altLang="zh-CN" sz="2000" dirty="0"/>
          </a:p>
          <a:p>
            <a:r>
              <a:rPr lang="en-US" altLang="zh-CN" sz="2000" dirty="0">
                <a:solidFill>
                  <a:schemeClr val="tx1">
                    <a:lumMod val="50000"/>
                    <a:lumOff val="50000"/>
                  </a:schemeClr>
                </a:solidFill>
              </a:rPr>
              <a:t>                // </a:t>
            </a:r>
            <a:r>
              <a:rPr lang="zh-CN" altLang="en-US" sz="2000" dirty="0">
                <a:solidFill>
                  <a:schemeClr val="tx1">
                    <a:lumMod val="50000"/>
                    <a:lumOff val="50000"/>
                  </a:schemeClr>
                </a:solidFill>
              </a:rPr>
              <a:t>等于 </a:t>
            </a:r>
            <a:r>
              <a:rPr lang="en-US" altLang="zh-CN" sz="2000" dirty="0">
                <a:solidFill>
                  <a:schemeClr val="tx1">
                    <a:lumMod val="50000"/>
                    <a:lumOff val="50000"/>
                  </a:schemeClr>
                </a:solidFill>
              </a:rPr>
              <a:t> </a:t>
            </a:r>
            <a:r>
              <a:rPr lang="zh-CN" altLang="en-US" sz="2000" dirty="0">
                <a:solidFill>
                  <a:schemeClr val="tx1">
                    <a:lumMod val="50000"/>
                    <a:lumOff val="50000"/>
                  </a:schemeClr>
                </a:solidFill>
              </a:rPr>
              <a:t>make_instr_impl_2op(mov, r, rm, v)</a:t>
            </a:r>
            <a:endParaRPr lang="zh-CN" altLang="en-US" sz="2000" dirty="0">
              <a:solidFill>
                <a:schemeClr val="tx1">
                  <a:lumMod val="50000"/>
                  <a:lumOff val="50000"/>
                </a:schemeClr>
              </a:solidFill>
            </a:endParaRPr>
          </a:p>
          <a:p>
            <a:r>
              <a:rPr lang="zh-CN" altLang="en-US"/>
              <a:t>	make</a:t>
            </a:r>
            <a:r>
              <a:rPr lang="zh-CN" altLang="en-US" dirty="0"/>
              <a:t>_instr_func(concat7(inst_name, _, src_type, 2, dest_type, _, suffix)) {\</a:t>
            </a:r>
            <a:endParaRPr lang="en-US" altLang="zh-CN" dirty="0"/>
          </a:p>
          <a:p>
            <a:r>
              <a:rPr lang="en-US" altLang="zh-CN">
                <a:solidFill>
                  <a:schemeClr val="tx1">
                    <a:lumMod val="50000"/>
                    <a:lumOff val="50000"/>
                  </a:schemeClr>
                </a:solidFill>
              </a:rPr>
              <a:t>	 </a:t>
            </a:r>
            <a:r>
              <a:rPr lang="en-US" altLang="zh-CN" dirty="0">
                <a:solidFill>
                  <a:schemeClr val="tx1">
                    <a:lumMod val="50000"/>
                    <a:lumOff val="50000"/>
                  </a:schemeClr>
                </a:solidFill>
              </a:rPr>
              <a:t>// </a:t>
            </a:r>
            <a:r>
              <a:rPr lang="zh-CN" altLang="en-US" dirty="0">
                <a:solidFill>
                  <a:schemeClr val="tx1">
                    <a:lumMod val="50000"/>
                    <a:lumOff val="50000"/>
                  </a:schemeClr>
                </a:solidFill>
              </a:rPr>
              <a:t>宏展开等于 </a:t>
            </a:r>
            <a:r>
              <a:rPr lang="en-US" altLang="zh-CN" dirty="0">
                <a:solidFill>
                  <a:schemeClr val="tx1">
                    <a:lumMod val="50000"/>
                    <a:lumOff val="50000"/>
                  </a:schemeClr>
                </a:solidFill>
              </a:rPr>
              <a:t> </a:t>
            </a:r>
            <a:r>
              <a:rPr lang="zh-CN" altLang="en-US" dirty="0">
                <a:solidFill>
                  <a:schemeClr val="tx1">
                    <a:lumMod val="50000"/>
                    <a:lumOff val="50000"/>
                  </a:schemeClr>
                </a:solidFill>
              </a:rPr>
              <a:t>make_instr_</a:t>
            </a:r>
            <a:r>
              <a:rPr lang="en-US" altLang="zh-CN" dirty="0" err="1">
                <a:solidFill>
                  <a:schemeClr val="tx1">
                    <a:lumMod val="50000"/>
                    <a:lumOff val="50000"/>
                  </a:schemeClr>
                </a:solidFill>
              </a:rPr>
              <a:t>func</a:t>
            </a:r>
            <a:r>
              <a:rPr lang="zh-CN" altLang="en-US" dirty="0">
                <a:solidFill>
                  <a:schemeClr val="tx1">
                    <a:lumMod val="50000"/>
                    <a:lumOff val="50000"/>
                  </a:schemeClr>
                </a:solidFill>
              </a:rPr>
              <a:t>(mov</a:t>
            </a:r>
            <a:r>
              <a:rPr lang="en-US" altLang="zh-CN" dirty="0">
                <a:solidFill>
                  <a:schemeClr val="tx1">
                    <a:lumMod val="50000"/>
                    <a:lumOff val="50000"/>
                  </a:schemeClr>
                </a:solidFill>
              </a:rPr>
              <a:t>_</a:t>
            </a:r>
            <a:r>
              <a:rPr lang="zh-CN" altLang="en-US" dirty="0">
                <a:solidFill>
                  <a:schemeClr val="tx1">
                    <a:lumMod val="50000"/>
                    <a:lumOff val="50000"/>
                  </a:schemeClr>
                </a:solidFill>
              </a:rPr>
              <a:t> r</a:t>
            </a:r>
            <a:r>
              <a:rPr lang="en-US" altLang="zh-CN" dirty="0">
                <a:solidFill>
                  <a:schemeClr val="tx1">
                    <a:lumMod val="50000"/>
                    <a:lumOff val="50000"/>
                  </a:schemeClr>
                </a:solidFill>
              </a:rPr>
              <a:t>2</a:t>
            </a:r>
            <a:r>
              <a:rPr lang="zh-CN" altLang="en-US" dirty="0">
                <a:solidFill>
                  <a:schemeClr val="tx1">
                    <a:lumMod val="50000"/>
                    <a:lumOff val="50000"/>
                  </a:schemeClr>
                </a:solidFill>
              </a:rPr>
              <a:t>rm</a:t>
            </a:r>
            <a:r>
              <a:rPr lang="en-US" altLang="zh-CN" dirty="0">
                <a:solidFill>
                  <a:schemeClr val="tx1">
                    <a:lumMod val="50000"/>
                    <a:lumOff val="50000"/>
                  </a:schemeClr>
                </a:solidFill>
              </a:rPr>
              <a:t>_</a:t>
            </a:r>
            <a:r>
              <a:rPr lang="zh-CN" altLang="en-US" dirty="0">
                <a:solidFill>
                  <a:schemeClr val="tx1">
                    <a:lumMod val="50000"/>
                    <a:lumOff val="50000"/>
                  </a:schemeClr>
                </a:solidFill>
              </a:rPr>
              <a:t>v) </a:t>
            </a:r>
            <a:r>
              <a:rPr lang="en-US" altLang="zh-CN" dirty="0">
                <a:solidFill>
                  <a:schemeClr val="tx1">
                    <a:lumMod val="50000"/>
                    <a:lumOff val="50000"/>
                  </a:schemeClr>
                </a:solidFill>
              </a:rPr>
              <a:t>{</a:t>
            </a:r>
            <a:endParaRPr lang="zh-CN" altLang="en-US" dirty="0">
              <a:solidFill>
                <a:schemeClr val="tx1">
                  <a:lumMod val="50000"/>
                  <a:lumOff val="50000"/>
                </a:schemeClr>
              </a:solidFill>
            </a:endParaRPr>
          </a:p>
          <a:p>
            <a:r>
              <a:rPr lang="zh-CN" altLang="en-US"/>
              <a:t>		int </a:t>
            </a:r>
            <a:r>
              <a:rPr lang="zh-CN" altLang="en-US" dirty="0"/>
              <a:t>len = 1; \ </a:t>
            </a:r>
            <a:r>
              <a:rPr lang="en-US" altLang="zh-CN" dirty="0">
                <a:solidFill>
                  <a:schemeClr val="tx1">
                    <a:lumMod val="50000"/>
                    <a:lumOff val="50000"/>
                  </a:schemeClr>
                </a:solidFill>
              </a:rPr>
              <a:t>// </a:t>
            </a:r>
            <a:r>
              <a:rPr lang="zh-CN" altLang="en-US" dirty="0">
                <a:solidFill>
                  <a:schemeClr val="tx1">
                    <a:lumMod val="50000"/>
                    <a:lumOff val="50000"/>
                  </a:schemeClr>
                </a:solidFill>
              </a:rPr>
              <a:t>不变</a:t>
            </a:r>
            <a:endParaRPr lang="zh-CN" altLang="en-US" dirty="0">
              <a:solidFill>
                <a:schemeClr val="tx1">
                  <a:lumMod val="50000"/>
                  <a:lumOff val="50000"/>
                </a:schemeClr>
              </a:solidFill>
            </a:endParaRPr>
          </a:p>
          <a:p>
            <a:r>
              <a:rPr lang="zh-CN" altLang="en-US"/>
              <a:t>		</a:t>
            </a:r>
            <a:r>
              <a:rPr lang="zh-CN" altLang="en-US">
                <a:solidFill>
                  <a:srgbClr val="C00000"/>
                </a:solidFill>
              </a:rPr>
              <a:t>concat</a:t>
            </a:r>
            <a:r>
              <a:rPr lang="zh-CN" altLang="en-US" dirty="0">
                <a:solidFill>
                  <a:srgbClr val="C00000"/>
                </a:solidFill>
              </a:rPr>
              <a:t>(decode_data_size_, suffix) \</a:t>
            </a:r>
            <a:endParaRPr lang="en-US" altLang="zh-CN" dirty="0">
              <a:solidFill>
                <a:srgbClr val="C00000"/>
              </a:solidFill>
            </a:endParaRPr>
          </a:p>
          <a:p>
            <a:r>
              <a:rPr lang="en-US" altLang="zh-CN" dirty="0">
                <a:solidFill>
                  <a:srgbClr val="C00000"/>
                </a:solidFill>
              </a:rPr>
              <a:t>// </a:t>
            </a:r>
            <a:r>
              <a:rPr lang="zh-CN" altLang="en-US" dirty="0">
                <a:solidFill>
                  <a:srgbClr val="C00000"/>
                </a:solidFill>
              </a:rPr>
              <a:t>宏展开等于 </a:t>
            </a:r>
            <a:r>
              <a:rPr lang="en-US" altLang="zh-CN" dirty="0" err="1">
                <a:solidFill>
                  <a:srgbClr val="C00000"/>
                </a:solidFill>
              </a:rPr>
              <a:t>decode_data_size_v</a:t>
            </a:r>
            <a:endParaRPr lang="en-US" altLang="zh-CN" dirty="0">
              <a:solidFill>
                <a:srgbClr val="C00000"/>
              </a:solidFill>
            </a:endParaRPr>
          </a:p>
          <a:p>
            <a:r>
              <a:rPr lang="en-US" altLang="zh-CN" dirty="0">
                <a:solidFill>
                  <a:srgbClr val="C00000"/>
                </a:solidFill>
              </a:rPr>
              <a:t>// </a:t>
            </a:r>
            <a:r>
              <a:rPr lang="zh-CN" altLang="en-US" dirty="0">
                <a:solidFill>
                  <a:srgbClr val="C00000"/>
                </a:solidFill>
              </a:rPr>
              <a:t>下方宏定义 </a:t>
            </a:r>
            <a:r>
              <a:rPr lang="en-US" altLang="zh-CN" dirty="0">
                <a:solidFill>
                  <a:srgbClr val="C00000"/>
                </a:solidFill>
              </a:rPr>
              <a:t>#define </a:t>
            </a:r>
            <a:r>
              <a:rPr lang="en-US" altLang="zh-CN" dirty="0" err="1">
                <a:solidFill>
                  <a:srgbClr val="C00000"/>
                </a:solidFill>
              </a:rPr>
              <a:t>decode_data_size_v</a:t>
            </a:r>
            <a:r>
              <a:rPr lang="en-US" altLang="zh-CN" dirty="0">
                <a:solidFill>
                  <a:srgbClr val="C00000"/>
                </a:solidFill>
              </a:rPr>
              <a:t> </a:t>
            </a:r>
            <a:r>
              <a:rPr lang="en-US" altLang="zh-CN" dirty="0" err="1">
                <a:solidFill>
                  <a:srgbClr val="C00000"/>
                </a:solidFill>
              </a:rPr>
              <a:t>opr_src.data_size</a:t>
            </a:r>
            <a:r>
              <a:rPr lang="en-US" altLang="zh-CN" dirty="0">
                <a:solidFill>
                  <a:srgbClr val="C00000"/>
                </a:solidFill>
              </a:rPr>
              <a:t> = </a:t>
            </a:r>
            <a:r>
              <a:rPr lang="en-US" altLang="zh-CN" dirty="0" err="1">
                <a:solidFill>
                  <a:srgbClr val="C00000"/>
                </a:solidFill>
              </a:rPr>
              <a:t>opr_dest.data_size</a:t>
            </a:r>
            <a:r>
              <a:rPr lang="en-US" altLang="zh-CN" dirty="0">
                <a:solidFill>
                  <a:srgbClr val="C00000"/>
                </a:solidFill>
              </a:rPr>
              <a:t> = </a:t>
            </a:r>
            <a:r>
              <a:rPr lang="en-US" altLang="zh-CN" dirty="0" err="1">
                <a:solidFill>
                  <a:srgbClr val="C00000"/>
                </a:solidFill>
              </a:rPr>
              <a:t>data_size</a:t>
            </a:r>
            <a:r>
              <a:rPr lang="en-US" altLang="zh-CN" dirty="0">
                <a:solidFill>
                  <a:srgbClr val="C00000"/>
                </a:solidFill>
              </a:rPr>
              <a:t>;</a:t>
            </a:r>
            <a:endParaRPr lang="zh-CN" altLang="en-US" dirty="0">
              <a:solidFill>
                <a:srgbClr val="C00000"/>
              </a:solidFill>
            </a:endParaRPr>
          </a:p>
          <a:p>
            <a:r>
              <a:rPr lang="zh-CN" altLang="en-US"/>
              <a:t>		concat</a:t>
            </a:r>
            <a:r>
              <a:rPr lang="zh-CN" altLang="en-US" dirty="0"/>
              <a:t>3(decode_operand, _, concat3(src_type, 2, dest_type)) \</a:t>
            </a:r>
            <a:endParaRPr lang="zh-CN" altLang="en-US" dirty="0"/>
          </a:p>
          <a:p>
            <a:r>
              <a:rPr lang="zh-CN" altLang="en-US"/>
              <a:t>		print</a:t>
            </a:r>
            <a:r>
              <a:rPr lang="zh-CN" altLang="en-US" dirty="0"/>
              <a:t>_asm_2(</a:t>
            </a:r>
            <a:r>
              <a:rPr lang="en-US" altLang="zh-CN" dirty="0"/>
              <a:t>…</a:t>
            </a:r>
            <a:r>
              <a:rPr lang="zh-CN" altLang="en-US" dirty="0"/>
              <a:t>); \</a:t>
            </a:r>
            <a:endParaRPr lang="zh-CN" altLang="en-US" dirty="0"/>
          </a:p>
          <a:p>
            <a:r>
              <a:rPr lang="zh-CN" altLang="en-US"/>
              <a:t>		instr</a:t>
            </a:r>
            <a:r>
              <a:rPr lang="zh-CN" altLang="en-US" dirty="0"/>
              <a:t>_execute_2op(); \</a:t>
            </a:r>
            <a:endParaRPr lang="zh-CN" altLang="en-US" dirty="0"/>
          </a:p>
          <a:p>
            <a:r>
              <a:rPr lang="zh-CN" altLang="en-US"/>
              <a:t>		return </a:t>
            </a:r>
            <a:r>
              <a:rPr lang="zh-CN" altLang="en-US" dirty="0"/>
              <a:t>len; \</a:t>
            </a:r>
            <a:endParaRPr lang="zh-CN" altLang="en-US" dirty="0"/>
          </a:p>
          <a:p>
            <a:r>
              <a:rPr lang="zh-CN" altLang="en-US"/>
              <a:t>	}</a:t>
            </a:r>
            <a:endParaRPr lang="zh-CN" altLang="en-US" dirty="0"/>
          </a:p>
        </p:txBody>
      </p:sp>
      <p:sp>
        <p:nvSpPr>
          <p:cNvPr id="8" name="文本框 7"/>
          <p:cNvSpPr txBox="1"/>
          <p:nvPr/>
        </p:nvSpPr>
        <p:spPr>
          <a:xfrm>
            <a:off x="5308600" y="4022353"/>
            <a:ext cx="5918200" cy="523220"/>
          </a:xfrm>
          <a:prstGeom prst="rect">
            <a:avLst/>
          </a:prstGeom>
          <a:noFill/>
        </p:spPr>
        <p:txBody>
          <a:bodyPr wrap="square" rtlCol="0">
            <a:spAutoFit/>
          </a:bodyPr>
          <a:lstStyle/>
          <a:p>
            <a:r>
              <a:rPr lang="en-US" altLang="zh-CN" sz="2800" i="1" dirty="0" err="1">
                <a:solidFill>
                  <a:srgbClr val="0070C0"/>
                </a:solidFill>
              </a:rPr>
              <a:t>nemu</a:t>
            </a:r>
            <a:r>
              <a:rPr lang="en-US" altLang="zh-CN" sz="2800" i="1" dirty="0">
                <a:solidFill>
                  <a:srgbClr val="0070C0"/>
                </a:solidFill>
              </a:rPr>
              <a:t>/include/</a:t>
            </a:r>
            <a:r>
              <a:rPr lang="en-US" altLang="zh-CN" sz="2800" i="1" dirty="0" err="1">
                <a:solidFill>
                  <a:srgbClr val="0070C0"/>
                </a:solidFill>
              </a:rPr>
              <a:t>cpu</a:t>
            </a:r>
            <a:r>
              <a:rPr lang="en-US" altLang="zh-CN" sz="2800" i="1" dirty="0">
                <a:solidFill>
                  <a:srgbClr val="0070C0"/>
                </a:solidFill>
              </a:rPr>
              <a:t>/</a:t>
            </a:r>
            <a:r>
              <a:rPr lang="en-US" altLang="zh-CN" sz="2800" i="1" dirty="0" err="1">
                <a:solidFill>
                  <a:srgbClr val="0070C0"/>
                </a:solidFill>
              </a:rPr>
              <a:t>instr_helper.h</a:t>
            </a:r>
            <a:endParaRPr lang="zh-CN" altLang="en-US" sz="2800" i="1" dirty="0">
              <a:solidFill>
                <a:srgbClr val="0070C0"/>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644650" y="2174075"/>
            <a:ext cx="4648200" cy="4470455"/>
          </a:xfrm>
          <a:prstGeom prst="rect">
            <a:avLst/>
          </a:prstGeom>
          <a:ln>
            <a:solidFill>
              <a:schemeClr val="tx1"/>
            </a:solidFill>
            <a:prstDash val="dash"/>
          </a:ln>
        </p:spPr>
        <p:txBody>
          <a:bodyPr wrap="square">
            <a:spAutoFit/>
          </a:bodyPr>
          <a:lstStyle/>
          <a:p>
            <a:pPr marL="228600" algn="just">
              <a:spcBef>
                <a:spcPts val="250"/>
              </a:spcBef>
            </a:pPr>
            <a:r>
              <a:rPr lang="en-US" altLang="zh-CN" kern="100" dirty="0" err="1">
                <a:latin typeface="等线" panose="02010600030101010101" charset="-122"/>
                <a:cs typeface="Times New Roman" panose="02020603050405020304" pitchFamily="18" charset="0"/>
              </a:rPr>
              <a:t>make_instr_func</a:t>
            </a:r>
            <a:r>
              <a:rPr lang="en-US" altLang="zh-CN" kern="100" dirty="0">
                <a:latin typeface="等线" panose="02010600030101010101" charset="-122"/>
                <a:cs typeface="Times New Roman" panose="02020603050405020304" pitchFamily="18" charset="0"/>
              </a:rPr>
              <a:t>(mov_r2rm_v) {</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OPERAND r, </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zh-CN" kern="100" dirty="0">
                <a:solidFill>
                  <a:srgbClr val="00B050"/>
                </a:solidFill>
                <a:latin typeface="等线" panose="02010600030101010101" charset="-122"/>
                <a:cs typeface="Times New Roman" panose="02020603050405020304" pitchFamily="18" charset="0"/>
              </a:rPr>
              <a:t>指定操作数长度</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rm.data_size</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r.data_size</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data_size</a:t>
            </a:r>
            <a:r>
              <a:rPr lang="en-US" altLang="zh-CN" kern="100" dirty="0">
                <a:latin typeface="等线" panose="02010600030101010101" charset="-122"/>
                <a:cs typeface="Times New Roman" panose="02020603050405020304" pitchFamily="18" charset="0"/>
              </a:rPr>
              <a:t>;  </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int</a:t>
            </a: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 = 1;</a:t>
            </a:r>
            <a:endParaRPr lang="en-US"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zh-CN" kern="100" dirty="0">
                <a:solidFill>
                  <a:srgbClr val="00B050"/>
                </a:solidFill>
                <a:latin typeface="等线" panose="02010600030101010101" charset="-122"/>
                <a:cs typeface="Times New Roman" panose="02020603050405020304" pitchFamily="18" charset="0"/>
              </a:rPr>
              <a:t>操作数寻址</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modrm_r_rm</a:t>
            </a:r>
            <a:r>
              <a:rPr lang="en-US" altLang="zh-CN" kern="100" dirty="0">
                <a:latin typeface="等线" panose="02010600030101010101" charset="-122"/>
                <a:cs typeface="Times New Roman" panose="02020603050405020304" pitchFamily="18" charset="0"/>
              </a:rPr>
              <a:t>(</a:t>
            </a:r>
            <a:r>
              <a:rPr lang="en-US" altLang="zh-CN" kern="100" dirty="0" err="1">
                <a:latin typeface="等线" panose="02010600030101010101" charset="-122"/>
                <a:cs typeface="Times New Roman" panose="02020603050405020304" pitchFamily="18" charset="0"/>
              </a:rPr>
              <a:t>eip</a:t>
            </a:r>
            <a:r>
              <a:rPr lang="en-US" altLang="zh-CN" kern="100" dirty="0">
                <a:latin typeface="等线" panose="02010600030101010101" charset="-122"/>
                <a:cs typeface="Times New Roman" panose="02020603050405020304" pitchFamily="18" charset="0"/>
              </a:rPr>
              <a:t> + 1, &amp;r, &amp;</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 </a:t>
            </a:r>
            <a:endParaRPr lang="en-US"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en-US" kern="100" dirty="0">
                <a:solidFill>
                  <a:srgbClr val="00B050"/>
                </a:solidFill>
                <a:latin typeface="等线" panose="02010600030101010101" charset="-122"/>
                <a:cs typeface="Times New Roman" panose="02020603050405020304" pitchFamily="18" charset="0"/>
              </a:rPr>
              <a:t>执行</a:t>
            </a:r>
            <a:r>
              <a:rPr lang="en-US" altLang="zh-CN" kern="100" dirty="0" err="1">
                <a:solidFill>
                  <a:srgbClr val="00B050"/>
                </a:solidFill>
                <a:latin typeface="等线" panose="02010600030101010101" charset="-122"/>
                <a:cs typeface="Times New Roman" panose="02020603050405020304" pitchFamily="18" charset="0"/>
              </a:rPr>
              <a:t>mov</a:t>
            </a:r>
            <a:r>
              <a:rPr lang="zh-CN" altLang="en-US" kern="100" dirty="0">
                <a:solidFill>
                  <a:srgbClr val="00B050"/>
                </a:solidFill>
                <a:latin typeface="等线" panose="02010600030101010101" charset="-122"/>
                <a:cs typeface="Times New Roman" panose="02020603050405020304" pitchFamily="18" charset="0"/>
              </a:rPr>
              <a:t>操作</a:t>
            </a:r>
            <a:r>
              <a:rPr lang="en-US" altLang="zh-CN" kern="100" dirty="0">
                <a:solidFill>
                  <a:srgbClr val="00B050"/>
                </a:solidFill>
                <a:latin typeface="等线" panose="02010600030101010101" charset="-122"/>
                <a:cs typeface="Times New Roman" panose="02020603050405020304" pitchFamily="18" charset="0"/>
              </a:rPr>
              <a:t> </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operand_read</a:t>
            </a:r>
            <a:r>
              <a:rPr lang="en-US" altLang="zh-CN" kern="100" dirty="0">
                <a:latin typeface="等线" panose="02010600030101010101" charset="-122"/>
                <a:cs typeface="Times New Roman" panose="02020603050405020304" pitchFamily="18" charset="0"/>
              </a:rPr>
              <a:t>(&amp;r);</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rm.val</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r.val</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operand_write</a:t>
            </a:r>
            <a:r>
              <a:rPr lang="en-US" altLang="zh-CN" kern="100" dirty="0">
                <a:latin typeface="等线" panose="02010600030101010101" charset="-122"/>
                <a:cs typeface="Times New Roman" panose="02020603050405020304" pitchFamily="18" charset="0"/>
              </a:rPr>
              <a:t>(&amp;</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en-US" kern="100" dirty="0">
                <a:solidFill>
                  <a:srgbClr val="00B050"/>
                </a:solidFill>
                <a:latin typeface="等线" panose="02010600030101010101" charset="-122"/>
                <a:cs typeface="Times New Roman" panose="02020603050405020304" pitchFamily="18" charset="0"/>
              </a:rPr>
              <a:t>返回操作数长度</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return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p:txBody>
      </p:sp>
      <p:sp>
        <p:nvSpPr>
          <p:cNvPr id="5" name="矩形 4"/>
          <p:cNvSpPr/>
          <p:nvPr/>
        </p:nvSpPr>
        <p:spPr>
          <a:xfrm>
            <a:off x="6604000" y="2174075"/>
            <a:ext cx="3879850" cy="2923877"/>
          </a:xfrm>
          <a:prstGeom prst="rect">
            <a:avLst/>
          </a:prstGeom>
          <a:ln>
            <a:solidFill>
              <a:schemeClr val="tx1"/>
            </a:solidFill>
            <a:prstDash val="dash"/>
          </a:ln>
        </p:spPr>
        <p:txBody>
          <a:bodyPr wrap="square">
            <a:spAutoFit/>
          </a:bodyPr>
          <a:lstStyle/>
          <a:p>
            <a:r>
              <a:rPr lang="zh-CN" altLang="en-US" dirty="0"/>
              <a:t>#include "cpu/instr.h"</a:t>
            </a:r>
            <a:endParaRPr lang="zh-CN" altLang="en-US" dirty="0"/>
          </a:p>
          <a:p>
            <a:endParaRPr lang="zh-CN" altLang="en-US" dirty="0"/>
          </a:p>
          <a:p>
            <a:r>
              <a:rPr lang="zh-CN" altLang="en-US" dirty="0"/>
              <a:t>static void instr_execute_2op() {</a:t>
            </a:r>
            <a:endParaRPr lang="zh-CN" altLang="en-US" dirty="0"/>
          </a:p>
          <a:p>
            <a:r>
              <a:rPr lang="zh-CN" altLang="en-US"/>
              <a:t>	operand</a:t>
            </a:r>
            <a:r>
              <a:rPr lang="zh-CN" altLang="en-US" dirty="0"/>
              <a:t>_read(&amp;opr_src);</a:t>
            </a:r>
            <a:endParaRPr lang="zh-CN" altLang="en-US" dirty="0"/>
          </a:p>
          <a:p>
            <a:r>
              <a:rPr lang="zh-CN" altLang="en-US"/>
              <a:t>	opr</a:t>
            </a:r>
            <a:r>
              <a:rPr lang="zh-CN" altLang="en-US" dirty="0"/>
              <a:t>_dest.val = opr_src.val;</a:t>
            </a:r>
            <a:endParaRPr lang="zh-CN" altLang="en-US" dirty="0"/>
          </a:p>
          <a:p>
            <a:r>
              <a:rPr lang="zh-CN" altLang="en-US"/>
              <a:t>	operand</a:t>
            </a:r>
            <a:r>
              <a:rPr lang="zh-CN" altLang="en-US" dirty="0"/>
              <a:t>_write(&amp;opr_dest);</a:t>
            </a:r>
            <a:endParaRPr lang="zh-CN" altLang="en-US" dirty="0"/>
          </a:p>
          <a:p>
            <a:r>
              <a:rPr lang="zh-CN" altLang="en-US" dirty="0"/>
              <a:t>}</a:t>
            </a:r>
            <a:endParaRPr lang="zh-CN" altLang="en-US" dirty="0"/>
          </a:p>
          <a:p>
            <a:endParaRPr lang="zh-CN" altLang="en-US" dirty="0"/>
          </a:p>
          <a:p>
            <a:r>
              <a:rPr lang="zh-CN" altLang="en-US" sz="2000" dirty="0">
                <a:solidFill>
                  <a:srgbClr val="C00000"/>
                </a:solidFill>
              </a:rPr>
              <a:t>make_instr_impl_2op(mov, r, rm, v)</a:t>
            </a:r>
            <a:endParaRPr lang="zh-CN" altLang="en-US" sz="2000" dirty="0">
              <a:solidFill>
                <a:srgbClr val="C00000"/>
              </a:solidFill>
            </a:endParaRPr>
          </a:p>
        </p:txBody>
      </p:sp>
      <p:sp>
        <p:nvSpPr>
          <p:cNvPr id="7" name="矩形 6"/>
          <p:cNvSpPr/>
          <p:nvPr/>
        </p:nvSpPr>
        <p:spPr>
          <a:xfrm>
            <a:off x="1600201" y="236702"/>
            <a:ext cx="8991599" cy="5139869"/>
          </a:xfrm>
          <a:prstGeom prst="rect">
            <a:avLst/>
          </a:prstGeom>
          <a:solidFill>
            <a:schemeClr val="bg2"/>
          </a:solidFill>
          <a:ln>
            <a:solidFill>
              <a:schemeClr val="tx1"/>
            </a:solidFill>
            <a:prstDash val="dash"/>
          </a:ln>
        </p:spPr>
        <p:txBody>
          <a:bodyPr wrap="square">
            <a:spAutoFit/>
          </a:bodyPr>
          <a:lstStyle/>
          <a:p>
            <a:r>
              <a:rPr lang="zh-CN" altLang="en-US" dirty="0"/>
              <a:t>// macro for generating the implementation of an instruction with two operands</a:t>
            </a:r>
            <a:endParaRPr lang="zh-CN" altLang="en-US" dirty="0"/>
          </a:p>
          <a:p>
            <a:r>
              <a:rPr lang="zh-CN" altLang="en-US" sz="2000" dirty="0"/>
              <a:t>#define make_instr_impl_2op(inst_name, src_type, dest_type, suffix) \</a:t>
            </a:r>
            <a:endParaRPr lang="en-US" altLang="zh-CN" sz="2000" dirty="0"/>
          </a:p>
          <a:p>
            <a:r>
              <a:rPr lang="en-US" altLang="zh-CN" sz="2000" dirty="0">
                <a:solidFill>
                  <a:schemeClr val="tx1">
                    <a:lumMod val="50000"/>
                    <a:lumOff val="50000"/>
                  </a:schemeClr>
                </a:solidFill>
              </a:rPr>
              <a:t>                // </a:t>
            </a:r>
            <a:r>
              <a:rPr lang="zh-CN" altLang="en-US" sz="2000" dirty="0">
                <a:solidFill>
                  <a:schemeClr val="tx1">
                    <a:lumMod val="50000"/>
                    <a:lumOff val="50000"/>
                  </a:schemeClr>
                </a:solidFill>
              </a:rPr>
              <a:t>等于 </a:t>
            </a:r>
            <a:r>
              <a:rPr lang="en-US" altLang="zh-CN" sz="2000" dirty="0">
                <a:solidFill>
                  <a:schemeClr val="tx1">
                    <a:lumMod val="50000"/>
                    <a:lumOff val="50000"/>
                  </a:schemeClr>
                </a:solidFill>
              </a:rPr>
              <a:t> </a:t>
            </a:r>
            <a:r>
              <a:rPr lang="zh-CN" altLang="en-US" sz="2000" dirty="0">
                <a:solidFill>
                  <a:schemeClr val="tx1">
                    <a:lumMod val="50000"/>
                    <a:lumOff val="50000"/>
                  </a:schemeClr>
                </a:solidFill>
              </a:rPr>
              <a:t>make_instr_impl_2op(mov, r, rm, v)</a:t>
            </a:r>
            <a:endParaRPr lang="zh-CN" altLang="en-US" sz="2000" dirty="0">
              <a:solidFill>
                <a:schemeClr val="tx1">
                  <a:lumMod val="50000"/>
                  <a:lumOff val="50000"/>
                </a:schemeClr>
              </a:solidFill>
            </a:endParaRPr>
          </a:p>
          <a:p>
            <a:r>
              <a:rPr lang="zh-CN" altLang="en-US"/>
              <a:t>	make</a:t>
            </a:r>
            <a:r>
              <a:rPr lang="zh-CN" altLang="en-US" dirty="0"/>
              <a:t>_instr_func(concat7(inst_name, _, src_type, 2, dest_type, _, suffix)) {\</a:t>
            </a:r>
            <a:endParaRPr lang="en-US" altLang="zh-CN" dirty="0"/>
          </a:p>
          <a:p>
            <a:r>
              <a:rPr lang="en-US" altLang="zh-CN"/>
              <a:t>	</a:t>
            </a:r>
            <a:r>
              <a:rPr lang="en-US" altLang="zh-CN">
                <a:solidFill>
                  <a:schemeClr val="tx1">
                    <a:lumMod val="50000"/>
                    <a:lumOff val="50000"/>
                  </a:schemeClr>
                </a:solidFill>
              </a:rPr>
              <a:t> </a:t>
            </a:r>
            <a:r>
              <a:rPr lang="en-US" altLang="zh-CN" dirty="0">
                <a:solidFill>
                  <a:schemeClr val="tx1">
                    <a:lumMod val="50000"/>
                    <a:lumOff val="50000"/>
                  </a:schemeClr>
                </a:solidFill>
              </a:rPr>
              <a:t>// </a:t>
            </a:r>
            <a:r>
              <a:rPr lang="zh-CN" altLang="en-US" dirty="0">
                <a:solidFill>
                  <a:schemeClr val="tx1">
                    <a:lumMod val="50000"/>
                    <a:lumOff val="50000"/>
                  </a:schemeClr>
                </a:solidFill>
              </a:rPr>
              <a:t>宏展开等于 </a:t>
            </a:r>
            <a:r>
              <a:rPr lang="en-US" altLang="zh-CN" dirty="0">
                <a:solidFill>
                  <a:schemeClr val="tx1">
                    <a:lumMod val="50000"/>
                    <a:lumOff val="50000"/>
                  </a:schemeClr>
                </a:solidFill>
              </a:rPr>
              <a:t> </a:t>
            </a:r>
            <a:r>
              <a:rPr lang="zh-CN" altLang="en-US" dirty="0">
                <a:solidFill>
                  <a:schemeClr val="tx1">
                    <a:lumMod val="50000"/>
                    <a:lumOff val="50000"/>
                  </a:schemeClr>
                </a:solidFill>
              </a:rPr>
              <a:t>make_instr_</a:t>
            </a:r>
            <a:r>
              <a:rPr lang="en-US" altLang="zh-CN" dirty="0" err="1">
                <a:solidFill>
                  <a:schemeClr val="tx1">
                    <a:lumMod val="50000"/>
                    <a:lumOff val="50000"/>
                  </a:schemeClr>
                </a:solidFill>
              </a:rPr>
              <a:t>func</a:t>
            </a:r>
            <a:r>
              <a:rPr lang="zh-CN" altLang="en-US" dirty="0">
                <a:solidFill>
                  <a:schemeClr val="tx1">
                    <a:lumMod val="50000"/>
                    <a:lumOff val="50000"/>
                  </a:schemeClr>
                </a:solidFill>
              </a:rPr>
              <a:t>(mov</a:t>
            </a:r>
            <a:r>
              <a:rPr lang="en-US" altLang="zh-CN" dirty="0">
                <a:solidFill>
                  <a:schemeClr val="tx1">
                    <a:lumMod val="50000"/>
                    <a:lumOff val="50000"/>
                  </a:schemeClr>
                </a:solidFill>
              </a:rPr>
              <a:t>_</a:t>
            </a:r>
            <a:r>
              <a:rPr lang="zh-CN" altLang="en-US" dirty="0">
                <a:solidFill>
                  <a:schemeClr val="tx1">
                    <a:lumMod val="50000"/>
                    <a:lumOff val="50000"/>
                  </a:schemeClr>
                </a:solidFill>
              </a:rPr>
              <a:t> r</a:t>
            </a:r>
            <a:r>
              <a:rPr lang="en-US" altLang="zh-CN" dirty="0">
                <a:solidFill>
                  <a:schemeClr val="tx1">
                    <a:lumMod val="50000"/>
                    <a:lumOff val="50000"/>
                  </a:schemeClr>
                </a:solidFill>
              </a:rPr>
              <a:t>2</a:t>
            </a:r>
            <a:r>
              <a:rPr lang="zh-CN" altLang="en-US" dirty="0">
                <a:solidFill>
                  <a:schemeClr val="tx1">
                    <a:lumMod val="50000"/>
                    <a:lumOff val="50000"/>
                  </a:schemeClr>
                </a:solidFill>
              </a:rPr>
              <a:t>rm</a:t>
            </a:r>
            <a:r>
              <a:rPr lang="en-US" altLang="zh-CN" dirty="0">
                <a:solidFill>
                  <a:schemeClr val="tx1">
                    <a:lumMod val="50000"/>
                    <a:lumOff val="50000"/>
                  </a:schemeClr>
                </a:solidFill>
              </a:rPr>
              <a:t>_</a:t>
            </a:r>
            <a:r>
              <a:rPr lang="zh-CN" altLang="en-US" dirty="0">
                <a:solidFill>
                  <a:schemeClr val="tx1">
                    <a:lumMod val="50000"/>
                    <a:lumOff val="50000"/>
                  </a:schemeClr>
                </a:solidFill>
              </a:rPr>
              <a:t>v) </a:t>
            </a:r>
            <a:r>
              <a:rPr lang="en-US" altLang="zh-CN" dirty="0">
                <a:solidFill>
                  <a:schemeClr val="tx1">
                    <a:lumMod val="50000"/>
                    <a:lumOff val="50000"/>
                  </a:schemeClr>
                </a:solidFill>
              </a:rPr>
              <a:t>{</a:t>
            </a:r>
            <a:endParaRPr lang="zh-CN" altLang="en-US" dirty="0">
              <a:solidFill>
                <a:schemeClr val="tx1">
                  <a:lumMod val="50000"/>
                  <a:lumOff val="50000"/>
                </a:schemeClr>
              </a:solidFill>
            </a:endParaRPr>
          </a:p>
          <a:p>
            <a:r>
              <a:rPr lang="zh-CN" altLang="en-US"/>
              <a:t>		int </a:t>
            </a:r>
            <a:r>
              <a:rPr lang="zh-CN" altLang="en-US" dirty="0"/>
              <a:t>len = 1; \ </a:t>
            </a:r>
            <a:r>
              <a:rPr lang="en-US" altLang="zh-CN" dirty="0">
                <a:solidFill>
                  <a:schemeClr val="tx1">
                    <a:lumMod val="50000"/>
                    <a:lumOff val="50000"/>
                  </a:schemeClr>
                </a:solidFill>
              </a:rPr>
              <a:t>// </a:t>
            </a:r>
            <a:r>
              <a:rPr lang="zh-CN" altLang="en-US" dirty="0">
                <a:solidFill>
                  <a:schemeClr val="tx1">
                    <a:lumMod val="50000"/>
                    <a:lumOff val="50000"/>
                  </a:schemeClr>
                </a:solidFill>
              </a:rPr>
              <a:t>不变</a:t>
            </a:r>
            <a:endParaRPr lang="zh-CN" altLang="en-US" dirty="0">
              <a:solidFill>
                <a:schemeClr val="tx1">
                  <a:lumMod val="50000"/>
                  <a:lumOff val="50000"/>
                </a:schemeClr>
              </a:solidFill>
            </a:endParaRPr>
          </a:p>
          <a:p>
            <a:r>
              <a:rPr lang="zh-CN" altLang="en-US"/>
              <a:t>		concat</a:t>
            </a:r>
            <a:r>
              <a:rPr lang="zh-CN" altLang="en-US" dirty="0"/>
              <a:t>(decode_data_size_, suffix) \</a:t>
            </a:r>
            <a:endParaRPr lang="en-US" altLang="zh-CN" dirty="0"/>
          </a:p>
          <a:p>
            <a:r>
              <a:rPr lang="en-US" altLang="zh-CN" dirty="0">
                <a:solidFill>
                  <a:schemeClr val="tx1">
                    <a:lumMod val="50000"/>
                    <a:lumOff val="50000"/>
                  </a:schemeClr>
                </a:solidFill>
              </a:rPr>
              <a:t>// </a:t>
            </a:r>
            <a:r>
              <a:rPr lang="zh-CN" altLang="en-US" dirty="0">
                <a:solidFill>
                  <a:schemeClr val="tx1">
                    <a:lumMod val="50000"/>
                    <a:lumOff val="50000"/>
                  </a:schemeClr>
                </a:solidFill>
              </a:rPr>
              <a:t>宏展开等于 </a:t>
            </a:r>
            <a:r>
              <a:rPr lang="en-US" altLang="zh-CN" dirty="0" err="1">
                <a:solidFill>
                  <a:schemeClr val="tx1">
                    <a:lumMod val="50000"/>
                    <a:lumOff val="50000"/>
                  </a:schemeClr>
                </a:solidFill>
              </a:rPr>
              <a:t>decode_data_size_v</a:t>
            </a:r>
            <a:endParaRPr lang="en-US" altLang="zh-CN" dirty="0">
              <a:solidFill>
                <a:schemeClr val="tx1">
                  <a:lumMod val="50000"/>
                  <a:lumOff val="50000"/>
                </a:schemeClr>
              </a:solidFill>
            </a:endParaRPr>
          </a:p>
          <a:p>
            <a:r>
              <a:rPr lang="en-US" altLang="zh-CN" dirty="0">
                <a:solidFill>
                  <a:schemeClr val="tx1">
                    <a:lumMod val="50000"/>
                    <a:lumOff val="50000"/>
                  </a:schemeClr>
                </a:solidFill>
              </a:rPr>
              <a:t>// </a:t>
            </a:r>
            <a:r>
              <a:rPr lang="zh-CN" altLang="en-US" dirty="0">
                <a:solidFill>
                  <a:schemeClr val="tx1">
                    <a:lumMod val="50000"/>
                    <a:lumOff val="50000"/>
                  </a:schemeClr>
                </a:solidFill>
              </a:rPr>
              <a:t>下方宏定义 </a:t>
            </a:r>
            <a:r>
              <a:rPr lang="en-US" altLang="zh-CN" dirty="0">
                <a:solidFill>
                  <a:schemeClr val="tx1">
                    <a:lumMod val="50000"/>
                    <a:lumOff val="50000"/>
                  </a:schemeClr>
                </a:solidFill>
              </a:rPr>
              <a:t>#define </a:t>
            </a:r>
            <a:r>
              <a:rPr lang="en-US" altLang="zh-CN" dirty="0" err="1">
                <a:solidFill>
                  <a:schemeClr val="tx1">
                    <a:lumMod val="50000"/>
                    <a:lumOff val="50000"/>
                  </a:schemeClr>
                </a:solidFill>
              </a:rPr>
              <a:t>decode_data_size_v</a:t>
            </a:r>
            <a:r>
              <a:rPr lang="en-US" altLang="zh-CN" dirty="0">
                <a:solidFill>
                  <a:schemeClr val="tx1">
                    <a:lumMod val="50000"/>
                    <a:lumOff val="50000"/>
                  </a:schemeClr>
                </a:solidFill>
              </a:rPr>
              <a:t> </a:t>
            </a:r>
            <a:r>
              <a:rPr lang="en-US" altLang="zh-CN" dirty="0" err="1">
                <a:solidFill>
                  <a:schemeClr val="tx1">
                    <a:lumMod val="50000"/>
                    <a:lumOff val="50000"/>
                  </a:schemeClr>
                </a:solidFill>
              </a:rPr>
              <a:t>opr_src.data_size</a:t>
            </a:r>
            <a:r>
              <a:rPr lang="en-US" altLang="zh-CN" dirty="0">
                <a:solidFill>
                  <a:schemeClr val="tx1">
                    <a:lumMod val="50000"/>
                    <a:lumOff val="50000"/>
                  </a:schemeClr>
                </a:solidFill>
              </a:rPr>
              <a:t> = </a:t>
            </a:r>
            <a:r>
              <a:rPr lang="en-US" altLang="zh-CN" dirty="0" err="1">
                <a:solidFill>
                  <a:schemeClr val="tx1">
                    <a:lumMod val="50000"/>
                    <a:lumOff val="50000"/>
                  </a:schemeClr>
                </a:solidFill>
              </a:rPr>
              <a:t>opr_dest.data_size</a:t>
            </a:r>
            <a:r>
              <a:rPr lang="en-US" altLang="zh-CN" dirty="0">
                <a:solidFill>
                  <a:schemeClr val="tx1">
                    <a:lumMod val="50000"/>
                    <a:lumOff val="50000"/>
                  </a:schemeClr>
                </a:solidFill>
              </a:rPr>
              <a:t> = </a:t>
            </a:r>
            <a:r>
              <a:rPr lang="en-US" altLang="zh-CN" dirty="0" err="1">
                <a:solidFill>
                  <a:schemeClr val="tx1">
                    <a:lumMod val="50000"/>
                    <a:lumOff val="50000"/>
                  </a:schemeClr>
                </a:solidFill>
              </a:rPr>
              <a:t>data_size</a:t>
            </a:r>
            <a:r>
              <a:rPr lang="en-US" altLang="zh-CN" dirty="0">
                <a:solidFill>
                  <a:schemeClr val="tx1">
                    <a:lumMod val="50000"/>
                    <a:lumOff val="50000"/>
                  </a:schemeClr>
                </a:solidFill>
              </a:rPr>
              <a:t>;</a:t>
            </a:r>
            <a:endParaRPr lang="zh-CN" altLang="en-US" dirty="0">
              <a:solidFill>
                <a:schemeClr val="tx1">
                  <a:lumMod val="50000"/>
                  <a:lumOff val="50000"/>
                </a:schemeClr>
              </a:solidFill>
            </a:endParaRPr>
          </a:p>
          <a:p>
            <a:r>
              <a:rPr lang="zh-CN" altLang="en-US"/>
              <a:t>		</a:t>
            </a:r>
            <a:r>
              <a:rPr lang="zh-CN" altLang="en-US">
                <a:solidFill>
                  <a:srgbClr val="C00000"/>
                </a:solidFill>
              </a:rPr>
              <a:t>concat</a:t>
            </a:r>
            <a:r>
              <a:rPr lang="zh-CN" altLang="en-US" dirty="0">
                <a:solidFill>
                  <a:srgbClr val="C00000"/>
                </a:solidFill>
              </a:rPr>
              <a:t>3(decode_operand, _, concat3(src_type, 2, dest_type)) \</a:t>
            </a:r>
            <a:endParaRPr lang="en-US" altLang="zh-CN" dirty="0">
              <a:solidFill>
                <a:srgbClr val="C00000"/>
              </a:solidFill>
            </a:endParaRPr>
          </a:p>
          <a:p>
            <a:r>
              <a:rPr lang="en-US" altLang="zh-CN" dirty="0">
                <a:solidFill>
                  <a:srgbClr val="C00000"/>
                </a:solidFill>
              </a:rPr>
              <a:t>// </a:t>
            </a:r>
            <a:r>
              <a:rPr lang="zh-CN" altLang="en-US" dirty="0">
                <a:solidFill>
                  <a:srgbClr val="C00000"/>
                </a:solidFill>
              </a:rPr>
              <a:t>宏展开等于 </a:t>
            </a:r>
            <a:r>
              <a:rPr lang="en-US" altLang="zh-CN" dirty="0">
                <a:solidFill>
                  <a:srgbClr val="C00000"/>
                </a:solidFill>
              </a:rPr>
              <a:t>decode_operand_r2rm</a:t>
            </a:r>
            <a:endParaRPr lang="en-US" altLang="zh-CN" dirty="0">
              <a:solidFill>
                <a:srgbClr val="C00000"/>
              </a:solidFill>
            </a:endParaRPr>
          </a:p>
          <a:p>
            <a:r>
              <a:rPr lang="en-US" altLang="zh-CN" dirty="0">
                <a:solidFill>
                  <a:srgbClr val="C00000"/>
                </a:solidFill>
              </a:rPr>
              <a:t>// </a:t>
            </a:r>
            <a:r>
              <a:rPr lang="zh-CN" altLang="en-US" dirty="0">
                <a:solidFill>
                  <a:srgbClr val="C00000"/>
                </a:solidFill>
              </a:rPr>
              <a:t>下方宏定义 </a:t>
            </a:r>
            <a:r>
              <a:rPr lang="en-US" altLang="zh-CN" dirty="0">
                <a:solidFill>
                  <a:srgbClr val="C00000"/>
                </a:solidFill>
              </a:rPr>
              <a:t>#define decode_operand_r2rm \</a:t>
            </a:r>
            <a:endParaRPr lang="en-US" altLang="zh-CN" dirty="0">
              <a:solidFill>
                <a:srgbClr val="C00000"/>
              </a:solidFill>
            </a:endParaRPr>
          </a:p>
          <a:p>
            <a:r>
              <a:rPr lang="en-US" altLang="zh-CN" dirty="0">
                <a:solidFill>
                  <a:srgbClr val="C00000"/>
                </a:solidFill>
              </a:rPr>
              <a:t>//                                </a:t>
            </a:r>
            <a:r>
              <a:rPr lang="en-US" altLang="zh-CN" dirty="0" err="1">
                <a:solidFill>
                  <a:srgbClr val="C00000"/>
                </a:solidFill>
              </a:rPr>
              <a:t>len</a:t>
            </a:r>
            <a:r>
              <a:rPr lang="en-US" altLang="zh-CN" dirty="0">
                <a:solidFill>
                  <a:srgbClr val="C00000"/>
                </a:solidFill>
              </a:rPr>
              <a:t> += </a:t>
            </a:r>
            <a:r>
              <a:rPr lang="en-US" altLang="zh-CN" dirty="0" err="1">
                <a:solidFill>
                  <a:srgbClr val="C00000"/>
                </a:solidFill>
              </a:rPr>
              <a:t>modrm_r_rm</a:t>
            </a:r>
            <a:r>
              <a:rPr lang="en-US" altLang="zh-CN" dirty="0">
                <a:solidFill>
                  <a:srgbClr val="C00000"/>
                </a:solidFill>
              </a:rPr>
              <a:t>(</a:t>
            </a:r>
            <a:r>
              <a:rPr lang="en-US" altLang="zh-CN" dirty="0" err="1">
                <a:solidFill>
                  <a:srgbClr val="C00000"/>
                </a:solidFill>
              </a:rPr>
              <a:t>eip</a:t>
            </a:r>
            <a:r>
              <a:rPr lang="en-US" altLang="zh-CN" dirty="0">
                <a:solidFill>
                  <a:srgbClr val="C00000"/>
                </a:solidFill>
              </a:rPr>
              <a:t> + 1, &amp;</a:t>
            </a:r>
            <a:r>
              <a:rPr lang="en-US" altLang="zh-CN" dirty="0" err="1">
                <a:solidFill>
                  <a:srgbClr val="C00000"/>
                </a:solidFill>
              </a:rPr>
              <a:t>opr_src</a:t>
            </a:r>
            <a:r>
              <a:rPr lang="en-US" altLang="zh-CN" dirty="0">
                <a:solidFill>
                  <a:srgbClr val="C00000"/>
                </a:solidFill>
              </a:rPr>
              <a:t>, &amp;</a:t>
            </a:r>
            <a:r>
              <a:rPr lang="en-US" altLang="zh-CN" dirty="0" err="1">
                <a:solidFill>
                  <a:srgbClr val="C00000"/>
                </a:solidFill>
              </a:rPr>
              <a:t>opr_dest</a:t>
            </a:r>
            <a:r>
              <a:rPr lang="en-US" altLang="zh-CN" dirty="0">
                <a:solidFill>
                  <a:srgbClr val="C00000"/>
                </a:solidFill>
              </a:rPr>
              <a:t>);</a:t>
            </a:r>
            <a:endParaRPr lang="zh-CN" altLang="en-US" dirty="0">
              <a:solidFill>
                <a:srgbClr val="C00000"/>
              </a:solidFill>
            </a:endParaRPr>
          </a:p>
          <a:p>
            <a:r>
              <a:rPr lang="zh-CN" altLang="en-US"/>
              <a:t>		print</a:t>
            </a:r>
            <a:r>
              <a:rPr lang="zh-CN" altLang="en-US" dirty="0"/>
              <a:t>_asm_2(</a:t>
            </a:r>
            <a:r>
              <a:rPr lang="en-US" altLang="zh-CN" dirty="0"/>
              <a:t>…</a:t>
            </a:r>
            <a:r>
              <a:rPr lang="zh-CN" altLang="en-US" dirty="0"/>
              <a:t>); \</a:t>
            </a:r>
            <a:endParaRPr lang="zh-CN" altLang="en-US" dirty="0"/>
          </a:p>
          <a:p>
            <a:r>
              <a:rPr lang="zh-CN" altLang="en-US"/>
              <a:t>		instr</a:t>
            </a:r>
            <a:r>
              <a:rPr lang="zh-CN" altLang="en-US" dirty="0"/>
              <a:t>_execute_2op(); \</a:t>
            </a:r>
            <a:endParaRPr lang="zh-CN" altLang="en-US" dirty="0"/>
          </a:p>
          <a:p>
            <a:r>
              <a:rPr lang="zh-CN" altLang="en-US"/>
              <a:t>		return </a:t>
            </a:r>
            <a:r>
              <a:rPr lang="zh-CN" altLang="en-US" dirty="0"/>
              <a:t>len; \</a:t>
            </a:r>
            <a:endParaRPr lang="zh-CN" altLang="en-US" dirty="0"/>
          </a:p>
          <a:p>
            <a:r>
              <a:rPr lang="zh-CN" altLang="en-US"/>
              <a:t>	}</a:t>
            </a:r>
            <a:endParaRPr lang="zh-CN" altLang="en-US" dirty="0"/>
          </a:p>
        </p:txBody>
      </p:sp>
      <p:sp>
        <p:nvSpPr>
          <p:cNvPr id="8" name="文本框 7"/>
          <p:cNvSpPr txBox="1"/>
          <p:nvPr/>
        </p:nvSpPr>
        <p:spPr>
          <a:xfrm>
            <a:off x="5318125" y="4836342"/>
            <a:ext cx="5918200" cy="523220"/>
          </a:xfrm>
          <a:prstGeom prst="rect">
            <a:avLst/>
          </a:prstGeom>
          <a:noFill/>
        </p:spPr>
        <p:txBody>
          <a:bodyPr wrap="square" rtlCol="0">
            <a:spAutoFit/>
          </a:bodyPr>
          <a:lstStyle/>
          <a:p>
            <a:r>
              <a:rPr lang="en-US" altLang="zh-CN" sz="2800" i="1" dirty="0" err="1">
                <a:solidFill>
                  <a:srgbClr val="0070C0"/>
                </a:solidFill>
              </a:rPr>
              <a:t>nemu</a:t>
            </a:r>
            <a:r>
              <a:rPr lang="en-US" altLang="zh-CN" sz="2800" i="1" dirty="0">
                <a:solidFill>
                  <a:srgbClr val="0070C0"/>
                </a:solidFill>
              </a:rPr>
              <a:t>/include/</a:t>
            </a:r>
            <a:r>
              <a:rPr lang="en-US" altLang="zh-CN" sz="2800" i="1" dirty="0" err="1">
                <a:solidFill>
                  <a:srgbClr val="0070C0"/>
                </a:solidFill>
              </a:rPr>
              <a:t>cpu</a:t>
            </a:r>
            <a:r>
              <a:rPr lang="en-US" altLang="zh-CN" sz="2800" i="1" dirty="0">
                <a:solidFill>
                  <a:srgbClr val="0070C0"/>
                </a:solidFill>
              </a:rPr>
              <a:t>/</a:t>
            </a:r>
            <a:r>
              <a:rPr lang="en-US" altLang="zh-CN" sz="2800" i="1" dirty="0" err="1">
                <a:solidFill>
                  <a:srgbClr val="0070C0"/>
                </a:solidFill>
              </a:rPr>
              <a:t>instr_helper.h</a:t>
            </a:r>
            <a:endParaRPr lang="zh-CN" altLang="en-US" sz="2800" i="1" dirty="0">
              <a:solidFill>
                <a:srgbClr val="0070C0"/>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644650" y="2174075"/>
            <a:ext cx="4648200" cy="4470455"/>
          </a:xfrm>
          <a:prstGeom prst="rect">
            <a:avLst/>
          </a:prstGeom>
          <a:ln>
            <a:solidFill>
              <a:schemeClr val="tx1"/>
            </a:solidFill>
            <a:prstDash val="dash"/>
          </a:ln>
        </p:spPr>
        <p:txBody>
          <a:bodyPr wrap="square">
            <a:spAutoFit/>
          </a:bodyPr>
          <a:lstStyle/>
          <a:p>
            <a:pPr marL="228600" algn="just">
              <a:spcBef>
                <a:spcPts val="250"/>
              </a:spcBef>
            </a:pPr>
            <a:r>
              <a:rPr lang="en-US" altLang="zh-CN" kern="100" dirty="0" err="1">
                <a:latin typeface="等线" panose="02010600030101010101" charset="-122"/>
                <a:cs typeface="Times New Roman" panose="02020603050405020304" pitchFamily="18" charset="0"/>
              </a:rPr>
              <a:t>make_instr_func</a:t>
            </a:r>
            <a:r>
              <a:rPr lang="en-US" altLang="zh-CN" kern="100" dirty="0">
                <a:latin typeface="等线" panose="02010600030101010101" charset="-122"/>
                <a:cs typeface="Times New Roman" panose="02020603050405020304" pitchFamily="18" charset="0"/>
              </a:rPr>
              <a:t>(mov_r2rm_v) {</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OPERAND r, </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zh-CN" kern="100" dirty="0">
                <a:solidFill>
                  <a:srgbClr val="00B050"/>
                </a:solidFill>
                <a:latin typeface="等线" panose="02010600030101010101" charset="-122"/>
                <a:cs typeface="Times New Roman" panose="02020603050405020304" pitchFamily="18" charset="0"/>
              </a:rPr>
              <a:t>指定操作数长度</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rm.data_size</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r.data_size</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data_size</a:t>
            </a:r>
            <a:r>
              <a:rPr lang="en-US" altLang="zh-CN" kern="100" dirty="0">
                <a:latin typeface="等线" panose="02010600030101010101" charset="-122"/>
                <a:cs typeface="Times New Roman" panose="02020603050405020304" pitchFamily="18" charset="0"/>
              </a:rPr>
              <a:t>;  </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int</a:t>
            </a: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 = 1;</a:t>
            </a:r>
            <a:endParaRPr lang="en-US"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zh-CN" kern="100" dirty="0">
                <a:solidFill>
                  <a:srgbClr val="00B050"/>
                </a:solidFill>
                <a:latin typeface="等线" panose="02010600030101010101" charset="-122"/>
                <a:cs typeface="Times New Roman" panose="02020603050405020304" pitchFamily="18" charset="0"/>
              </a:rPr>
              <a:t>操作数寻址</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modrm_r_rm</a:t>
            </a:r>
            <a:r>
              <a:rPr lang="en-US" altLang="zh-CN" kern="100" dirty="0">
                <a:latin typeface="等线" panose="02010600030101010101" charset="-122"/>
                <a:cs typeface="Times New Roman" panose="02020603050405020304" pitchFamily="18" charset="0"/>
              </a:rPr>
              <a:t>(</a:t>
            </a:r>
            <a:r>
              <a:rPr lang="en-US" altLang="zh-CN" kern="100" dirty="0" err="1">
                <a:latin typeface="等线" panose="02010600030101010101" charset="-122"/>
                <a:cs typeface="Times New Roman" panose="02020603050405020304" pitchFamily="18" charset="0"/>
              </a:rPr>
              <a:t>eip</a:t>
            </a:r>
            <a:r>
              <a:rPr lang="en-US" altLang="zh-CN" kern="100" dirty="0">
                <a:latin typeface="等线" panose="02010600030101010101" charset="-122"/>
                <a:cs typeface="Times New Roman" panose="02020603050405020304" pitchFamily="18" charset="0"/>
              </a:rPr>
              <a:t> + 1, &amp;r, &amp;</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 </a:t>
            </a:r>
            <a:endParaRPr lang="en-US"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en-US" kern="100" dirty="0">
                <a:solidFill>
                  <a:srgbClr val="00B050"/>
                </a:solidFill>
                <a:latin typeface="等线" panose="02010600030101010101" charset="-122"/>
                <a:cs typeface="Times New Roman" panose="02020603050405020304" pitchFamily="18" charset="0"/>
              </a:rPr>
              <a:t>执行</a:t>
            </a:r>
            <a:r>
              <a:rPr lang="en-US" altLang="zh-CN" kern="100" dirty="0" err="1">
                <a:solidFill>
                  <a:srgbClr val="00B050"/>
                </a:solidFill>
                <a:latin typeface="等线" panose="02010600030101010101" charset="-122"/>
                <a:cs typeface="Times New Roman" panose="02020603050405020304" pitchFamily="18" charset="0"/>
              </a:rPr>
              <a:t>mov</a:t>
            </a:r>
            <a:r>
              <a:rPr lang="zh-CN" altLang="en-US" kern="100" dirty="0">
                <a:solidFill>
                  <a:srgbClr val="00B050"/>
                </a:solidFill>
                <a:latin typeface="等线" panose="02010600030101010101" charset="-122"/>
                <a:cs typeface="Times New Roman" panose="02020603050405020304" pitchFamily="18" charset="0"/>
              </a:rPr>
              <a:t>操作</a:t>
            </a:r>
            <a:r>
              <a:rPr lang="en-US" altLang="zh-CN" kern="100" dirty="0">
                <a:solidFill>
                  <a:srgbClr val="00B050"/>
                </a:solidFill>
                <a:latin typeface="等线" panose="02010600030101010101" charset="-122"/>
                <a:cs typeface="Times New Roman" panose="02020603050405020304" pitchFamily="18" charset="0"/>
              </a:rPr>
              <a:t> </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operand_read</a:t>
            </a:r>
            <a:r>
              <a:rPr lang="en-US" altLang="zh-CN" kern="100" dirty="0">
                <a:latin typeface="等线" panose="02010600030101010101" charset="-122"/>
                <a:cs typeface="Times New Roman" panose="02020603050405020304" pitchFamily="18" charset="0"/>
              </a:rPr>
              <a:t>(&amp;r);</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rm.val</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r.val</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operand_write</a:t>
            </a:r>
            <a:r>
              <a:rPr lang="en-US" altLang="zh-CN" kern="100" dirty="0">
                <a:latin typeface="等线" panose="02010600030101010101" charset="-122"/>
                <a:cs typeface="Times New Roman" panose="02020603050405020304" pitchFamily="18" charset="0"/>
              </a:rPr>
              <a:t>(&amp;</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en-US" kern="100" dirty="0">
                <a:solidFill>
                  <a:srgbClr val="00B050"/>
                </a:solidFill>
                <a:latin typeface="等线" panose="02010600030101010101" charset="-122"/>
                <a:cs typeface="Times New Roman" panose="02020603050405020304" pitchFamily="18" charset="0"/>
              </a:rPr>
              <a:t>返回操作数长度</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return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p:txBody>
      </p:sp>
      <p:sp>
        <p:nvSpPr>
          <p:cNvPr id="5" name="矩形 4"/>
          <p:cNvSpPr/>
          <p:nvPr/>
        </p:nvSpPr>
        <p:spPr>
          <a:xfrm>
            <a:off x="6604000" y="2174075"/>
            <a:ext cx="3879850" cy="2923877"/>
          </a:xfrm>
          <a:prstGeom prst="rect">
            <a:avLst/>
          </a:prstGeom>
          <a:ln>
            <a:solidFill>
              <a:schemeClr val="tx1"/>
            </a:solidFill>
            <a:prstDash val="dash"/>
          </a:ln>
        </p:spPr>
        <p:txBody>
          <a:bodyPr wrap="square">
            <a:spAutoFit/>
          </a:bodyPr>
          <a:lstStyle/>
          <a:p>
            <a:r>
              <a:rPr lang="zh-CN" altLang="en-US" dirty="0"/>
              <a:t>#include "cpu/instr.h"</a:t>
            </a:r>
            <a:endParaRPr lang="zh-CN" altLang="en-US" dirty="0"/>
          </a:p>
          <a:p>
            <a:endParaRPr lang="zh-CN" altLang="en-US" dirty="0"/>
          </a:p>
          <a:p>
            <a:r>
              <a:rPr lang="zh-CN" altLang="en-US" dirty="0"/>
              <a:t>static void instr_execute_2op() {</a:t>
            </a:r>
            <a:endParaRPr lang="zh-CN" altLang="en-US" dirty="0"/>
          </a:p>
          <a:p>
            <a:r>
              <a:rPr lang="zh-CN" altLang="en-US"/>
              <a:t>	operand</a:t>
            </a:r>
            <a:r>
              <a:rPr lang="zh-CN" altLang="en-US" dirty="0"/>
              <a:t>_read(&amp;opr_src);</a:t>
            </a:r>
            <a:endParaRPr lang="zh-CN" altLang="en-US" dirty="0"/>
          </a:p>
          <a:p>
            <a:r>
              <a:rPr lang="zh-CN" altLang="en-US"/>
              <a:t>	opr</a:t>
            </a:r>
            <a:r>
              <a:rPr lang="zh-CN" altLang="en-US" dirty="0"/>
              <a:t>_dest.val = opr_src.val;</a:t>
            </a:r>
            <a:endParaRPr lang="zh-CN" altLang="en-US" dirty="0"/>
          </a:p>
          <a:p>
            <a:r>
              <a:rPr lang="zh-CN" altLang="en-US"/>
              <a:t>	operand</a:t>
            </a:r>
            <a:r>
              <a:rPr lang="zh-CN" altLang="en-US" dirty="0"/>
              <a:t>_write(&amp;opr_dest);</a:t>
            </a:r>
            <a:endParaRPr lang="zh-CN" altLang="en-US" dirty="0"/>
          </a:p>
          <a:p>
            <a:r>
              <a:rPr lang="zh-CN" altLang="en-US" dirty="0"/>
              <a:t>}</a:t>
            </a:r>
            <a:endParaRPr lang="zh-CN" altLang="en-US" dirty="0"/>
          </a:p>
          <a:p>
            <a:endParaRPr lang="zh-CN" altLang="en-US" dirty="0"/>
          </a:p>
          <a:p>
            <a:r>
              <a:rPr lang="zh-CN" altLang="en-US" sz="2000" dirty="0">
                <a:solidFill>
                  <a:srgbClr val="C00000"/>
                </a:solidFill>
              </a:rPr>
              <a:t>make_instr_impl_2op(mov, r, rm, v)</a:t>
            </a:r>
            <a:endParaRPr lang="zh-CN" altLang="en-US" sz="2000" dirty="0">
              <a:solidFill>
                <a:srgbClr val="C00000"/>
              </a:solidFill>
            </a:endParaRPr>
          </a:p>
        </p:txBody>
      </p:sp>
      <p:sp>
        <p:nvSpPr>
          <p:cNvPr id="7" name="矩形 6"/>
          <p:cNvSpPr/>
          <p:nvPr/>
        </p:nvSpPr>
        <p:spPr>
          <a:xfrm>
            <a:off x="1600201" y="236702"/>
            <a:ext cx="8991599" cy="5139869"/>
          </a:xfrm>
          <a:prstGeom prst="rect">
            <a:avLst/>
          </a:prstGeom>
          <a:solidFill>
            <a:schemeClr val="bg2"/>
          </a:solidFill>
          <a:ln>
            <a:solidFill>
              <a:schemeClr val="tx1"/>
            </a:solidFill>
            <a:prstDash val="dash"/>
          </a:ln>
        </p:spPr>
        <p:txBody>
          <a:bodyPr wrap="square">
            <a:spAutoFit/>
          </a:bodyPr>
          <a:lstStyle/>
          <a:p>
            <a:r>
              <a:rPr lang="zh-CN" altLang="en-US" dirty="0"/>
              <a:t>// macro for generating the implementation of an instruction with two operands</a:t>
            </a:r>
            <a:endParaRPr lang="zh-CN" altLang="en-US" dirty="0"/>
          </a:p>
          <a:p>
            <a:r>
              <a:rPr lang="zh-CN" altLang="en-US" sz="2000" dirty="0"/>
              <a:t>#define make_instr_impl_2op(inst_name, src_type, dest_type, suffix) \</a:t>
            </a:r>
            <a:endParaRPr lang="en-US" altLang="zh-CN" sz="2000" dirty="0"/>
          </a:p>
          <a:p>
            <a:r>
              <a:rPr lang="en-US" altLang="zh-CN" sz="2000" dirty="0">
                <a:solidFill>
                  <a:schemeClr val="tx1">
                    <a:lumMod val="50000"/>
                    <a:lumOff val="50000"/>
                  </a:schemeClr>
                </a:solidFill>
              </a:rPr>
              <a:t>                // </a:t>
            </a:r>
            <a:r>
              <a:rPr lang="zh-CN" altLang="en-US" sz="2000" dirty="0">
                <a:solidFill>
                  <a:schemeClr val="tx1">
                    <a:lumMod val="50000"/>
                    <a:lumOff val="50000"/>
                  </a:schemeClr>
                </a:solidFill>
              </a:rPr>
              <a:t>等于 </a:t>
            </a:r>
            <a:r>
              <a:rPr lang="en-US" altLang="zh-CN" sz="2000" dirty="0">
                <a:solidFill>
                  <a:schemeClr val="tx1">
                    <a:lumMod val="50000"/>
                    <a:lumOff val="50000"/>
                  </a:schemeClr>
                </a:solidFill>
              </a:rPr>
              <a:t> </a:t>
            </a:r>
            <a:r>
              <a:rPr lang="zh-CN" altLang="en-US" sz="2000" dirty="0">
                <a:solidFill>
                  <a:schemeClr val="tx1">
                    <a:lumMod val="50000"/>
                    <a:lumOff val="50000"/>
                  </a:schemeClr>
                </a:solidFill>
              </a:rPr>
              <a:t>make_instr_impl_2op(mov, r, rm, v)</a:t>
            </a:r>
            <a:endParaRPr lang="zh-CN" altLang="en-US" sz="2000" dirty="0">
              <a:solidFill>
                <a:schemeClr val="tx1">
                  <a:lumMod val="50000"/>
                  <a:lumOff val="50000"/>
                </a:schemeClr>
              </a:solidFill>
            </a:endParaRPr>
          </a:p>
          <a:p>
            <a:r>
              <a:rPr lang="zh-CN" altLang="en-US"/>
              <a:t>	make</a:t>
            </a:r>
            <a:r>
              <a:rPr lang="zh-CN" altLang="en-US" dirty="0"/>
              <a:t>_instr_func(concat7(inst_name, _, src_type, 2, dest_type, _, suffix)) {\</a:t>
            </a:r>
            <a:endParaRPr lang="en-US" altLang="zh-CN" dirty="0"/>
          </a:p>
          <a:p>
            <a:r>
              <a:rPr lang="en-US" altLang="zh-CN"/>
              <a:t>	</a:t>
            </a:r>
            <a:r>
              <a:rPr lang="en-US" altLang="zh-CN">
                <a:solidFill>
                  <a:schemeClr val="tx1">
                    <a:lumMod val="50000"/>
                    <a:lumOff val="50000"/>
                  </a:schemeClr>
                </a:solidFill>
              </a:rPr>
              <a:t> </a:t>
            </a:r>
            <a:r>
              <a:rPr lang="en-US" altLang="zh-CN" dirty="0">
                <a:solidFill>
                  <a:schemeClr val="tx1">
                    <a:lumMod val="50000"/>
                    <a:lumOff val="50000"/>
                  </a:schemeClr>
                </a:solidFill>
              </a:rPr>
              <a:t>// </a:t>
            </a:r>
            <a:r>
              <a:rPr lang="zh-CN" altLang="en-US" dirty="0">
                <a:solidFill>
                  <a:schemeClr val="tx1">
                    <a:lumMod val="50000"/>
                    <a:lumOff val="50000"/>
                  </a:schemeClr>
                </a:solidFill>
              </a:rPr>
              <a:t>宏展开等于 </a:t>
            </a:r>
            <a:r>
              <a:rPr lang="en-US" altLang="zh-CN" dirty="0">
                <a:solidFill>
                  <a:schemeClr val="tx1">
                    <a:lumMod val="50000"/>
                    <a:lumOff val="50000"/>
                  </a:schemeClr>
                </a:solidFill>
              </a:rPr>
              <a:t> </a:t>
            </a:r>
            <a:r>
              <a:rPr lang="zh-CN" altLang="en-US" dirty="0">
                <a:solidFill>
                  <a:schemeClr val="tx1">
                    <a:lumMod val="50000"/>
                    <a:lumOff val="50000"/>
                  </a:schemeClr>
                </a:solidFill>
              </a:rPr>
              <a:t>make_instr_</a:t>
            </a:r>
            <a:r>
              <a:rPr lang="en-US" altLang="zh-CN" dirty="0" err="1">
                <a:solidFill>
                  <a:schemeClr val="tx1">
                    <a:lumMod val="50000"/>
                    <a:lumOff val="50000"/>
                  </a:schemeClr>
                </a:solidFill>
              </a:rPr>
              <a:t>func</a:t>
            </a:r>
            <a:r>
              <a:rPr lang="zh-CN" altLang="en-US" dirty="0">
                <a:solidFill>
                  <a:schemeClr val="tx1">
                    <a:lumMod val="50000"/>
                    <a:lumOff val="50000"/>
                  </a:schemeClr>
                </a:solidFill>
              </a:rPr>
              <a:t>(mov</a:t>
            </a:r>
            <a:r>
              <a:rPr lang="en-US" altLang="zh-CN" dirty="0">
                <a:solidFill>
                  <a:schemeClr val="tx1">
                    <a:lumMod val="50000"/>
                    <a:lumOff val="50000"/>
                  </a:schemeClr>
                </a:solidFill>
              </a:rPr>
              <a:t>_</a:t>
            </a:r>
            <a:r>
              <a:rPr lang="zh-CN" altLang="en-US" dirty="0">
                <a:solidFill>
                  <a:schemeClr val="tx1">
                    <a:lumMod val="50000"/>
                    <a:lumOff val="50000"/>
                  </a:schemeClr>
                </a:solidFill>
              </a:rPr>
              <a:t> r</a:t>
            </a:r>
            <a:r>
              <a:rPr lang="en-US" altLang="zh-CN" dirty="0">
                <a:solidFill>
                  <a:schemeClr val="tx1">
                    <a:lumMod val="50000"/>
                    <a:lumOff val="50000"/>
                  </a:schemeClr>
                </a:solidFill>
              </a:rPr>
              <a:t>2</a:t>
            </a:r>
            <a:r>
              <a:rPr lang="zh-CN" altLang="en-US" dirty="0">
                <a:solidFill>
                  <a:schemeClr val="tx1">
                    <a:lumMod val="50000"/>
                    <a:lumOff val="50000"/>
                  </a:schemeClr>
                </a:solidFill>
              </a:rPr>
              <a:t>rm</a:t>
            </a:r>
            <a:r>
              <a:rPr lang="en-US" altLang="zh-CN" dirty="0">
                <a:solidFill>
                  <a:schemeClr val="tx1">
                    <a:lumMod val="50000"/>
                    <a:lumOff val="50000"/>
                  </a:schemeClr>
                </a:solidFill>
              </a:rPr>
              <a:t>_</a:t>
            </a:r>
            <a:r>
              <a:rPr lang="zh-CN" altLang="en-US" dirty="0">
                <a:solidFill>
                  <a:schemeClr val="tx1">
                    <a:lumMod val="50000"/>
                    <a:lumOff val="50000"/>
                  </a:schemeClr>
                </a:solidFill>
              </a:rPr>
              <a:t>v) </a:t>
            </a:r>
            <a:r>
              <a:rPr lang="en-US" altLang="zh-CN" dirty="0">
                <a:solidFill>
                  <a:schemeClr val="tx1">
                    <a:lumMod val="50000"/>
                    <a:lumOff val="50000"/>
                  </a:schemeClr>
                </a:solidFill>
              </a:rPr>
              <a:t>{</a:t>
            </a:r>
            <a:endParaRPr lang="zh-CN" altLang="en-US" dirty="0">
              <a:solidFill>
                <a:schemeClr val="tx1">
                  <a:lumMod val="50000"/>
                  <a:lumOff val="50000"/>
                </a:schemeClr>
              </a:solidFill>
            </a:endParaRPr>
          </a:p>
          <a:p>
            <a:r>
              <a:rPr lang="zh-CN" altLang="en-US"/>
              <a:t>		int </a:t>
            </a:r>
            <a:r>
              <a:rPr lang="zh-CN" altLang="en-US" dirty="0"/>
              <a:t>len = 1; \ </a:t>
            </a:r>
            <a:r>
              <a:rPr lang="en-US" altLang="zh-CN" dirty="0">
                <a:solidFill>
                  <a:schemeClr val="tx1">
                    <a:lumMod val="50000"/>
                    <a:lumOff val="50000"/>
                  </a:schemeClr>
                </a:solidFill>
              </a:rPr>
              <a:t>// </a:t>
            </a:r>
            <a:r>
              <a:rPr lang="zh-CN" altLang="en-US" dirty="0">
                <a:solidFill>
                  <a:schemeClr val="tx1">
                    <a:lumMod val="50000"/>
                    <a:lumOff val="50000"/>
                  </a:schemeClr>
                </a:solidFill>
              </a:rPr>
              <a:t>不变</a:t>
            </a:r>
            <a:endParaRPr lang="zh-CN" altLang="en-US" dirty="0">
              <a:solidFill>
                <a:schemeClr val="tx1">
                  <a:lumMod val="50000"/>
                  <a:lumOff val="50000"/>
                </a:schemeClr>
              </a:solidFill>
            </a:endParaRPr>
          </a:p>
          <a:p>
            <a:r>
              <a:rPr lang="zh-CN" altLang="en-US"/>
              <a:t>		concat</a:t>
            </a:r>
            <a:r>
              <a:rPr lang="zh-CN" altLang="en-US" dirty="0"/>
              <a:t>(decode_data_size_, suffix) \</a:t>
            </a:r>
            <a:endParaRPr lang="en-US" altLang="zh-CN" dirty="0"/>
          </a:p>
          <a:p>
            <a:r>
              <a:rPr lang="en-US" altLang="zh-CN" dirty="0">
                <a:solidFill>
                  <a:schemeClr val="tx1">
                    <a:lumMod val="50000"/>
                    <a:lumOff val="50000"/>
                  </a:schemeClr>
                </a:solidFill>
              </a:rPr>
              <a:t>// </a:t>
            </a:r>
            <a:r>
              <a:rPr lang="zh-CN" altLang="en-US" dirty="0">
                <a:solidFill>
                  <a:schemeClr val="tx1">
                    <a:lumMod val="50000"/>
                    <a:lumOff val="50000"/>
                  </a:schemeClr>
                </a:solidFill>
              </a:rPr>
              <a:t>宏展开等于 </a:t>
            </a:r>
            <a:r>
              <a:rPr lang="en-US" altLang="zh-CN" dirty="0" err="1">
                <a:solidFill>
                  <a:schemeClr val="tx1">
                    <a:lumMod val="50000"/>
                    <a:lumOff val="50000"/>
                  </a:schemeClr>
                </a:solidFill>
              </a:rPr>
              <a:t>decode_data_size_v</a:t>
            </a:r>
            <a:endParaRPr lang="en-US" altLang="zh-CN" dirty="0">
              <a:solidFill>
                <a:schemeClr val="tx1">
                  <a:lumMod val="50000"/>
                  <a:lumOff val="50000"/>
                </a:schemeClr>
              </a:solidFill>
            </a:endParaRPr>
          </a:p>
          <a:p>
            <a:r>
              <a:rPr lang="en-US" altLang="zh-CN" dirty="0">
                <a:solidFill>
                  <a:schemeClr val="tx1">
                    <a:lumMod val="50000"/>
                    <a:lumOff val="50000"/>
                  </a:schemeClr>
                </a:solidFill>
              </a:rPr>
              <a:t>// </a:t>
            </a:r>
            <a:r>
              <a:rPr lang="zh-CN" altLang="en-US" dirty="0">
                <a:solidFill>
                  <a:schemeClr val="tx1">
                    <a:lumMod val="50000"/>
                    <a:lumOff val="50000"/>
                  </a:schemeClr>
                </a:solidFill>
              </a:rPr>
              <a:t>下方宏定义 </a:t>
            </a:r>
            <a:r>
              <a:rPr lang="en-US" altLang="zh-CN" dirty="0">
                <a:solidFill>
                  <a:schemeClr val="tx1">
                    <a:lumMod val="50000"/>
                    <a:lumOff val="50000"/>
                  </a:schemeClr>
                </a:solidFill>
              </a:rPr>
              <a:t>#define </a:t>
            </a:r>
            <a:r>
              <a:rPr lang="en-US" altLang="zh-CN" dirty="0" err="1">
                <a:solidFill>
                  <a:schemeClr val="tx1">
                    <a:lumMod val="50000"/>
                    <a:lumOff val="50000"/>
                  </a:schemeClr>
                </a:solidFill>
              </a:rPr>
              <a:t>decode_data_size_v</a:t>
            </a:r>
            <a:r>
              <a:rPr lang="en-US" altLang="zh-CN" dirty="0">
                <a:solidFill>
                  <a:schemeClr val="tx1">
                    <a:lumMod val="50000"/>
                    <a:lumOff val="50000"/>
                  </a:schemeClr>
                </a:solidFill>
              </a:rPr>
              <a:t> </a:t>
            </a:r>
            <a:r>
              <a:rPr lang="en-US" altLang="zh-CN" dirty="0" err="1">
                <a:solidFill>
                  <a:schemeClr val="tx1">
                    <a:lumMod val="50000"/>
                    <a:lumOff val="50000"/>
                  </a:schemeClr>
                </a:solidFill>
              </a:rPr>
              <a:t>opr_src.data_size</a:t>
            </a:r>
            <a:r>
              <a:rPr lang="en-US" altLang="zh-CN" dirty="0">
                <a:solidFill>
                  <a:schemeClr val="tx1">
                    <a:lumMod val="50000"/>
                    <a:lumOff val="50000"/>
                  </a:schemeClr>
                </a:solidFill>
              </a:rPr>
              <a:t> = </a:t>
            </a:r>
            <a:r>
              <a:rPr lang="en-US" altLang="zh-CN" dirty="0" err="1">
                <a:solidFill>
                  <a:schemeClr val="tx1">
                    <a:lumMod val="50000"/>
                    <a:lumOff val="50000"/>
                  </a:schemeClr>
                </a:solidFill>
              </a:rPr>
              <a:t>opr_dest.data_size</a:t>
            </a:r>
            <a:r>
              <a:rPr lang="en-US" altLang="zh-CN" dirty="0">
                <a:solidFill>
                  <a:schemeClr val="tx1">
                    <a:lumMod val="50000"/>
                    <a:lumOff val="50000"/>
                  </a:schemeClr>
                </a:solidFill>
              </a:rPr>
              <a:t> = </a:t>
            </a:r>
            <a:r>
              <a:rPr lang="en-US" altLang="zh-CN" dirty="0" err="1">
                <a:solidFill>
                  <a:schemeClr val="tx1">
                    <a:lumMod val="50000"/>
                    <a:lumOff val="50000"/>
                  </a:schemeClr>
                </a:solidFill>
              </a:rPr>
              <a:t>data_size</a:t>
            </a:r>
            <a:r>
              <a:rPr lang="en-US" altLang="zh-CN" dirty="0">
                <a:solidFill>
                  <a:schemeClr val="tx1">
                    <a:lumMod val="50000"/>
                    <a:lumOff val="50000"/>
                  </a:schemeClr>
                </a:solidFill>
              </a:rPr>
              <a:t>;</a:t>
            </a:r>
            <a:endParaRPr lang="zh-CN" altLang="en-US" dirty="0">
              <a:solidFill>
                <a:schemeClr val="tx1">
                  <a:lumMod val="50000"/>
                  <a:lumOff val="50000"/>
                </a:schemeClr>
              </a:solidFill>
            </a:endParaRPr>
          </a:p>
          <a:p>
            <a:r>
              <a:rPr lang="zh-CN" altLang="en-US"/>
              <a:t>		concat</a:t>
            </a:r>
            <a:r>
              <a:rPr lang="zh-CN" altLang="en-US" dirty="0"/>
              <a:t>3(decode_operand, _, concat3(src_type, 2, dest_type)) \</a:t>
            </a:r>
            <a:endParaRPr lang="en-US" altLang="zh-CN" dirty="0"/>
          </a:p>
          <a:p>
            <a:r>
              <a:rPr lang="en-US" altLang="zh-CN" dirty="0">
                <a:solidFill>
                  <a:schemeClr val="tx1">
                    <a:lumMod val="50000"/>
                    <a:lumOff val="50000"/>
                  </a:schemeClr>
                </a:solidFill>
              </a:rPr>
              <a:t>// </a:t>
            </a:r>
            <a:r>
              <a:rPr lang="zh-CN" altLang="en-US" dirty="0">
                <a:solidFill>
                  <a:schemeClr val="tx1">
                    <a:lumMod val="50000"/>
                    <a:lumOff val="50000"/>
                  </a:schemeClr>
                </a:solidFill>
              </a:rPr>
              <a:t>宏展开等于 </a:t>
            </a:r>
            <a:r>
              <a:rPr lang="en-US" altLang="zh-CN" dirty="0">
                <a:solidFill>
                  <a:schemeClr val="tx1">
                    <a:lumMod val="50000"/>
                    <a:lumOff val="50000"/>
                  </a:schemeClr>
                </a:solidFill>
              </a:rPr>
              <a:t>decode_operand_r2rm</a:t>
            </a:r>
            <a:endParaRPr lang="en-US" altLang="zh-CN" dirty="0">
              <a:solidFill>
                <a:schemeClr val="tx1">
                  <a:lumMod val="50000"/>
                  <a:lumOff val="50000"/>
                </a:schemeClr>
              </a:solidFill>
            </a:endParaRPr>
          </a:p>
          <a:p>
            <a:r>
              <a:rPr lang="en-US" altLang="zh-CN" dirty="0">
                <a:solidFill>
                  <a:schemeClr val="tx1">
                    <a:lumMod val="50000"/>
                    <a:lumOff val="50000"/>
                  </a:schemeClr>
                </a:solidFill>
              </a:rPr>
              <a:t>// </a:t>
            </a:r>
            <a:r>
              <a:rPr lang="zh-CN" altLang="en-US" dirty="0">
                <a:solidFill>
                  <a:schemeClr val="tx1">
                    <a:lumMod val="50000"/>
                    <a:lumOff val="50000"/>
                  </a:schemeClr>
                </a:solidFill>
              </a:rPr>
              <a:t>下方宏定义 </a:t>
            </a:r>
            <a:r>
              <a:rPr lang="en-US" altLang="zh-CN" dirty="0">
                <a:solidFill>
                  <a:schemeClr val="tx1">
                    <a:lumMod val="50000"/>
                    <a:lumOff val="50000"/>
                  </a:schemeClr>
                </a:solidFill>
              </a:rPr>
              <a:t>#define decode_operand_r2rm \</a:t>
            </a:r>
            <a:endParaRPr lang="en-US" altLang="zh-CN" dirty="0">
              <a:solidFill>
                <a:schemeClr val="tx1">
                  <a:lumMod val="50000"/>
                  <a:lumOff val="50000"/>
                </a:schemeClr>
              </a:solidFill>
            </a:endParaRPr>
          </a:p>
          <a:p>
            <a:r>
              <a:rPr lang="en-US" altLang="zh-CN" dirty="0">
                <a:solidFill>
                  <a:schemeClr val="tx1">
                    <a:lumMod val="50000"/>
                    <a:lumOff val="50000"/>
                  </a:schemeClr>
                </a:solidFill>
              </a:rPr>
              <a:t>//                                </a:t>
            </a:r>
            <a:r>
              <a:rPr lang="en-US" altLang="zh-CN" dirty="0" err="1">
                <a:solidFill>
                  <a:schemeClr val="tx1">
                    <a:lumMod val="50000"/>
                    <a:lumOff val="50000"/>
                  </a:schemeClr>
                </a:solidFill>
              </a:rPr>
              <a:t>len</a:t>
            </a:r>
            <a:r>
              <a:rPr lang="en-US" altLang="zh-CN" dirty="0">
                <a:solidFill>
                  <a:schemeClr val="tx1">
                    <a:lumMod val="50000"/>
                    <a:lumOff val="50000"/>
                  </a:schemeClr>
                </a:solidFill>
              </a:rPr>
              <a:t> += </a:t>
            </a:r>
            <a:r>
              <a:rPr lang="en-US" altLang="zh-CN" dirty="0" err="1">
                <a:solidFill>
                  <a:schemeClr val="tx1">
                    <a:lumMod val="50000"/>
                    <a:lumOff val="50000"/>
                  </a:schemeClr>
                </a:solidFill>
              </a:rPr>
              <a:t>modrm_r_rm</a:t>
            </a:r>
            <a:r>
              <a:rPr lang="en-US" altLang="zh-CN" dirty="0">
                <a:solidFill>
                  <a:schemeClr val="tx1">
                    <a:lumMod val="50000"/>
                    <a:lumOff val="50000"/>
                  </a:schemeClr>
                </a:solidFill>
              </a:rPr>
              <a:t>(</a:t>
            </a:r>
            <a:r>
              <a:rPr lang="en-US" altLang="zh-CN" dirty="0" err="1">
                <a:solidFill>
                  <a:schemeClr val="tx1">
                    <a:lumMod val="50000"/>
                    <a:lumOff val="50000"/>
                  </a:schemeClr>
                </a:solidFill>
              </a:rPr>
              <a:t>eip</a:t>
            </a:r>
            <a:r>
              <a:rPr lang="en-US" altLang="zh-CN" dirty="0">
                <a:solidFill>
                  <a:schemeClr val="tx1">
                    <a:lumMod val="50000"/>
                    <a:lumOff val="50000"/>
                  </a:schemeClr>
                </a:solidFill>
              </a:rPr>
              <a:t> + 1, &amp;</a:t>
            </a:r>
            <a:r>
              <a:rPr lang="en-US" altLang="zh-CN" dirty="0" err="1">
                <a:solidFill>
                  <a:schemeClr val="tx1">
                    <a:lumMod val="50000"/>
                    <a:lumOff val="50000"/>
                  </a:schemeClr>
                </a:solidFill>
              </a:rPr>
              <a:t>opr_src</a:t>
            </a:r>
            <a:r>
              <a:rPr lang="en-US" altLang="zh-CN" dirty="0">
                <a:solidFill>
                  <a:schemeClr val="tx1">
                    <a:lumMod val="50000"/>
                    <a:lumOff val="50000"/>
                  </a:schemeClr>
                </a:solidFill>
              </a:rPr>
              <a:t>, &amp;</a:t>
            </a:r>
            <a:r>
              <a:rPr lang="en-US" altLang="zh-CN" dirty="0" err="1">
                <a:solidFill>
                  <a:schemeClr val="tx1">
                    <a:lumMod val="50000"/>
                    <a:lumOff val="50000"/>
                  </a:schemeClr>
                </a:solidFill>
              </a:rPr>
              <a:t>opr_dest</a:t>
            </a:r>
            <a:r>
              <a:rPr lang="en-US" altLang="zh-CN" dirty="0">
                <a:solidFill>
                  <a:schemeClr val="tx1">
                    <a:lumMod val="50000"/>
                    <a:lumOff val="50000"/>
                  </a:schemeClr>
                </a:solidFill>
              </a:rPr>
              <a:t>);</a:t>
            </a:r>
            <a:endParaRPr lang="zh-CN" altLang="en-US" dirty="0">
              <a:solidFill>
                <a:schemeClr val="tx1">
                  <a:lumMod val="50000"/>
                  <a:lumOff val="50000"/>
                </a:schemeClr>
              </a:solidFill>
            </a:endParaRPr>
          </a:p>
          <a:p>
            <a:r>
              <a:rPr lang="zh-CN" altLang="en-US"/>
              <a:t>		print</a:t>
            </a:r>
            <a:r>
              <a:rPr lang="zh-CN" altLang="en-US" dirty="0"/>
              <a:t>_asm_2(</a:t>
            </a:r>
            <a:r>
              <a:rPr lang="en-US" altLang="zh-CN" dirty="0"/>
              <a:t>…</a:t>
            </a:r>
            <a:r>
              <a:rPr lang="zh-CN" altLang="en-US" dirty="0"/>
              <a:t>); \  </a:t>
            </a:r>
            <a:r>
              <a:rPr lang="en-US" altLang="zh-CN" dirty="0">
                <a:solidFill>
                  <a:srgbClr val="C00000"/>
                </a:solidFill>
              </a:rPr>
              <a:t>// </a:t>
            </a:r>
            <a:r>
              <a:rPr lang="zh-CN" altLang="en-US" dirty="0">
                <a:solidFill>
                  <a:srgbClr val="C00000"/>
                </a:solidFill>
              </a:rPr>
              <a:t>单步执行打印调试信息，不变</a:t>
            </a:r>
            <a:endParaRPr lang="zh-CN" altLang="en-US" dirty="0">
              <a:solidFill>
                <a:srgbClr val="C00000"/>
              </a:solidFill>
            </a:endParaRPr>
          </a:p>
          <a:p>
            <a:r>
              <a:rPr lang="zh-CN" altLang="en-US"/>
              <a:t>		instr</a:t>
            </a:r>
            <a:r>
              <a:rPr lang="zh-CN" altLang="en-US" dirty="0"/>
              <a:t>_execute_2op(); \</a:t>
            </a:r>
            <a:endParaRPr lang="zh-CN" altLang="en-US" dirty="0"/>
          </a:p>
          <a:p>
            <a:r>
              <a:rPr lang="zh-CN" altLang="en-US"/>
              <a:t>		return </a:t>
            </a:r>
            <a:r>
              <a:rPr lang="zh-CN" altLang="en-US" dirty="0"/>
              <a:t>len; \</a:t>
            </a:r>
            <a:endParaRPr lang="zh-CN" altLang="en-US" dirty="0"/>
          </a:p>
          <a:p>
            <a:r>
              <a:rPr lang="zh-CN" altLang="en-US"/>
              <a:t>	}</a:t>
            </a:r>
            <a:endParaRPr lang="zh-CN" altLang="en-US" dirty="0"/>
          </a:p>
        </p:txBody>
      </p:sp>
      <p:sp>
        <p:nvSpPr>
          <p:cNvPr id="8" name="文本框 7"/>
          <p:cNvSpPr txBox="1"/>
          <p:nvPr/>
        </p:nvSpPr>
        <p:spPr>
          <a:xfrm>
            <a:off x="5330825" y="4836342"/>
            <a:ext cx="5918200" cy="523220"/>
          </a:xfrm>
          <a:prstGeom prst="rect">
            <a:avLst/>
          </a:prstGeom>
          <a:noFill/>
        </p:spPr>
        <p:txBody>
          <a:bodyPr wrap="square" rtlCol="0">
            <a:spAutoFit/>
          </a:bodyPr>
          <a:lstStyle/>
          <a:p>
            <a:r>
              <a:rPr lang="en-US" altLang="zh-CN" sz="2800" i="1" dirty="0" err="1">
                <a:solidFill>
                  <a:srgbClr val="0070C0"/>
                </a:solidFill>
              </a:rPr>
              <a:t>nemu</a:t>
            </a:r>
            <a:r>
              <a:rPr lang="en-US" altLang="zh-CN" sz="2800" i="1" dirty="0">
                <a:solidFill>
                  <a:srgbClr val="0070C0"/>
                </a:solidFill>
              </a:rPr>
              <a:t>/include/</a:t>
            </a:r>
            <a:r>
              <a:rPr lang="en-US" altLang="zh-CN" sz="2800" i="1" dirty="0" err="1">
                <a:solidFill>
                  <a:srgbClr val="0070C0"/>
                </a:solidFill>
              </a:rPr>
              <a:t>cpu</a:t>
            </a:r>
            <a:r>
              <a:rPr lang="en-US" altLang="zh-CN" sz="2800" i="1" dirty="0">
                <a:solidFill>
                  <a:srgbClr val="0070C0"/>
                </a:solidFill>
              </a:rPr>
              <a:t>/</a:t>
            </a:r>
            <a:r>
              <a:rPr lang="en-US" altLang="zh-CN" sz="2800" i="1" dirty="0" err="1">
                <a:solidFill>
                  <a:srgbClr val="0070C0"/>
                </a:solidFill>
              </a:rPr>
              <a:t>instr_helper.h</a:t>
            </a:r>
            <a:endParaRPr lang="zh-CN" altLang="en-US" sz="2800" i="1" dirty="0">
              <a:solidFill>
                <a:srgbClr val="0070C0"/>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644650" y="2174075"/>
            <a:ext cx="4648200" cy="4470455"/>
          </a:xfrm>
          <a:prstGeom prst="rect">
            <a:avLst/>
          </a:prstGeom>
          <a:ln>
            <a:solidFill>
              <a:schemeClr val="tx1"/>
            </a:solidFill>
            <a:prstDash val="dash"/>
          </a:ln>
        </p:spPr>
        <p:txBody>
          <a:bodyPr wrap="square">
            <a:spAutoFit/>
          </a:bodyPr>
          <a:lstStyle/>
          <a:p>
            <a:pPr marL="228600" algn="just">
              <a:spcBef>
                <a:spcPts val="250"/>
              </a:spcBef>
            </a:pPr>
            <a:r>
              <a:rPr lang="en-US" altLang="zh-CN" kern="100" dirty="0" err="1">
                <a:latin typeface="等线" panose="02010600030101010101" charset="-122"/>
                <a:cs typeface="Times New Roman" panose="02020603050405020304" pitchFamily="18" charset="0"/>
              </a:rPr>
              <a:t>make_instr_func</a:t>
            </a:r>
            <a:r>
              <a:rPr lang="en-US" altLang="zh-CN" kern="100" dirty="0">
                <a:latin typeface="等线" panose="02010600030101010101" charset="-122"/>
                <a:cs typeface="Times New Roman" panose="02020603050405020304" pitchFamily="18" charset="0"/>
              </a:rPr>
              <a:t>(mov_r2rm_v) {</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OPERAND r, </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zh-CN" kern="100" dirty="0">
                <a:solidFill>
                  <a:srgbClr val="00B050"/>
                </a:solidFill>
                <a:latin typeface="等线" panose="02010600030101010101" charset="-122"/>
                <a:cs typeface="Times New Roman" panose="02020603050405020304" pitchFamily="18" charset="0"/>
              </a:rPr>
              <a:t>指定操作数长度</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rm.data_size</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r.data_size</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data_size</a:t>
            </a:r>
            <a:r>
              <a:rPr lang="en-US" altLang="zh-CN" kern="100" dirty="0">
                <a:latin typeface="等线" panose="02010600030101010101" charset="-122"/>
                <a:cs typeface="Times New Roman" panose="02020603050405020304" pitchFamily="18" charset="0"/>
              </a:rPr>
              <a:t>;  </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int</a:t>
            </a: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 = 1;</a:t>
            </a:r>
            <a:endParaRPr lang="en-US"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zh-CN" kern="100" dirty="0">
                <a:solidFill>
                  <a:srgbClr val="00B050"/>
                </a:solidFill>
                <a:latin typeface="等线" panose="02010600030101010101" charset="-122"/>
                <a:cs typeface="Times New Roman" panose="02020603050405020304" pitchFamily="18" charset="0"/>
              </a:rPr>
              <a:t>操作数寻址</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modrm_r_rm</a:t>
            </a:r>
            <a:r>
              <a:rPr lang="en-US" altLang="zh-CN" kern="100" dirty="0">
                <a:latin typeface="等线" panose="02010600030101010101" charset="-122"/>
                <a:cs typeface="Times New Roman" panose="02020603050405020304" pitchFamily="18" charset="0"/>
              </a:rPr>
              <a:t>(</a:t>
            </a:r>
            <a:r>
              <a:rPr lang="en-US" altLang="zh-CN" kern="100" dirty="0" err="1">
                <a:latin typeface="等线" panose="02010600030101010101" charset="-122"/>
                <a:cs typeface="Times New Roman" panose="02020603050405020304" pitchFamily="18" charset="0"/>
              </a:rPr>
              <a:t>eip</a:t>
            </a:r>
            <a:r>
              <a:rPr lang="en-US" altLang="zh-CN" kern="100" dirty="0">
                <a:latin typeface="等线" panose="02010600030101010101" charset="-122"/>
                <a:cs typeface="Times New Roman" panose="02020603050405020304" pitchFamily="18" charset="0"/>
              </a:rPr>
              <a:t> + 1, &amp;r, &amp;</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 </a:t>
            </a:r>
            <a:endParaRPr lang="en-US"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en-US" kern="100" dirty="0">
                <a:solidFill>
                  <a:srgbClr val="00B050"/>
                </a:solidFill>
                <a:latin typeface="等线" panose="02010600030101010101" charset="-122"/>
                <a:cs typeface="Times New Roman" panose="02020603050405020304" pitchFamily="18" charset="0"/>
              </a:rPr>
              <a:t>执行</a:t>
            </a:r>
            <a:r>
              <a:rPr lang="en-US" altLang="zh-CN" kern="100" dirty="0" err="1">
                <a:solidFill>
                  <a:srgbClr val="00B050"/>
                </a:solidFill>
                <a:latin typeface="等线" panose="02010600030101010101" charset="-122"/>
                <a:cs typeface="Times New Roman" panose="02020603050405020304" pitchFamily="18" charset="0"/>
              </a:rPr>
              <a:t>mov</a:t>
            </a:r>
            <a:r>
              <a:rPr lang="zh-CN" altLang="en-US" kern="100" dirty="0">
                <a:solidFill>
                  <a:srgbClr val="00B050"/>
                </a:solidFill>
                <a:latin typeface="等线" panose="02010600030101010101" charset="-122"/>
                <a:cs typeface="Times New Roman" panose="02020603050405020304" pitchFamily="18" charset="0"/>
              </a:rPr>
              <a:t>操作</a:t>
            </a:r>
            <a:r>
              <a:rPr lang="en-US" altLang="zh-CN" kern="100" dirty="0">
                <a:solidFill>
                  <a:srgbClr val="00B050"/>
                </a:solidFill>
                <a:latin typeface="等线" panose="02010600030101010101" charset="-122"/>
                <a:cs typeface="Times New Roman" panose="02020603050405020304" pitchFamily="18" charset="0"/>
              </a:rPr>
              <a:t> </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operand_read</a:t>
            </a:r>
            <a:r>
              <a:rPr lang="en-US" altLang="zh-CN" kern="100" dirty="0">
                <a:latin typeface="等线" panose="02010600030101010101" charset="-122"/>
                <a:cs typeface="Times New Roman" panose="02020603050405020304" pitchFamily="18" charset="0"/>
              </a:rPr>
              <a:t>(&amp;r);</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rm.val</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r.val</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operand_write</a:t>
            </a:r>
            <a:r>
              <a:rPr lang="en-US" altLang="zh-CN" kern="100" dirty="0">
                <a:latin typeface="等线" panose="02010600030101010101" charset="-122"/>
                <a:cs typeface="Times New Roman" panose="02020603050405020304" pitchFamily="18" charset="0"/>
              </a:rPr>
              <a:t>(&amp;</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en-US" kern="100" dirty="0">
                <a:solidFill>
                  <a:srgbClr val="00B050"/>
                </a:solidFill>
                <a:latin typeface="等线" panose="02010600030101010101" charset="-122"/>
                <a:cs typeface="Times New Roman" panose="02020603050405020304" pitchFamily="18" charset="0"/>
              </a:rPr>
              <a:t>返回操作数长度</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return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p:txBody>
      </p:sp>
      <p:sp>
        <p:nvSpPr>
          <p:cNvPr id="5" name="矩形 4"/>
          <p:cNvSpPr/>
          <p:nvPr/>
        </p:nvSpPr>
        <p:spPr>
          <a:xfrm>
            <a:off x="6604000" y="2174075"/>
            <a:ext cx="3879850" cy="2923877"/>
          </a:xfrm>
          <a:prstGeom prst="rect">
            <a:avLst/>
          </a:prstGeom>
          <a:ln>
            <a:solidFill>
              <a:schemeClr val="tx1"/>
            </a:solidFill>
            <a:prstDash val="dash"/>
          </a:ln>
        </p:spPr>
        <p:txBody>
          <a:bodyPr wrap="square">
            <a:spAutoFit/>
          </a:bodyPr>
          <a:lstStyle/>
          <a:p>
            <a:r>
              <a:rPr lang="zh-CN" altLang="en-US" dirty="0"/>
              <a:t>#include "cpu/instr.h"</a:t>
            </a:r>
            <a:endParaRPr lang="zh-CN" altLang="en-US" dirty="0"/>
          </a:p>
          <a:p>
            <a:endParaRPr lang="zh-CN" altLang="en-US" dirty="0"/>
          </a:p>
          <a:p>
            <a:r>
              <a:rPr lang="zh-CN" altLang="en-US" dirty="0"/>
              <a:t>static void instr_execute_2op() {</a:t>
            </a:r>
            <a:endParaRPr lang="zh-CN" altLang="en-US" dirty="0"/>
          </a:p>
          <a:p>
            <a:r>
              <a:rPr lang="zh-CN" altLang="en-US"/>
              <a:t>	operand</a:t>
            </a:r>
            <a:r>
              <a:rPr lang="zh-CN" altLang="en-US" dirty="0"/>
              <a:t>_read(&amp;opr_src);</a:t>
            </a:r>
            <a:endParaRPr lang="zh-CN" altLang="en-US" dirty="0"/>
          </a:p>
          <a:p>
            <a:r>
              <a:rPr lang="zh-CN" altLang="en-US"/>
              <a:t>	opr</a:t>
            </a:r>
            <a:r>
              <a:rPr lang="zh-CN" altLang="en-US" dirty="0"/>
              <a:t>_dest.val = opr_src.val;</a:t>
            </a:r>
            <a:endParaRPr lang="zh-CN" altLang="en-US" dirty="0"/>
          </a:p>
          <a:p>
            <a:r>
              <a:rPr lang="zh-CN" altLang="en-US"/>
              <a:t>	operand</a:t>
            </a:r>
            <a:r>
              <a:rPr lang="zh-CN" altLang="en-US" dirty="0"/>
              <a:t>_write(&amp;opr_dest);</a:t>
            </a:r>
            <a:endParaRPr lang="zh-CN" altLang="en-US" dirty="0"/>
          </a:p>
          <a:p>
            <a:r>
              <a:rPr lang="zh-CN" altLang="en-US" dirty="0"/>
              <a:t>}</a:t>
            </a:r>
            <a:endParaRPr lang="zh-CN" altLang="en-US" dirty="0"/>
          </a:p>
          <a:p>
            <a:endParaRPr lang="zh-CN" altLang="en-US" dirty="0"/>
          </a:p>
          <a:p>
            <a:r>
              <a:rPr lang="zh-CN" altLang="en-US" sz="2000" dirty="0">
                <a:solidFill>
                  <a:srgbClr val="C00000"/>
                </a:solidFill>
              </a:rPr>
              <a:t>make_instr_impl_2op(mov, r, rm, v)</a:t>
            </a:r>
            <a:endParaRPr lang="zh-CN" altLang="en-US" sz="2000" dirty="0">
              <a:solidFill>
                <a:srgbClr val="C00000"/>
              </a:solidFill>
            </a:endParaRPr>
          </a:p>
        </p:txBody>
      </p:sp>
      <p:sp>
        <p:nvSpPr>
          <p:cNvPr id="7" name="矩形 6"/>
          <p:cNvSpPr/>
          <p:nvPr/>
        </p:nvSpPr>
        <p:spPr>
          <a:xfrm>
            <a:off x="1600201" y="236702"/>
            <a:ext cx="8991599" cy="5139869"/>
          </a:xfrm>
          <a:prstGeom prst="rect">
            <a:avLst/>
          </a:prstGeom>
          <a:solidFill>
            <a:schemeClr val="bg2"/>
          </a:solidFill>
          <a:ln>
            <a:solidFill>
              <a:schemeClr val="tx1"/>
            </a:solidFill>
            <a:prstDash val="dash"/>
          </a:ln>
        </p:spPr>
        <p:txBody>
          <a:bodyPr wrap="square">
            <a:spAutoFit/>
          </a:bodyPr>
          <a:lstStyle/>
          <a:p>
            <a:r>
              <a:rPr lang="zh-CN" altLang="en-US" dirty="0"/>
              <a:t>// macro for generating the implementation of an instruction with two operands</a:t>
            </a:r>
            <a:endParaRPr lang="zh-CN" altLang="en-US" dirty="0"/>
          </a:p>
          <a:p>
            <a:r>
              <a:rPr lang="zh-CN" altLang="en-US" sz="2000" dirty="0"/>
              <a:t>#define make_instr_impl_2op(inst_name, src_type, dest_type, suffix) \</a:t>
            </a:r>
            <a:endParaRPr lang="en-US" altLang="zh-CN" sz="2000" dirty="0"/>
          </a:p>
          <a:p>
            <a:r>
              <a:rPr lang="en-US" altLang="zh-CN" sz="2000" dirty="0">
                <a:solidFill>
                  <a:schemeClr val="tx1">
                    <a:lumMod val="50000"/>
                    <a:lumOff val="50000"/>
                  </a:schemeClr>
                </a:solidFill>
              </a:rPr>
              <a:t>                // </a:t>
            </a:r>
            <a:r>
              <a:rPr lang="zh-CN" altLang="en-US" sz="2000" dirty="0">
                <a:solidFill>
                  <a:schemeClr val="tx1">
                    <a:lumMod val="50000"/>
                    <a:lumOff val="50000"/>
                  </a:schemeClr>
                </a:solidFill>
              </a:rPr>
              <a:t>等于 </a:t>
            </a:r>
            <a:r>
              <a:rPr lang="en-US" altLang="zh-CN" sz="2000" dirty="0">
                <a:solidFill>
                  <a:schemeClr val="tx1">
                    <a:lumMod val="50000"/>
                    <a:lumOff val="50000"/>
                  </a:schemeClr>
                </a:solidFill>
              </a:rPr>
              <a:t> </a:t>
            </a:r>
            <a:r>
              <a:rPr lang="zh-CN" altLang="en-US" sz="2000" dirty="0">
                <a:solidFill>
                  <a:schemeClr val="tx1">
                    <a:lumMod val="50000"/>
                    <a:lumOff val="50000"/>
                  </a:schemeClr>
                </a:solidFill>
              </a:rPr>
              <a:t>make_instr_impl_2op(mov, r, rm, v)</a:t>
            </a:r>
            <a:endParaRPr lang="zh-CN" altLang="en-US" sz="2000" dirty="0">
              <a:solidFill>
                <a:schemeClr val="tx1">
                  <a:lumMod val="50000"/>
                  <a:lumOff val="50000"/>
                </a:schemeClr>
              </a:solidFill>
            </a:endParaRPr>
          </a:p>
          <a:p>
            <a:r>
              <a:rPr lang="zh-CN" altLang="en-US"/>
              <a:t>	make</a:t>
            </a:r>
            <a:r>
              <a:rPr lang="zh-CN" altLang="en-US" dirty="0"/>
              <a:t>_instr_func(concat7(inst_name, _, src_type, 2, dest_type, _, suffix)) {\</a:t>
            </a:r>
            <a:endParaRPr lang="en-US" altLang="zh-CN" dirty="0"/>
          </a:p>
          <a:p>
            <a:r>
              <a:rPr lang="en-US" altLang="zh-CN"/>
              <a:t>	</a:t>
            </a:r>
            <a:r>
              <a:rPr lang="en-US" altLang="zh-CN">
                <a:solidFill>
                  <a:schemeClr val="tx1">
                    <a:lumMod val="50000"/>
                    <a:lumOff val="50000"/>
                  </a:schemeClr>
                </a:solidFill>
              </a:rPr>
              <a:t> </a:t>
            </a:r>
            <a:r>
              <a:rPr lang="en-US" altLang="zh-CN" dirty="0">
                <a:solidFill>
                  <a:schemeClr val="tx1">
                    <a:lumMod val="50000"/>
                    <a:lumOff val="50000"/>
                  </a:schemeClr>
                </a:solidFill>
              </a:rPr>
              <a:t>// </a:t>
            </a:r>
            <a:r>
              <a:rPr lang="zh-CN" altLang="en-US" dirty="0">
                <a:solidFill>
                  <a:schemeClr val="tx1">
                    <a:lumMod val="50000"/>
                    <a:lumOff val="50000"/>
                  </a:schemeClr>
                </a:solidFill>
              </a:rPr>
              <a:t>宏展开等于 </a:t>
            </a:r>
            <a:r>
              <a:rPr lang="en-US" altLang="zh-CN" dirty="0">
                <a:solidFill>
                  <a:schemeClr val="tx1">
                    <a:lumMod val="50000"/>
                    <a:lumOff val="50000"/>
                  </a:schemeClr>
                </a:solidFill>
              </a:rPr>
              <a:t> </a:t>
            </a:r>
            <a:r>
              <a:rPr lang="zh-CN" altLang="en-US" dirty="0">
                <a:solidFill>
                  <a:schemeClr val="tx1">
                    <a:lumMod val="50000"/>
                    <a:lumOff val="50000"/>
                  </a:schemeClr>
                </a:solidFill>
              </a:rPr>
              <a:t>make_instr_</a:t>
            </a:r>
            <a:r>
              <a:rPr lang="en-US" altLang="zh-CN" dirty="0" err="1">
                <a:solidFill>
                  <a:schemeClr val="tx1">
                    <a:lumMod val="50000"/>
                    <a:lumOff val="50000"/>
                  </a:schemeClr>
                </a:solidFill>
              </a:rPr>
              <a:t>func</a:t>
            </a:r>
            <a:r>
              <a:rPr lang="zh-CN" altLang="en-US" dirty="0">
                <a:solidFill>
                  <a:schemeClr val="tx1">
                    <a:lumMod val="50000"/>
                    <a:lumOff val="50000"/>
                  </a:schemeClr>
                </a:solidFill>
              </a:rPr>
              <a:t>(mov</a:t>
            </a:r>
            <a:r>
              <a:rPr lang="en-US" altLang="zh-CN" dirty="0">
                <a:solidFill>
                  <a:schemeClr val="tx1">
                    <a:lumMod val="50000"/>
                    <a:lumOff val="50000"/>
                  </a:schemeClr>
                </a:solidFill>
              </a:rPr>
              <a:t>_</a:t>
            </a:r>
            <a:r>
              <a:rPr lang="zh-CN" altLang="en-US" dirty="0">
                <a:solidFill>
                  <a:schemeClr val="tx1">
                    <a:lumMod val="50000"/>
                    <a:lumOff val="50000"/>
                  </a:schemeClr>
                </a:solidFill>
              </a:rPr>
              <a:t> r</a:t>
            </a:r>
            <a:r>
              <a:rPr lang="en-US" altLang="zh-CN" dirty="0">
                <a:solidFill>
                  <a:schemeClr val="tx1">
                    <a:lumMod val="50000"/>
                    <a:lumOff val="50000"/>
                  </a:schemeClr>
                </a:solidFill>
              </a:rPr>
              <a:t>2</a:t>
            </a:r>
            <a:r>
              <a:rPr lang="zh-CN" altLang="en-US" dirty="0">
                <a:solidFill>
                  <a:schemeClr val="tx1">
                    <a:lumMod val="50000"/>
                    <a:lumOff val="50000"/>
                  </a:schemeClr>
                </a:solidFill>
              </a:rPr>
              <a:t>rm</a:t>
            </a:r>
            <a:r>
              <a:rPr lang="en-US" altLang="zh-CN" dirty="0">
                <a:solidFill>
                  <a:schemeClr val="tx1">
                    <a:lumMod val="50000"/>
                    <a:lumOff val="50000"/>
                  </a:schemeClr>
                </a:solidFill>
              </a:rPr>
              <a:t>_</a:t>
            </a:r>
            <a:r>
              <a:rPr lang="zh-CN" altLang="en-US" dirty="0">
                <a:solidFill>
                  <a:schemeClr val="tx1">
                    <a:lumMod val="50000"/>
                    <a:lumOff val="50000"/>
                  </a:schemeClr>
                </a:solidFill>
              </a:rPr>
              <a:t>v) </a:t>
            </a:r>
            <a:r>
              <a:rPr lang="en-US" altLang="zh-CN" dirty="0">
                <a:solidFill>
                  <a:schemeClr val="tx1">
                    <a:lumMod val="50000"/>
                    <a:lumOff val="50000"/>
                  </a:schemeClr>
                </a:solidFill>
              </a:rPr>
              <a:t>{</a:t>
            </a:r>
            <a:endParaRPr lang="zh-CN" altLang="en-US" dirty="0">
              <a:solidFill>
                <a:schemeClr val="tx1">
                  <a:lumMod val="50000"/>
                  <a:lumOff val="50000"/>
                </a:schemeClr>
              </a:solidFill>
            </a:endParaRPr>
          </a:p>
          <a:p>
            <a:r>
              <a:rPr lang="zh-CN" altLang="en-US"/>
              <a:t>		int </a:t>
            </a:r>
            <a:r>
              <a:rPr lang="zh-CN" altLang="en-US" dirty="0"/>
              <a:t>len = 1; \ </a:t>
            </a:r>
            <a:r>
              <a:rPr lang="en-US" altLang="zh-CN" dirty="0">
                <a:solidFill>
                  <a:schemeClr val="tx1">
                    <a:lumMod val="50000"/>
                    <a:lumOff val="50000"/>
                  </a:schemeClr>
                </a:solidFill>
              </a:rPr>
              <a:t>// </a:t>
            </a:r>
            <a:r>
              <a:rPr lang="zh-CN" altLang="en-US" dirty="0">
                <a:solidFill>
                  <a:schemeClr val="tx1">
                    <a:lumMod val="50000"/>
                    <a:lumOff val="50000"/>
                  </a:schemeClr>
                </a:solidFill>
              </a:rPr>
              <a:t>不变</a:t>
            </a:r>
            <a:endParaRPr lang="zh-CN" altLang="en-US" dirty="0">
              <a:solidFill>
                <a:schemeClr val="tx1">
                  <a:lumMod val="50000"/>
                  <a:lumOff val="50000"/>
                </a:schemeClr>
              </a:solidFill>
            </a:endParaRPr>
          </a:p>
          <a:p>
            <a:r>
              <a:rPr lang="zh-CN" altLang="en-US"/>
              <a:t>		concat</a:t>
            </a:r>
            <a:r>
              <a:rPr lang="zh-CN" altLang="en-US" dirty="0"/>
              <a:t>(decode_data_size_, suffix) \</a:t>
            </a:r>
            <a:endParaRPr lang="en-US" altLang="zh-CN" dirty="0"/>
          </a:p>
          <a:p>
            <a:r>
              <a:rPr lang="en-US" altLang="zh-CN" dirty="0">
                <a:solidFill>
                  <a:schemeClr val="tx1">
                    <a:lumMod val="50000"/>
                    <a:lumOff val="50000"/>
                  </a:schemeClr>
                </a:solidFill>
              </a:rPr>
              <a:t>// </a:t>
            </a:r>
            <a:r>
              <a:rPr lang="zh-CN" altLang="en-US" dirty="0">
                <a:solidFill>
                  <a:schemeClr val="tx1">
                    <a:lumMod val="50000"/>
                    <a:lumOff val="50000"/>
                  </a:schemeClr>
                </a:solidFill>
              </a:rPr>
              <a:t>宏展开等于 </a:t>
            </a:r>
            <a:r>
              <a:rPr lang="en-US" altLang="zh-CN" dirty="0" err="1">
                <a:solidFill>
                  <a:schemeClr val="tx1">
                    <a:lumMod val="50000"/>
                    <a:lumOff val="50000"/>
                  </a:schemeClr>
                </a:solidFill>
              </a:rPr>
              <a:t>decode_data_size_v</a:t>
            </a:r>
            <a:endParaRPr lang="en-US" altLang="zh-CN" dirty="0">
              <a:solidFill>
                <a:schemeClr val="tx1">
                  <a:lumMod val="50000"/>
                  <a:lumOff val="50000"/>
                </a:schemeClr>
              </a:solidFill>
            </a:endParaRPr>
          </a:p>
          <a:p>
            <a:r>
              <a:rPr lang="en-US" altLang="zh-CN" dirty="0">
                <a:solidFill>
                  <a:schemeClr val="tx1">
                    <a:lumMod val="50000"/>
                    <a:lumOff val="50000"/>
                  </a:schemeClr>
                </a:solidFill>
              </a:rPr>
              <a:t>// </a:t>
            </a:r>
            <a:r>
              <a:rPr lang="zh-CN" altLang="en-US" dirty="0">
                <a:solidFill>
                  <a:schemeClr val="tx1">
                    <a:lumMod val="50000"/>
                    <a:lumOff val="50000"/>
                  </a:schemeClr>
                </a:solidFill>
              </a:rPr>
              <a:t>下方宏定义 </a:t>
            </a:r>
            <a:r>
              <a:rPr lang="en-US" altLang="zh-CN" dirty="0">
                <a:solidFill>
                  <a:schemeClr val="tx1">
                    <a:lumMod val="50000"/>
                    <a:lumOff val="50000"/>
                  </a:schemeClr>
                </a:solidFill>
              </a:rPr>
              <a:t>#define </a:t>
            </a:r>
            <a:r>
              <a:rPr lang="en-US" altLang="zh-CN" dirty="0" err="1">
                <a:solidFill>
                  <a:schemeClr val="tx1">
                    <a:lumMod val="50000"/>
                    <a:lumOff val="50000"/>
                  </a:schemeClr>
                </a:solidFill>
              </a:rPr>
              <a:t>decode_data_size_v</a:t>
            </a:r>
            <a:r>
              <a:rPr lang="en-US" altLang="zh-CN" dirty="0">
                <a:solidFill>
                  <a:schemeClr val="tx1">
                    <a:lumMod val="50000"/>
                    <a:lumOff val="50000"/>
                  </a:schemeClr>
                </a:solidFill>
              </a:rPr>
              <a:t> </a:t>
            </a:r>
            <a:r>
              <a:rPr lang="en-US" altLang="zh-CN" dirty="0" err="1">
                <a:solidFill>
                  <a:schemeClr val="tx1">
                    <a:lumMod val="50000"/>
                    <a:lumOff val="50000"/>
                  </a:schemeClr>
                </a:solidFill>
              </a:rPr>
              <a:t>opr_src.data_size</a:t>
            </a:r>
            <a:r>
              <a:rPr lang="en-US" altLang="zh-CN" dirty="0">
                <a:solidFill>
                  <a:schemeClr val="tx1">
                    <a:lumMod val="50000"/>
                    <a:lumOff val="50000"/>
                  </a:schemeClr>
                </a:solidFill>
              </a:rPr>
              <a:t> = </a:t>
            </a:r>
            <a:r>
              <a:rPr lang="en-US" altLang="zh-CN" dirty="0" err="1">
                <a:solidFill>
                  <a:schemeClr val="tx1">
                    <a:lumMod val="50000"/>
                    <a:lumOff val="50000"/>
                  </a:schemeClr>
                </a:solidFill>
              </a:rPr>
              <a:t>opr_dest.data_size</a:t>
            </a:r>
            <a:r>
              <a:rPr lang="en-US" altLang="zh-CN" dirty="0">
                <a:solidFill>
                  <a:schemeClr val="tx1">
                    <a:lumMod val="50000"/>
                    <a:lumOff val="50000"/>
                  </a:schemeClr>
                </a:solidFill>
              </a:rPr>
              <a:t> = </a:t>
            </a:r>
            <a:r>
              <a:rPr lang="en-US" altLang="zh-CN" dirty="0" err="1">
                <a:solidFill>
                  <a:schemeClr val="tx1">
                    <a:lumMod val="50000"/>
                    <a:lumOff val="50000"/>
                  </a:schemeClr>
                </a:solidFill>
              </a:rPr>
              <a:t>data_size</a:t>
            </a:r>
            <a:r>
              <a:rPr lang="en-US" altLang="zh-CN" dirty="0">
                <a:solidFill>
                  <a:schemeClr val="tx1">
                    <a:lumMod val="50000"/>
                    <a:lumOff val="50000"/>
                  </a:schemeClr>
                </a:solidFill>
              </a:rPr>
              <a:t>;</a:t>
            </a:r>
            <a:endParaRPr lang="zh-CN" altLang="en-US" dirty="0">
              <a:solidFill>
                <a:schemeClr val="tx1">
                  <a:lumMod val="50000"/>
                  <a:lumOff val="50000"/>
                </a:schemeClr>
              </a:solidFill>
            </a:endParaRPr>
          </a:p>
          <a:p>
            <a:r>
              <a:rPr lang="zh-CN" altLang="en-US"/>
              <a:t>		concat</a:t>
            </a:r>
            <a:r>
              <a:rPr lang="zh-CN" altLang="en-US" dirty="0"/>
              <a:t>3(decode_operand, _, concat3(src_type, 2, dest_type)) \</a:t>
            </a:r>
            <a:endParaRPr lang="en-US" altLang="zh-CN" dirty="0"/>
          </a:p>
          <a:p>
            <a:r>
              <a:rPr lang="en-US" altLang="zh-CN" dirty="0">
                <a:solidFill>
                  <a:schemeClr val="tx1">
                    <a:lumMod val="50000"/>
                    <a:lumOff val="50000"/>
                  </a:schemeClr>
                </a:solidFill>
              </a:rPr>
              <a:t>// </a:t>
            </a:r>
            <a:r>
              <a:rPr lang="zh-CN" altLang="en-US" dirty="0">
                <a:solidFill>
                  <a:schemeClr val="tx1">
                    <a:lumMod val="50000"/>
                    <a:lumOff val="50000"/>
                  </a:schemeClr>
                </a:solidFill>
              </a:rPr>
              <a:t>宏展开等于 </a:t>
            </a:r>
            <a:r>
              <a:rPr lang="en-US" altLang="zh-CN" dirty="0">
                <a:solidFill>
                  <a:schemeClr val="tx1">
                    <a:lumMod val="50000"/>
                    <a:lumOff val="50000"/>
                  </a:schemeClr>
                </a:solidFill>
              </a:rPr>
              <a:t>decode_operand_r2rm</a:t>
            </a:r>
            <a:endParaRPr lang="en-US" altLang="zh-CN" dirty="0">
              <a:solidFill>
                <a:schemeClr val="tx1">
                  <a:lumMod val="50000"/>
                  <a:lumOff val="50000"/>
                </a:schemeClr>
              </a:solidFill>
            </a:endParaRPr>
          </a:p>
          <a:p>
            <a:r>
              <a:rPr lang="en-US" altLang="zh-CN" dirty="0">
                <a:solidFill>
                  <a:schemeClr val="tx1">
                    <a:lumMod val="50000"/>
                    <a:lumOff val="50000"/>
                  </a:schemeClr>
                </a:solidFill>
              </a:rPr>
              <a:t>// </a:t>
            </a:r>
            <a:r>
              <a:rPr lang="zh-CN" altLang="en-US" dirty="0">
                <a:solidFill>
                  <a:schemeClr val="tx1">
                    <a:lumMod val="50000"/>
                    <a:lumOff val="50000"/>
                  </a:schemeClr>
                </a:solidFill>
              </a:rPr>
              <a:t>下方宏定义 </a:t>
            </a:r>
            <a:r>
              <a:rPr lang="en-US" altLang="zh-CN" dirty="0">
                <a:solidFill>
                  <a:schemeClr val="tx1">
                    <a:lumMod val="50000"/>
                    <a:lumOff val="50000"/>
                  </a:schemeClr>
                </a:solidFill>
              </a:rPr>
              <a:t>#define decode_operand_r2rm \</a:t>
            </a:r>
            <a:endParaRPr lang="en-US" altLang="zh-CN" dirty="0">
              <a:solidFill>
                <a:schemeClr val="tx1">
                  <a:lumMod val="50000"/>
                  <a:lumOff val="50000"/>
                </a:schemeClr>
              </a:solidFill>
            </a:endParaRPr>
          </a:p>
          <a:p>
            <a:r>
              <a:rPr lang="en-US" altLang="zh-CN" dirty="0">
                <a:solidFill>
                  <a:schemeClr val="tx1">
                    <a:lumMod val="50000"/>
                    <a:lumOff val="50000"/>
                  </a:schemeClr>
                </a:solidFill>
              </a:rPr>
              <a:t>//                                </a:t>
            </a:r>
            <a:r>
              <a:rPr lang="en-US" altLang="zh-CN" dirty="0" err="1">
                <a:solidFill>
                  <a:schemeClr val="tx1">
                    <a:lumMod val="50000"/>
                    <a:lumOff val="50000"/>
                  </a:schemeClr>
                </a:solidFill>
              </a:rPr>
              <a:t>len</a:t>
            </a:r>
            <a:r>
              <a:rPr lang="en-US" altLang="zh-CN" dirty="0">
                <a:solidFill>
                  <a:schemeClr val="tx1">
                    <a:lumMod val="50000"/>
                    <a:lumOff val="50000"/>
                  </a:schemeClr>
                </a:solidFill>
              </a:rPr>
              <a:t> += </a:t>
            </a:r>
            <a:r>
              <a:rPr lang="en-US" altLang="zh-CN" dirty="0" err="1">
                <a:solidFill>
                  <a:schemeClr val="tx1">
                    <a:lumMod val="50000"/>
                    <a:lumOff val="50000"/>
                  </a:schemeClr>
                </a:solidFill>
              </a:rPr>
              <a:t>modrm_r_rm</a:t>
            </a:r>
            <a:r>
              <a:rPr lang="en-US" altLang="zh-CN" dirty="0">
                <a:solidFill>
                  <a:schemeClr val="tx1">
                    <a:lumMod val="50000"/>
                    <a:lumOff val="50000"/>
                  </a:schemeClr>
                </a:solidFill>
              </a:rPr>
              <a:t>(</a:t>
            </a:r>
            <a:r>
              <a:rPr lang="en-US" altLang="zh-CN" dirty="0" err="1">
                <a:solidFill>
                  <a:schemeClr val="tx1">
                    <a:lumMod val="50000"/>
                    <a:lumOff val="50000"/>
                  </a:schemeClr>
                </a:solidFill>
              </a:rPr>
              <a:t>eip</a:t>
            </a:r>
            <a:r>
              <a:rPr lang="en-US" altLang="zh-CN" dirty="0">
                <a:solidFill>
                  <a:schemeClr val="tx1">
                    <a:lumMod val="50000"/>
                    <a:lumOff val="50000"/>
                  </a:schemeClr>
                </a:solidFill>
              </a:rPr>
              <a:t> + 1, &amp;</a:t>
            </a:r>
            <a:r>
              <a:rPr lang="en-US" altLang="zh-CN" dirty="0" err="1">
                <a:solidFill>
                  <a:schemeClr val="tx1">
                    <a:lumMod val="50000"/>
                    <a:lumOff val="50000"/>
                  </a:schemeClr>
                </a:solidFill>
              </a:rPr>
              <a:t>opr_src</a:t>
            </a:r>
            <a:r>
              <a:rPr lang="en-US" altLang="zh-CN" dirty="0">
                <a:solidFill>
                  <a:schemeClr val="tx1">
                    <a:lumMod val="50000"/>
                    <a:lumOff val="50000"/>
                  </a:schemeClr>
                </a:solidFill>
              </a:rPr>
              <a:t>, &amp;</a:t>
            </a:r>
            <a:r>
              <a:rPr lang="en-US" altLang="zh-CN" dirty="0" err="1">
                <a:solidFill>
                  <a:schemeClr val="tx1">
                    <a:lumMod val="50000"/>
                    <a:lumOff val="50000"/>
                  </a:schemeClr>
                </a:solidFill>
              </a:rPr>
              <a:t>opr_dest</a:t>
            </a:r>
            <a:r>
              <a:rPr lang="en-US" altLang="zh-CN" dirty="0">
                <a:solidFill>
                  <a:schemeClr val="tx1">
                    <a:lumMod val="50000"/>
                    <a:lumOff val="50000"/>
                  </a:schemeClr>
                </a:solidFill>
              </a:rPr>
              <a:t>);</a:t>
            </a:r>
            <a:endParaRPr lang="zh-CN" altLang="en-US" dirty="0">
              <a:solidFill>
                <a:schemeClr val="tx1">
                  <a:lumMod val="50000"/>
                  <a:lumOff val="50000"/>
                </a:schemeClr>
              </a:solidFill>
            </a:endParaRPr>
          </a:p>
          <a:p>
            <a:r>
              <a:rPr lang="zh-CN" altLang="en-US"/>
              <a:t>		print</a:t>
            </a:r>
            <a:r>
              <a:rPr lang="zh-CN" altLang="en-US" dirty="0"/>
              <a:t>_asm_2(</a:t>
            </a:r>
            <a:r>
              <a:rPr lang="en-US" altLang="zh-CN" dirty="0"/>
              <a:t>…</a:t>
            </a:r>
            <a:r>
              <a:rPr lang="zh-CN" altLang="en-US" dirty="0"/>
              <a:t>); \  </a:t>
            </a:r>
            <a:r>
              <a:rPr lang="en-US" altLang="zh-CN" dirty="0">
                <a:solidFill>
                  <a:schemeClr val="tx1">
                    <a:lumMod val="50000"/>
                    <a:lumOff val="50000"/>
                  </a:schemeClr>
                </a:solidFill>
              </a:rPr>
              <a:t>// </a:t>
            </a:r>
            <a:r>
              <a:rPr lang="zh-CN" altLang="en-US" dirty="0">
                <a:solidFill>
                  <a:schemeClr val="tx1">
                    <a:lumMod val="50000"/>
                    <a:lumOff val="50000"/>
                  </a:schemeClr>
                </a:solidFill>
              </a:rPr>
              <a:t>单步执行打印调试信息，不变</a:t>
            </a:r>
            <a:endParaRPr lang="zh-CN" altLang="en-US" dirty="0">
              <a:solidFill>
                <a:schemeClr val="tx1">
                  <a:lumMod val="50000"/>
                  <a:lumOff val="50000"/>
                </a:schemeClr>
              </a:solidFill>
            </a:endParaRPr>
          </a:p>
          <a:p>
            <a:r>
              <a:rPr lang="zh-CN" altLang="en-US"/>
              <a:t>		</a:t>
            </a:r>
            <a:r>
              <a:rPr lang="zh-CN" altLang="en-US">
                <a:solidFill>
                  <a:srgbClr val="C00000"/>
                </a:solidFill>
              </a:rPr>
              <a:t>instr</a:t>
            </a:r>
            <a:r>
              <a:rPr lang="zh-CN" altLang="en-US" dirty="0">
                <a:solidFill>
                  <a:srgbClr val="C00000"/>
                </a:solidFill>
              </a:rPr>
              <a:t>_execute_2op(); \  </a:t>
            </a:r>
            <a:r>
              <a:rPr lang="en-US" altLang="zh-CN" dirty="0">
                <a:solidFill>
                  <a:srgbClr val="C00000"/>
                </a:solidFill>
              </a:rPr>
              <a:t>//</a:t>
            </a:r>
            <a:r>
              <a:rPr lang="zh-CN" altLang="en-US" dirty="0">
                <a:solidFill>
                  <a:srgbClr val="C00000"/>
                </a:solidFill>
              </a:rPr>
              <a:t>调用执行函数</a:t>
            </a:r>
            <a:endParaRPr lang="zh-CN" altLang="en-US" dirty="0">
              <a:solidFill>
                <a:srgbClr val="C00000"/>
              </a:solidFill>
            </a:endParaRPr>
          </a:p>
          <a:p>
            <a:r>
              <a:rPr lang="zh-CN" altLang="en-US"/>
              <a:t>		return </a:t>
            </a:r>
            <a:r>
              <a:rPr lang="zh-CN" altLang="en-US" dirty="0"/>
              <a:t>len; \</a:t>
            </a:r>
            <a:endParaRPr lang="zh-CN" altLang="en-US" dirty="0"/>
          </a:p>
          <a:p>
            <a:r>
              <a:rPr lang="zh-CN" altLang="en-US"/>
              <a:t>	}</a:t>
            </a:r>
            <a:endParaRPr lang="zh-CN" altLang="en-US" dirty="0"/>
          </a:p>
        </p:txBody>
      </p:sp>
      <p:sp>
        <p:nvSpPr>
          <p:cNvPr id="8" name="文本框 7"/>
          <p:cNvSpPr txBox="1"/>
          <p:nvPr/>
        </p:nvSpPr>
        <p:spPr>
          <a:xfrm>
            <a:off x="5318125" y="4836342"/>
            <a:ext cx="5918200" cy="523220"/>
          </a:xfrm>
          <a:prstGeom prst="rect">
            <a:avLst/>
          </a:prstGeom>
          <a:noFill/>
        </p:spPr>
        <p:txBody>
          <a:bodyPr wrap="square" rtlCol="0">
            <a:spAutoFit/>
          </a:bodyPr>
          <a:lstStyle/>
          <a:p>
            <a:r>
              <a:rPr lang="en-US" altLang="zh-CN" sz="2800" i="1" dirty="0" err="1">
                <a:solidFill>
                  <a:srgbClr val="0070C0"/>
                </a:solidFill>
              </a:rPr>
              <a:t>nemu</a:t>
            </a:r>
            <a:r>
              <a:rPr lang="en-US" altLang="zh-CN" sz="2800" i="1" dirty="0">
                <a:solidFill>
                  <a:srgbClr val="0070C0"/>
                </a:solidFill>
              </a:rPr>
              <a:t>/include/</a:t>
            </a:r>
            <a:r>
              <a:rPr lang="en-US" altLang="zh-CN" sz="2800" i="1" dirty="0" err="1">
                <a:solidFill>
                  <a:srgbClr val="0070C0"/>
                </a:solidFill>
              </a:rPr>
              <a:t>cpu</a:t>
            </a:r>
            <a:r>
              <a:rPr lang="en-US" altLang="zh-CN" sz="2800" i="1" dirty="0">
                <a:solidFill>
                  <a:srgbClr val="0070C0"/>
                </a:solidFill>
              </a:rPr>
              <a:t>/</a:t>
            </a:r>
            <a:r>
              <a:rPr lang="en-US" altLang="zh-CN" sz="2800" i="1" dirty="0" err="1">
                <a:solidFill>
                  <a:srgbClr val="0070C0"/>
                </a:solidFill>
              </a:rPr>
              <a:t>instr_helper.h</a:t>
            </a:r>
            <a:endParaRPr lang="zh-CN" altLang="en-US" sz="2800" i="1" dirty="0">
              <a:solidFill>
                <a:srgbClr val="0070C0"/>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644650" y="2174075"/>
            <a:ext cx="4648200" cy="4470455"/>
          </a:xfrm>
          <a:prstGeom prst="rect">
            <a:avLst/>
          </a:prstGeom>
          <a:ln>
            <a:solidFill>
              <a:schemeClr val="tx1"/>
            </a:solidFill>
            <a:prstDash val="dash"/>
          </a:ln>
        </p:spPr>
        <p:txBody>
          <a:bodyPr wrap="square">
            <a:spAutoFit/>
          </a:bodyPr>
          <a:lstStyle/>
          <a:p>
            <a:pPr marL="228600" algn="just">
              <a:spcBef>
                <a:spcPts val="250"/>
              </a:spcBef>
            </a:pPr>
            <a:r>
              <a:rPr lang="en-US" altLang="zh-CN" kern="100" dirty="0" err="1">
                <a:latin typeface="等线" panose="02010600030101010101" charset="-122"/>
                <a:cs typeface="Times New Roman" panose="02020603050405020304" pitchFamily="18" charset="0"/>
              </a:rPr>
              <a:t>make_instr_func</a:t>
            </a:r>
            <a:r>
              <a:rPr lang="en-US" altLang="zh-CN" kern="100" dirty="0">
                <a:latin typeface="等线" panose="02010600030101010101" charset="-122"/>
                <a:cs typeface="Times New Roman" panose="02020603050405020304" pitchFamily="18" charset="0"/>
              </a:rPr>
              <a:t>(mov_r2rm_v) {</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OPERAND r, </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zh-CN" kern="100" dirty="0">
                <a:solidFill>
                  <a:srgbClr val="00B050"/>
                </a:solidFill>
                <a:latin typeface="等线" panose="02010600030101010101" charset="-122"/>
                <a:cs typeface="Times New Roman" panose="02020603050405020304" pitchFamily="18" charset="0"/>
              </a:rPr>
              <a:t>指定操作数长度</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rm.data_size</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r.data_size</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data_size</a:t>
            </a:r>
            <a:r>
              <a:rPr lang="en-US" altLang="zh-CN" kern="100" dirty="0">
                <a:latin typeface="等线" panose="02010600030101010101" charset="-122"/>
                <a:cs typeface="Times New Roman" panose="02020603050405020304" pitchFamily="18" charset="0"/>
              </a:rPr>
              <a:t>;  </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int</a:t>
            </a: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 = 1;</a:t>
            </a:r>
            <a:endParaRPr lang="en-US"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zh-CN" kern="100" dirty="0">
                <a:solidFill>
                  <a:srgbClr val="00B050"/>
                </a:solidFill>
                <a:latin typeface="等线" panose="02010600030101010101" charset="-122"/>
                <a:cs typeface="Times New Roman" panose="02020603050405020304" pitchFamily="18" charset="0"/>
              </a:rPr>
              <a:t>操作数寻址</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modrm_r_rm</a:t>
            </a:r>
            <a:r>
              <a:rPr lang="en-US" altLang="zh-CN" kern="100" dirty="0">
                <a:latin typeface="等线" panose="02010600030101010101" charset="-122"/>
                <a:cs typeface="Times New Roman" panose="02020603050405020304" pitchFamily="18" charset="0"/>
              </a:rPr>
              <a:t>(</a:t>
            </a:r>
            <a:r>
              <a:rPr lang="en-US" altLang="zh-CN" kern="100" dirty="0" err="1">
                <a:latin typeface="等线" panose="02010600030101010101" charset="-122"/>
                <a:cs typeface="Times New Roman" panose="02020603050405020304" pitchFamily="18" charset="0"/>
              </a:rPr>
              <a:t>eip</a:t>
            </a:r>
            <a:r>
              <a:rPr lang="en-US" altLang="zh-CN" kern="100" dirty="0">
                <a:latin typeface="等线" panose="02010600030101010101" charset="-122"/>
                <a:cs typeface="Times New Roman" panose="02020603050405020304" pitchFamily="18" charset="0"/>
              </a:rPr>
              <a:t> + 1, &amp;r, &amp;</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 </a:t>
            </a:r>
            <a:endParaRPr lang="en-US"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en-US" kern="100" dirty="0">
                <a:solidFill>
                  <a:srgbClr val="00B050"/>
                </a:solidFill>
                <a:latin typeface="等线" panose="02010600030101010101" charset="-122"/>
                <a:cs typeface="Times New Roman" panose="02020603050405020304" pitchFamily="18" charset="0"/>
              </a:rPr>
              <a:t>执行</a:t>
            </a:r>
            <a:r>
              <a:rPr lang="en-US" altLang="zh-CN" kern="100" dirty="0" err="1">
                <a:solidFill>
                  <a:srgbClr val="00B050"/>
                </a:solidFill>
                <a:latin typeface="等线" panose="02010600030101010101" charset="-122"/>
                <a:cs typeface="Times New Roman" panose="02020603050405020304" pitchFamily="18" charset="0"/>
              </a:rPr>
              <a:t>mov</a:t>
            </a:r>
            <a:r>
              <a:rPr lang="zh-CN" altLang="en-US" kern="100" dirty="0">
                <a:solidFill>
                  <a:srgbClr val="00B050"/>
                </a:solidFill>
                <a:latin typeface="等线" panose="02010600030101010101" charset="-122"/>
                <a:cs typeface="Times New Roman" panose="02020603050405020304" pitchFamily="18" charset="0"/>
              </a:rPr>
              <a:t>操作</a:t>
            </a:r>
            <a:r>
              <a:rPr lang="en-US" altLang="zh-CN" kern="100" dirty="0">
                <a:solidFill>
                  <a:srgbClr val="00B050"/>
                </a:solidFill>
                <a:latin typeface="等线" panose="02010600030101010101" charset="-122"/>
                <a:cs typeface="Times New Roman" panose="02020603050405020304" pitchFamily="18" charset="0"/>
              </a:rPr>
              <a:t> </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operand_read</a:t>
            </a:r>
            <a:r>
              <a:rPr lang="en-US" altLang="zh-CN" kern="100" dirty="0">
                <a:latin typeface="等线" panose="02010600030101010101" charset="-122"/>
                <a:cs typeface="Times New Roman" panose="02020603050405020304" pitchFamily="18" charset="0"/>
              </a:rPr>
              <a:t>(&amp;r);</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rm.val</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r.val</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operand_write</a:t>
            </a:r>
            <a:r>
              <a:rPr lang="en-US" altLang="zh-CN" kern="100" dirty="0">
                <a:latin typeface="等线" panose="02010600030101010101" charset="-122"/>
                <a:cs typeface="Times New Roman" panose="02020603050405020304" pitchFamily="18" charset="0"/>
              </a:rPr>
              <a:t>(&amp;</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en-US" kern="100" dirty="0">
                <a:solidFill>
                  <a:srgbClr val="00B050"/>
                </a:solidFill>
                <a:latin typeface="等线" panose="02010600030101010101" charset="-122"/>
                <a:cs typeface="Times New Roman" panose="02020603050405020304" pitchFamily="18" charset="0"/>
              </a:rPr>
              <a:t>返回操作数长度</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return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p:txBody>
      </p:sp>
      <p:sp>
        <p:nvSpPr>
          <p:cNvPr id="5" name="矩形 4"/>
          <p:cNvSpPr/>
          <p:nvPr/>
        </p:nvSpPr>
        <p:spPr>
          <a:xfrm>
            <a:off x="6604000" y="2174075"/>
            <a:ext cx="4191000" cy="2616101"/>
          </a:xfrm>
          <a:prstGeom prst="rect">
            <a:avLst/>
          </a:prstGeom>
          <a:ln>
            <a:solidFill>
              <a:schemeClr val="tx1"/>
            </a:solidFill>
            <a:prstDash val="dash"/>
          </a:ln>
        </p:spPr>
        <p:txBody>
          <a:bodyPr wrap="square">
            <a:spAutoFit/>
          </a:bodyPr>
          <a:lstStyle/>
          <a:p>
            <a:r>
              <a:rPr lang="zh-CN" altLang="en-US" dirty="0"/>
              <a:t>#include "cpu/instr.h"</a:t>
            </a:r>
            <a:endParaRPr lang="zh-CN" altLang="en-US" dirty="0"/>
          </a:p>
          <a:p>
            <a:endParaRPr lang="zh-CN" altLang="en-US" dirty="0"/>
          </a:p>
          <a:p>
            <a:r>
              <a:rPr lang="zh-CN" altLang="en-US" dirty="0">
                <a:solidFill>
                  <a:srgbClr val="C00000"/>
                </a:solidFill>
              </a:rPr>
              <a:t>static void instr_execute_2op() {</a:t>
            </a:r>
            <a:endParaRPr lang="zh-CN" altLang="en-US" dirty="0">
              <a:solidFill>
                <a:srgbClr val="C00000"/>
              </a:solidFill>
            </a:endParaRPr>
          </a:p>
          <a:p>
            <a:r>
              <a:rPr lang="zh-CN" altLang="en-US">
                <a:solidFill>
                  <a:srgbClr val="C00000"/>
                </a:solidFill>
              </a:rPr>
              <a:t>	operand</a:t>
            </a:r>
            <a:r>
              <a:rPr lang="zh-CN" altLang="en-US" dirty="0">
                <a:solidFill>
                  <a:srgbClr val="C00000"/>
                </a:solidFill>
              </a:rPr>
              <a:t>_read(&amp;opr_src);</a:t>
            </a:r>
            <a:endParaRPr lang="zh-CN" altLang="en-US" dirty="0">
              <a:solidFill>
                <a:srgbClr val="C00000"/>
              </a:solidFill>
            </a:endParaRPr>
          </a:p>
          <a:p>
            <a:r>
              <a:rPr lang="zh-CN" altLang="en-US">
                <a:solidFill>
                  <a:srgbClr val="C00000"/>
                </a:solidFill>
              </a:rPr>
              <a:t>	opr</a:t>
            </a:r>
            <a:r>
              <a:rPr lang="zh-CN" altLang="en-US" dirty="0">
                <a:solidFill>
                  <a:srgbClr val="C00000"/>
                </a:solidFill>
              </a:rPr>
              <a:t>_dest.val = opr_src.val;</a:t>
            </a:r>
            <a:endParaRPr lang="zh-CN" altLang="en-US" dirty="0">
              <a:solidFill>
                <a:srgbClr val="C00000"/>
              </a:solidFill>
            </a:endParaRPr>
          </a:p>
          <a:p>
            <a:r>
              <a:rPr lang="zh-CN" altLang="en-US">
                <a:solidFill>
                  <a:srgbClr val="C00000"/>
                </a:solidFill>
              </a:rPr>
              <a:t>	operand</a:t>
            </a:r>
            <a:r>
              <a:rPr lang="zh-CN" altLang="en-US" dirty="0">
                <a:solidFill>
                  <a:srgbClr val="C00000"/>
                </a:solidFill>
              </a:rPr>
              <a:t>_write(&amp;opr_dest);</a:t>
            </a:r>
            <a:endParaRPr lang="zh-CN" altLang="en-US" dirty="0">
              <a:solidFill>
                <a:srgbClr val="C00000"/>
              </a:solidFill>
            </a:endParaRPr>
          </a:p>
          <a:p>
            <a:r>
              <a:rPr lang="zh-CN" altLang="en-US" dirty="0">
                <a:solidFill>
                  <a:srgbClr val="C00000"/>
                </a:solidFill>
              </a:rPr>
              <a:t>}</a:t>
            </a:r>
            <a:endParaRPr lang="zh-CN" altLang="en-US" dirty="0">
              <a:solidFill>
                <a:srgbClr val="C00000"/>
              </a:solidFill>
            </a:endParaRPr>
          </a:p>
          <a:p>
            <a:endParaRPr lang="zh-CN" altLang="en-US" dirty="0"/>
          </a:p>
          <a:p>
            <a:r>
              <a:rPr lang="zh-CN" altLang="en-US" sz="2000" dirty="0">
                <a:solidFill>
                  <a:srgbClr val="C00000"/>
                </a:solidFill>
              </a:rPr>
              <a:t>make_instr_impl_2op(mov, r, rm, v)</a:t>
            </a:r>
            <a:endParaRPr lang="zh-CN" altLang="en-US" sz="2000" dirty="0">
              <a:solidFill>
                <a:srgbClr val="C00000"/>
              </a:solidFill>
            </a:endParaRPr>
          </a:p>
        </p:txBody>
      </p:sp>
      <p:sp>
        <p:nvSpPr>
          <p:cNvPr id="6" name="文本框 5"/>
          <p:cNvSpPr txBox="1"/>
          <p:nvPr/>
        </p:nvSpPr>
        <p:spPr>
          <a:xfrm>
            <a:off x="6496050" y="4895851"/>
            <a:ext cx="4502150" cy="523220"/>
          </a:xfrm>
          <a:prstGeom prst="rect">
            <a:avLst/>
          </a:prstGeom>
          <a:noFill/>
        </p:spPr>
        <p:txBody>
          <a:bodyPr wrap="square" rtlCol="0">
            <a:spAutoFit/>
          </a:bodyPr>
          <a:lstStyle/>
          <a:p>
            <a:r>
              <a:rPr lang="en-US" altLang="zh-CN" sz="2800" i="1" dirty="0" err="1">
                <a:solidFill>
                  <a:srgbClr val="0070C0"/>
                </a:solidFill>
              </a:rPr>
              <a:t>nemu</a:t>
            </a:r>
            <a:r>
              <a:rPr lang="en-US" altLang="zh-CN" sz="2800" i="1" dirty="0">
                <a:solidFill>
                  <a:srgbClr val="0070C0"/>
                </a:solidFill>
              </a:rPr>
              <a:t>/</a:t>
            </a:r>
            <a:r>
              <a:rPr lang="en-US" altLang="zh-CN" sz="2800" i="1" dirty="0" err="1">
                <a:solidFill>
                  <a:srgbClr val="0070C0"/>
                </a:solidFill>
              </a:rPr>
              <a:t>src</a:t>
            </a:r>
            <a:r>
              <a:rPr lang="en-US" altLang="zh-CN" sz="2800" i="1" dirty="0">
                <a:solidFill>
                  <a:srgbClr val="0070C0"/>
                </a:solidFill>
              </a:rPr>
              <a:t>/</a:t>
            </a:r>
            <a:r>
              <a:rPr lang="en-US" altLang="zh-CN" sz="2800" i="1" dirty="0" err="1">
                <a:solidFill>
                  <a:srgbClr val="0070C0"/>
                </a:solidFill>
              </a:rPr>
              <a:t>cpu</a:t>
            </a:r>
            <a:r>
              <a:rPr lang="en-US" altLang="zh-CN" sz="2800" i="1" dirty="0">
                <a:solidFill>
                  <a:srgbClr val="0070C0"/>
                </a:solidFill>
              </a:rPr>
              <a:t>/</a:t>
            </a:r>
            <a:r>
              <a:rPr lang="en-US" altLang="zh-CN" sz="2800" i="1" dirty="0" err="1">
                <a:solidFill>
                  <a:srgbClr val="0070C0"/>
                </a:solidFill>
              </a:rPr>
              <a:t>instr</a:t>
            </a:r>
            <a:r>
              <a:rPr lang="en-US" altLang="zh-CN" sz="2800" i="1" dirty="0">
                <a:solidFill>
                  <a:srgbClr val="0070C0"/>
                </a:solidFill>
              </a:rPr>
              <a:t>/</a:t>
            </a:r>
            <a:r>
              <a:rPr lang="en-US" altLang="zh-CN" sz="2800" i="1" dirty="0" err="1">
                <a:solidFill>
                  <a:srgbClr val="0070C0"/>
                </a:solidFill>
              </a:rPr>
              <a:t>mov.c</a:t>
            </a:r>
            <a:r>
              <a:rPr lang="en-US" altLang="zh-CN" sz="2800" i="1" dirty="0">
                <a:solidFill>
                  <a:srgbClr val="0070C0"/>
                </a:solidFill>
              </a:rPr>
              <a:t> </a:t>
            </a:r>
            <a:endParaRPr lang="zh-CN" altLang="en-US" sz="2800" i="1" dirty="0">
              <a:solidFill>
                <a:srgbClr val="0070C0"/>
              </a:solidFill>
            </a:endParaRPr>
          </a:p>
        </p:txBody>
      </p:sp>
      <p:sp>
        <p:nvSpPr>
          <p:cNvPr id="7" name="矩形 6"/>
          <p:cNvSpPr/>
          <p:nvPr/>
        </p:nvSpPr>
        <p:spPr>
          <a:xfrm>
            <a:off x="1600201" y="236702"/>
            <a:ext cx="4800599" cy="2616101"/>
          </a:xfrm>
          <a:prstGeom prst="rect">
            <a:avLst/>
          </a:prstGeom>
          <a:solidFill>
            <a:schemeClr val="bg2"/>
          </a:solidFill>
          <a:ln>
            <a:solidFill>
              <a:schemeClr val="tx1"/>
            </a:solidFill>
            <a:prstDash val="dash"/>
          </a:ln>
        </p:spPr>
        <p:txBody>
          <a:bodyPr wrap="square">
            <a:spAutoFit/>
          </a:bodyPr>
          <a:lstStyle/>
          <a:p>
            <a:r>
              <a:rPr lang="zh-CN" altLang="en-US" sz="900" dirty="0"/>
              <a:t>// macro for generating the implementation of an instruction with two operands</a:t>
            </a:r>
            <a:endParaRPr lang="zh-CN" altLang="en-US" sz="900" dirty="0"/>
          </a:p>
          <a:p>
            <a:r>
              <a:rPr lang="zh-CN" altLang="en-US" sz="1000" dirty="0"/>
              <a:t>#define make_instr_impl_2op(inst_name, src_type, dest_type, suffix) \</a:t>
            </a:r>
            <a:endParaRPr lang="en-US" altLang="zh-CN" sz="1000" dirty="0"/>
          </a:p>
          <a:p>
            <a:r>
              <a:rPr lang="en-US" altLang="zh-CN" sz="1000" dirty="0">
                <a:solidFill>
                  <a:schemeClr val="tx1">
                    <a:lumMod val="50000"/>
                    <a:lumOff val="50000"/>
                  </a:schemeClr>
                </a:solidFill>
              </a:rPr>
              <a:t>                // </a:t>
            </a:r>
            <a:r>
              <a:rPr lang="zh-CN" altLang="en-US" sz="1000" dirty="0">
                <a:solidFill>
                  <a:schemeClr val="tx1">
                    <a:lumMod val="50000"/>
                    <a:lumOff val="50000"/>
                  </a:schemeClr>
                </a:solidFill>
              </a:rPr>
              <a:t>等于 </a:t>
            </a:r>
            <a:r>
              <a:rPr lang="en-US" altLang="zh-CN" sz="1000" dirty="0">
                <a:solidFill>
                  <a:schemeClr val="tx1">
                    <a:lumMod val="50000"/>
                    <a:lumOff val="50000"/>
                  </a:schemeClr>
                </a:solidFill>
              </a:rPr>
              <a:t> </a:t>
            </a:r>
            <a:r>
              <a:rPr lang="zh-CN" altLang="en-US" sz="1000" dirty="0">
                <a:solidFill>
                  <a:schemeClr val="tx1">
                    <a:lumMod val="50000"/>
                    <a:lumOff val="50000"/>
                  </a:schemeClr>
                </a:solidFill>
              </a:rPr>
              <a:t>make_instr_impl_2op(mov, r, rm, v)</a:t>
            </a:r>
            <a:endParaRPr lang="zh-CN" altLang="en-US" sz="1000" dirty="0">
              <a:solidFill>
                <a:schemeClr val="tx1">
                  <a:lumMod val="50000"/>
                  <a:lumOff val="50000"/>
                </a:schemeClr>
              </a:solidFill>
            </a:endParaRPr>
          </a:p>
          <a:p>
            <a:r>
              <a:rPr lang="zh-CN" altLang="en-US" sz="900"/>
              <a:t>	make</a:t>
            </a:r>
            <a:r>
              <a:rPr lang="zh-CN" altLang="en-US" sz="900" dirty="0"/>
              <a:t>_instr_func(concat7(inst_name, _, src_type, 2, dest_type, _, suffix)) {\</a:t>
            </a:r>
            <a:endParaRPr lang="en-US" altLang="zh-CN" sz="900" dirty="0"/>
          </a:p>
          <a:p>
            <a:r>
              <a:rPr lang="en-US" altLang="zh-CN" sz="900"/>
              <a:t>	</a:t>
            </a:r>
            <a:r>
              <a:rPr lang="en-US" altLang="zh-CN" sz="900">
                <a:solidFill>
                  <a:schemeClr val="tx1">
                    <a:lumMod val="50000"/>
                    <a:lumOff val="50000"/>
                  </a:schemeClr>
                </a:solidFill>
              </a:rPr>
              <a:t> </a:t>
            </a:r>
            <a:r>
              <a:rPr lang="en-US" altLang="zh-CN" sz="900" dirty="0">
                <a:solidFill>
                  <a:schemeClr val="tx1">
                    <a:lumMod val="50000"/>
                    <a:lumOff val="50000"/>
                  </a:schemeClr>
                </a:solidFill>
              </a:rPr>
              <a:t>// </a:t>
            </a:r>
            <a:r>
              <a:rPr lang="zh-CN" altLang="en-US" sz="900" dirty="0">
                <a:solidFill>
                  <a:schemeClr val="tx1">
                    <a:lumMod val="50000"/>
                    <a:lumOff val="50000"/>
                  </a:schemeClr>
                </a:solidFill>
              </a:rPr>
              <a:t>宏展开等于 </a:t>
            </a:r>
            <a:r>
              <a:rPr lang="en-US" altLang="zh-CN" sz="900" dirty="0">
                <a:solidFill>
                  <a:schemeClr val="tx1">
                    <a:lumMod val="50000"/>
                    <a:lumOff val="50000"/>
                  </a:schemeClr>
                </a:solidFill>
              </a:rPr>
              <a:t> </a:t>
            </a:r>
            <a:r>
              <a:rPr lang="zh-CN" altLang="en-US" sz="900" dirty="0">
                <a:solidFill>
                  <a:schemeClr val="tx1">
                    <a:lumMod val="50000"/>
                    <a:lumOff val="50000"/>
                  </a:schemeClr>
                </a:solidFill>
              </a:rPr>
              <a:t>make_instr_</a:t>
            </a:r>
            <a:r>
              <a:rPr lang="en-US" altLang="zh-CN" sz="900" dirty="0" err="1">
                <a:solidFill>
                  <a:schemeClr val="tx1">
                    <a:lumMod val="50000"/>
                    <a:lumOff val="50000"/>
                  </a:schemeClr>
                </a:solidFill>
              </a:rPr>
              <a:t>func</a:t>
            </a:r>
            <a:r>
              <a:rPr lang="zh-CN" altLang="en-US" sz="900" dirty="0">
                <a:solidFill>
                  <a:schemeClr val="tx1">
                    <a:lumMod val="50000"/>
                    <a:lumOff val="50000"/>
                  </a:schemeClr>
                </a:solidFill>
              </a:rPr>
              <a:t>(mov</a:t>
            </a:r>
            <a:r>
              <a:rPr lang="en-US" altLang="zh-CN" sz="900" dirty="0">
                <a:solidFill>
                  <a:schemeClr val="tx1">
                    <a:lumMod val="50000"/>
                    <a:lumOff val="50000"/>
                  </a:schemeClr>
                </a:solidFill>
              </a:rPr>
              <a:t>_</a:t>
            </a:r>
            <a:r>
              <a:rPr lang="zh-CN" altLang="en-US" sz="900" dirty="0">
                <a:solidFill>
                  <a:schemeClr val="tx1">
                    <a:lumMod val="50000"/>
                    <a:lumOff val="50000"/>
                  </a:schemeClr>
                </a:solidFill>
              </a:rPr>
              <a:t> r</a:t>
            </a:r>
            <a:r>
              <a:rPr lang="en-US" altLang="zh-CN" sz="900" dirty="0">
                <a:solidFill>
                  <a:schemeClr val="tx1">
                    <a:lumMod val="50000"/>
                    <a:lumOff val="50000"/>
                  </a:schemeClr>
                </a:solidFill>
              </a:rPr>
              <a:t>2</a:t>
            </a:r>
            <a:r>
              <a:rPr lang="zh-CN" altLang="en-US" sz="900" dirty="0">
                <a:solidFill>
                  <a:schemeClr val="tx1">
                    <a:lumMod val="50000"/>
                    <a:lumOff val="50000"/>
                  </a:schemeClr>
                </a:solidFill>
              </a:rPr>
              <a:t>rm</a:t>
            </a:r>
            <a:r>
              <a:rPr lang="en-US" altLang="zh-CN" sz="900" dirty="0">
                <a:solidFill>
                  <a:schemeClr val="tx1">
                    <a:lumMod val="50000"/>
                    <a:lumOff val="50000"/>
                  </a:schemeClr>
                </a:solidFill>
              </a:rPr>
              <a:t>_</a:t>
            </a:r>
            <a:r>
              <a:rPr lang="zh-CN" altLang="en-US" sz="900" dirty="0">
                <a:solidFill>
                  <a:schemeClr val="tx1">
                    <a:lumMod val="50000"/>
                    <a:lumOff val="50000"/>
                  </a:schemeClr>
                </a:solidFill>
              </a:rPr>
              <a:t>v) </a:t>
            </a:r>
            <a:r>
              <a:rPr lang="en-US" altLang="zh-CN" sz="900" dirty="0">
                <a:solidFill>
                  <a:schemeClr val="tx1">
                    <a:lumMod val="50000"/>
                    <a:lumOff val="50000"/>
                  </a:schemeClr>
                </a:solidFill>
              </a:rPr>
              <a:t>{</a:t>
            </a:r>
            <a:endParaRPr lang="zh-CN" altLang="en-US" sz="900" dirty="0">
              <a:solidFill>
                <a:schemeClr val="tx1">
                  <a:lumMod val="50000"/>
                  <a:lumOff val="50000"/>
                </a:schemeClr>
              </a:solidFill>
            </a:endParaRPr>
          </a:p>
          <a:p>
            <a:r>
              <a:rPr lang="zh-CN" altLang="en-US" sz="900"/>
              <a:t>		int </a:t>
            </a:r>
            <a:r>
              <a:rPr lang="zh-CN" altLang="en-US" sz="900" dirty="0"/>
              <a:t>len = 1; \ </a:t>
            </a:r>
            <a:r>
              <a:rPr lang="en-US" altLang="zh-CN" sz="900" dirty="0">
                <a:solidFill>
                  <a:schemeClr val="tx1">
                    <a:lumMod val="50000"/>
                    <a:lumOff val="50000"/>
                  </a:schemeClr>
                </a:solidFill>
              </a:rPr>
              <a:t>// </a:t>
            </a:r>
            <a:r>
              <a:rPr lang="zh-CN" altLang="en-US" sz="900" dirty="0">
                <a:solidFill>
                  <a:schemeClr val="tx1">
                    <a:lumMod val="50000"/>
                    <a:lumOff val="50000"/>
                  </a:schemeClr>
                </a:solidFill>
              </a:rPr>
              <a:t>不变</a:t>
            </a:r>
            <a:endParaRPr lang="zh-CN" altLang="en-US" sz="900" dirty="0">
              <a:solidFill>
                <a:schemeClr val="tx1">
                  <a:lumMod val="50000"/>
                  <a:lumOff val="50000"/>
                </a:schemeClr>
              </a:solidFill>
            </a:endParaRPr>
          </a:p>
          <a:p>
            <a:r>
              <a:rPr lang="zh-CN" altLang="en-US" sz="900"/>
              <a:t>		concat</a:t>
            </a:r>
            <a:r>
              <a:rPr lang="zh-CN" altLang="en-US" sz="900" dirty="0"/>
              <a:t>(decode_data_size_, suffix) \</a:t>
            </a:r>
            <a:endParaRPr lang="en-US" altLang="zh-CN" sz="900" dirty="0"/>
          </a:p>
          <a:p>
            <a:r>
              <a:rPr lang="en-US" altLang="zh-CN" sz="900" dirty="0">
                <a:solidFill>
                  <a:schemeClr val="tx1">
                    <a:lumMod val="50000"/>
                    <a:lumOff val="50000"/>
                  </a:schemeClr>
                </a:solidFill>
              </a:rPr>
              <a:t>// </a:t>
            </a:r>
            <a:r>
              <a:rPr lang="zh-CN" altLang="en-US" sz="900" dirty="0">
                <a:solidFill>
                  <a:schemeClr val="tx1">
                    <a:lumMod val="50000"/>
                    <a:lumOff val="50000"/>
                  </a:schemeClr>
                </a:solidFill>
              </a:rPr>
              <a:t>宏展开等于 </a:t>
            </a:r>
            <a:r>
              <a:rPr lang="en-US" altLang="zh-CN" sz="900" dirty="0" err="1">
                <a:solidFill>
                  <a:schemeClr val="tx1">
                    <a:lumMod val="50000"/>
                    <a:lumOff val="50000"/>
                  </a:schemeClr>
                </a:solidFill>
              </a:rPr>
              <a:t>decode_data_size_v</a:t>
            </a:r>
            <a:endParaRPr lang="en-US" altLang="zh-CN" sz="900" dirty="0">
              <a:solidFill>
                <a:schemeClr val="tx1">
                  <a:lumMod val="50000"/>
                  <a:lumOff val="50000"/>
                </a:schemeClr>
              </a:solidFill>
            </a:endParaRPr>
          </a:p>
          <a:p>
            <a:r>
              <a:rPr lang="en-US" altLang="zh-CN" sz="900" dirty="0">
                <a:solidFill>
                  <a:schemeClr val="tx1">
                    <a:lumMod val="50000"/>
                    <a:lumOff val="50000"/>
                  </a:schemeClr>
                </a:solidFill>
              </a:rPr>
              <a:t>// </a:t>
            </a:r>
            <a:r>
              <a:rPr lang="zh-CN" altLang="en-US" sz="900" dirty="0">
                <a:solidFill>
                  <a:schemeClr val="tx1">
                    <a:lumMod val="50000"/>
                    <a:lumOff val="50000"/>
                  </a:schemeClr>
                </a:solidFill>
              </a:rPr>
              <a:t>下方宏定义 </a:t>
            </a:r>
            <a:r>
              <a:rPr lang="en-US" altLang="zh-CN" sz="900" dirty="0">
                <a:solidFill>
                  <a:schemeClr val="tx1">
                    <a:lumMod val="50000"/>
                    <a:lumOff val="50000"/>
                  </a:schemeClr>
                </a:solidFill>
              </a:rPr>
              <a:t>#define </a:t>
            </a:r>
            <a:r>
              <a:rPr lang="en-US" altLang="zh-CN" sz="900" dirty="0" err="1">
                <a:solidFill>
                  <a:schemeClr val="tx1">
                    <a:lumMod val="50000"/>
                    <a:lumOff val="50000"/>
                  </a:schemeClr>
                </a:solidFill>
              </a:rPr>
              <a:t>decode_data_size_v</a:t>
            </a:r>
            <a:r>
              <a:rPr lang="en-US" altLang="zh-CN" sz="900" dirty="0">
                <a:solidFill>
                  <a:schemeClr val="tx1">
                    <a:lumMod val="50000"/>
                    <a:lumOff val="50000"/>
                  </a:schemeClr>
                </a:solidFill>
              </a:rPr>
              <a:t> </a:t>
            </a:r>
            <a:r>
              <a:rPr lang="en-US" altLang="zh-CN" sz="900" dirty="0" err="1">
                <a:solidFill>
                  <a:schemeClr val="tx1">
                    <a:lumMod val="50000"/>
                    <a:lumOff val="50000"/>
                  </a:schemeClr>
                </a:solidFill>
              </a:rPr>
              <a:t>opr_src.data_size</a:t>
            </a:r>
            <a:r>
              <a:rPr lang="en-US" altLang="zh-CN" sz="900" dirty="0">
                <a:solidFill>
                  <a:schemeClr val="tx1">
                    <a:lumMod val="50000"/>
                    <a:lumOff val="50000"/>
                  </a:schemeClr>
                </a:solidFill>
              </a:rPr>
              <a:t> = </a:t>
            </a:r>
            <a:r>
              <a:rPr lang="en-US" altLang="zh-CN" sz="900" dirty="0" err="1">
                <a:solidFill>
                  <a:schemeClr val="tx1">
                    <a:lumMod val="50000"/>
                    <a:lumOff val="50000"/>
                  </a:schemeClr>
                </a:solidFill>
              </a:rPr>
              <a:t>opr_dest.data_size</a:t>
            </a:r>
            <a:r>
              <a:rPr lang="en-US" altLang="zh-CN" sz="900" dirty="0">
                <a:solidFill>
                  <a:schemeClr val="tx1">
                    <a:lumMod val="50000"/>
                    <a:lumOff val="50000"/>
                  </a:schemeClr>
                </a:solidFill>
              </a:rPr>
              <a:t> = </a:t>
            </a:r>
            <a:r>
              <a:rPr lang="en-US" altLang="zh-CN" sz="900" dirty="0" err="1">
                <a:solidFill>
                  <a:schemeClr val="tx1">
                    <a:lumMod val="50000"/>
                    <a:lumOff val="50000"/>
                  </a:schemeClr>
                </a:solidFill>
              </a:rPr>
              <a:t>data_size</a:t>
            </a:r>
            <a:r>
              <a:rPr lang="en-US" altLang="zh-CN" sz="900" dirty="0">
                <a:solidFill>
                  <a:schemeClr val="tx1">
                    <a:lumMod val="50000"/>
                    <a:lumOff val="50000"/>
                  </a:schemeClr>
                </a:solidFill>
              </a:rPr>
              <a:t>;</a:t>
            </a:r>
            <a:endParaRPr lang="zh-CN" altLang="en-US" sz="900" dirty="0">
              <a:solidFill>
                <a:schemeClr val="tx1">
                  <a:lumMod val="50000"/>
                  <a:lumOff val="50000"/>
                </a:schemeClr>
              </a:solidFill>
            </a:endParaRPr>
          </a:p>
          <a:p>
            <a:r>
              <a:rPr lang="zh-CN" altLang="en-US" sz="900"/>
              <a:t>		concat</a:t>
            </a:r>
            <a:r>
              <a:rPr lang="zh-CN" altLang="en-US" sz="900" dirty="0"/>
              <a:t>3(decode_operand, _, concat3(src_type, 2, dest_type)) \</a:t>
            </a:r>
            <a:endParaRPr lang="en-US" altLang="zh-CN" sz="900" dirty="0"/>
          </a:p>
          <a:p>
            <a:r>
              <a:rPr lang="en-US" altLang="zh-CN" sz="900" dirty="0">
                <a:solidFill>
                  <a:schemeClr val="tx1">
                    <a:lumMod val="50000"/>
                    <a:lumOff val="50000"/>
                  </a:schemeClr>
                </a:solidFill>
              </a:rPr>
              <a:t>// </a:t>
            </a:r>
            <a:r>
              <a:rPr lang="zh-CN" altLang="en-US" sz="900" dirty="0">
                <a:solidFill>
                  <a:schemeClr val="tx1">
                    <a:lumMod val="50000"/>
                    <a:lumOff val="50000"/>
                  </a:schemeClr>
                </a:solidFill>
              </a:rPr>
              <a:t>宏展开等于 </a:t>
            </a:r>
            <a:r>
              <a:rPr lang="en-US" altLang="zh-CN" sz="900" dirty="0">
                <a:solidFill>
                  <a:schemeClr val="tx1">
                    <a:lumMod val="50000"/>
                    <a:lumOff val="50000"/>
                  </a:schemeClr>
                </a:solidFill>
              </a:rPr>
              <a:t>decode_operand_r2rm</a:t>
            </a:r>
            <a:endParaRPr lang="en-US" altLang="zh-CN" sz="900" dirty="0">
              <a:solidFill>
                <a:schemeClr val="tx1">
                  <a:lumMod val="50000"/>
                  <a:lumOff val="50000"/>
                </a:schemeClr>
              </a:solidFill>
            </a:endParaRPr>
          </a:p>
          <a:p>
            <a:r>
              <a:rPr lang="en-US" altLang="zh-CN" sz="900" dirty="0">
                <a:solidFill>
                  <a:schemeClr val="tx1">
                    <a:lumMod val="50000"/>
                    <a:lumOff val="50000"/>
                  </a:schemeClr>
                </a:solidFill>
              </a:rPr>
              <a:t>// </a:t>
            </a:r>
            <a:r>
              <a:rPr lang="zh-CN" altLang="en-US" sz="900" dirty="0">
                <a:solidFill>
                  <a:schemeClr val="tx1">
                    <a:lumMod val="50000"/>
                    <a:lumOff val="50000"/>
                  </a:schemeClr>
                </a:solidFill>
              </a:rPr>
              <a:t>下方宏定义 </a:t>
            </a:r>
            <a:r>
              <a:rPr lang="en-US" altLang="zh-CN" sz="900" dirty="0">
                <a:solidFill>
                  <a:schemeClr val="tx1">
                    <a:lumMod val="50000"/>
                    <a:lumOff val="50000"/>
                  </a:schemeClr>
                </a:solidFill>
              </a:rPr>
              <a:t>#define decode_operand_r2rm \</a:t>
            </a:r>
            <a:endParaRPr lang="en-US" altLang="zh-CN" sz="900" dirty="0">
              <a:solidFill>
                <a:schemeClr val="tx1">
                  <a:lumMod val="50000"/>
                  <a:lumOff val="50000"/>
                </a:schemeClr>
              </a:solidFill>
            </a:endParaRPr>
          </a:p>
          <a:p>
            <a:r>
              <a:rPr lang="en-US" altLang="zh-CN" sz="900" dirty="0">
                <a:solidFill>
                  <a:schemeClr val="tx1">
                    <a:lumMod val="50000"/>
                    <a:lumOff val="50000"/>
                  </a:schemeClr>
                </a:solidFill>
              </a:rPr>
              <a:t>//                                </a:t>
            </a:r>
            <a:r>
              <a:rPr lang="en-US" altLang="zh-CN" sz="900" dirty="0" err="1">
                <a:solidFill>
                  <a:schemeClr val="tx1">
                    <a:lumMod val="50000"/>
                    <a:lumOff val="50000"/>
                  </a:schemeClr>
                </a:solidFill>
              </a:rPr>
              <a:t>len</a:t>
            </a:r>
            <a:r>
              <a:rPr lang="en-US" altLang="zh-CN" sz="900" dirty="0">
                <a:solidFill>
                  <a:schemeClr val="tx1">
                    <a:lumMod val="50000"/>
                    <a:lumOff val="50000"/>
                  </a:schemeClr>
                </a:solidFill>
              </a:rPr>
              <a:t> += </a:t>
            </a:r>
            <a:r>
              <a:rPr lang="en-US" altLang="zh-CN" sz="900" dirty="0" err="1">
                <a:solidFill>
                  <a:schemeClr val="tx1">
                    <a:lumMod val="50000"/>
                    <a:lumOff val="50000"/>
                  </a:schemeClr>
                </a:solidFill>
              </a:rPr>
              <a:t>modrm_r_rm</a:t>
            </a:r>
            <a:r>
              <a:rPr lang="en-US" altLang="zh-CN" sz="900" dirty="0">
                <a:solidFill>
                  <a:schemeClr val="tx1">
                    <a:lumMod val="50000"/>
                    <a:lumOff val="50000"/>
                  </a:schemeClr>
                </a:solidFill>
              </a:rPr>
              <a:t>(</a:t>
            </a:r>
            <a:r>
              <a:rPr lang="en-US" altLang="zh-CN" sz="900" dirty="0" err="1">
                <a:solidFill>
                  <a:schemeClr val="tx1">
                    <a:lumMod val="50000"/>
                    <a:lumOff val="50000"/>
                  </a:schemeClr>
                </a:solidFill>
              </a:rPr>
              <a:t>eip</a:t>
            </a:r>
            <a:r>
              <a:rPr lang="en-US" altLang="zh-CN" sz="900" dirty="0">
                <a:solidFill>
                  <a:schemeClr val="tx1">
                    <a:lumMod val="50000"/>
                    <a:lumOff val="50000"/>
                  </a:schemeClr>
                </a:solidFill>
              </a:rPr>
              <a:t> + 1, &amp;</a:t>
            </a:r>
            <a:r>
              <a:rPr lang="en-US" altLang="zh-CN" sz="900" dirty="0" err="1">
                <a:solidFill>
                  <a:schemeClr val="tx1">
                    <a:lumMod val="50000"/>
                    <a:lumOff val="50000"/>
                  </a:schemeClr>
                </a:solidFill>
              </a:rPr>
              <a:t>opr_src</a:t>
            </a:r>
            <a:r>
              <a:rPr lang="en-US" altLang="zh-CN" sz="900" dirty="0">
                <a:solidFill>
                  <a:schemeClr val="tx1">
                    <a:lumMod val="50000"/>
                    <a:lumOff val="50000"/>
                  </a:schemeClr>
                </a:solidFill>
              </a:rPr>
              <a:t>, &amp;</a:t>
            </a:r>
            <a:r>
              <a:rPr lang="en-US" altLang="zh-CN" sz="900" dirty="0" err="1">
                <a:solidFill>
                  <a:schemeClr val="tx1">
                    <a:lumMod val="50000"/>
                    <a:lumOff val="50000"/>
                  </a:schemeClr>
                </a:solidFill>
              </a:rPr>
              <a:t>opr_dest</a:t>
            </a:r>
            <a:r>
              <a:rPr lang="en-US" altLang="zh-CN" sz="900" dirty="0">
                <a:solidFill>
                  <a:schemeClr val="tx1">
                    <a:lumMod val="50000"/>
                    <a:lumOff val="50000"/>
                  </a:schemeClr>
                </a:solidFill>
              </a:rPr>
              <a:t>);</a:t>
            </a:r>
            <a:endParaRPr lang="zh-CN" altLang="en-US" sz="900" dirty="0">
              <a:solidFill>
                <a:schemeClr val="tx1">
                  <a:lumMod val="50000"/>
                  <a:lumOff val="50000"/>
                </a:schemeClr>
              </a:solidFill>
            </a:endParaRPr>
          </a:p>
          <a:p>
            <a:r>
              <a:rPr lang="zh-CN" altLang="en-US" sz="900"/>
              <a:t>		print</a:t>
            </a:r>
            <a:r>
              <a:rPr lang="zh-CN" altLang="en-US" sz="900" dirty="0"/>
              <a:t>_asm_2(</a:t>
            </a:r>
            <a:r>
              <a:rPr lang="en-US" altLang="zh-CN" sz="900" dirty="0"/>
              <a:t>…</a:t>
            </a:r>
            <a:r>
              <a:rPr lang="zh-CN" altLang="en-US" sz="900" dirty="0"/>
              <a:t>); \  </a:t>
            </a:r>
            <a:r>
              <a:rPr lang="en-US" altLang="zh-CN" sz="900" dirty="0">
                <a:solidFill>
                  <a:schemeClr val="tx1">
                    <a:lumMod val="50000"/>
                    <a:lumOff val="50000"/>
                  </a:schemeClr>
                </a:solidFill>
              </a:rPr>
              <a:t>// </a:t>
            </a:r>
            <a:r>
              <a:rPr lang="zh-CN" altLang="en-US" sz="900" dirty="0">
                <a:solidFill>
                  <a:schemeClr val="tx1">
                    <a:lumMod val="50000"/>
                    <a:lumOff val="50000"/>
                  </a:schemeClr>
                </a:solidFill>
              </a:rPr>
              <a:t>单步执行打印调试信息，不变</a:t>
            </a:r>
            <a:endParaRPr lang="zh-CN" altLang="en-US" sz="900" dirty="0">
              <a:solidFill>
                <a:schemeClr val="tx1">
                  <a:lumMod val="50000"/>
                  <a:lumOff val="50000"/>
                </a:schemeClr>
              </a:solidFill>
            </a:endParaRPr>
          </a:p>
          <a:p>
            <a:r>
              <a:rPr lang="zh-CN" altLang="en-US" sz="900"/>
              <a:t>		</a:t>
            </a:r>
            <a:r>
              <a:rPr lang="zh-CN" altLang="en-US" sz="900">
                <a:solidFill>
                  <a:srgbClr val="C00000"/>
                </a:solidFill>
              </a:rPr>
              <a:t>instr</a:t>
            </a:r>
            <a:r>
              <a:rPr lang="zh-CN" altLang="en-US" sz="900" dirty="0">
                <a:solidFill>
                  <a:srgbClr val="C00000"/>
                </a:solidFill>
              </a:rPr>
              <a:t>_execute_2op(); \  </a:t>
            </a:r>
            <a:r>
              <a:rPr lang="en-US" altLang="zh-CN" sz="900" dirty="0">
                <a:solidFill>
                  <a:srgbClr val="C00000"/>
                </a:solidFill>
              </a:rPr>
              <a:t>//</a:t>
            </a:r>
            <a:r>
              <a:rPr lang="zh-CN" altLang="en-US" sz="900" dirty="0">
                <a:solidFill>
                  <a:srgbClr val="C00000"/>
                </a:solidFill>
              </a:rPr>
              <a:t>调用执行函数</a:t>
            </a:r>
            <a:endParaRPr lang="zh-CN" altLang="en-US" sz="900" dirty="0">
              <a:solidFill>
                <a:srgbClr val="C00000"/>
              </a:solidFill>
            </a:endParaRPr>
          </a:p>
          <a:p>
            <a:r>
              <a:rPr lang="zh-CN" altLang="en-US" sz="900"/>
              <a:t>		return </a:t>
            </a:r>
            <a:r>
              <a:rPr lang="zh-CN" altLang="en-US" sz="900" dirty="0"/>
              <a:t>len; \</a:t>
            </a:r>
            <a:endParaRPr lang="zh-CN" altLang="en-US" sz="900" dirty="0"/>
          </a:p>
          <a:p>
            <a:r>
              <a:rPr lang="zh-CN" altLang="en-US" sz="900"/>
              <a:t>	}</a:t>
            </a:r>
            <a:endParaRPr lang="zh-CN" altLang="en-US" sz="900" dirty="0"/>
          </a:p>
        </p:txBody>
      </p:sp>
      <p:sp>
        <p:nvSpPr>
          <p:cNvPr id="8" name="文本框 7"/>
          <p:cNvSpPr txBox="1"/>
          <p:nvPr/>
        </p:nvSpPr>
        <p:spPr>
          <a:xfrm>
            <a:off x="6496050" y="391827"/>
            <a:ext cx="5346702" cy="523220"/>
          </a:xfrm>
          <a:prstGeom prst="rect">
            <a:avLst/>
          </a:prstGeom>
          <a:solidFill>
            <a:schemeClr val="bg1"/>
          </a:solidFill>
        </p:spPr>
        <p:txBody>
          <a:bodyPr wrap="square" rtlCol="0">
            <a:spAutoFit/>
          </a:bodyPr>
          <a:lstStyle/>
          <a:p>
            <a:r>
              <a:rPr lang="en-US" altLang="zh-CN" sz="2800" i="1" dirty="0" err="1">
                <a:solidFill>
                  <a:srgbClr val="0070C0"/>
                </a:solidFill>
              </a:rPr>
              <a:t>nemu</a:t>
            </a:r>
            <a:r>
              <a:rPr lang="en-US" altLang="zh-CN" sz="2800" i="1" dirty="0">
                <a:solidFill>
                  <a:srgbClr val="0070C0"/>
                </a:solidFill>
              </a:rPr>
              <a:t>/include/</a:t>
            </a:r>
            <a:r>
              <a:rPr lang="en-US" altLang="zh-CN" sz="2800" i="1" dirty="0" err="1">
                <a:solidFill>
                  <a:srgbClr val="0070C0"/>
                </a:solidFill>
              </a:rPr>
              <a:t>cpu</a:t>
            </a:r>
            <a:r>
              <a:rPr lang="en-US" altLang="zh-CN" sz="2800" i="1" dirty="0">
                <a:solidFill>
                  <a:srgbClr val="0070C0"/>
                </a:solidFill>
              </a:rPr>
              <a:t>/</a:t>
            </a:r>
            <a:r>
              <a:rPr lang="en-US" altLang="zh-CN" sz="2800" i="1" dirty="0" err="1">
                <a:solidFill>
                  <a:srgbClr val="0070C0"/>
                </a:solidFill>
              </a:rPr>
              <a:t>instr_helper.h</a:t>
            </a:r>
            <a:endParaRPr lang="zh-CN" altLang="en-US" sz="2800" i="1" dirty="0">
              <a:solidFill>
                <a:srgbClr val="0070C0"/>
              </a:solidFill>
            </a:endParaRPr>
          </a:p>
        </p:txBody>
      </p:sp>
      <p:cxnSp>
        <p:nvCxnSpPr>
          <p:cNvPr id="9" name="直接箭头连接符 8"/>
          <p:cNvCxnSpPr/>
          <p:nvPr/>
        </p:nvCxnSpPr>
        <p:spPr>
          <a:xfrm>
            <a:off x="5338764" y="2433638"/>
            <a:ext cx="1533525" cy="328612"/>
          </a:xfrm>
          <a:prstGeom prst="straightConnector1">
            <a:avLst/>
          </a:prstGeom>
          <a:ln w="412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6655724" y="1751905"/>
            <a:ext cx="2316532" cy="369332"/>
          </a:xfrm>
          <a:prstGeom prst="rect">
            <a:avLst/>
          </a:prstGeom>
          <a:noFill/>
        </p:spPr>
        <p:txBody>
          <a:bodyPr wrap="none" rtlCol="0">
            <a:spAutoFit/>
          </a:bodyPr>
          <a:lstStyle/>
          <a:p>
            <a:r>
              <a:rPr lang="en-US" altLang="zh-CN" dirty="0">
                <a:solidFill>
                  <a:srgbClr val="C00000"/>
                </a:solidFill>
              </a:rPr>
              <a:t>Static</a:t>
            </a:r>
            <a:r>
              <a:rPr lang="zh-CN" altLang="en-US" dirty="0">
                <a:solidFill>
                  <a:srgbClr val="C00000"/>
                </a:solidFill>
              </a:rPr>
              <a:t>关键字很关键！</a:t>
            </a:r>
            <a:endParaRPr lang="zh-CN" altLang="en-US" dirty="0">
              <a:solidFill>
                <a:srgbClr val="C00000"/>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644650" y="2174075"/>
            <a:ext cx="4648200" cy="4470455"/>
          </a:xfrm>
          <a:prstGeom prst="rect">
            <a:avLst/>
          </a:prstGeom>
          <a:ln>
            <a:solidFill>
              <a:schemeClr val="tx1"/>
            </a:solidFill>
            <a:prstDash val="dash"/>
          </a:ln>
        </p:spPr>
        <p:txBody>
          <a:bodyPr wrap="square">
            <a:spAutoFit/>
          </a:bodyPr>
          <a:lstStyle/>
          <a:p>
            <a:pPr marL="228600" algn="just">
              <a:spcBef>
                <a:spcPts val="250"/>
              </a:spcBef>
            </a:pPr>
            <a:r>
              <a:rPr lang="en-US" altLang="zh-CN" kern="100" dirty="0" err="1">
                <a:latin typeface="等线" panose="02010600030101010101" charset="-122"/>
                <a:cs typeface="Times New Roman" panose="02020603050405020304" pitchFamily="18" charset="0"/>
              </a:rPr>
              <a:t>make_instr_func</a:t>
            </a:r>
            <a:r>
              <a:rPr lang="en-US" altLang="zh-CN" kern="100" dirty="0">
                <a:latin typeface="等线" panose="02010600030101010101" charset="-122"/>
                <a:cs typeface="Times New Roman" panose="02020603050405020304" pitchFamily="18" charset="0"/>
              </a:rPr>
              <a:t>(mov_r2rm_v) {</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OPERAND r, </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zh-CN" kern="100" dirty="0">
                <a:solidFill>
                  <a:srgbClr val="00B050"/>
                </a:solidFill>
                <a:latin typeface="等线" panose="02010600030101010101" charset="-122"/>
                <a:cs typeface="Times New Roman" panose="02020603050405020304" pitchFamily="18" charset="0"/>
              </a:rPr>
              <a:t>指定操作数长度</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rm.data_size</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r.data_size</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data_size</a:t>
            </a:r>
            <a:r>
              <a:rPr lang="en-US" altLang="zh-CN" kern="100" dirty="0">
                <a:latin typeface="等线" panose="02010600030101010101" charset="-122"/>
                <a:cs typeface="Times New Roman" panose="02020603050405020304" pitchFamily="18" charset="0"/>
              </a:rPr>
              <a:t>;  </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int</a:t>
            </a: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 = 1;</a:t>
            </a:r>
            <a:endParaRPr lang="en-US"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zh-CN" kern="100" dirty="0">
                <a:solidFill>
                  <a:srgbClr val="00B050"/>
                </a:solidFill>
                <a:latin typeface="等线" panose="02010600030101010101" charset="-122"/>
                <a:cs typeface="Times New Roman" panose="02020603050405020304" pitchFamily="18" charset="0"/>
              </a:rPr>
              <a:t>操作数寻址</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modrm_r_rm</a:t>
            </a:r>
            <a:r>
              <a:rPr lang="en-US" altLang="zh-CN" kern="100" dirty="0">
                <a:latin typeface="等线" panose="02010600030101010101" charset="-122"/>
                <a:cs typeface="Times New Roman" panose="02020603050405020304" pitchFamily="18" charset="0"/>
              </a:rPr>
              <a:t>(</a:t>
            </a:r>
            <a:r>
              <a:rPr lang="en-US" altLang="zh-CN" kern="100" dirty="0" err="1">
                <a:latin typeface="等线" panose="02010600030101010101" charset="-122"/>
                <a:cs typeface="Times New Roman" panose="02020603050405020304" pitchFamily="18" charset="0"/>
              </a:rPr>
              <a:t>eip</a:t>
            </a:r>
            <a:r>
              <a:rPr lang="en-US" altLang="zh-CN" kern="100" dirty="0">
                <a:latin typeface="等线" panose="02010600030101010101" charset="-122"/>
                <a:cs typeface="Times New Roman" panose="02020603050405020304" pitchFamily="18" charset="0"/>
              </a:rPr>
              <a:t> + 1, &amp;r, &amp;</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 </a:t>
            </a:r>
            <a:endParaRPr lang="en-US"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en-US" kern="100" dirty="0">
                <a:solidFill>
                  <a:srgbClr val="00B050"/>
                </a:solidFill>
                <a:latin typeface="等线" panose="02010600030101010101" charset="-122"/>
                <a:cs typeface="Times New Roman" panose="02020603050405020304" pitchFamily="18" charset="0"/>
              </a:rPr>
              <a:t>执行</a:t>
            </a:r>
            <a:r>
              <a:rPr lang="en-US" altLang="zh-CN" kern="100" dirty="0" err="1">
                <a:solidFill>
                  <a:srgbClr val="00B050"/>
                </a:solidFill>
                <a:latin typeface="等线" panose="02010600030101010101" charset="-122"/>
                <a:cs typeface="Times New Roman" panose="02020603050405020304" pitchFamily="18" charset="0"/>
              </a:rPr>
              <a:t>mov</a:t>
            </a:r>
            <a:r>
              <a:rPr lang="zh-CN" altLang="en-US" kern="100" dirty="0">
                <a:solidFill>
                  <a:srgbClr val="00B050"/>
                </a:solidFill>
                <a:latin typeface="等线" panose="02010600030101010101" charset="-122"/>
                <a:cs typeface="Times New Roman" panose="02020603050405020304" pitchFamily="18" charset="0"/>
              </a:rPr>
              <a:t>操作</a:t>
            </a:r>
            <a:r>
              <a:rPr lang="en-US" altLang="zh-CN" kern="100" dirty="0">
                <a:solidFill>
                  <a:srgbClr val="00B050"/>
                </a:solidFill>
                <a:latin typeface="等线" panose="02010600030101010101" charset="-122"/>
                <a:cs typeface="Times New Roman" panose="02020603050405020304" pitchFamily="18" charset="0"/>
              </a:rPr>
              <a:t> </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operand_read</a:t>
            </a:r>
            <a:r>
              <a:rPr lang="en-US" altLang="zh-CN" kern="100" dirty="0">
                <a:latin typeface="等线" panose="02010600030101010101" charset="-122"/>
                <a:cs typeface="Times New Roman" panose="02020603050405020304" pitchFamily="18" charset="0"/>
              </a:rPr>
              <a:t>(&amp;r);</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rm.val</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r.val</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operand_write</a:t>
            </a:r>
            <a:r>
              <a:rPr lang="en-US" altLang="zh-CN" kern="100" dirty="0">
                <a:latin typeface="等线" panose="02010600030101010101" charset="-122"/>
                <a:cs typeface="Times New Roman" panose="02020603050405020304" pitchFamily="18" charset="0"/>
              </a:rPr>
              <a:t>(&amp;</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en-US" kern="100" dirty="0">
                <a:solidFill>
                  <a:srgbClr val="00B050"/>
                </a:solidFill>
                <a:latin typeface="等线" panose="02010600030101010101" charset="-122"/>
                <a:cs typeface="Times New Roman" panose="02020603050405020304" pitchFamily="18" charset="0"/>
              </a:rPr>
              <a:t>返回操作数长度</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return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p:txBody>
      </p:sp>
      <p:sp>
        <p:nvSpPr>
          <p:cNvPr id="5" name="矩形 4"/>
          <p:cNvSpPr/>
          <p:nvPr/>
        </p:nvSpPr>
        <p:spPr>
          <a:xfrm>
            <a:off x="6604000" y="2174075"/>
            <a:ext cx="3879850" cy="2923877"/>
          </a:xfrm>
          <a:prstGeom prst="rect">
            <a:avLst/>
          </a:prstGeom>
          <a:ln>
            <a:solidFill>
              <a:schemeClr val="tx1"/>
            </a:solidFill>
            <a:prstDash val="dash"/>
          </a:ln>
        </p:spPr>
        <p:txBody>
          <a:bodyPr wrap="square">
            <a:spAutoFit/>
          </a:bodyPr>
          <a:lstStyle/>
          <a:p>
            <a:r>
              <a:rPr lang="zh-CN" altLang="en-US" dirty="0"/>
              <a:t>#include "cpu/instr.h"</a:t>
            </a:r>
            <a:endParaRPr lang="zh-CN" altLang="en-US" dirty="0"/>
          </a:p>
          <a:p>
            <a:endParaRPr lang="zh-CN" altLang="en-US" dirty="0"/>
          </a:p>
          <a:p>
            <a:r>
              <a:rPr lang="zh-CN" altLang="en-US" dirty="0"/>
              <a:t>static void instr_execute_2op() {</a:t>
            </a:r>
            <a:endParaRPr lang="zh-CN" altLang="en-US" dirty="0"/>
          </a:p>
          <a:p>
            <a:r>
              <a:rPr lang="zh-CN" altLang="en-US"/>
              <a:t>	operand</a:t>
            </a:r>
            <a:r>
              <a:rPr lang="zh-CN" altLang="en-US" dirty="0"/>
              <a:t>_read(&amp;opr_src);</a:t>
            </a:r>
            <a:endParaRPr lang="zh-CN" altLang="en-US" dirty="0"/>
          </a:p>
          <a:p>
            <a:r>
              <a:rPr lang="zh-CN" altLang="en-US"/>
              <a:t>	opr</a:t>
            </a:r>
            <a:r>
              <a:rPr lang="zh-CN" altLang="en-US" dirty="0"/>
              <a:t>_dest.val = opr_src.val;</a:t>
            </a:r>
            <a:endParaRPr lang="zh-CN" altLang="en-US" dirty="0"/>
          </a:p>
          <a:p>
            <a:r>
              <a:rPr lang="zh-CN" altLang="en-US"/>
              <a:t>	operand</a:t>
            </a:r>
            <a:r>
              <a:rPr lang="zh-CN" altLang="en-US" dirty="0"/>
              <a:t>_write(&amp;opr_dest);</a:t>
            </a:r>
            <a:endParaRPr lang="zh-CN" altLang="en-US" dirty="0"/>
          </a:p>
          <a:p>
            <a:r>
              <a:rPr lang="zh-CN" altLang="en-US" dirty="0"/>
              <a:t>}</a:t>
            </a:r>
            <a:endParaRPr lang="zh-CN" altLang="en-US" dirty="0"/>
          </a:p>
          <a:p>
            <a:endParaRPr lang="zh-CN" altLang="en-US" dirty="0"/>
          </a:p>
          <a:p>
            <a:r>
              <a:rPr lang="zh-CN" altLang="en-US" sz="2000" dirty="0">
                <a:solidFill>
                  <a:srgbClr val="C00000"/>
                </a:solidFill>
              </a:rPr>
              <a:t>make_instr_impl_2op(mov, r, rm, v)</a:t>
            </a:r>
            <a:endParaRPr lang="zh-CN" altLang="en-US" sz="2000" dirty="0">
              <a:solidFill>
                <a:srgbClr val="C00000"/>
              </a:solidFill>
            </a:endParaRPr>
          </a:p>
        </p:txBody>
      </p:sp>
      <p:sp>
        <p:nvSpPr>
          <p:cNvPr id="7" name="矩形 6"/>
          <p:cNvSpPr/>
          <p:nvPr/>
        </p:nvSpPr>
        <p:spPr>
          <a:xfrm>
            <a:off x="1600201" y="236702"/>
            <a:ext cx="8991599" cy="5139869"/>
          </a:xfrm>
          <a:prstGeom prst="rect">
            <a:avLst/>
          </a:prstGeom>
          <a:solidFill>
            <a:schemeClr val="bg2"/>
          </a:solidFill>
          <a:ln>
            <a:solidFill>
              <a:schemeClr val="tx1"/>
            </a:solidFill>
            <a:prstDash val="dash"/>
          </a:ln>
        </p:spPr>
        <p:txBody>
          <a:bodyPr wrap="square">
            <a:spAutoFit/>
          </a:bodyPr>
          <a:lstStyle/>
          <a:p>
            <a:r>
              <a:rPr lang="zh-CN" altLang="en-US" dirty="0"/>
              <a:t>// macro for generating the implementation of an instruction with two operands</a:t>
            </a:r>
            <a:endParaRPr lang="zh-CN" altLang="en-US" dirty="0"/>
          </a:p>
          <a:p>
            <a:r>
              <a:rPr lang="zh-CN" altLang="en-US" sz="2000" dirty="0"/>
              <a:t>#define make_instr_impl_2op(inst_name, src_type, dest_type, suffix) \</a:t>
            </a:r>
            <a:endParaRPr lang="en-US" altLang="zh-CN" sz="2000" dirty="0"/>
          </a:p>
          <a:p>
            <a:r>
              <a:rPr lang="en-US" altLang="zh-CN" sz="2000" dirty="0">
                <a:solidFill>
                  <a:schemeClr val="tx1">
                    <a:lumMod val="50000"/>
                    <a:lumOff val="50000"/>
                  </a:schemeClr>
                </a:solidFill>
              </a:rPr>
              <a:t>                // </a:t>
            </a:r>
            <a:r>
              <a:rPr lang="zh-CN" altLang="en-US" sz="2000" dirty="0">
                <a:solidFill>
                  <a:schemeClr val="tx1">
                    <a:lumMod val="50000"/>
                    <a:lumOff val="50000"/>
                  </a:schemeClr>
                </a:solidFill>
              </a:rPr>
              <a:t>等于 </a:t>
            </a:r>
            <a:r>
              <a:rPr lang="en-US" altLang="zh-CN" sz="2000" dirty="0">
                <a:solidFill>
                  <a:schemeClr val="tx1">
                    <a:lumMod val="50000"/>
                    <a:lumOff val="50000"/>
                  </a:schemeClr>
                </a:solidFill>
              </a:rPr>
              <a:t> </a:t>
            </a:r>
            <a:r>
              <a:rPr lang="zh-CN" altLang="en-US" sz="2000" dirty="0">
                <a:solidFill>
                  <a:schemeClr val="tx1">
                    <a:lumMod val="50000"/>
                    <a:lumOff val="50000"/>
                  </a:schemeClr>
                </a:solidFill>
              </a:rPr>
              <a:t>make_instr_impl_2op(mov, r, rm, v)</a:t>
            </a:r>
            <a:endParaRPr lang="zh-CN" altLang="en-US" sz="2000" dirty="0">
              <a:solidFill>
                <a:schemeClr val="tx1">
                  <a:lumMod val="50000"/>
                  <a:lumOff val="50000"/>
                </a:schemeClr>
              </a:solidFill>
            </a:endParaRPr>
          </a:p>
          <a:p>
            <a:r>
              <a:rPr lang="zh-CN" altLang="en-US"/>
              <a:t>	make</a:t>
            </a:r>
            <a:r>
              <a:rPr lang="zh-CN" altLang="en-US" dirty="0"/>
              <a:t>_instr_func(concat7(inst_name, _, src_type, 2, dest_type, _, suffix)) {\</a:t>
            </a:r>
            <a:endParaRPr lang="en-US" altLang="zh-CN" dirty="0"/>
          </a:p>
          <a:p>
            <a:r>
              <a:rPr lang="en-US" altLang="zh-CN"/>
              <a:t>	</a:t>
            </a:r>
            <a:r>
              <a:rPr lang="en-US" altLang="zh-CN">
                <a:solidFill>
                  <a:schemeClr val="tx1">
                    <a:lumMod val="50000"/>
                    <a:lumOff val="50000"/>
                  </a:schemeClr>
                </a:solidFill>
              </a:rPr>
              <a:t> </a:t>
            </a:r>
            <a:r>
              <a:rPr lang="en-US" altLang="zh-CN" dirty="0">
                <a:solidFill>
                  <a:schemeClr val="tx1">
                    <a:lumMod val="50000"/>
                    <a:lumOff val="50000"/>
                  </a:schemeClr>
                </a:solidFill>
              </a:rPr>
              <a:t>// </a:t>
            </a:r>
            <a:r>
              <a:rPr lang="zh-CN" altLang="en-US" dirty="0">
                <a:solidFill>
                  <a:schemeClr val="tx1">
                    <a:lumMod val="50000"/>
                    <a:lumOff val="50000"/>
                  </a:schemeClr>
                </a:solidFill>
              </a:rPr>
              <a:t>宏展开等于 </a:t>
            </a:r>
            <a:r>
              <a:rPr lang="en-US" altLang="zh-CN" dirty="0">
                <a:solidFill>
                  <a:schemeClr val="tx1">
                    <a:lumMod val="50000"/>
                    <a:lumOff val="50000"/>
                  </a:schemeClr>
                </a:solidFill>
              </a:rPr>
              <a:t> </a:t>
            </a:r>
            <a:r>
              <a:rPr lang="zh-CN" altLang="en-US" dirty="0">
                <a:solidFill>
                  <a:schemeClr val="tx1">
                    <a:lumMod val="50000"/>
                    <a:lumOff val="50000"/>
                  </a:schemeClr>
                </a:solidFill>
              </a:rPr>
              <a:t>make_instr_</a:t>
            </a:r>
            <a:r>
              <a:rPr lang="en-US" altLang="zh-CN" dirty="0" err="1">
                <a:solidFill>
                  <a:schemeClr val="tx1">
                    <a:lumMod val="50000"/>
                    <a:lumOff val="50000"/>
                  </a:schemeClr>
                </a:solidFill>
              </a:rPr>
              <a:t>func</a:t>
            </a:r>
            <a:r>
              <a:rPr lang="zh-CN" altLang="en-US" dirty="0">
                <a:solidFill>
                  <a:schemeClr val="tx1">
                    <a:lumMod val="50000"/>
                    <a:lumOff val="50000"/>
                  </a:schemeClr>
                </a:solidFill>
              </a:rPr>
              <a:t>(mov</a:t>
            </a:r>
            <a:r>
              <a:rPr lang="en-US" altLang="zh-CN" dirty="0">
                <a:solidFill>
                  <a:schemeClr val="tx1">
                    <a:lumMod val="50000"/>
                    <a:lumOff val="50000"/>
                  </a:schemeClr>
                </a:solidFill>
              </a:rPr>
              <a:t>_</a:t>
            </a:r>
            <a:r>
              <a:rPr lang="zh-CN" altLang="en-US" dirty="0">
                <a:solidFill>
                  <a:schemeClr val="tx1">
                    <a:lumMod val="50000"/>
                    <a:lumOff val="50000"/>
                  </a:schemeClr>
                </a:solidFill>
              </a:rPr>
              <a:t> r</a:t>
            </a:r>
            <a:r>
              <a:rPr lang="en-US" altLang="zh-CN" dirty="0">
                <a:solidFill>
                  <a:schemeClr val="tx1">
                    <a:lumMod val="50000"/>
                    <a:lumOff val="50000"/>
                  </a:schemeClr>
                </a:solidFill>
              </a:rPr>
              <a:t>2</a:t>
            </a:r>
            <a:r>
              <a:rPr lang="zh-CN" altLang="en-US" dirty="0">
                <a:solidFill>
                  <a:schemeClr val="tx1">
                    <a:lumMod val="50000"/>
                    <a:lumOff val="50000"/>
                  </a:schemeClr>
                </a:solidFill>
              </a:rPr>
              <a:t>rm</a:t>
            </a:r>
            <a:r>
              <a:rPr lang="en-US" altLang="zh-CN" dirty="0">
                <a:solidFill>
                  <a:schemeClr val="tx1">
                    <a:lumMod val="50000"/>
                    <a:lumOff val="50000"/>
                  </a:schemeClr>
                </a:solidFill>
              </a:rPr>
              <a:t>_</a:t>
            </a:r>
            <a:r>
              <a:rPr lang="zh-CN" altLang="en-US" dirty="0">
                <a:solidFill>
                  <a:schemeClr val="tx1">
                    <a:lumMod val="50000"/>
                    <a:lumOff val="50000"/>
                  </a:schemeClr>
                </a:solidFill>
              </a:rPr>
              <a:t>v) </a:t>
            </a:r>
            <a:r>
              <a:rPr lang="en-US" altLang="zh-CN" dirty="0">
                <a:solidFill>
                  <a:schemeClr val="tx1">
                    <a:lumMod val="50000"/>
                    <a:lumOff val="50000"/>
                  </a:schemeClr>
                </a:solidFill>
              </a:rPr>
              <a:t>{</a:t>
            </a:r>
            <a:endParaRPr lang="zh-CN" altLang="en-US" dirty="0">
              <a:solidFill>
                <a:schemeClr val="tx1">
                  <a:lumMod val="50000"/>
                  <a:lumOff val="50000"/>
                </a:schemeClr>
              </a:solidFill>
            </a:endParaRPr>
          </a:p>
          <a:p>
            <a:r>
              <a:rPr lang="zh-CN" altLang="en-US"/>
              <a:t>		int </a:t>
            </a:r>
            <a:r>
              <a:rPr lang="zh-CN" altLang="en-US" dirty="0"/>
              <a:t>len = 1; \ </a:t>
            </a:r>
            <a:r>
              <a:rPr lang="en-US" altLang="zh-CN" dirty="0">
                <a:solidFill>
                  <a:schemeClr val="tx1">
                    <a:lumMod val="50000"/>
                    <a:lumOff val="50000"/>
                  </a:schemeClr>
                </a:solidFill>
              </a:rPr>
              <a:t>// </a:t>
            </a:r>
            <a:r>
              <a:rPr lang="zh-CN" altLang="en-US" dirty="0">
                <a:solidFill>
                  <a:schemeClr val="tx1">
                    <a:lumMod val="50000"/>
                    <a:lumOff val="50000"/>
                  </a:schemeClr>
                </a:solidFill>
              </a:rPr>
              <a:t>不变</a:t>
            </a:r>
            <a:endParaRPr lang="zh-CN" altLang="en-US" dirty="0">
              <a:solidFill>
                <a:schemeClr val="tx1">
                  <a:lumMod val="50000"/>
                  <a:lumOff val="50000"/>
                </a:schemeClr>
              </a:solidFill>
            </a:endParaRPr>
          </a:p>
          <a:p>
            <a:r>
              <a:rPr lang="zh-CN" altLang="en-US"/>
              <a:t>		concat</a:t>
            </a:r>
            <a:r>
              <a:rPr lang="zh-CN" altLang="en-US" dirty="0"/>
              <a:t>(decode_data_size_, suffix) \</a:t>
            </a:r>
            <a:endParaRPr lang="en-US" altLang="zh-CN" dirty="0"/>
          </a:p>
          <a:p>
            <a:r>
              <a:rPr lang="en-US" altLang="zh-CN" dirty="0">
                <a:solidFill>
                  <a:schemeClr val="tx1">
                    <a:lumMod val="50000"/>
                    <a:lumOff val="50000"/>
                  </a:schemeClr>
                </a:solidFill>
              </a:rPr>
              <a:t>// </a:t>
            </a:r>
            <a:r>
              <a:rPr lang="zh-CN" altLang="en-US" dirty="0">
                <a:solidFill>
                  <a:schemeClr val="tx1">
                    <a:lumMod val="50000"/>
                    <a:lumOff val="50000"/>
                  </a:schemeClr>
                </a:solidFill>
              </a:rPr>
              <a:t>宏展开等于 </a:t>
            </a:r>
            <a:r>
              <a:rPr lang="en-US" altLang="zh-CN" dirty="0" err="1">
                <a:solidFill>
                  <a:schemeClr val="tx1">
                    <a:lumMod val="50000"/>
                    <a:lumOff val="50000"/>
                  </a:schemeClr>
                </a:solidFill>
              </a:rPr>
              <a:t>decode_data_size_v</a:t>
            </a:r>
            <a:endParaRPr lang="en-US" altLang="zh-CN" dirty="0">
              <a:solidFill>
                <a:schemeClr val="tx1">
                  <a:lumMod val="50000"/>
                  <a:lumOff val="50000"/>
                </a:schemeClr>
              </a:solidFill>
            </a:endParaRPr>
          </a:p>
          <a:p>
            <a:r>
              <a:rPr lang="en-US" altLang="zh-CN" dirty="0">
                <a:solidFill>
                  <a:schemeClr val="tx1">
                    <a:lumMod val="50000"/>
                    <a:lumOff val="50000"/>
                  </a:schemeClr>
                </a:solidFill>
              </a:rPr>
              <a:t>// </a:t>
            </a:r>
            <a:r>
              <a:rPr lang="zh-CN" altLang="en-US" dirty="0">
                <a:solidFill>
                  <a:schemeClr val="tx1">
                    <a:lumMod val="50000"/>
                    <a:lumOff val="50000"/>
                  </a:schemeClr>
                </a:solidFill>
              </a:rPr>
              <a:t>下方宏定义 </a:t>
            </a:r>
            <a:r>
              <a:rPr lang="en-US" altLang="zh-CN" dirty="0">
                <a:solidFill>
                  <a:schemeClr val="tx1">
                    <a:lumMod val="50000"/>
                    <a:lumOff val="50000"/>
                  </a:schemeClr>
                </a:solidFill>
              </a:rPr>
              <a:t>#define </a:t>
            </a:r>
            <a:r>
              <a:rPr lang="en-US" altLang="zh-CN" dirty="0" err="1">
                <a:solidFill>
                  <a:schemeClr val="tx1">
                    <a:lumMod val="50000"/>
                    <a:lumOff val="50000"/>
                  </a:schemeClr>
                </a:solidFill>
              </a:rPr>
              <a:t>decode_data_size_v</a:t>
            </a:r>
            <a:r>
              <a:rPr lang="en-US" altLang="zh-CN" dirty="0">
                <a:solidFill>
                  <a:schemeClr val="tx1">
                    <a:lumMod val="50000"/>
                    <a:lumOff val="50000"/>
                  </a:schemeClr>
                </a:solidFill>
              </a:rPr>
              <a:t> </a:t>
            </a:r>
            <a:r>
              <a:rPr lang="en-US" altLang="zh-CN" dirty="0" err="1">
                <a:solidFill>
                  <a:schemeClr val="tx1">
                    <a:lumMod val="50000"/>
                    <a:lumOff val="50000"/>
                  </a:schemeClr>
                </a:solidFill>
              </a:rPr>
              <a:t>opr_src.data_size</a:t>
            </a:r>
            <a:r>
              <a:rPr lang="en-US" altLang="zh-CN" dirty="0">
                <a:solidFill>
                  <a:schemeClr val="tx1">
                    <a:lumMod val="50000"/>
                    <a:lumOff val="50000"/>
                  </a:schemeClr>
                </a:solidFill>
              </a:rPr>
              <a:t> = </a:t>
            </a:r>
            <a:r>
              <a:rPr lang="en-US" altLang="zh-CN" dirty="0" err="1">
                <a:solidFill>
                  <a:schemeClr val="tx1">
                    <a:lumMod val="50000"/>
                    <a:lumOff val="50000"/>
                  </a:schemeClr>
                </a:solidFill>
              </a:rPr>
              <a:t>opr_dest.data_size</a:t>
            </a:r>
            <a:r>
              <a:rPr lang="en-US" altLang="zh-CN" dirty="0">
                <a:solidFill>
                  <a:schemeClr val="tx1">
                    <a:lumMod val="50000"/>
                    <a:lumOff val="50000"/>
                  </a:schemeClr>
                </a:solidFill>
              </a:rPr>
              <a:t> = </a:t>
            </a:r>
            <a:r>
              <a:rPr lang="en-US" altLang="zh-CN" dirty="0" err="1">
                <a:solidFill>
                  <a:schemeClr val="tx1">
                    <a:lumMod val="50000"/>
                    <a:lumOff val="50000"/>
                  </a:schemeClr>
                </a:solidFill>
              </a:rPr>
              <a:t>data_size</a:t>
            </a:r>
            <a:r>
              <a:rPr lang="en-US" altLang="zh-CN" dirty="0">
                <a:solidFill>
                  <a:schemeClr val="tx1">
                    <a:lumMod val="50000"/>
                    <a:lumOff val="50000"/>
                  </a:schemeClr>
                </a:solidFill>
              </a:rPr>
              <a:t>;</a:t>
            </a:r>
            <a:endParaRPr lang="zh-CN" altLang="en-US" dirty="0">
              <a:solidFill>
                <a:schemeClr val="tx1">
                  <a:lumMod val="50000"/>
                  <a:lumOff val="50000"/>
                </a:schemeClr>
              </a:solidFill>
            </a:endParaRPr>
          </a:p>
          <a:p>
            <a:r>
              <a:rPr lang="zh-CN" altLang="en-US"/>
              <a:t>		concat</a:t>
            </a:r>
            <a:r>
              <a:rPr lang="zh-CN" altLang="en-US" dirty="0"/>
              <a:t>3(decode_operand, _, concat3(src_type, 2, dest_type)) \</a:t>
            </a:r>
            <a:endParaRPr lang="en-US" altLang="zh-CN" dirty="0"/>
          </a:p>
          <a:p>
            <a:r>
              <a:rPr lang="en-US" altLang="zh-CN" dirty="0">
                <a:solidFill>
                  <a:schemeClr val="tx1">
                    <a:lumMod val="50000"/>
                    <a:lumOff val="50000"/>
                  </a:schemeClr>
                </a:solidFill>
              </a:rPr>
              <a:t>// </a:t>
            </a:r>
            <a:r>
              <a:rPr lang="zh-CN" altLang="en-US" dirty="0">
                <a:solidFill>
                  <a:schemeClr val="tx1">
                    <a:lumMod val="50000"/>
                    <a:lumOff val="50000"/>
                  </a:schemeClr>
                </a:solidFill>
              </a:rPr>
              <a:t>宏展开等于 </a:t>
            </a:r>
            <a:r>
              <a:rPr lang="en-US" altLang="zh-CN" dirty="0">
                <a:solidFill>
                  <a:schemeClr val="tx1">
                    <a:lumMod val="50000"/>
                    <a:lumOff val="50000"/>
                  </a:schemeClr>
                </a:solidFill>
              </a:rPr>
              <a:t>decode_operand_r2rm</a:t>
            </a:r>
            <a:endParaRPr lang="en-US" altLang="zh-CN" dirty="0">
              <a:solidFill>
                <a:schemeClr val="tx1">
                  <a:lumMod val="50000"/>
                  <a:lumOff val="50000"/>
                </a:schemeClr>
              </a:solidFill>
            </a:endParaRPr>
          </a:p>
          <a:p>
            <a:r>
              <a:rPr lang="en-US" altLang="zh-CN" dirty="0">
                <a:solidFill>
                  <a:schemeClr val="tx1">
                    <a:lumMod val="50000"/>
                    <a:lumOff val="50000"/>
                  </a:schemeClr>
                </a:solidFill>
              </a:rPr>
              <a:t>// </a:t>
            </a:r>
            <a:r>
              <a:rPr lang="zh-CN" altLang="en-US" dirty="0">
                <a:solidFill>
                  <a:schemeClr val="tx1">
                    <a:lumMod val="50000"/>
                    <a:lumOff val="50000"/>
                  </a:schemeClr>
                </a:solidFill>
              </a:rPr>
              <a:t>下方宏定义 </a:t>
            </a:r>
            <a:r>
              <a:rPr lang="en-US" altLang="zh-CN" dirty="0">
                <a:solidFill>
                  <a:schemeClr val="tx1">
                    <a:lumMod val="50000"/>
                    <a:lumOff val="50000"/>
                  </a:schemeClr>
                </a:solidFill>
              </a:rPr>
              <a:t>#define decode_operand_r2rm \</a:t>
            </a:r>
            <a:endParaRPr lang="en-US" altLang="zh-CN" dirty="0">
              <a:solidFill>
                <a:schemeClr val="tx1">
                  <a:lumMod val="50000"/>
                  <a:lumOff val="50000"/>
                </a:schemeClr>
              </a:solidFill>
            </a:endParaRPr>
          </a:p>
          <a:p>
            <a:r>
              <a:rPr lang="en-US" altLang="zh-CN" dirty="0">
                <a:solidFill>
                  <a:schemeClr val="tx1">
                    <a:lumMod val="50000"/>
                    <a:lumOff val="50000"/>
                  </a:schemeClr>
                </a:solidFill>
              </a:rPr>
              <a:t>//                                </a:t>
            </a:r>
            <a:r>
              <a:rPr lang="en-US" altLang="zh-CN" dirty="0" err="1">
                <a:solidFill>
                  <a:schemeClr val="tx1">
                    <a:lumMod val="50000"/>
                    <a:lumOff val="50000"/>
                  </a:schemeClr>
                </a:solidFill>
              </a:rPr>
              <a:t>len</a:t>
            </a:r>
            <a:r>
              <a:rPr lang="en-US" altLang="zh-CN" dirty="0">
                <a:solidFill>
                  <a:schemeClr val="tx1">
                    <a:lumMod val="50000"/>
                    <a:lumOff val="50000"/>
                  </a:schemeClr>
                </a:solidFill>
              </a:rPr>
              <a:t> += </a:t>
            </a:r>
            <a:r>
              <a:rPr lang="en-US" altLang="zh-CN" dirty="0" err="1">
                <a:solidFill>
                  <a:schemeClr val="tx1">
                    <a:lumMod val="50000"/>
                    <a:lumOff val="50000"/>
                  </a:schemeClr>
                </a:solidFill>
              </a:rPr>
              <a:t>modrm_r_rm</a:t>
            </a:r>
            <a:r>
              <a:rPr lang="en-US" altLang="zh-CN" dirty="0">
                <a:solidFill>
                  <a:schemeClr val="tx1">
                    <a:lumMod val="50000"/>
                    <a:lumOff val="50000"/>
                  </a:schemeClr>
                </a:solidFill>
              </a:rPr>
              <a:t>(</a:t>
            </a:r>
            <a:r>
              <a:rPr lang="en-US" altLang="zh-CN" dirty="0" err="1">
                <a:solidFill>
                  <a:schemeClr val="tx1">
                    <a:lumMod val="50000"/>
                    <a:lumOff val="50000"/>
                  </a:schemeClr>
                </a:solidFill>
              </a:rPr>
              <a:t>eip</a:t>
            </a:r>
            <a:r>
              <a:rPr lang="en-US" altLang="zh-CN" dirty="0">
                <a:solidFill>
                  <a:schemeClr val="tx1">
                    <a:lumMod val="50000"/>
                    <a:lumOff val="50000"/>
                  </a:schemeClr>
                </a:solidFill>
              </a:rPr>
              <a:t> + 1, &amp;</a:t>
            </a:r>
            <a:r>
              <a:rPr lang="en-US" altLang="zh-CN" dirty="0" err="1">
                <a:solidFill>
                  <a:schemeClr val="tx1">
                    <a:lumMod val="50000"/>
                    <a:lumOff val="50000"/>
                  </a:schemeClr>
                </a:solidFill>
              </a:rPr>
              <a:t>opr_src</a:t>
            </a:r>
            <a:r>
              <a:rPr lang="en-US" altLang="zh-CN" dirty="0">
                <a:solidFill>
                  <a:schemeClr val="tx1">
                    <a:lumMod val="50000"/>
                    <a:lumOff val="50000"/>
                  </a:schemeClr>
                </a:solidFill>
              </a:rPr>
              <a:t>, &amp;</a:t>
            </a:r>
            <a:r>
              <a:rPr lang="en-US" altLang="zh-CN" dirty="0" err="1">
                <a:solidFill>
                  <a:schemeClr val="tx1">
                    <a:lumMod val="50000"/>
                    <a:lumOff val="50000"/>
                  </a:schemeClr>
                </a:solidFill>
              </a:rPr>
              <a:t>opr_dest</a:t>
            </a:r>
            <a:r>
              <a:rPr lang="en-US" altLang="zh-CN" dirty="0">
                <a:solidFill>
                  <a:schemeClr val="tx1">
                    <a:lumMod val="50000"/>
                    <a:lumOff val="50000"/>
                  </a:schemeClr>
                </a:solidFill>
              </a:rPr>
              <a:t>);</a:t>
            </a:r>
            <a:endParaRPr lang="zh-CN" altLang="en-US" dirty="0">
              <a:solidFill>
                <a:schemeClr val="tx1">
                  <a:lumMod val="50000"/>
                  <a:lumOff val="50000"/>
                </a:schemeClr>
              </a:solidFill>
            </a:endParaRPr>
          </a:p>
          <a:p>
            <a:r>
              <a:rPr lang="zh-CN" altLang="en-US"/>
              <a:t>		print</a:t>
            </a:r>
            <a:r>
              <a:rPr lang="zh-CN" altLang="en-US" dirty="0"/>
              <a:t>_asm_2(</a:t>
            </a:r>
            <a:r>
              <a:rPr lang="en-US" altLang="zh-CN" dirty="0"/>
              <a:t>…</a:t>
            </a:r>
            <a:r>
              <a:rPr lang="zh-CN" altLang="en-US" dirty="0"/>
              <a:t>); \  </a:t>
            </a:r>
            <a:r>
              <a:rPr lang="en-US" altLang="zh-CN" dirty="0">
                <a:solidFill>
                  <a:schemeClr val="tx1">
                    <a:lumMod val="50000"/>
                    <a:lumOff val="50000"/>
                  </a:schemeClr>
                </a:solidFill>
              </a:rPr>
              <a:t>// </a:t>
            </a:r>
            <a:r>
              <a:rPr lang="zh-CN" altLang="en-US" dirty="0">
                <a:solidFill>
                  <a:schemeClr val="tx1">
                    <a:lumMod val="50000"/>
                    <a:lumOff val="50000"/>
                  </a:schemeClr>
                </a:solidFill>
              </a:rPr>
              <a:t>单步执行打印调试信息，不变</a:t>
            </a:r>
            <a:endParaRPr lang="zh-CN" altLang="en-US" dirty="0">
              <a:solidFill>
                <a:schemeClr val="tx1">
                  <a:lumMod val="50000"/>
                  <a:lumOff val="50000"/>
                </a:schemeClr>
              </a:solidFill>
            </a:endParaRPr>
          </a:p>
          <a:p>
            <a:r>
              <a:rPr lang="zh-CN" altLang="en-US"/>
              <a:t>		instr</a:t>
            </a:r>
            <a:r>
              <a:rPr lang="zh-CN" altLang="en-US" dirty="0"/>
              <a:t>_execute_2op(); \  </a:t>
            </a:r>
            <a:r>
              <a:rPr lang="en-US" altLang="zh-CN" dirty="0">
                <a:solidFill>
                  <a:schemeClr val="tx1">
                    <a:lumMod val="50000"/>
                    <a:lumOff val="50000"/>
                  </a:schemeClr>
                </a:solidFill>
              </a:rPr>
              <a:t>//</a:t>
            </a:r>
            <a:r>
              <a:rPr lang="zh-CN" altLang="en-US" dirty="0">
                <a:solidFill>
                  <a:schemeClr val="tx1">
                    <a:lumMod val="50000"/>
                    <a:lumOff val="50000"/>
                  </a:schemeClr>
                </a:solidFill>
              </a:rPr>
              <a:t>调用执行函数</a:t>
            </a:r>
            <a:endParaRPr lang="zh-CN" altLang="en-US" dirty="0">
              <a:solidFill>
                <a:schemeClr val="tx1">
                  <a:lumMod val="50000"/>
                  <a:lumOff val="50000"/>
                </a:schemeClr>
              </a:solidFill>
            </a:endParaRPr>
          </a:p>
          <a:p>
            <a:r>
              <a:rPr lang="zh-CN" altLang="en-US"/>
              <a:t>		</a:t>
            </a:r>
            <a:r>
              <a:rPr lang="zh-CN" altLang="en-US">
                <a:solidFill>
                  <a:srgbClr val="C00000"/>
                </a:solidFill>
              </a:rPr>
              <a:t>return </a:t>
            </a:r>
            <a:r>
              <a:rPr lang="zh-CN" altLang="en-US" dirty="0">
                <a:solidFill>
                  <a:srgbClr val="C00000"/>
                </a:solidFill>
              </a:rPr>
              <a:t>len; \   </a:t>
            </a:r>
            <a:r>
              <a:rPr lang="en-US" altLang="zh-CN" dirty="0">
                <a:solidFill>
                  <a:srgbClr val="C00000"/>
                </a:solidFill>
              </a:rPr>
              <a:t>// </a:t>
            </a:r>
            <a:r>
              <a:rPr lang="zh-CN" altLang="en-US" dirty="0">
                <a:solidFill>
                  <a:srgbClr val="C00000"/>
                </a:solidFill>
              </a:rPr>
              <a:t>返回指令长度</a:t>
            </a:r>
            <a:endParaRPr lang="zh-CN" altLang="en-US" dirty="0">
              <a:solidFill>
                <a:srgbClr val="C00000"/>
              </a:solidFill>
            </a:endParaRPr>
          </a:p>
          <a:p>
            <a:r>
              <a:rPr lang="zh-CN" altLang="en-US"/>
              <a:t>	}</a:t>
            </a:r>
            <a:endParaRPr lang="zh-CN" altLang="en-US" dirty="0"/>
          </a:p>
        </p:txBody>
      </p:sp>
      <p:sp>
        <p:nvSpPr>
          <p:cNvPr id="8" name="文本框 7"/>
          <p:cNvSpPr txBox="1"/>
          <p:nvPr/>
        </p:nvSpPr>
        <p:spPr>
          <a:xfrm>
            <a:off x="5394325" y="4853351"/>
            <a:ext cx="5918200" cy="523220"/>
          </a:xfrm>
          <a:prstGeom prst="rect">
            <a:avLst/>
          </a:prstGeom>
          <a:noFill/>
        </p:spPr>
        <p:txBody>
          <a:bodyPr wrap="square" rtlCol="0">
            <a:spAutoFit/>
          </a:bodyPr>
          <a:lstStyle/>
          <a:p>
            <a:r>
              <a:rPr lang="en-US" altLang="zh-CN" sz="2800" i="1" dirty="0" err="1">
                <a:solidFill>
                  <a:srgbClr val="0070C0"/>
                </a:solidFill>
              </a:rPr>
              <a:t>nemu</a:t>
            </a:r>
            <a:r>
              <a:rPr lang="en-US" altLang="zh-CN" sz="2800" i="1" dirty="0">
                <a:solidFill>
                  <a:srgbClr val="0070C0"/>
                </a:solidFill>
              </a:rPr>
              <a:t>/include/</a:t>
            </a:r>
            <a:r>
              <a:rPr lang="en-US" altLang="zh-CN" sz="2800" i="1" dirty="0" err="1">
                <a:solidFill>
                  <a:srgbClr val="0070C0"/>
                </a:solidFill>
              </a:rPr>
              <a:t>cpu</a:t>
            </a:r>
            <a:r>
              <a:rPr lang="en-US" altLang="zh-CN" sz="2800" i="1" dirty="0">
                <a:solidFill>
                  <a:srgbClr val="0070C0"/>
                </a:solidFill>
              </a:rPr>
              <a:t>/</a:t>
            </a:r>
            <a:r>
              <a:rPr lang="en-US" altLang="zh-CN" sz="2800" i="1" dirty="0" err="1">
                <a:solidFill>
                  <a:srgbClr val="0070C0"/>
                </a:solidFill>
              </a:rPr>
              <a:t>instr_helper.h</a:t>
            </a:r>
            <a:endParaRPr lang="zh-CN" altLang="en-US" sz="2800" i="1" dirty="0">
              <a:solidFill>
                <a:srgbClr val="0070C0"/>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644650" y="2174075"/>
            <a:ext cx="4648200" cy="4470455"/>
          </a:xfrm>
          <a:prstGeom prst="rect">
            <a:avLst/>
          </a:prstGeom>
          <a:ln>
            <a:solidFill>
              <a:schemeClr val="tx1"/>
            </a:solidFill>
            <a:prstDash val="dash"/>
          </a:ln>
        </p:spPr>
        <p:txBody>
          <a:bodyPr wrap="square">
            <a:spAutoFit/>
          </a:bodyPr>
          <a:lstStyle/>
          <a:p>
            <a:pPr marL="228600" algn="just">
              <a:spcBef>
                <a:spcPts val="250"/>
              </a:spcBef>
            </a:pPr>
            <a:r>
              <a:rPr lang="en-US" altLang="zh-CN" kern="100" dirty="0" err="1">
                <a:latin typeface="等线" panose="02010600030101010101" charset="-122"/>
                <a:cs typeface="Times New Roman" panose="02020603050405020304" pitchFamily="18" charset="0"/>
              </a:rPr>
              <a:t>make_instr_func</a:t>
            </a:r>
            <a:r>
              <a:rPr lang="en-US" altLang="zh-CN" kern="100" dirty="0">
                <a:latin typeface="等线" panose="02010600030101010101" charset="-122"/>
                <a:cs typeface="Times New Roman" panose="02020603050405020304" pitchFamily="18" charset="0"/>
              </a:rPr>
              <a:t>(mov_r2rm_v) {</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OPERAND r, </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zh-CN" kern="100" dirty="0">
                <a:solidFill>
                  <a:srgbClr val="00B050"/>
                </a:solidFill>
                <a:latin typeface="等线" panose="02010600030101010101" charset="-122"/>
                <a:cs typeface="Times New Roman" panose="02020603050405020304" pitchFamily="18" charset="0"/>
              </a:rPr>
              <a:t>指定操作数长度</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rm.data_size</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r.data_size</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data_size</a:t>
            </a:r>
            <a:r>
              <a:rPr lang="en-US" altLang="zh-CN" kern="100" dirty="0">
                <a:latin typeface="等线" panose="02010600030101010101" charset="-122"/>
                <a:cs typeface="Times New Roman" panose="02020603050405020304" pitchFamily="18" charset="0"/>
              </a:rPr>
              <a:t>;  </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int</a:t>
            </a: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 = 1;</a:t>
            </a:r>
            <a:endParaRPr lang="en-US"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zh-CN" kern="100" dirty="0">
                <a:solidFill>
                  <a:srgbClr val="00B050"/>
                </a:solidFill>
                <a:latin typeface="等线" panose="02010600030101010101" charset="-122"/>
                <a:cs typeface="Times New Roman" panose="02020603050405020304" pitchFamily="18" charset="0"/>
              </a:rPr>
              <a:t>操作数寻址</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modrm_r_rm</a:t>
            </a:r>
            <a:r>
              <a:rPr lang="en-US" altLang="zh-CN" kern="100" dirty="0">
                <a:latin typeface="等线" panose="02010600030101010101" charset="-122"/>
                <a:cs typeface="Times New Roman" panose="02020603050405020304" pitchFamily="18" charset="0"/>
              </a:rPr>
              <a:t>(</a:t>
            </a:r>
            <a:r>
              <a:rPr lang="en-US" altLang="zh-CN" kern="100" dirty="0" err="1">
                <a:latin typeface="等线" panose="02010600030101010101" charset="-122"/>
                <a:cs typeface="Times New Roman" panose="02020603050405020304" pitchFamily="18" charset="0"/>
              </a:rPr>
              <a:t>eip</a:t>
            </a:r>
            <a:r>
              <a:rPr lang="en-US" altLang="zh-CN" kern="100" dirty="0">
                <a:latin typeface="等线" panose="02010600030101010101" charset="-122"/>
                <a:cs typeface="Times New Roman" panose="02020603050405020304" pitchFamily="18" charset="0"/>
              </a:rPr>
              <a:t> + 1, &amp;r, &amp;</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 </a:t>
            </a:r>
            <a:endParaRPr lang="en-US"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en-US" kern="100" dirty="0">
                <a:solidFill>
                  <a:srgbClr val="00B050"/>
                </a:solidFill>
                <a:latin typeface="等线" panose="02010600030101010101" charset="-122"/>
                <a:cs typeface="Times New Roman" panose="02020603050405020304" pitchFamily="18" charset="0"/>
              </a:rPr>
              <a:t>执行</a:t>
            </a:r>
            <a:r>
              <a:rPr lang="en-US" altLang="zh-CN" kern="100" dirty="0" err="1">
                <a:solidFill>
                  <a:srgbClr val="00B050"/>
                </a:solidFill>
                <a:latin typeface="等线" panose="02010600030101010101" charset="-122"/>
                <a:cs typeface="Times New Roman" panose="02020603050405020304" pitchFamily="18" charset="0"/>
              </a:rPr>
              <a:t>mov</a:t>
            </a:r>
            <a:r>
              <a:rPr lang="zh-CN" altLang="en-US" kern="100" dirty="0">
                <a:solidFill>
                  <a:srgbClr val="00B050"/>
                </a:solidFill>
                <a:latin typeface="等线" panose="02010600030101010101" charset="-122"/>
                <a:cs typeface="Times New Roman" panose="02020603050405020304" pitchFamily="18" charset="0"/>
              </a:rPr>
              <a:t>操作</a:t>
            </a:r>
            <a:r>
              <a:rPr lang="en-US" altLang="zh-CN" kern="100" dirty="0">
                <a:solidFill>
                  <a:srgbClr val="00B050"/>
                </a:solidFill>
                <a:latin typeface="等线" panose="02010600030101010101" charset="-122"/>
                <a:cs typeface="Times New Roman" panose="02020603050405020304" pitchFamily="18" charset="0"/>
              </a:rPr>
              <a:t> </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operand_read</a:t>
            </a:r>
            <a:r>
              <a:rPr lang="en-US" altLang="zh-CN" kern="100" dirty="0">
                <a:latin typeface="等线" panose="02010600030101010101" charset="-122"/>
                <a:cs typeface="Times New Roman" panose="02020603050405020304" pitchFamily="18" charset="0"/>
              </a:rPr>
              <a:t>(&amp;r);</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rm.val</a:t>
            </a:r>
            <a:r>
              <a:rPr lang="en-US" altLang="zh-CN" kern="100" dirty="0">
                <a:latin typeface="等线" panose="02010600030101010101" charset="-122"/>
                <a:cs typeface="Times New Roman" panose="02020603050405020304" pitchFamily="18" charset="0"/>
              </a:rPr>
              <a:t> = </a:t>
            </a:r>
            <a:r>
              <a:rPr lang="en-US" altLang="zh-CN" kern="100" dirty="0" err="1">
                <a:latin typeface="等线" panose="02010600030101010101" charset="-122"/>
                <a:cs typeface="Times New Roman" panose="02020603050405020304" pitchFamily="18" charset="0"/>
              </a:rPr>
              <a:t>r.val</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err="1">
                <a:latin typeface="等线" panose="02010600030101010101" charset="-122"/>
                <a:cs typeface="Times New Roman" panose="02020603050405020304" pitchFamily="18" charset="0"/>
              </a:rPr>
              <a:t>operand_write</a:t>
            </a:r>
            <a:r>
              <a:rPr lang="en-US" altLang="zh-CN" kern="100" dirty="0">
                <a:latin typeface="等线" panose="02010600030101010101" charset="-122"/>
                <a:cs typeface="Times New Roman" panose="02020603050405020304" pitchFamily="18" charset="0"/>
              </a:rPr>
              <a:t>(&amp;</a:t>
            </a:r>
            <a:r>
              <a:rPr lang="en-US" altLang="zh-CN" kern="100" dirty="0" err="1">
                <a:latin typeface="等线" panose="02010600030101010101" charset="-122"/>
                <a:cs typeface="Times New Roman" panose="02020603050405020304" pitchFamily="18" charset="0"/>
              </a:rPr>
              <a:t>rm</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a:t>
            </a:r>
            <a:r>
              <a:rPr lang="en-US" altLang="zh-CN" kern="100" dirty="0">
                <a:solidFill>
                  <a:srgbClr val="00B050"/>
                </a:solidFill>
                <a:latin typeface="等线" panose="02010600030101010101" charset="-122"/>
                <a:cs typeface="Times New Roman" panose="02020603050405020304" pitchFamily="18" charset="0"/>
              </a:rPr>
              <a:t>// </a:t>
            </a:r>
            <a:r>
              <a:rPr lang="zh-CN" altLang="en-US" kern="100" dirty="0">
                <a:solidFill>
                  <a:srgbClr val="00B050"/>
                </a:solidFill>
                <a:latin typeface="等线" panose="02010600030101010101" charset="-122"/>
                <a:cs typeface="Times New Roman" panose="02020603050405020304" pitchFamily="18" charset="0"/>
              </a:rPr>
              <a:t>返回操作数长度</a:t>
            </a:r>
            <a:endParaRPr lang="zh-CN" altLang="zh-CN"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    return </a:t>
            </a:r>
            <a:r>
              <a:rPr lang="en-US" altLang="zh-CN" kern="100" dirty="0" err="1">
                <a:latin typeface="等线" panose="02010600030101010101" charset="-122"/>
                <a:cs typeface="Times New Roman" panose="02020603050405020304" pitchFamily="18" charset="0"/>
              </a:rPr>
              <a:t>len</a:t>
            </a: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a:p>
            <a:pPr marL="228600" algn="just">
              <a:spcBef>
                <a:spcPts val="250"/>
              </a:spcBef>
            </a:pPr>
            <a:r>
              <a:rPr lang="en-US" altLang="zh-CN" kern="100" dirty="0">
                <a:latin typeface="等线" panose="02010600030101010101" charset="-122"/>
                <a:cs typeface="Times New Roman" panose="02020603050405020304" pitchFamily="18" charset="0"/>
              </a:rPr>
              <a:t>}</a:t>
            </a:r>
            <a:endParaRPr lang="zh-CN" altLang="zh-CN" kern="100" dirty="0">
              <a:latin typeface="等线" panose="02010600030101010101" charset="-122"/>
              <a:cs typeface="Times New Roman" panose="02020603050405020304" pitchFamily="18" charset="0"/>
            </a:endParaRPr>
          </a:p>
        </p:txBody>
      </p:sp>
      <p:sp>
        <p:nvSpPr>
          <p:cNvPr id="5" name="矩形 4"/>
          <p:cNvSpPr/>
          <p:nvPr/>
        </p:nvSpPr>
        <p:spPr>
          <a:xfrm>
            <a:off x="6604000" y="2174074"/>
            <a:ext cx="3987800" cy="2862322"/>
          </a:xfrm>
          <a:prstGeom prst="rect">
            <a:avLst/>
          </a:prstGeom>
          <a:ln>
            <a:solidFill>
              <a:schemeClr val="tx1"/>
            </a:solidFill>
            <a:prstDash val="dash"/>
          </a:ln>
        </p:spPr>
        <p:txBody>
          <a:bodyPr wrap="square">
            <a:spAutoFit/>
          </a:bodyPr>
          <a:lstStyle/>
          <a:p>
            <a:r>
              <a:rPr lang="zh-CN" altLang="en-US" dirty="0"/>
              <a:t>#include "cpu/instr.h"</a:t>
            </a:r>
            <a:endParaRPr lang="zh-CN" altLang="en-US" dirty="0"/>
          </a:p>
          <a:p>
            <a:endParaRPr lang="zh-CN" altLang="en-US" dirty="0"/>
          </a:p>
          <a:p>
            <a:r>
              <a:rPr lang="zh-CN" altLang="en-US" dirty="0"/>
              <a:t>static void instr_execute_2op() {</a:t>
            </a:r>
            <a:endParaRPr lang="zh-CN" altLang="en-US" dirty="0"/>
          </a:p>
          <a:p>
            <a:r>
              <a:rPr lang="zh-CN" altLang="en-US"/>
              <a:t>	operand</a:t>
            </a:r>
            <a:r>
              <a:rPr lang="zh-CN" altLang="en-US" dirty="0"/>
              <a:t>_read(&amp;opr_src);</a:t>
            </a:r>
            <a:endParaRPr lang="zh-CN" altLang="en-US" dirty="0"/>
          </a:p>
          <a:p>
            <a:r>
              <a:rPr lang="zh-CN" altLang="en-US"/>
              <a:t>	opr</a:t>
            </a:r>
            <a:r>
              <a:rPr lang="zh-CN" altLang="en-US" dirty="0"/>
              <a:t>_dest.val = opr_src.val;</a:t>
            </a:r>
            <a:endParaRPr lang="zh-CN" altLang="en-US" dirty="0"/>
          </a:p>
          <a:p>
            <a:r>
              <a:rPr lang="zh-CN" altLang="en-US"/>
              <a:t>	operand</a:t>
            </a:r>
            <a:r>
              <a:rPr lang="zh-CN" altLang="en-US" dirty="0"/>
              <a:t>_write(&amp;opr_dest);</a:t>
            </a:r>
            <a:endParaRPr lang="zh-CN" altLang="en-US" dirty="0"/>
          </a:p>
          <a:p>
            <a:r>
              <a:rPr lang="zh-CN" altLang="en-US" dirty="0"/>
              <a:t>}</a:t>
            </a:r>
            <a:endParaRPr lang="zh-CN" altLang="en-US" dirty="0"/>
          </a:p>
          <a:p>
            <a:endParaRPr lang="zh-CN" altLang="en-US" dirty="0"/>
          </a:p>
          <a:p>
            <a:r>
              <a:rPr lang="zh-CN" altLang="en-US" dirty="0">
                <a:solidFill>
                  <a:srgbClr val="C00000"/>
                </a:solidFill>
              </a:rPr>
              <a:t>make_instr_impl_2op(mov, r, rm, v)</a:t>
            </a:r>
            <a:endParaRPr lang="en-US" altLang="zh-CN" dirty="0">
              <a:solidFill>
                <a:srgbClr val="C00000"/>
              </a:solidFill>
            </a:endParaRPr>
          </a:p>
          <a:p>
            <a:r>
              <a:rPr lang="en-US" altLang="zh-CN" dirty="0">
                <a:solidFill>
                  <a:srgbClr val="C00000"/>
                </a:solidFill>
              </a:rPr>
              <a:t>// </a:t>
            </a:r>
            <a:r>
              <a:rPr lang="zh-CN" altLang="en-US" dirty="0">
                <a:solidFill>
                  <a:srgbClr val="C00000"/>
                </a:solidFill>
              </a:rPr>
              <a:t>将其进行宏展开后，变为。。。</a:t>
            </a:r>
            <a:endParaRPr lang="zh-CN" altLang="en-US" dirty="0">
              <a:solidFill>
                <a:srgbClr val="C00000"/>
              </a:solidFill>
            </a:endParaRPr>
          </a:p>
        </p:txBody>
      </p:sp>
      <p:sp>
        <p:nvSpPr>
          <p:cNvPr id="6" name="文本框 5"/>
          <p:cNvSpPr txBox="1"/>
          <p:nvPr/>
        </p:nvSpPr>
        <p:spPr>
          <a:xfrm>
            <a:off x="6496050" y="4895851"/>
            <a:ext cx="4489450" cy="523220"/>
          </a:xfrm>
          <a:prstGeom prst="rect">
            <a:avLst/>
          </a:prstGeom>
          <a:noFill/>
        </p:spPr>
        <p:txBody>
          <a:bodyPr wrap="square" rtlCol="0">
            <a:spAutoFit/>
          </a:bodyPr>
          <a:lstStyle/>
          <a:p>
            <a:r>
              <a:rPr lang="en-US" altLang="zh-CN" sz="2800" i="1" dirty="0" err="1">
                <a:solidFill>
                  <a:srgbClr val="0070C0"/>
                </a:solidFill>
              </a:rPr>
              <a:t>nemu</a:t>
            </a:r>
            <a:r>
              <a:rPr lang="en-US" altLang="zh-CN" sz="2800" i="1" dirty="0">
                <a:solidFill>
                  <a:srgbClr val="0070C0"/>
                </a:solidFill>
              </a:rPr>
              <a:t>/</a:t>
            </a:r>
            <a:r>
              <a:rPr lang="en-US" altLang="zh-CN" sz="2800" i="1" dirty="0" err="1">
                <a:solidFill>
                  <a:srgbClr val="0070C0"/>
                </a:solidFill>
              </a:rPr>
              <a:t>src</a:t>
            </a:r>
            <a:r>
              <a:rPr lang="en-US" altLang="zh-CN" sz="2800" i="1" dirty="0">
                <a:solidFill>
                  <a:srgbClr val="0070C0"/>
                </a:solidFill>
              </a:rPr>
              <a:t>/</a:t>
            </a:r>
            <a:r>
              <a:rPr lang="en-US" altLang="zh-CN" sz="2800" i="1" dirty="0" err="1">
                <a:solidFill>
                  <a:srgbClr val="0070C0"/>
                </a:solidFill>
              </a:rPr>
              <a:t>cpu</a:t>
            </a:r>
            <a:r>
              <a:rPr lang="en-US" altLang="zh-CN" sz="2800" i="1" dirty="0">
                <a:solidFill>
                  <a:srgbClr val="0070C0"/>
                </a:solidFill>
              </a:rPr>
              <a:t>/</a:t>
            </a:r>
            <a:r>
              <a:rPr lang="en-US" altLang="zh-CN" sz="2800" i="1" dirty="0" err="1">
                <a:solidFill>
                  <a:srgbClr val="0070C0"/>
                </a:solidFill>
              </a:rPr>
              <a:t>instr</a:t>
            </a:r>
            <a:r>
              <a:rPr lang="en-US" altLang="zh-CN" sz="2800" i="1" dirty="0">
                <a:solidFill>
                  <a:srgbClr val="0070C0"/>
                </a:solidFill>
              </a:rPr>
              <a:t>/</a:t>
            </a:r>
            <a:r>
              <a:rPr lang="en-US" altLang="zh-CN" sz="2800" i="1" dirty="0" err="1">
                <a:solidFill>
                  <a:srgbClr val="0070C0"/>
                </a:solidFill>
              </a:rPr>
              <a:t>mov.c</a:t>
            </a:r>
            <a:r>
              <a:rPr lang="en-US" altLang="zh-CN" sz="2800" i="1" dirty="0">
                <a:solidFill>
                  <a:srgbClr val="0070C0"/>
                </a:solidFill>
              </a:rPr>
              <a:t> </a:t>
            </a:r>
            <a:endParaRPr lang="zh-CN" altLang="en-US" sz="2800" i="1" dirty="0">
              <a:solidFill>
                <a:srgbClr val="0070C0"/>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561434" y="2166818"/>
            <a:ext cx="2956379" cy="2962349"/>
          </a:xfrm>
          <a:prstGeom prst="rect">
            <a:avLst/>
          </a:prstGeom>
          <a:ln>
            <a:solidFill>
              <a:schemeClr val="tx1"/>
            </a:solidFill>
            <a:prstDash val="dash"/>
          </a:ln>
        </p:spPr>
        <p:txBody>
          <a:bodyPr wrap="square">
            <a:spAutoFit/>
          </a:bodyPr>
          <a:lstStyle/>
          <a:p>
            <a:pPr marL="228600" algn="just">
              <a:spcBef>
                <a:spcPts val="250"/>
              </a:spcBef>
            </a:pPr>
            <a:r>
              <a:rPr lang="en-US" altLang="zh-CN" sz="1100" kern="100" dirty="0" err="1">
                <a:latin typeface="等线" panose="02010600030101010101" charset="-122"/>
                <a:cs typeface="Times New Roman" panose="02020603050405020304" pitchFamily="18" charset="0"/>
              </a:rPr>
              <a:t>make_instr_func</a:t>
            </a:r>
            <a:r>
              <a:rPr lang="en-US" altLang="zh-CN" sz="1100" kern="100" dirty="0">
                <a:latin typeface="等线" panose="02010600030101010101" charset="-122"/>
                <a:cs typeface="Times New Roman" panose="02020603050405020304" pitchFamily="18" charset="0"/>
              </a:rPr>
              <a:t>(mov_r2rm_v) {</a:t>
            </a:r>
            <a:endParaRPr lang="zh-CN" altLang="zh-CN" sz="1100" kern="100" dirty="0">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OPERAND r, </a:t>
            </a:r>
            <a:r>
              <a:rPr lang="en-US" altLang="zh-CN" sz="1100" kern="100" dirty="0" err="1">
                <a:latin typeface="等线" panose="02010600030101010101" charset="-122"/>
                <a:cs typeface="Times New Roman" panose="02020603050405020304" pitchFamily="18" charset="0"/>
              </a:rPr>
              <a:t>rm</a:t>
            </a:r>
            <a:r>
              <a:rPr lang="en-US" altLang="zh-CN" sz="1100" kern="100" dirty="0">
                <a:latin typeface="等线" panose="02010600030101010101" charset="-122"/>
                <a:cs typeface="Times New Roman" panose="02020603050405020304" pitchFamily="18" charset="0"/>
              </a:rPr>
              <a:t>;</a:t>
            </a:r>
            <a:endParaRPr lang="zh-CN" altLang="zh-CN" sz="1100" kern="100" dirty="0">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a:t>
            </a:r>
            <a:r>
              <a:rPr lang="en-US" altLang="zh-CN" sz="1100" kern="100" dirty="0">
                <a:solidFill>
                  <a:srgbClr val="00B050"/>
                </a:solidFill>
                <a:latin typeface="等线" panose="02010600030101010101" charset="-122"/>
                <a:cs typeface="Times New Roman" panose="02020603050405020304" pitchFamily="18" charset="0"/>
              </a:rPr>
              <a:t>// </a:t>
            </a:r>
            <a:r>
              <a:rPr lang="zh-CN" altLang="zh-CN" sz="1100" kern="100" dirty="0">
                <a:solidFill>
                  <a:srgbClr val="00B050"/>
                </a:solidFill>
                <a:latin typeface="等线" panose="02010600030101010101" charset="-122"/>
                <a:cs typeface="Times New Roman" panose="02020603050405020304" pitchFamily="18" charset="0"/>
              </a:rPr>
              <a:t>指定操作数长度</a:t>
            </a:r>
            <a:endParaRPr lang="zh-CN" altLang="zh-CN" sz="1100"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a:t>
            </a:r>
            <a:r>
              <a:rPr lang="en-US" altLang="zh-CN" sz="1100" kern="100" dirty="0" err="1">
                <a:latin typeface="等线" panose="02010600030101010101" charset="-122"/>
                <a:cs typeface="Times New Roman" panose="02020603050405020304" pitchFamily="18" charset="0"/>
              </a:rPr>
              <a:t>rm.data_size</a:t>
            </a:r>
            <a:r>
              <a:rPr lang="en-US" altLang="zh-CN" sz="1100" kern="100" dirty="0">
                <a:latin typeface="等线" panose="02010600030101010101" charset="-122"/>
                <a:cs typeface="Times New Roman" panose="02020603050405020304" pitchFamily="18" charset="0"/>
              </a:rPr>
              <a:t> = </a:t>
            </a:r>
            <a:r>
              <a:rPr lang="en-US" altLang="zh-CN" sz="1100" kern="100" dirty="0" err="1">
                <a:latin typeface="等线" panose="02010600030101010101" charset="-122"/>
                <a:cs typeface="Times New Roman" panose="02020603050405020304" pitchFamily="18" charset="0"/>
              </a:rPr>
              <a:t>r.data_size</a:t>
            </a:r>
            <a:r>
              <a:rPr lang="en-US" altLang="zh-CN" sz="1100" kern="100" dirty="0">
                <a:latin typeface="等线" panose="02010600030101010101" charset="-122"/>
                <a:cs typeface="Times New Roman" panose="02020603050405020304" pitchFamily="18" charset="0"/>
              </a:rPr>
              <a:t> = </a:t>
            </a:r>
            <a:r>
              <a:rPr lang="en-US" altLang="zh-CN" sz="1100" kern="100" dirty="0" err="1">
                <a:latin typeface="等线" panose="02010600030101010101" charset="-122"/>
                <a:cs typeface="Times New Roman" panose="02020603050405020304" pitchFamily="18" charset="0"/>
              </a:rPr>
              <a:t>data_size</a:t>
            </a:r>
            <a:r>
              <a:rPr lang="en-US" altLang="zh-CN" sz="1100" kern="100" dirty="0">
                <a:latin typeface="等线" panose="02010600030101010101" charset="-122"/>
                <a:cs typeface="Times New Roman" panose="02020603050405020304" pitchFamily="18" charset="0"/>
              </a:rPr>
              <a:t>;  </a:t>
            </a:r>
            <a:endParaRPr lang="zh-CN" altLang="zh-CN" sz="1100" kern="100" dirty="0">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a:t>
            </a:r>
            <a:r>
              <a:rPr lang="en-US" altLang="zh-CN" sz="1100" kern="100" dirty="0" err="1">
                <a:latin typeface="等线" panose="02010600030101010101" charset="-122"/>
                <a:cs typeface="Times New Roman" panose="02020603050405020304" pitchFamily="18" charset="0"/>
              </a:rPr>
              <a:t>int</a:t>
            </a:r>
            <a:r>
              <a:rPr lang="en-US" altLang="zh-CN" sz="1100" kern="100" dirty="0">
                <a:latin typeface="等线" panose="02010600030101010101" charset="-122"/>
                <a:cs typeface="Times New Roman" panose="02020603050405020304" pitchFamily="18" charset="0"/>
              </a:rPr>
              <a:t> </a:t>
            </a:r>
            <a:r>
              <a:rPr lang="en-US" altLang="zh-CN" sz="1100" kern="100" dirty="0" err="1">
                <a:latin typeface="等线" panose="02010600030101010101" charset="-122"/>
                <a:cs typeface="Times New Roman" panose="02020603050405020304" pitchFamily="18" charset="0"/>
              </a:rPr>
              <a:t>len</a:t>
            </a:r>
            <a:r>
              <a:rPr lang="en-US" altLang="zh-CN" sz="1100" kern="100" dirty="0">
                <a:latin typeface="等线" panose="02010600030101010101" charset="-122"/>
                <a:cs typeface="Times New Roman" panose="02020603050405020304" pitchFamily="18" charset="0"/>
              </a:rPr>
              <a:t> = 1;</a:t>
            </a:r>
            <a:endParaRPr lang="en-US" altLang="zh-CN" sz="1100" kern="100" dirty="0">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a:t>
            </a:r>
            <a:r>
              <a:rPr lang="en-US" altLang="zh-CN" sz="1100" kern="100" dirty="0">
                <a:solidFill>
                  <a:srgbClr val="00B050"/>
                </a:solidFill>
                <a:latin typeface="等线" panose="02010600030101010101" charset="-122"/>
                <a:cs typeface="Times New Roman" panose="02020603050405020304" pitchFamily="18" charset="0"/>
              </a:rPr>
              <a:t>// </a:t>
            </a:r>
            <a:r>
              <a:rPr lang="zh-CN" altLang="zh-CN" sz="1100" kern="100" dirty="0">
                <a:solidFill>
                  <a:srgbClr val="00B050"/>
                </a:solidFill>
                <a:latin typeface="等线" panose="02010600030101010101" charset="-122"/>
                <a:cs typeface="Times New Roman" panose="02020603050405020304" pitchFamily="18" charset="0"/>
              </a:rPr>
              <a:t>操作数寻址</a:t>
            </a:r>
            <a:endParaRPr lang="zh-CN" altLang="zh-CN" sz="1100"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a:t>
            </a:r>
            <a:r>
              <a:rPr lang="en-US" altLang="zh-CN" sz="1100" kern="100" dirty="0" err="1">
                <a:latin typeface="等线" panose="02010600030101010101" charset="-122"/>
                <a:cs typeface="Times New Roman" panose="02020603050405020304" pitchFamily="18" charset="0"/>
              </a:rPr>
              <a:t>len</a:t>
            </a:r>
            <a:r>
              <a:rPr lang="en-US" altLang="zh-CN" sz="1100" kern="100" dirty="0">
                <a:latin typeface="等线" panose="02010600030101010101" charset="-122"/>
                <a:cs typeface="Times New Roman" panose="02020603050405020304" pitchFamily="18" charset="0"/>
              </a:rPr>
              <a:t> += </a:t>
            </a:r>
            <a:r>
              <a:rPr lang="en-US" altLang="zh-CN" sz="1100" kern="100" dirty="0" err="1">
                <a:latin typeface="等线" panose="02010600030101010101" charset="-122"/>
                <a:cs typeface="Times New Roman" panose="02020603050405020304" pitchFamily="18" charset="0"/>
              </a:rPr>
              <a:t>modrm_r_rm</a:t>
            </a:r>
            <a:r>
              <a:rPr lang="en-US" altLang="zh-CN" sz="1100" kern="100" dirty="0">
                <a:latin typeface="等线" panose="02010600030101010101" charset="-122"/>
                <a:cs typeface="Times New Roman" panose="02020603050405020304" pitchFamily="18" charset="0"/>
              </a:rPr>
              <a:t>(</a:t>
            </a:r>
            <a:r>
              <a:rPr lang="en-US" altLang="zh-CN" sz="1100" kern="100" dirty="0" err="1">
                <a:latin typeface="等线" panose="02010600030101010101" charset="-122"/>
                <a:cs typeface="Times New Roman" panose="02020603050405020304" pitchFamily="18" charset="0"/>
              </a:rPr>
              <a:t>eip</a:t>
            </a:r>
            <a:r>
              <a:rPr lang="en-US" altLang="zh-CN" sz="1100" kern="100" dirty="0">
                <a:latin typeface="等线" panose="02010600030101010101" charset="-122"/>
                <a:cs typeface="Times New Roman" panose="02020603050405020304" pitchFamily="18" charset="0"/>
              </a:rPr>
              <a:t> + 1, &amp;r, &amp;</a:t>
            </a:r>
            <a:r>
              <a:rPr lang="en-US" altLang="zh-CN" sz="1100" kern="100" dirty="0" err="1">
                <a:latin typeface="等线" panose="02010600030101010101" charset="-122"/>
                <a:cs typeface="Times New Roman" panose="02020603050405020304" pitchFamily="18" charset="0"/>
              </a:rPr>
              <a:t>rm</a:t>
            </a:r>
            <a:r>
              <a:rPr lang="en-US" altLang="zh-CN" sz="1100" kern="100" dirty="0">
                <a:latin typeface="等线" panose="02010600030101010101" charset="-122"/>
                <a:cs typeface="Times New Roman" panose="02020603050405020304" pitchFamily="18" charset="0"/>
              </a:rPr>
              <a:t>); </a:t>
            </a:r>
            <a:endParaRPr lang="en-US" altLang="zh-CN" sz="1100" kern="100" dirty="0">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a:t>
            </a:r>
            <a:r>
              <a:rPr lang="en-US" altLang="zh-CN" sz="1100" kern="100" dirty="0">
                <a:solidFill>
                  <a:srgbClr val="00B050"/>
                </a:solidFill>
                <a:latin typeface="等线" panose="02010600030101010101" charset="-122"/>
                <a:cs typeface="Times New Roman" panose="02020603050405020304" pitchFamily="18" charset="0"/>
              </a:rPr>
              <a:t>// </a:t>
            </a:r>
            <a:r>
              <a:rPr lang="zh-CN" altLang="en-US" sz="1100" kern="100" dirty="0">
                <a:solidFill>
                  <a:srgbClr val="00B050"/>
                </a:solidFill>
                <a:latin typeface="等线" panose="02010600030101010101" charset="-122"/>
                <a:cs typeface="Times New Roman" panose="02020603050405020304" pitchFamily="18" charset="0"/>
              </a:rPr>
              <a:t>执行</a:t>
            </a:r>
            <a:r>
              <a:rPr lang="en-US" altLang="zh-CN" sz="1100" kern="100" dirty="0" err="1">
                <a:solidFill>
                  <a:srgbClr val="00B050"/>
                </a:solidFill>
                <a:latin typeface="等线" panose="02010600030101010101" charset="-122"/>
                <a:cs typeface="Times New Roman" panose="02020603050405020304" pitchFamily="18" charset="0"/>
              </a:rPr>
              <a:t>mov</a:t>
            </a:r>
            <a:r>
              <a:rPr lang="zh-CN" altLang="en-US" sz="1100" kern="100" dirty="0">
                <a:solidFill>
                  <a:srgbClr val="00B050"/>
                </a:solidFill>
                <a:latin typeface="等线" panose="02010600030101010101" charset="-122"/>
                <a:cs typeface="Times New Roman" panose="02020603050405020304" pitchFamily="18" charset="0"/>
              </a:rPr>
              <a:t>操作</a:t>
            </a:r>
            <a:r>
              <a:rPr lang="en-US" altLang="zh-CN" sz="1100" kern="100" dirty="0">
                <a:solidFill>
                  <a:srgbClr val="00B050"/>
                </a:solidFill>
                <a:latin typeface="等线" panose="02010600030101010101" charset="-122"/>
                <a:cs typeface="Times New Roman" panose="02020603050405020304" pitchFamily="18" charset="0"/>
              </a:rPr>
              <a:t> </a:t>
            </a:r>
            <a:endParaRPr lang="zh-CN" altLang="zh-CN" sz="1100"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a:t>
            </a:r>
            <a:r>
              <a:rPr lang="en-US" altLang="zh-CN" sz="1100" kern="100" dirty="0" err="1">
                <a:latin typeface="等线" panose="02010600030101010101" charset="-122"/>
                <a:cs typeface="Times New Roman" panose="02020603050405020304" pitchFamily="18" charset="0"/>
              </a:rPr>
              <a:t>operand_read</a:t>
            </a:r>
            <a:r>
              <a:rPr lang="en-US" altLang="zh-CN" sz="1100" kern="100" dirty="0">
                <a:latin typeface="等线" panose="02010600030101010101" charset="-122"/>
                <a:cs typeface="Times New Roman" panose="02020603050405020304" pitchFamily="18" charset="0"/>
              </a:rPr>
              <a:t>(&amp;r);</a:t>
            </a:r>
            <a:endParaRPr lang="zh-CN" altLang="zh-CN" sz="1100" kern="100" dirty="0">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a:t>
            </a:r>
            <a:r>
              <a:rPr lang="en-US" altLang="zh-CN" sz="1100" kern="100" dirty="0" err="1">
                <a:latin typeface="等线" panose="02010600030101010101" charset="-122"/>
                <a:cs typeface="Times New Roman" panose="02020603050405020304" pitchFamily="18" charset="0"/>
              </a:rPr>
              <a:t>rm.val</a:t>
            </a:r>
            <a:r>
              <a:rPr lang="en-US" altLang="zh-CN" sz="1100" kern="100" dirty="0">
                <a:latin typeface="等线" panose="02010600030101010101" charset="-122"/>
                <a:cs typeface="Times New Roman" panose="02020603050405020304" pitchFamily="18" charset="0"/>
              </a:rPr>
              <a:t> = </a:t>
            </a:r>
            <a:r>
              <a:rPr lang="en-US" altLang="zh-CN" sz="1100" kern="100" dirty="0" err="1">
                <a:latin typeface="等线" panose="02010600030101010101" charset="-122"/>
                <a:cs typeface="Times New Roman" panose="02020603050405020304" pitchFamily="18" charset="0"/>
              </a:rPr>
              <a:t>r.val</a:t>
            </a:r>
            <a:r>
              <a:rPr lang="en-US" altLang="zh-CN" sz="1100" kern="100" dirty="0">
                <a:latin typeface="等线" panose="02010600030101010101" charset="-122"/>
                <a:cs typeface="Times New Roman" panose="02020603050405020304" pitchFamily="18" charset="0"/>
              </a:rPr>
              <a:t>;</a:t>
            </a:r>
            <a:endParaRPr lang="zh-CN" altLang="zh-CN" sz="1100" kern="100" dirty="0">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a:t>
            </a:r>
            <a:r>
              <a:rPr lang="en-US" altLang="zh-CN" sz="1100" kern="100" dirty="0" err="1">
                <a:latin typeface="等线" panose="02010600030101010101" charset="-122"/>
                <a:cs typeface="Times New Roman" panose="02020603050405020304" pitchFamily="18" charset="0"/>
              </a:rPr>
              <a:t>operand_write</a:t>
            </a:r>
            <a:r>
              <a:rPr lang="en-US" altLang="zh-CN" sz="1100" kern="100" dirty="0">
                <a:latin typeface="等线" panose="02010600030101010101" charset="-122"/>
                <a:cs typeface="Times New Roman" panose="02020603050405020304" pitchFamily="18" charset="0"/>
              </a:rPr>
              <a:t>(&amp;</a:t>
            </a:r>
            <a:r>
              <a:rPr lang="en-US" altLang="zh-CN" sz="1100" kern="100" dirty="0" err="1">
                <a:latin typeface="等线" panose="02010600030101010101" charset="-122"/>
                <a:cs typeface="Times New Roman" panose="02020603050405020304" pitchFamily="18" charset="0"/>
              </a:rPr>
              <a:t>rm</a:t>
            </a:r>
            <a:r>
              <a:rPr lang="en-US" altLang="zh-CN" sz="1100" kern="100" dirty="0">
                <a:latin typeface="等线" panose="02010600030101010101" charset="-122"/>
                <a:cs typeface="Times New Roman" panose="02020603050405020304" pitchFamily="18" charset="0"/>
              </a:rPr>
              <a:t>);</a:t>
            </a:r>
            <a:endParaRPr lang="zh-CN" altLang="zh-CN" sz="1100" kern="100" dirty="0">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a:t>
            </a:r>
            <a:r>
              <a:rPr lang="en-US" altLang="zh-CN" sz="1100" kern="100" dirty="0">
                <a:solidFill>
                  <a:srgbClr val="00B050"/>
                </a:solidFill>
                <a:latin typeface="等线" panose="02010600030101010101" charset="-122"/>
                <a:cs typeface="Times New Roman" panose="02020603050405020304" pitchFamily="18" charset="0"/>
              </a:rPr>
              <a:t>// </a:t>
            </a:r>
            <a:r>
              <a:rPr lang="zh-CN" altLang="en-US" sz="1100" kern="100" dirty="0">
                <a:solidFill>
                  <a:srgbClr val="00B050"/>
                </a:solidFill>
                <a:latin typeface="等线" panose="02010600030101010101" charset="-122"/>
                <a:cs typeface="Times New Roman" panose="02020603050405020304" pitchFamily="18" charset="0"/>
              </a:rPr>
              <a:t>返回操作数长度</a:t>
            </a:r>
            <a:endParaRPr lang="zh-CN" altLang="zh-CN" sz="1100"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return </a:t>
            </a:r>
            <a:r>
              <a:rPr lang="en-US" altLang="zh-CN" sz="1100" kern="100" dirty="0" err="1">
                <a:latin typeface="等线" panose="02010600030101010101" charset="-122"/>
                <a:cs typeface="Times New Roman" panose="02020603050405020304" pitchFamily="18" charset="0"/>
              </a:rPr>
              <a:t>len</a:t>
            </a:r>
            <a:r>
              <a:rPr lang="en-US" altLang="zh-CN" sz="1100" kern="100" dirty="0">
                <a:latin typeface="等线" panose="02010600030101010101" charset="-122"/>
                <a:cs typeface="Times New Roman" panose="02020603050405020304" pitchFamily="18" charset="0"/>
              </a:rPr>
              <a:t>;</a:t>
            </a:r>
            <a:endParaRPr lang="zh-CN" altLang="zh-CN" sz="1100" kern="100" dirty="0">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a:t>
            </a:r>
            <a:endParaRPr lang="zh-CN" altLang="zh-CN" sz="1100" kern="100" dirty="0">
              <a:latin typeface="等线" panose="02010600030101010101" charset="-122"/>
              <a:cs typeface="Times New Roman" panose="02020603050405020304" pitchFamily="18" charset="0"/>
            </a:endParaRPr>
          </a:p>
        </p:txBody>
      </p:sp>
      <p:sp>
        <p:nvSpPr>
          <p:cNvPr id="5" name="矩形 4"/>
          <p:cNvSpPr/>
          <p:nvPr/>
        </p:nvSpPr>
        <p:spPr>
          <a:xfrm>
            <a:off x="4643667" y="1399671"/>
            <a:ext cx="6430733" cy="5355312"/>
          </a:xfrm>
          <a:prstGeom prst="rect">
            <a:avLst/>
          </a:prstGeom>
          <a:ln>
            <a:solidFill>
              <a:schemeClr val="tx1"/>
            </a:solidFill>
            <a:prstDash val="dash"/>
          </a:ln>
        </p:spPr>
        <p:txBody>
          <a:bodyPr wrap="square">
            <a:spAutoFit/>
          </a:bodyPr>
          <a:lstStyle/>
          <a:p>
            <a:r>
              <a:rPr lang="zh-CN" altLang="en-US" dirty="0"/>
              <a:t>#include "cpu/instr.h"</a:t>
            </a:r>
            <a:endParaRPr lang="zh-CN" altLang="en-US" dirty="0"/>
          </a:p>
          <a:p>
            <a:endParaRPr lang="zh-CN" altLang="en-US" dirty="0"/>
          </a:p>
          <a:p>
            <a:r>
              <a:rPr lang="zh-CN" altLang="en-US" dirty="0"/>
              <a:t>static void instr_execute_2op() {</a:t>
            </a:r>
            <a:endParaRPr lang="zh-CN" altLang="en-US" dirty="0"/>
          </a:p>
          <a:p>
            <a:r>
              <a:rPr lang="zh-CN" altLang="en-US"/>
              <a:t>	operand</a:t>
            </a:r>
            <a:r>
              <a:rPr lang="zh-CN" altLang="en-US" dirty="0"/>
              <a:t>_read(&amp;opr_src);</a:t>
            </a:r>
            <a:endParaRPr lang="zh-CN" altLang="en-US" dirty="0"/>
          </a:p>
          <a:p>
            <a:r>
              <a:rPr lang="zh-CN" altLang="en-US"/>
              <a:t>	opr</a:t>
            </a:r>
            <a:r>
              <a:rPr lang="zh-CN" altLang="en-US" dirty="0"/>
              <a:t>_dest.val = opr_src.val;</a:t>
            </a:r>
            <a:endParaRPr lang="zh-CN" altLang="en-US" dirty="0"/>
          </a:p>
          <a:p>
            <a:r>
              <a:rPr lang="zh-CN" altLang="en-US"/>
              <a:t>	operand</a:t>
            </a:r>
            <a:r>
              <a:rPr lang="zh-CN" altLang="en-US" dirty="0"/>
              <a:t>_write(&amp;opr_dest);</a:t>
            </a:r>
            <a:endParaRPr lang="zh-CN" altLang="en-US" dirty="0"/>
          </a:p>
          <a:p>
            <a:r>
              <a:rPr lang="zh-CN" altLang="en-US" dirty="0"/>
              <a:t>}</a:t>
            </a:r>
            <a:endParaRPr lang="zh-CN" altLang="en-US" dirty="0"/>
          </a:p>
          <a:p>
            <a:endParaRPr lang="zh-CN" altLang="en-US" dirty="0"/>
          </a:p>
          <a:p>
            <a:r>
              <a:rPr lang="zh-CN" altLang="en-US" dirty="0">
                <a:solidFill>
                  <a:srgbClr val="C00000"/>
                </a:solidFill>
              </a:rPr>
              <a:t>make_instr_impl_2op(mov, r, rm, v)</a:t>
            </a:r>
            <a:endParaRPr lang="en-US" altLang="zh-CN" dirty="0">
              <a:solidFill>
                <a:srgbClr val="C00000"/>
              </a:solidFill>
            </a:endParaRPr>
          </a:p>
          <a:p>
            <a:r>
              <a:rPr lang="en-US" altLang="zh-CN" dirty="0">
                <a:solidFill>
                  <a:srgbClr val="C00000"/>
                </a:solidFill>
              </a:rPr>
              <a:t>// </a:t>
            </a:r>
            <a:r>
              <a:rPr lang="zh-CN" altLang="en-US" dirty="0">
                <a:solidFill>
                  <a:srgbClr val="C00000"/>
                </a:solidFill>
              </a:rPr>
              <a:t>将其进行宏展开后，变为。。。</a:t>
            </a:r>
            <a:endParaRPr lang="en-US" altLang="zh-CN" dirty="0">
              <a:solidFill>
                <a:srgbClr val="C00000"/>
              </a:solidFill>
            </a:endParaRPr>
          </a:p>
          <a:p>
            <a:r>
              <a:rPr lang="zh-CN" altLang="en-US" dirty="0">
                <a:solidFill>
                  <a:schemeClr val="tx1">
                    <a:lumMod val="50000"/>
                    <a:lumOff val="50000"/>
                  </a:schemeClr>
                </a:solidFill>
              </a:rPr>
              <a:t>make_instr_</a:t>
            </a:r>
            <a:r>
              <a:rPr lang="en-US" altLang="zh-CN" dirty="0" err="1">
                <a:solidFill>
                  <a:schemeClr val="tx1">
                    <a:lumMod val="50000"/>
                    <a:lumOff val="50000"/>
                  </a:schemeClr>
                </a:solidFill>
              </a:rPr>
              <a:t>func</a:t>
            </a:r>
            <a:r>
              <a:rPr lang="zh-CN" altLang="en-US" dirty="0">
                <a:solidFill>
                  <a:schemeClr val="tx1">
                    <a:lumMod val="50000"/>
                    <a:lumOff val="50000"/>
                  </a:schemeClr>
                </a:solidFill>
              </a:rPr>
              <a:t>(mov</a:t>
            </a:r>
            <a:r>
              <a:rPr lang="en-US" altLang="zh-CN" dirty="0">
                <a:solidFill>
                  <a:schemeClr val="tx1">
                    <a:lumMod val="50000"/>
                    <a:lumOff val="50000"/>
                  </a:schemeClr>
                </a:solidFill>
              </a:rPr>
              <a:t>_</a:t>
            </a:r>
            <a:r>
              <a:rPr lang="zh-CN" altLang="en-US" dirty="0">
                <a:solidFill>
                  <a:schemeClr val="tx1">
                    <a:lumMod val="50000"/>
                    <a:lumOff val="50000"/>
                  </a:schemeClr>
                </a:solidFill>
              </a:rPr>
              <a:t> r</a:t>
            </a:r>
            <a:r>
              <a:rPr lang="en-US" altLang="zh-CN" dirty="0">
                <a:solidFill>
                  <a:schemeClr val="tx1">
                    <a:lumMod val="50000"/>
                    <a:lumOff val="50000"/>
                  </a:schemeClr>
                </a:solidFill>
              </a:rPr>
              <a:t>2</a:t>
            </a:r>
            <a:r>
              <a:rPr lang="zh-CN" altLang="en-US" dirty="0">
                <a:solidFill>
                  <a:schemeClr val="tx1">
                    <a:lumMod val="50000"/>
                    <a:lumOff val="50000"/>
                  </a:schemeClr>
                </a:solidFill>
              </a:rPr>
              <a:t>rm</a:t>
            </a:r>
            <a:r>
              <a:rPr lang="en-US" altLang="zh-CN" dirty="0">
                <a:solidFill>
                  <a:schemeClr val="tx1">
                    <a:lumMod val="50000"/>
                    <a:lumOff val="50000"/>
                  </a:schemeClr>
                </a:solidFill>
              </a:rPr>
              <a:t>_</a:t>
            </a:r>
            <a:r>
              <a:rPr lang="zh-CN" altLang="en-US" dirty="0">
                <a:solidFill>
                  <a:schemeClr val="tx1">
                    <a:lumMod val="50000"/>
                    <a:lumOff val="50000"/>
                  </a:schemeClr>
                </a:solidFill>
              </a:rPr>
              <a:t>v) </a:t>
            </a:r>
            <a:r>
              <a:rPr lang="en-US" altLang="zh-CN" dirty="0">
                <a:solidFill>
                  <a:schemeClr val="tx1">
                    <a:lumMod val="50000"/>
                    <a:lumOff val="50000"/>
                  </a:schemeClr>
                </a:solidFill>
              </a:rPr>
              <a:t>{</a:t>
            </a:r>
            <a:endParaRPr lang="zh-CN" altLang="en-US" dirty="0">
              <a:solidFill>
                <a:schemeClr val="tx1">
                  <a:lumMod val="50000"/>
                  <a:lumOff val="50000"/>
                </a:schemeClr>
              </a:solidFill>
            </a:endParaRPr>
          </a:p>
          <a:p>
            <a:r>
              <a:rPr lang="en-US" altLang="zh-CN">
                <a:solidFill>
                  <a:schemeClr val="tx1">
                    <a:lumMod val="50000"/>
                    <a:lumOff val="50000"/>
                  </a:schemeClr>
                </a:solidFill>
              </a:rPr>
              <a:t>	</a:t>
            </a:r>
            <a:r>
              <a:rPr lang="zh-CN" altLang="en-US">
                <a:solidFill>
                  <a:schemeClr val="tx1">
                    <a:lumMod val="50000"/>
                    <a:lumOff val="50000"/>
                  </a:schemeClr>
                </a:solidFill>
              </a:rPr>
              <a:t>int </a:t>
            </a:r>
            <a:r>
              <a:rPr lang="zh-CN" altLang="en-US" dirty="0">
                <a:solidFill>
                  <a:schemeClr val="tx1">
                    <a:lumMod val="50000"/>
                    <a:lumOff val="50000"/>
                  </a:schemeClr>
                </a:solidFill>
              </a:rPr>
              <a:t>len = 1;</a:t>
            </a:r>
            <a:endParaRPr lang="en-US" altLang="zh-CN" dirty="0">
              <a:solidFill>
                <a:schemeClr val="tx1">
                  <a:lumMod val="50000"/>
                  <a:lumOff val="50000"/>
                </a:schemeClr>
              </a:solidFill>
            </a:endParaRPr>
          </a:p>
          <a:p>
            <a:r>
              <a:rPr lang="en-US" altLang="zh-CN">
                <a:solidFill>
                  <a:schemeClr val="tx1">
                    <a:lumMod val="50000"/>
                    <a:lumOff val="50000"/>
                  </a:schemeClr>
                </a:solidFill>
              </a:rPr>
              <a:t>	opr_src.data_size </a:t>
            </a:r>
            <a:r>
              <a:rPr lang="en-US" altLang="zh-CN" dirty="0">
                <a:solidFill>
                  <a:schemeClr val="tx1">
                    <a:lumMod val="50000"/>
                    <a:lumOff val="50000"/>
                  </a:schemeClr>
                </a:solidFill>
              </a:rPr>
              <a:t>= </a:t>
            </a:r>
            <a:r>
              <a:rPr lang="en-US" altLang="zh-CN" dirty="0" err="1">
                <a:solidFill>
                  <a:schemeClr val="tx1">
                    <a:lumMod val="50000"/>
                    <a:lumOff val="50000"/>
                  </a:schemeClr>
                </a:solidFill>
              </a:rPr>
              <a:t>opr_dest.data_size</a:t>
            </a:r>
            <a:r>
              <a:rPr lang="en-US" altLang="zh-CN" dirty="0">
                <a:solidFill>
                  <a:schemeClr val="tx1">
                    <a:lumMod val="50000"/>
                    <a:lumOff val="50000"/>
                  </a:schemeClr>
                </a:solidFill>
              </a:rPr>
              <a:t> = </a:t>
            </a:r>
            <a:r>
              <a:rPr lang="en-US" altLang="zh-CN" dirty="0" err="1">
                <a:solidFill>
                  <a:schemeClr val="tx1">
                    <a:lumMod val="50000"/>
                    <a:lumOff val="50000"/>
                  </a:schemeClr>
                </a:solidFill>
              </a:rPr>
              <a:t>data_size</a:t>
            </a:r>
            <a:r>
              <a:rPr lang="en-US" altLang="zh-CN" dirty="0">
                <a:solidFill>
                  <a:schemeClr val="tx1">
                    <a:lumMod val="50000"/>
                    <a:lumOff val="50000"/>
                  </a:schemeClr>
                </a:solidFill>
              </a:rPr>
              <a:t>;</a:t>
            </a:r>
            <a:endParaRPr lang="zh-CN" altLang="en-US" dirty="0">
              <a:solidFill>
                <a:schemeClr val="tx1">
                  <a:lumMod val="50000"/>
                  <a:lumOff val="50000"/>
                </a:schemeClr>
              </a:solidFill>
            </a:endParaRPr>
          </a:p>
          <a:p>
            <a:r>
              <a:rPr lang="en-US" altLang="zh-CN">
                <a:solidFill>
                  <a:schemeClr val="tx1">
                    <a:lumMod val="50000"/>
                    <a:lumOff val="50000"/>
                  </a:schemeClr>
                </a:solidFill>
              </a:rPr>
              <a:t>	len </a:t>
            </a:r>
            <a:r>
              <a:rPr lang="en-US" altLang="zh-CN" dirty="0">
                <a:solidFill>
                  <a:schemeClr val="tx1">
                    <a:lumMod val="50000"/>
                    <a:lumOff val="50000"/>
                  </a:schemeClr>
                </a:solidFill>
              </a:rPr>
              <a:t>+= </a:t>
            </a:r>
            <a:r>
              <a:rPr lang="en-US" altLang="zh-CN" dirty="0" err="1">
                <a:solidFill>
                  <a:schemeClr val="tx1">
                    <a:lumMod val="50000"/>
                    <a:lumOff val="50000"/>
                  </a:schemeClr>
                </a:solidFill>
              </a:rPr>
              <a:t>modrm_r_rm</a:t>
            </a:r>
            <a:r>
              <a:rPr lang="en-US" altLang="zh-CN" dirty="0">
                <a:solidFill>
                  <a:schemeClr val="tx1">
                    <a:lumMod val="50000"/>
                    <a:lumOff val="50000"/>
                  </a:schemeClr>
                </a:solidFill>
              </a:rPr>
              <a:t>(</a:t>
            </a:r>
            <a:r>
              <a:rPr lang="en-US" altLang="zh-CN" dirty="0" err="1">
                <a:solidFill>
                  <a:schemeClr val="tx1">
                    <a:lumMod val="50000"/>
                    <a:lumOff val="50000"/>
                  </a:schemeClr>
                </a:solidFill>
              </a:rPr>
              <a:t>eip</a:t>
            </a:r>
            <a:r>
              <a:rPr lang="en-US" altLang="zh-CN" dirty="0">
                <a:solidFill>
                  <a:schemeClr val="tx1">
                    <a:lumMod val="50000"/>
                    <a:lumOff val="50000"/>
                  </a:schemeClr>
                </a:solidFill>
              </a:rPr>
              <a:t> + 1, &amp;</a:t>
            </a:r>
            <a:r>
              <a:rPr lang="en-US" altLang="zh-CN" dirty="0" err="1">
                <a:solidFill>
                  <a:schemeClr val="tx1">
                    <a:lumMod val="50000"/>
                    <a:lumOff val="50000"/>
                  </a:schemeClr>
                </a:solidFill>
              </a:rPr>
              <a:t>opr_src</a:t>
            </a:r>
            <a:r>
              <a:rPr lang="en-US" altLang="zh-CN" dirty="0">
                <a:solidFill>
                  <a:schemeClr val="tx1">
                    <a:lumMod val="50000"/>
                    <a:lumOff val="50000"/>
                  </a:schemeClr>
                </a:solidFill>
              </a:rPr>
              <a:t>, &amp;</a:t>
            </a:r>
            <a:r>
              <a:rPr lang="en-US" altLang="zh-CN" dirty="0" err="1">
                <a:solidFill>
                  <a:schemeClr val="tx1">
                    <a:lumMod val="50000"/>
                    <a:lumOff val="50000"/>
                  </a:schemeClr>
                </a:solidFill>
              </a:rPr>
              <a:t>opr_dest</a:t>
            </a:r>
            <a:r>
              <a:rPr lang="en-US" altLang="zh-CN" dirty="0">
                <a:solidFill>
                  <a:schemeClr val="tx1">
                    <a:lumMod val="50000"/>
                    <a:lumOff val="50000"/>
                  </a:schemeClr>
                </a:solidFill>
              </a:rPr>
              <a:t>);</a:t>
            </a:r>
            <a:endParaRPr lang="zh-CN" altLang="en-US" dirty="0">
              <a:solidFill>
                <a:schemeClr val="tx1">
                  <a:lumMod val="50000"/>
                  <a:lumOff val="50000"/>
                </a:schemeClr>
              </a:solidFill>
            </a:endParaRPr>
          </a:p>
          <a:p>
            <a:r>
              <a:rPr lang="en-US" altLang="zh-CN">
                <a:solidFill>
                  <a:schemeClr val="tx1">
                    <a:lumMod val="50000"/>
                    <a:lumOff val="50000"/>
                  </a:schemeClr>
                </a:solidFill>
              </a:rPr>
              <a:t>	</a:t>
            </a:r>
            <a:r>
              <a:rPr lang="zh-CN" altLang="en-US">
                <a:solidFill>
                  <a:schemeClr val="tx1">
                    <a:lumMod val="50000"/>
                    <a:lumOff val="50000"/>
                  </a:schemeClr>
                </a:solidFill>
              </a:rPr>
              <a:t>print</a:t>
            </a:r>
            <a:r>
              <a:rPr lang="zh-CN" altLang="en-US" dirty="0">
                <a:solidFill>
                  <a:schemeClr val="tx1">
                    <a:lumMod val="50000"/>
                    <a:lumOff val="50000"/>
                  </a:schemeClr>
                </a:solidFill>
              </a:rPr>
              <a:t>_asm_2(</a:t>
            </a:r>
            <a:r>
              <a:rPr lang="en-US" altLang="zh-CN" dirty="0">
                <a:solidFill>
                  <a:schemeClr val="tx1">
                    <a:lumMod val="50000"/>
                    <a:lumOff val="50000"/>
                  </a:schemeClr>
                </a:solidFill>
              </a:rPr>
              <a:t>…</a:t>
            </a:r>
            <a:r>
              <a:rPr lang="zh-CN" altLang="en-US" dirty="0">
                <a:solidFill>
                  <a:schemeClr val="tx1">
                    <a:lumMod val="50000"/>
                    <a:lumOff val="50000"/>
                  </a:schemeClr>
                </a:solidFill>
              </a:rPr>
              <a:t>);</a:t>
            </a:r>
            <a:endParaRPr lang="en-US" altLang="zh-CN" dirty="0">
              <a:solidFill>
                <a:schemeClr val="tx1">
                  <a:lumMod val="50000"/>
                  <a:lumOff val="50000"/>
                </a:schemeClr>
              </a:solidFill>
            </a:endParaRPr>
          </a:p>
          <a:p>
            <a:r>
              <a:rPr lang="en-US" altLang="zh-CN">
                <a:solidFill>
                  <a:schemeClr val="tx1">
                    <a:lumMod val="50000"/>
                    <a:lumOff val="50000"/>
                  </a:schemeClr>
                </a:solidFill>
              </a:rPr>
              <a:t>	</a:t>
            </a:r>
            <a:r>
              <a:rPr lang="zh-CN" altLang="en-US">
                <a:solidFill>
                  <a:schemeClr val="tx1">
                    <a:lumMod val="50000"/>
                    <a:lumOff val="50000"/>
                  </a:schemeClr>
                </a:solidFill>
              </a:rPr>
              <a:t>instr</a:t>
            </a:r>
            <a:r>
              <a:rPr lang="zh-CN" altLang="en-US" dirty="0">
                <a:solidFill>
                  <a:schemeClr val="tx1">
                    <a:lumMod val="50000"/>
                    <a:lumOff val="50000"/>
                  </a:schemeClr>
                </a:solidFill>
              </a:rPr>
              <a:t>_execute_2op()</a:t>
            </a:r>
            <a:r>
              <a:rPr lang="zh-CN" altLang="en-US">
                <a:solidFill>
                  <a:schemeClr val="tx1">
                    <a:lumMod val="50000"/>
                    <a:lumOff val="50000"/>
                  </a:schemeClr>
                </a:solidFill>
              </a:rPr>
              <a:t>; 		</a:t>
            </a:r>
            <a:endParaRPr lang="en-US" altLang="zh-CN" dirty="0">
              <a:solidFill>
                <a:schemeClr val="tx1">
                  <a:lumMod val="50000"/>
                  <a:lumOff val="50000"/>
                </a:schemeClr>
              </a:solidFill>
            </a:endParaRPr>
          </a:p>
          <a:p>
            <a:r>
              <a:rPr lang="en-US" altLang="zh-CN">
                <a:solidFill>
                  <a:schemeClr val="tx1">
                    <a:lumMod val="50000"/>
                    <a:lumOff val="50000"/>
                  </a:schemeClr>
                </a:solidFill>
              </a:rPr>
              <a:t>	</a:t>
            </a:r>
            <a:r>
              <a:rPr lang="zh-CN" altLang="en-US">
                <a:solidFill>
                  <a:schemeClr val="tx1">
                    <a:lumMod val="50000"/>
                    <a:lumOff val="50000"/>
                  </a:schemeClr>
                </a:solidFill>
              </a:rPr>
              <a:t>return </a:t>
            </a:r>
            <a:r>
              <a:rPr lang="zh-CN" altLang="en-US" dirty="0">
                <a:solidFill>
                  <a:schemeClr val="tx1">
                    <a:lumMod val="50000"/>
                    <a:lumOff val="50000"/>
                  </a:schemeClr>
                </a:solidFill>
              </a:rPr>
              <a:t>len; </a:t>
            </a:r>
            <a:endParaRPr lang="en-US" altLang="zh-CN" dirty="0">
              <a:solidFill>
                <a:schemeClr val="tx1">
                  <a:lumMod val="50000"/>
                  <a:lumOff val="50000"/>
                </a:schemeClr>
              </a:solidFill>
            </a:endParaRPr>
          </a:p>
          <a:p>
            <a:r>
              <a:rPr lang="zh-CN" altLang="en-US" dirty="0">
                <a:solidFill>
                  <a:schemeClr val="tx1">
                    <a:lumMod val="50000"/>
                    <a:lumOff val="50000"/>
                  </a:schemeClr>
                </a:solidFill>
              </a:rPr>
              <a:t>}</a:t>
            </a:r>
            <a:endParaRPr lang="zh-CN" altLang="en-US" dirty="0">
              <a:solidFill>
                <a:schemeClr val="tx1">
                  <a:lumMod val="50000"/>
                  <a:lumOff val="50000"/>
                </a:schemeClr>
              </a:solidFill>
            </a:endParaRPr>
          </a:p>
          <a:p>
            <a:endParaRPr lang="zh-CN" altLang="en-US" dirty="0">
              <a:solidFill>
                <a:srgbClr val="C00000"/>
              </a:solidFill>
            </a:endParaRPr>
          </a:p>
        </p:txBody>
      </p:sp>
      <p:sp>
        <p:nvSpPr>
          <p:cNvPr id="6" name="文本框 5"/>
          <p:cNvSpPr txBox="1"/>
          <p:nvPr/>
        </p:nvSpPr>
        <p:spPr>
          <a:xfrm>
            <a:off x="2538664" y="812322"/>
            <a:ext cx="4649535" cy="523220"/>
          </a:xfrm>
          <a:prstGeom prst="rect">
            <a:avLst/>
          </a:prstGeom>
          <a:noFill/>
        </p:spPr>
        <p:txBody>
          <a:bodyPr wrap="square" rtlCol="0">
            <a:spAutoFit/>
          </a:bodyPr>
          <a:lstStyle/>
          <a:p>
            <a:r>
              <a:rPr lang="en-US" altLang="zh-CN" sz="2800" i="1" dirty="0" err="1">
                <a:solidFill>
                  <a:srgbClr val="0070C0"/>
                </a:solidFill>
              </a:rPr>
              <a:t>nemu</a:t>
            </a:r>
            <a:r>
              <a:rPr lang="en-US" altLang="zh-CN" sz="2800" i="1" dirty="0">
                <a:solidFill>
                  <a:srgbClr val="0070C0"/>
                </a:solidFill>
              </a:rPr>
              <a:t>/</a:t>
            </a:r>
            <a:r>
              <a:rPr lang="en-US" altLang="zh-CN" sz="2800" i="1" dirty="0" err="1">
                <a:solidFill>
                  <a:srgbClr val="0070C0"/>
                </a:solidFill>
              </a:rPr>
              <a:t>src</a:t>
            </a:r>
            <a:r>
              <a:rPr lang="en-US" altLang="zh-CN" sz="2800" i="1" dirty="0">
                <a:solidFill>
                  <a:srgbClr val="0070C0"/>
                </a:solidFill>
              </a:rPr>
              <a:t>/</a:t>
            </a:r>
            <a:r>
              <a:rPr lang="en-US" altLang="zh-CN" sz="2800" i="1" dirty="0" err="1">
                <a:solidFill>
                  <a:srgbClr val="0070C0"/>
                </a:solidFill>
              </a:rPr>
              <a:t>cpu</a:t>
            </a:r>
            <a:r>
              <a:rPr lang="en-US" altLang="zh-CN" sz="2800" i="1" dirty="0">
                <a:solidFill>
                  <a:srgbClr val="0070C0"/>
                </a:solidFill>
              </a:rPr>
              <a:t>/</a:t>
            </a:r>
            <a:r>
              <a:rPr lang="en-US" altLang="zh-CN" sz="2800" i="1" dirty="0" err="1">
                <a:solidFill>
                  <a:srgbClr val="0070C0"/>
                </a:solidFill>
              </a:rPr>
              <a:t>instr</a:t>
            </a:r>
            <a:r>
              <a:rPr lang="en-US" altLang="zh-CN" sz="2800" i="1" dirty="0">
                <a:solidFill>
                  <a:srgbClr val="0070C0"/>
                </a:solidFill>
              </a:rPr>
              <a:t>/</a:t>
            </a:r>
            <a:r>
              <a:rPr lang="en-US" altLang="zh-CN" sz="2800" i="1" dirty="0" err="1">
                <a:solidFill>
                  <a:srgbClr val="0070C0"/>
                </a:solidFill>
              </a:rPr>
              <a:t>mov.c</a:t>
            </a:r>
            <a:r>
              <a:rPr lang="en-US" altLang="zh-CN" sz="2800" i="1" dirty="0">
                <a:solidFill>
                  <a:srgbClr val="0070C0"/>
                </a:solidFill>
              </a:rPr>
              <a:t> </a:t>
            </a:r>
            <a:endParaRPr lang="zh-CN" altLang="en-US" sz="2800" i="1" dirty="0">
              <a:solidFill>
                <a:srgbClr val="0070C0"/>
              </a:solidFill>
            </a:endParaRPr>
          </a:p>
        </p:txBody>
      </p:sp>
      <p:cxnSp>
        <p:nvCxnSpPr>
          <p:cNvPr id="7" name="直接箭头连接符 6"/>
          <p:cNvCxnSpPr/>
          <p:nvPr/>
        </p:nvCxnSpPr>
        <p:spPr>
          <a:xfrm>
            <a:off x="3940629" y="4760686"/>
            <a:ext cx="1008742" cy="638628"/>
          </a:xfrm>
          <a:prstGeom prst="straightConnector1">
            <a:avLst/>
          </a:prstGeom>
          <a:ln w="44450">
            <a:headEnd type="triangle"/>
            <a:tailEnd type="triangle"/>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3903438" y="5193296"/>
            <a:ext cx="740229" cy="369332"/>
          </a:xfrm>
          <a:prstGeom prst="rect">
            <a:avLst/>
          </a:prstGeom>
          <a:noFill/>
        </p:spPr>
        <p:txBody>
          <a:bodyPr wrap="square" rtlCol="0">
            <a:spAutoFit/>
          </a:bodyPr>
          <a:lstStyle/>
          <a:p>
            <a:r>
              <a:rPr lang="zh-CN" altLang="en-US" dirty="0">
                <a:solidFill>
                  <a:srgbClr val="0070C0"/>
                </a:solidFill>
              </a:rPr>
              <a:t>等价</a:t>
            </a:r>
            <a:endParaRPr lang="zh-CN" altLang="en-US" dirty="0">
              <a:solidFill>
                <a:srgbClr val="0070C0"/>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561434" y="2166818"/>
            <a:ext cx="2956379" cy="2962349"/>
          </a:xfrm>
          <a:prstGeom prst="rect">
            <a:avLst/>
          </a:prstGeom>
          <a:ln>
            <a:solidFill>
              <a:schemeClr val="tx1"/>
            </a:solidFill>
            <a:prstDash val="dash"/>
          </a:ln>
        </p:spPr>
        <p:txBody>
          <a:bodyPr wrap="square">
            <a:spAutoFit/>
          </a:bodyPr>
          <a:lstStyle/>
          <a:p>
            <a:pPr marL="228600" algn="just">
              <a:spcBef>
                <a:spcPts val="250"/>
              </a:spcBef>
            </a:pPr>
            <a:r>
              <a:rPr lang="en-US" altLang="zh-CN" sz="1100" kern="100" dirty="0" err="1">
                <a:latin typeface="等线" panose="02010600030101010101" charset="-122"/>
                <a:cs typeface="Times New Roman" panose="02020603050405020304" pitchFamily="18" charset="0"/>
              </a:rPr>
              <a:t>make_instr_func</a:t>
            </a:r>
            <a:r>
              <a:rPr lang="en-US" altLang="zh-CN" sz="1100" kern="100" dirty="0">
                <a:latin typeface="等线" panose="02010600030101010101" charset="-122"/>
                <a:cs typeface="Times New Roman" panose="02020603050405020304" pitchFamily="18" charset="0"/>
              </a:rPr>
              <a:t>(mov_r2rm_v) {</a:t>
            </a:r>
            <a:endParaRPr lang="zh-CN" altLang="zh-CN" sz="1100" kern="100" dirty="0">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OPERAND r, </a:t>
            </a:r>
            <a:r>
              <a:rPr lang="en-US" altLang="zh-CN" sz="1100" kern="100" dirty="0" err="1">
                <a:latin typeface="等线" panose="02010600030101010101" charset="-122"/>
                <a:cs typeface="Times New Roman" panose="02020603050405020304" pitchFamily="18" charset="0"/>
              </a:rPr>
              <a:t>rm</a:t>
            </a:r>
            <a:r>
              <a:rPr lang="en-US" altLang="zh-CN" sz="1100" kern="100" dirty="0">
                <a:latin typeface="等线" panose="02010600030101010101" charset="-122"/>
                <a:cs typeface="Times New Roman" panose="02020603050405020304" pitchFamily="18" charset="0"/>
              </a:rPr>
              <a:t>;</a:t>
            </a:r>
            <a:endParaRPr lang="zh-CN" altLang="zh-CN" sz="1100" kern="100" dirty="0">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a:t>
            </a:r>
            <a:r>
              <a:rPr lang="en-US" altLang="zh-CN" sz="1100" kern="100" dirty="0">
                <a:solidFill>
                  <a:srgbClr val="00B050"/>
                </a:solidFill>
                <a:latin typeface="等线" panose="02010600030101010101" charset="-122"/>
                <a:cs typeface="Times New Roman" panose="02020603050405020304" pitchFamily="18" charset="0"/>
              </a:rPr>
              <a:t>// </a:t>
            </a:r>
            <a:r>
              <a:rPr lang="zh-CN" altLang="zh-CN" sz="1100" kern="100" dirty="0">
                <a:solidFill>
                  <a:srgbClr val="00B050"/>
                </a:solidFill>
                <a:latin typeface="等线" panose="02010600030101010101" charset="-122"/>
                <a:cs typeface="Times New Roman" panose="02020603050405020304" pitchFamily="18" charset="0"/>
              </a:rPr>
              <a:t>指定操作数长度</a:t>
            </a:r>
            <a:endParaRPr lang="zh-CN" altLang="zh-CN" sz="1100"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a:t>
            </a:r>
            <a:r>
              <a:rPr lang="en-US" altLang="zh-CN" sz="1100" kern="100" dirty="0" err="1">
                <a:latin typeface="等线" panose="02010600030101010101" charset="-122"/>
                <a:cs typeface="Times New Roman" panose="02020603050405020304" pitchFamily="18" charset="0"/>
              </a:rPr>
              <a:t>rm.data_size</a:t>
            </a:r>
            <a:r>
              <a:rPr lang="en-US" altLang="zh-CN" sz="1100" kern="100" dirty="0">
                <a:latin typeface="等线" panose="02010600030101010101" charset="-122"/>
                <a:cs typeface="Times New Roman" panose="02020603050405020304" pitchFamily="18" charset="0"/>
              </a:rPr>
              <a:t> = </a:t>
            </a:r>
            <a:r>
              <a:rPr lang="en-US" altLang="zh-CN" sz="1100" kern="100" dirty="0" err="1">
                <a:latin typeface="等线" panose="02010600030101010101" charset="-122"/>
                <a:cs typeface="Times New Roman" panose="02020603050405020304" pitchFamily="18" charset="0"/>
              </a:rPr>
              <a:t>r.data_size</a:t>
            </a:r>
            <a:r>
              <a:rPr lang="en-US" altLang="zh-CN" sz="1100" kern="100" dirty="0">
                <a:latin typeface="等线" panose="02010600030101010101" charset="-122"/>
                <a:cs typeface="Times New Roman" panose="02020603050405020304" pitchFamily="18" charset="0"/>
              </a:rPr>
              <a:t> = </a:t>
            </a:r>
            <a:r>
              <a:rPr lang="en-US" altLang="zh-CN" sz="1100" kern="100" dirty="0" err="1">
                <a:latin typeface="等线" panose="02010600030101010101" charset="-122"/>
                <a:cs typeface="Times New Roman" panose="02020603050405020304" pitchFamily="18" charset="0"/>
              </a:rPr>
              <a:t>data_size</a:t>
            </a:r>
            <a:r>
              <a:rPr lang="en-US" altLang="zh-CN" sz="1100" kern="100" dirty="0">
                <a:latin typeface="等线" panose="02010600030101010101" charset="-122"/>
                <a:cs typeface="Times New Roman" panose="02020603050405020304" pitchFamily="18" charset="0"/>
              </a:rPr>
              <a:t>;  </a:t>
            </a:r>
            <a:endParaRPr lang="zh-CN" altLang="zh-CN" sz="1100" kern="100" dirty="0">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a:t>
            </a:r>
            <a:r>
              <a:rPr lang="en-US" altLang="zh-CN" sz="1100" kern="100" dirty="0" err="1">
                <a:latin typeface="等线" panose="02010600030101010101" charset="-122"/>
                <a:cs typeface="Times New Roman" panose="02020603050405020304" pitchFamily="18" charset="0"/>
              </a:rPr>
              <a:t>int</a:t>
            </a:r>
            <a:r>
              <a:rPr lang="en-US" altLang="zh-CN" sz="1100" kern="100" dirty="0">
                <a:latin typeface="等线" panose="02010600030101010101" charset="-122"/>
                <a:cs typeface="Times New Roman" panose="02020603050405020304" pitchFamily="18" charset="0"/>
              </a:rPr>
              <a:t> </a:t>
            </a:r>
            <a:r>
              <a:rPr lang="en-US" altLang="zh-CN" sz="1100" kern="100" dirty="0" err="1">
                <a:latin typeface="等线" panose="02010600030101010101" charset="-122"/>
                <a:cs typeface="Times New Roman" panose="02020603050405020304" pitchFamily="18" charset="0"/>
              </a:rPr>
              <a:t>len</a:t>
            </a:r>
            <a:r>
              <a:rPr lang="en-US" altLang="zh-CN" sz="1100" kern="100" dirty="0">
                <a:latin typeface="等线" panose="02010600030101010101" charset="-122"/>
                <a:cs typeface="Times New Roman" panose="02020603050405020304" pitchFamily="18" charset="0"/>
              </a:rPr>
              <a:t> = 1;</a:t>
            </a:r>
            <a:endParaRPr lang="en-US" altLang="zh-CN" sz="1100" kern="100" dirty="0">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a:t>
            </a:r>
            <a:r>
              <a:rPr lang="en-US" altLang="zh-CN" sz="1100" kern="100" dirty="0">
                <a:solidFill>
                  <a:srgbClr val="00B050"/>
                </a:solidFill>
                <a:latin typeface="等线" panose="02010600030101010101" charset="-122"/>
                <a:cs typeface="Times New Roman" panose="02020603050405020304" pitchFamily="18" charset="0"/>
              </a:rPr>
              <a:t>// </a:t>
            </a:r>
            <a:r>
              <a:rPr lang="zh-CN" altLang="zh-CN" sz="1100" kern="100" dirty="0">
                <a:solidFill>
                  <a:srgbClr val="00B050"/>
                </a:solidFill>
                <a:latin typeface="等线" panose="02010600030101010101" charset="-122"/>
                <a:cs typeface="Times New Roman" panose="02020603050405020304" pitchFamily="18" charset="0"/>
              </a:rPr>
              <a:t>操作数寻址</a:t>
            </a:r>
            <a:endParaRPr lang="zh-CN" altLang="zh-CN" sz="1100"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a:t>
            </a:r>
            <a:r>
              <a:rPr lang="en-US" altLang="zh-CN" sz="1100" kern="100" dirty="0" err="1">
                <a:latin typeface="等线" panose="02010600030101010101" charset="-122"/>
                <a:cs typeface="Times New Roman" panose="02020603050405020304" pitchFamily="18" charset="0"/>
              </a:rPr>
              <a:t>len</a:t>
            </a:r>
            <a:r>
              <a:rPr lang="en-US" altLang="zh-CN" sz="1100" kern="100" dirty="0">
                <a:latin typeface="等线" panose="02010600030101010101" charset="-122"/>
                <a:cs typeface="Times New Roman" panose="02020603050405020304" pitchFamily="18" charset="0"/>
              </a:rPr>
              <a:t> += </a:t>
            </a:r>
            <a:r>
              <a:rPr lang="en-US" altLang="zh-CN" sz="1100" kern="100" dirty="0" err="1">
                <a:latin typeface="等线" panose="02010600030101010101" charset="-122"/>
                <a:cs typeface="Times New Roman" panose="02020603050405020304" pitchFamily="18" charset="0"/>
              </a:rPr>
              <a:t>modrm_r_rm</a:t>
            </a:r>
            <a:r>
              <a:rPr lang="en-US" altLang="zh-CN" sz="1100" kern="100" dirty="0">
                <a:latin typeface="等线" panose="02010600030101010101" charset="-122"/>
                <a:cs typeface="Times New Roman" panose="02020603050405020304" pitchFamily="18" charset="0"/>
              </a:rPr>
              <a:t>(</a:t>
            </a:r>
            <a:r>
              <a:rPr lang="en-US" altLang="zh-CN" sz="1100" kern="100" dirty="0" err="1">
                <a:latin typeface="等线" panose="02010600030101010101" charset="-122"/>
                <a:cs typeface="Times New Roman" panose="02020603050405020304" pitchFamily="18" charset="0"/>
              </a:rPr>
              <a:t>eip</a:t>
            </a:r>
            <a:r>
              <a:rPr lang="en-US" altLang="zh-CN" sz="1100" kern="100" dirty="0">
                <a:latin typeface="等线" panose="02010600030101010101" charset="-122"/>
                <a:cs typeface="Times New Roman" panose="02020603050405020304" pitchFamily="18" charset="0"/>
              </a:rPr>
              <a:t> + 1, &amp;r, &amp;</a:t>
            </a:r>
            <a:r>
              <a:rPr lang="en-US" altLang="zh-CN" sz="1100" kern="100" dirty="0" err="1">
                <a:latin typeface="等线" panose="02010600030101010101" charset="-122"/>
                <a:cs typeface="Times New Roman" panose="02020603050405020304" pitchFamily="18" charset="0"/>
              </a:rPr>
              <a:t>rm</a:t>
            </a:r>
            <a:r>
              <a:rPr lang="en-US" altLang="zh-CN" sz="1100" kern="100" dirty="0">
                <a:latin typeface="等线" panose="02010600030101010101" charset="-122"/>
                <a:cs typeface="Times New Roman" panose="02020603050405020304" pitchFamily="18" charset="0"/>
              </a:rPr>
              <a:t>); </a:t>
            </a:r>
            <a:endParaRPr lang="en-US" altLang="zh-CN" sz="1100" kern="100" dirty="0">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a:t>
            </a:r>
            <a:r>
              <a:rPr lang="en-US" altLang="zh-CN" sz="1100" kern="100" dirty="0">
                <a:solidFill>
                  <a:srgbClr val="00B050"/>
                </a:solidFill>
                <a:latin typeface="等线" panose="02010600030101010101" charset="-122"/>
                <a:cs typeface="Times New Roman" panose="02020603050405020304" pitchFamily="18" charset="0"/>
              </a:rPr>
              <a:t>// </a:t>
            </a:r>
            <a:r>
              <a:rPr lang="zh-CN" altLang="en-US" sz="1100" kern="100" dirty="0">
                <a:solidFill>
                  <a:srgbClr val="00B050"/>
                </a:solidFill>
                <a:latin typeface="等线" panose="02010600030101010101" charset="-122"/>
                <a:cs typeface="Times New Roman" panose="02020603050405020304" pitchFamily="18" charset="0"/>
              </a:rPr>
              <a:t>执行</a:t>
            </a:r>
            <a:r>
              <a:rPr lang="en-US" altLang="zh-CN" sz="1100" kern="100" dirty="0" err="1">
                <a:solidFill>
                  <a:srgbClr val="00B050"/>
                </a:solidFill>
                <a:latin typeface="等线" panose="02010600030101010101" charset="-122"/>
                <a:cs typeface="Times New Roman" panose="02020603050405020304" pitchFamily="18" charset="0"/>
              </a:rPr>
              <a:t>mov</a:t>
            </a:r>
            <a:r>
              <a:rPr lang="zh-CN" altLang="en-US" sz="1100" kern="100" dirty="0">
                <a:solidFill>
                  <a:srgbClr val="00B050"/>
                </a:solidFill>
                <a:latin typeface="等线" panose="02010600030101010101" charset="-122"/>
                <a:cs typeface="Times New Roman" panose="02020603050405020304" pitchFamily="18" charset="0"/>
              </a:rPr>
              <a:t>操作</a:t>
            </a:r>
            <a:r>
              <a:rPr lang="en-US" altLang="zh-CN" sz="1100" kern="100" dirty="0">
                <a:solidFill>
                  <a:srgbClr val="00B050"/>
                </a:solidFill>
                <a:latin typeface="等线" panose="02010600030101010101" charset="-122"/>
                <a:cs typeface="Times New Roman" panose="02020603050405020304" pitchFamily="18" charset="0"/>
              </a:rPr>
              <a:t> </a:t>
            </a:r>
            <a:endParaRPr lang="zh-CN" altLang="zh-CN" sz="1100"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a:t>
            </a:r>
            <a:r>
              <a:rPr lang="en-US" altLang="zh-CN" sz="1100" kern="100" dirty="0" err="1">
                <a:latin typeface="等线" panose="02010600030101010101" charset="-122"/>
                <a:cs typeface="Times New Roman" panose="02020603050405020304" pitchFamily="18" charset="0"/>
              </a:rPr>
              <a:t>operand_read</a:t>
            </a:r>
            <a:r>
              <a:rPr lang="en-US" altLang="zh-CN" sz="1100" kern="100" dirty="0">
                <a:latin typeface="等线" panose="02010600030101010101" charset="-122"/>
                <a:cs typeface="Times New Roman" panose="02020603050405020304" pitchFamily="18" charset="0"/>
              </a:rPr>
              <a:t>(&amp;r);</a:t>
            </a:r>
            <a:endParaRPr lang="zh-CN" altLang="zh-CN" sz="1100" kern="100" dirty="0">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a:t>
            </a:r>
            <a:r>
              <a:rPr lang="en-US" altLang="zh-CN" sz="1100" kern="100" dirty="0" err="1">
                <a:latin typeface="等线" panose="02010600030101010101" charset="-122"/>
                <a:cs typeface="Times New Roman" panose="02020603050405020304" pitchFamily="18" charset="0"/>
              </a:rPr>
              <a:t>rm.val</a:t>
            </a:r>
            <a:r>
              <a:rPr lang="en-US" altLang="zh-CN" sz="1100" kern="100" dirty="0">
                <a:latin typeface="等线" panose="02010600030101010101" charset="-122"/>
                <a:cs typeface="Times New Roman" panose="02020603050405020304" pitchFamily="18" charset="0"/>
              </a:rPr>
              <a:t> = </a:t>
            </a:r>
            <a:r>
              <a:rPr lang="en-US" altLang="zh-CN" sz="1100" kern="100" dirty="0" err="1">
                <a:latin typeface="等线" panose="02010600030101010101" charset="-122"/>
                <a:cs typeface="Times New Roman" panose="02020603050405020304" pitchFamily="18" charset="0"/>
              </a:rPr>
              <a:t>r.val</a:t>
            </a:r>
            <a:r>
              <a:rPr lang="en-US" altLang="zh-CN" sz="1100" kern="100" dirty="0">
                <a:latin typeface="等线" panose="02010600030101010101" charset="-122"/>
                <a:cs typeface="Times New Roman" panose="02020603050405020304" pitchFamily="18" charset="0"/>
              </a:rPr>
              <a:t>;</a:t>
            </a:r>
            <a:endParaRPr lang="zh-CN" altLang="zh-CN" sz="1100" kern="100" dirty="0">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a:t>
            </a:r>
            <a:r>
              <a:rPr lang="en-US" altLang="zh-CN" sz="1100" kern="100" dirty="0" err="1">
                <a:latin typeface="等线" panose="02010600030101010101" charset="-122"/>
                <a:cs typeface="Times New Roman" panose="02020603050405020304" pitchFamily="18" charset="0"/>
              </a:rPr>
              <a:t>operand_write</a:t>
            </a:r>
            <a:r>
              <a:rPr lang="en-US" altLang="zh-CN" sz="1100" kern="100" dirty="0">
                <a:latin typeface="等线" panose="02010600030101010101" charset="-122"/>
                <a:cs typeface="Times New Roman" panose="02020603050405020304" pitchFamily="18" charset="0"/>
              </a:rPr>
              <a:t>(&amp;</a:t>
            </a:r>
            <a:r>
              <a:rPr lang="en-US" altLang="zh-CN" sz="1100" kern="100" dirty="0" err="1">
                <a:latin typeface="等线" panose="02010600030101010101" charset="-122"/>
                <a:cs typeface="Times New Roman" panose="02020603050405020304" pitchFamily="18" charset="0"/>
              </a:rPr>
              <a:t>rm</a:t>
            </a:r>
            <a:r>
              <a:rPr lang="en-US" altLang="zh-CN" sz="1100" kern="100" dirty="0">
                <a:latin typeface="等线" panose="02010600030101010101" charset="-122"/>
                <a:cs typeface="Times New Roman" panose="02020603050405020304" pitchFamily="18" charset="0"/>
              </a:rPr>
              <a:t>);</a:t>
            </a:r>
            <a:endParaRPr lang="zh-CN" altLang="zh-CN" sz="1100" kern="100" dirty="0">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a:t>
            </a:r>
            <a:r>
              <a:rPr lang="en-US" altLang="zh-CN" sz="1100" kern="100" dirty="0">
                <a:solidFill>
                  <a:srgbClr val="00B050"/>
                </a:solidFill>
                <a:latin typeface="等线" panose="02010600030101010101" charset="-122"/>
                <a:cs typeface="Times New Roman" panose="02020603050405020304" pitchFamily="18" charset="0"/>
              </a:rPr>
              <a:t>// </a:t>
            </a:r>
            <a:r>
              <a:rPr lang="zh-CN" altLang="en-US" sz="1100" kern="100" dirty="0">
                <a:solidFill>
                  <a:srgbClr val="00B050"/>
                </a:solidFill>
                <a:latin typeface="等线" panose="02010600030101010101" charset="-122"/>
                <a:cs typeface="Times New Roman" panose="02020603050405020304" pitchFamily="18" charset="0"/>
              </a:rPr>
              <a:t>返回操作数长度</a:t>
            </a:r>
            <a:endParaRPr lang="zh-CN" altLang="zh-CN" sz="1100"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return </a:t>
            </a:r>
            <a:r>
              <a:rPr lang="en-US" altLang="zh-CN" sz="1100" kern="100" dirty="0" err="1">
                <a:latin typeface="等线" panose="02010600030101010101" charset="-122"/>
                <a:cs typeface="Times New Roman" panose="02020603050405020304" pitchFamily="18" charset="0"/>
              </a:rPr>
              <a:t>len</a:t>
            </a:r>
            <a:r>
              <a:rPr lang="en-US" altLang="zh-CN" sz="1100" kern="100" dirty="0">
                <a:latin typeface="等线" panose="02010600030101010101" charset="-122"/>
                <a:cs typeface="Times New Roman" panose="02020603050405020304" pitchFamily="18" charset="0"/>
              </a:rPr>
              <a:t>;</a:t>
            </a:r>
            <a:endParaRPr lang="zh-CN" altLang="zh-CN" sz="1100" kern="100" dirty="0">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a:t>
            </a:r>
            <a:endParaRPr lang="zh-CN" altLang="zh-CN" sz="1100" kern="100" dirty="0">
              <a:latin typeface="等线" panose="02010600030101010101" charset="-122"/>
              <a:cs typeface="Times New Roman" panose="02020603050405020304" pitchFamily="18" charset="0"/>
            </a:endParaRPr>
          </a:p>
        </p:txBody>
      </p:sp>
      <p:sp>
        <p:nvSpPr>
          <p:cNvPr id="5" name="矩形 4"/>
          <p:cNvSpPr/>
          <p:nvPr/>
        </p:nvSpPr>
        <p:spPr>
          <a:xfrm>
            <a:off x="4643667" y="1399671"/>
            <a:ext cx="6379933" cy="5355312"/>
          </a:xfrm>
          <a:prstGeom prst="rect">
            <a:avLst/>
          </a:prstGeom>
          <a:ln>
            <a:solidFill>
              <a:schemeClr val="tx1"/>
            </a:solidFill>
            <a:prstDash val="dash"/>
          </a:ln>
        </p:spPr>
        <p:txBody>
          <a:bodyPr wrap="square">
            <a:spAutoFit/>
          </a:bodyPr>
          <a:lstStyle/>
          <a:p>
            <a:r>
              <a:rPr lang="zh-CN" altLang="en-US" dirty="0"/>
              <a:t>#include "cpu/instr.h"</a:t>
            </a:r>
            <a:endParaRPr lang="zh-CN" altLang="en-US" dirty="0"/>
          </a:p>
          <a:p>
            <a:endParaRPr lang="zh-CN" altLang="en-US" dirty="0"/>
          </a:p>
          <a:p>
            <a:r>
              <a:rPr lang="zh-CN" altLang="en-US" dirty="0"/>
              <a:t>static void instr_execute_2op() {</a:t>
            </a:r>
            <a:endParaRPr lang="zh-CN" altLang="en-US" dirty="0"/>
          </a:p>
          <a:p>
            <a:r>
              <a:rPr lang="zh-CN" altLang="en-US"/>
              <a:t>	operand</a:t>
            </a:r>
            <a:r>
              <a:rPr lang="zh-CN" altLang="en-US" dirty="0"/>
              <a:t>_read(&amp;opr_src);</a:t>
            </a:r>
            <a:endParaRPr lang="zh-CN" altLang="en-US" dirty="0"/>
          </a:p>
          <a:p>
            <a:r>
              <a:rPr lang="zh-CN" altLang="en-US"/>
              <a:t>	</a:t>
            </a:r>
            <a:r>
              <a:rPr lang="zh-CN" altLang="en-US">
                <a:solidFill>
                  <a:srgbClr val="FF0000"/>
                </a:solidFill>
              </a:rPr>
              <a:t>opr</a:t>
            </a:r>
            <a:r>
              <a:rPr lang="zh-CN" altLang="en-US" dirty="0">
                <a:solidFill>
                  <a:srgbClr val="FF0000"/>
                </a:solidFill>
              </a:rPr>
              <a:t>_dest</a:t>
            </a:r>
            <a:r>
              <a:rPr lang="zh-CN" altLang="en-US" dirty="0"/>
              <a:t>.val = </a:t>
            </a:r>
            <a:r>
              <a:rPr lang="zh-CN" altLang="en-US" dirty="0">
                <a:solidFill>
                  <a:srgbClr val="FF0000"/>
                </a:solidFill>
              </a:rPr>
              <a:t>opr_src</a:t>
            </a:r>
            <a:r>
              <a:rPr lang="zh-CN" altLang="en-US" dirty="0"/>
              <a:t>.val;</a:t>
            </a:r>
            <a:endParaRPr lang="zh-CN" altLang="en-US" dirty="0"/>
          </a:p>
          <a:p>
            <a:r>
              <a:rPr lang="zh-CN" altLang="en-US"/>
              <a:t>	operand</a:t>
            </a:r>
            <a:r>
              <a:rPr lang="zh-CN" altLang="en-US" dirty="0"/>
              <a:t>_write(&amp;opr_dest);</a:t>
            </a:r>
            <a:endParaRPr lang="zh-CN" altLang="en-US" dirty="0"/>
          </a:p>
          <a:p>
            <a:r>
              <a:rPr lang="zh-CN" altLang="en-US" dirty="0"/>
              <a:t>}</a:t>
            </a:r>
            <a:endParaRPr lang="zh-CN" altLang="en-US" dirty="0"/>
          </a:p>
          <a:p>
            <a:endParaRPr lang="zh-CN" altLang="en-US" dirty="0"/>
          </a:p>
          <a:p>
            <a:r>
              <a:rPr lang="zh-CN" altLang="en-US" dirty="0">
                <a:solidFill>
                  <a:srgbClr val="C00000"/>
                </a:solidFill>
              </a:rPr>
              <a:t>make_instr_impl_2op(mov, r, rm, v)</a:t>
            </a:r>
            <a:endParaRPr lang="en-US" altLang="zh-CN" dirty="0">
              <a:solidFill>
                <a:srgbClr val="C00000"/>
              </a:solidFill>
            </a:endParaRPr>
          </a:p>
          <a:p>
            <a:r>
              <a:rPr lang="en-US" altLang="zh-CN" dirty="0">
                <a:solidFill>
                  <a:srgbClr val="C00000"/>
                </a:solidFill>
              </a:rPr>
              <a:t>// </a:t>
            </a:r>
            <a:r>
              <a:rPr lang="zh-CN" altLang="en-US" dirty="0">
                <a:solidFill>
                  <a:srgbClr val="C00000"/>
                </a:solidFill>
              </a:rPr>
              <a:t>将其进行宏展开后，变为。。。</a:t>
            </a:r>
            <a:endParaRPr lang="en-US" altLang="zh-CN" dirty="0">
              <a:solidFill>
                <a:srgbClr val="C00000"/>
              </a:solidFill>
            </a:endParaRPr>
          </a:p>
          <a:p>
            <a:r>
              <a:rPr lang="zh-CN" altLang="en-US" dirty="0">
                <a:solidFill>
                  <a:schemeClr val="tx1">
                    <a:lumMod val="50000"/>
                    <a:lumOff val="50000"/>
                  </a:schemeClr>
                </a:solidFill>
              </a:rPr>
              <a:t>make_instr_</a:t>
            </a:r>
            <a:r>
              <a:rPr lang="en-US" altLang="zh-CN" dirty="0" err="1">
                <a:solidFill>
                  <a:schemeClr val="tx1">
                    <a:lumMod val="50000"/>
                    <a:lumOff val="50000"/>
                  </a:schemeClr>
                </a:solidFill>
              </a:rPr>
              <a:t>func</a:t>
            </a:r>
            <a:r>
              <a:rPr lang="zh-CN" altLang="en-US" dirty="0">
                <a:solidFill>
                  <a:schemeClr val="tx1">
                    <a:lumMod val="50000"/>
                    <a:lumOff val="50000"/>
                  </a:schemeClr>
                </a:solidFill>
              </a:rPr>
              <a:t>(mov</a:t>
            </a:r>
            <a:r>
              <a:rPr lang="en-US" altLang="zh-CN" dirty="0">
                <a:solidFill>
                  <a:schemeClr val="tx1">
                    <a:lumMod val="50000"/>
                    <a:lumOff val="50000"/>
                  </a:schemeClr>
                </a:solidFill>
              </a:rPr>
              <a:t>_</a:t>
            </a:r>
            <a:r>
              <a:rPr lang="zh-CN" altLang="en-US" dirty="0">
                <a:solidFill>
                  <a:schemeClr val="tx1">
                    <a:lumMod val="50000"/>
                    <a:lumOff val="50000"/>
                  </a:schemeClr>
                </a:solidFill>
              </a:rPr>
              <a:t> r</a:t>
            </a:r>
            <a:r>
              <a:rPr lang="en-US" altLang="zh-CN" dirty="0">
                <a:solidFill>
                  <a:schemeClr val="tx1">
                    <a:lumMod val="50000"/>
                    <a:lumOff val="50000"/>
                  </a:schemeClr>
                </a:solidFill>
              </a:rPr>
              <a:t>2</a:t>
            </a:r>
            <a:r>
              <a:rPr lang="zh-CN" altLang="en-US" dirty="0">
                <a:solidFill>
                  <a:schemeClr val="tx1">
                    <a:lumMod val="50000"/>
                    <a:lumOff val="50000"/>
                  </a:schemeClr>
                </a:solidFill>
              </a:rPr>
              <a:t>rm</a:t>
            </a:r>
            <a:r>
              <a:rPr lang="en-US" altLang="zh-CN" dirty="0">
                <a:solidFill>
                  <a:schemeClr val="tx1">
                    <a:lumMod val="50000"/>
                    <a:lumOff val="50000"/>
                  </a:schemeClr>
                </a:solidFill>
              </a:rPr>
              <a:t>_</a:t>
            </a:r>
            <a:r>
              <a:rPr lang="zh-CN" altLang="en-US" dirty="0">
                <a:solidFill>
                  <a:schemeClr val="tx1">
                    <a:lumMod val="50000"/>
                    <a:lumOff val="50000"/>
                  </a:schemeClr>
                </a:solidFill>
              </a:rPr>
              <a:t>v) </a:t>
            </a:r>
            <a:r>
              <a:rPr lang="en-US" altLang="zh-CN" dirty="0">
                <a:solidFill>
                  <a:schemeClr val="tx1">
                    <a:lumMod val="50000"/>
                    <a:lumOff val="50000"/>
                  </a:schemeClr>
                </a:solidFill>
              </a:rPr>
              <a:t>{</a:t>
            </a:r>
            <a:endParaRPr lang="zh-CN" altLang="en-US" dirty="0">
              <a:solidFill>
                <a:schemeClr val="tx1">
                  <a:lumMod val="50000"/>
                  <a:lumOff val="50000"/>
                </a:schemeClr>
              </a:solidFill>
            </a:endParaRPr>
          </a:p>
          <a:p>
            <a:r>
              <a:rPr lang="en-US" altLang="zh-CN">
                <a:solidFill>
                  <a:schemeClr val="tx1">
                    <a:lumMod val="50000"/>
                    <a:lumOff val="50000"/>
                  </a:schemeClr>
                </a:solidFill>
              </a:rPr>
              <a:t>	</a:t>
            </a:r>
            <a:r>
              <a:rPr lang="zh-CN" altLang="en-US">
                <a:solidFill>
                  <a:schemeClr val="tx1">
                    <a:lumMod val="50000"/>
                    <a:lumOff val="50000"/>
                  </a:schemeClr>
                </a:solidFill>
              </a:rPr>
              <a:t>int </a:t>
            </a:r>
            <a:r>
              <a:rPr lang="zh-CN" altLang="en-US" dirty="0">
                <a:solidFill>
                  <a:schemeClr val="tx1">
                    <a:lumMod val="50000"/>
                    <a:lumOff val="50000"/>
                  </a:schemeClr>
                </a:solidFill>
              </a:rPr>
              <a:t>len = 1;</a:t>
            </a:r>
            <a:endParaRPr lang="en-US" altLang="zh-CN" dirty="0">
              <a:solidFill>
                <a:schemeClr val="tx1">
                  <a:lumMod val="50000"/>
                  <a:lumOff val="50000"/>
                </a:schemeClr>
              </a:solidFill>
            </a:endParaRPr>
          </a:p>
          <a:p>
            <a:r>
              <a:rPr lang="en-US" altLang="zh-CN">
                <a:solidFill>
                  <a:schemeClr val="tx1">
                    <a:lumMod val="50000"/>
                    <a:lumOff val="50000"/>
                  </a:schemeClr>
                </a:solidFill>
              </a:rPr>
              <a:t>	</a:t>
            </a:r>
            <a:r>
              <a:rPr lang="en-US" altLang="zh-CN">
                <a:solidFill>
                  <a:srgbClr val="FF0000"/>
                </a:solidFill>
              </a:rPr>
              <a:t>opr_src</a:t>
            </a:r>
            <a:r>
              <a:rPr lang="en-US" altLang="zh-CN">
                <a:solidFill>
                  <a:schemeClr val="tx1">
                    <a:lumMod val="50000"/>
                    <a:lumOff val="50000"/>
                  </a:schemeClr>
                </a:solidFill>
              </a:rPr>
              <a:t>.data_size </a:t>
            </a:r>
            <a:r>
              <a:rPr lang="en-US" altLang="zh-CN" dirty="0">
                <a:solidFill>
                  <a:schemeClr val="tx1">
                    <a:lumMod val="50000"/>
                    <a:lumOff val="50000"/>
                  </a:schemeClr>
                </a:solidFill>
              </a:rPr>
              <a:t>= </a:t>
            </a:r>
            <a:r>
              <a:rPr lang="en-US" altLang="zh-CN" dirty="0" err="1">
                <a:solidFill>
                  <a:srgbClr val="FF0000"/>
                </a:solidFill>
              </a:rPr>
              <a:t>opr_dest</a:t>
            </a:r>
            <a:r>
              <a:rPr lang="en-US" altLang="zh-CN" dirty="0" err="1">
                <a:solidFill>
                  <a:schemeClr val="tx1">
                    <a:lumMod val="50000"/>
                    <a:lumOff val="50000"/>
                  </a:schemeClr>
                </a:solidFill>
              </a:rPr>
              <a:t>.data_size</a:t>
            </a:r>
            <a:r>
              <a:rPr lang="en-US" altLang="zh-CN" dirty="0">
                <a:solidFill>
                  <a:schemeClr val="tx1">
                    <a:lumMod val="50000"/>
                    <a:lumOff val="50000"/>
                  </a:schemeClr>
                </a:solidFill>
              </a:rPr>
              <a:t> = </a:t>
            </a:r>
            <a:r>
              <a:rPr lang="en-US" altLang="zh-CN" dirty="0" err="1">
                <a:solidFill>
                  <a:schemeClr val="tx1">
                    <a:lumMod val="50000"/>
                    <a:lumOff val="50000"/>
                  </a:schemeClr>
                </a:solidFill>
              </a:rPr>
              <a:t>data_size</a:t>
            </a:r>
            <a:r>
              <a:rPr lang="en-US" altLang="zh-CN" dirty="0">
                <a:solidFill>
                  <a:schemeClr val="tx1">
                    <a:lumMod val="50000"/>
                    <a:lumOff val="50000"/>
                  </a:schemeClr>
                </a:solidFill>
              </a:rPr>
              <a:t>;</a:t>
            </a:r>
            <a:endParaRPr lang="zh-CN" altLang="en-US" dirty="0">
              <a:solidFill>
                <a:schemeClr val="tx1">
                  <a:lumMod val="50000"/>
                  <a:lumOff val="50000"/>
                </a:schemeClr>
              </a:solidFill>
            </a:endParaRPr>
          </a:p>
          <a:p>
            <a:r>
              <a:rPr lang="en-US" altLang="zh-CN">
                <a:solidFill>
                  <a:schemeClr val="tx1">
                    <a:lumMod val="50000"/>
                    <a:lumOff val="50000"/>
                  </a:schemeClr>
                </a:solidFill>
              </a:rPr>
              <a:t>	len </a:t>
            </a:r>
            <a:r>
              <a:rPr lang="en-US" altLang="zh-CN" dirty="0">
                <a:solidFill>
                  <a:schemeClr val="tx1">
                    <a:lumMod val="50000"/>
                    <a:lumOff val="50000"/>
                  </a:schemeClr>
                </a:solidFill>
              </a:rPr>
              <a:t>+= </a:t>
            </a:r>
            <a:r>
              <a:rPr lang="en-US" altLang="zh-CN" dirty="0" err="1">
                <a:solidFill>
                  <a:schemeClr val="tx1">
                    <a:lumMod val="50000"/>
                    <a:lumOff val="50000"/>
                  </a:schemeClr>
                </a:solidFill>
              </a:rPr>
              <a:t>modrm_r_rm</a:t>
            </a:r>
            <a:r>
              <a:rPr lang="en-US" altLang="zh-CN" dirty="0">
                <a:solidFill>
                  <a:schemeClr val="tx1">
                    <a:lumMod val="50000"/>
                    <a:lumOff val="50000"/>
                  </a:schemeClr>
                </a:solidFill>
              </a:rPr>
              <a:t>(</a:t>
            </a:r>
            <a:r>
              <a:rPr lang="en-US" altLang="zh-CN" dirty="0" err="1">
                <a:solidFill>
                  <a:schemeClr val="tx1">
                    <a:lumMod val="50000"/>
                    <a:lumOff val="50000"/>
                  </a:schemeClr>
                </a:solidFill>
              </a:rPr>
              <a:t>eip</a:t>
            </a:r>
            <a:r>
              <a:rPr lang="en-US" altLang="zh-CN" dirty="0">
                <a:solidFill>
                  <a:schemeClr val="tx1">
                    <a:lumMod val="50000"/>
                    <a:lumOff val="50000"/>
                  </a:schemeClr>
                </a:solidFill>
              </a:rPr>
              <a:t> + 1, &amp;</a:t>
            </a:r>
            <a:r>
              <a:rPr lang="en-US" altLang="zh-CN" dirty="0" err="1">
                <a:solidFill>
                  <a:schemeClr val="tx1">
                    <a:lumMod val="50000"/>
                    <a:lumOff val="50000"/>
                  </a:schemeClr>
                </a:solidFill>
              </a:rPr>
              <a:t>opr_src</a:t>
            </a:r>
            <a:r>
              <a:rPr lang="en-US" altLang="zh-CN" dirty="0">
                <a:solidFill>
                  <a:schemeClr val="tx1">
                    <a:lumMod val="50000"/>
                    <a:lumOff val="50000"/>
                  </a:schemeClr>
                </a:solidFill>
              </a:rPr>
              <a:t>, &amp;</a:t>
            </a:r>
            <a:r>
              <a:rPr lang="en-US" altLang="zh-CN" dirty="0" err="1">
                <a:solidFill>
                  <a:schemeClr val="tx1">
                    <a:lumMod val="50000"/>
                    <a:lumOff val="50000"/>
                  </a:schemeClr>
                </a:solidFill>
              </a:rPr>
              <a:t>opr_dest</a:t>
            </a:r>
            <a:r>
              <a:rPr lang="en-US" altLang="zh-CN" dirty="0">
                <a:solidFill>
                  <a:schemeClr val="tx1">
                    <a:lumMod val="50000"/>
                    <a:lumOff val="50000"/>
                  </a:schemeClr>
                </a:solidFill>
              </a:rPr>
              <a:t>);</a:t>
            </a:r>
            <a:endParaRPr lang="zh-CN" altLang="en-US" dirty="0">
              <a:solidFill>
                <a:schemeClr val="tx1">
                  <a:lumMod val="50000"/>
                  <a:lumOff val="50000"/>
                </a:schemeClr>
              </a:solidFill>
            </a:endParaRPr>
          </a:p>
          <a:p>
            <a:r>
              <a:rPr lang="en-US" altLang="zh-CN">
                <a:solidFill>
                  <a:schemeClr val="tx1">
                    <a:lumMod val="50000"/>
                    <a:lumOff val="50000"/>
                  </a:schemeClr>
                </a:solidFill>
              </a:rPr>
              <a:t>	</a:t>
            </a:r>
            <a:r>
              <a:rPr lang="zh-CN" altLang="en-US">
                <a:solidFill>
                  <a:schemeClr val="tx1">
                    <a:lumMod val="50000"/>
                    <a:lumOff val="50000"/>
                  </a:schemeClr>
                </a:solidFill>
              </a:rPr>
              <a:t>print</a:t>
            </a:r>
            <a:r>
              <a:rPr lang="zh-CN" altLang="en-US" dirty="0">
                <a:solidFill>
                  <a:schemeClr val="tx1">
                    <a:lumMod val="50000"/>
                    <a:lumOff val="50000"/>
                  </a:schemeClr>
                </a:solidFill>
              </a:rPr>
              <a:t>_asm_2(</a:t>
            </a:r>
            <a:r>
              <a:rPr lang="en-US" altLang="zh-CN" dirty="0">
                <a:solidFill>
                  <a:schemeClr val="tx1">
                    <a:lumMod val="50000"/>
                    <a:lumOff val="50000"/>
                  </a:schemeClr>
                </a:solidFill>
              </a:rPr>
              <a:t>…</a:t>
            </a:r>
            <a:r>
              <a:rPr lang="zh-CN" altLang="en-US" dirty="0">
                <a:solidFill>
                  <a:schemeClr val="tx1">
                    <a:lumMod val="50000"/>
                    <a:lumOff val="50000"/>
                  </a:schemeClr>
                </a:solidFill>
              </a:rPr>
              <a:t>);</a:t>
            </a:r>
            <a:endParaRPr lang="en-US" altLang="zh-CN" dirty="0">
              <a:solidFill>
                <a:schemeClr val="tx1">
                  <a:lumMod val="50000"/>
                  <a:lumOff val="50000"/>
                </a:schemeClr>
              </a:solidFill>
            </a:endParaRPr>
          </a:p>
          <a:p>
            <a:r>
              <a:rPr lang="en-US" altLang="zh-CN">
                <a:solidFill>
                  <a:schemeClr val="tx1">
                    <a:lumMod val="50000"/>
                    <a:lumOff val="50000"/>
                  </a:schemeClr>
                </a:solidFill>
              </a:rPr>
              <a:t>	</a:t>
            </a:r>
            <a:r>
              <a:rPr lang="zh-CN" altLang="en-US">
                <a:solidFill>
                  <a:schemeClr val="tx1">
                    <a:lumMod val="50000"/>
                    <a:lumOff val="50000"/>
                  </a:schemeClr>
                </a:solidFill>
              </a:rPr>
              <a:t>instr</a:t>
            </a:r>
            <a:r>
              <a:rPr lang="zh-CN" altLang="en-US" dirty="0">
                <a:solidFill>
                  <a:schemeClr val="tx1">
                    <a:lumMod val="50000"/>
                    <a:lumOff val="50000"/>
                  </a:schemeClr>
                </a:solidFill>
              </a:rPr>
              <a:t>_execute_2op()</a:t>
            </a:r>
            <a:r>
              <a:rPr lang="zh-CN" altLang="en-US">
                <a:solidFill>
                  <a:schemeClr val="tx1">
                    <a:lumMod val="50000"/>
                    <a:lumOff val="50000"/>
                  </a:schemeClr>
                </a:solidFill>
              </a:rPr>
              <a:t>; 		</a:t>
            </a:r>
            <a:endParaRPr lang="en-US" altLang="zh-CN" dirty="0">
              <a:solidFill>
                <a:schemeClr val="tx1">
                  <a:lumMod val="50000"/>
                  <a:lumOff val="50000"/>
                </a:schemeClr>
              </a:solidFill>
            </a:endParaRPr>
          </a:p>
          <a:p>
            <a:r>
              <a:rPr lang="en-US" altLang="zh-CN">
                <a:solidFill>
                  <a:schemeClr val="tx1">
                    <a:lumMod val="50000"/>
                    <a:lumOff val="50000"/>
                  </a:schemeClr>
                </a:solidFill>
              </a:rPr>
              <a:t>	</a:t>
            </a:r>
            <a:r>
              <a:rPr lang="zh-CN" altLang="en-US">
                <a:solidFill>
                  <a:schemeClr val="tx1">
                    <a:lumMod val="50000"/>
                    <a:lumOff val="50000"/>
                  </a:schemeClr>
                </a:solidFill>
              </a:rPr>
              <a:t>return </a:t>
            </a:r>
            <a:r>
              <a:rPr lang="zh-CN" altLang="en-US" dirty="0">
                <a:solidFill>
                  <a:schemeClr val="tx1">
                    <a:lumMod val="50000"/>
                    <a:lumOff val="50000"/>
                  </a:schemeClr>
                </a:solidFill>
              </a:rPr>
              <a:t>len; </a:t>
            </a:r>
            <a:endParaRPr lang="en-US" altLang="zh-CN" dirty="0">
              <a:solidFill>
                <a:schemeClr val="tx1">
                  <a:lumMod val="50000"/>
                  <a:lumOff val="50000"/>
                </a:schemeClr>
              </a:solidFill>
            </a:endParaRPr>
          </a:p>
          <a:p>
            <a:r>
              <a:rPr lang="zh-CN" altLang="en-US" dirty="0">
                <a:solidFill>
                  <a:schemeClr val="tx1">
                    <a:lumMod val="50000"/>
                    <a:lumOff val="50000"/>
                  </a:schemeClr>
                </a:solidFill>
              </a:rPr>
              <a:t>}</a:t>
            </a:r>
            <a:endParaRPr lang="zh-CN" altLang="en-US" dirty="0">
              <a:solidFill>
                <a:schemeClr val="tx1">
                  <a:lumMod val="50000"/>
                  <a:lumOff val="50000"/>
                </a:schemeClr>
              </a:solidFill>
            </a:endParaRPr>
          </a:p>
          <a:p>
            <a:endParaRPr lang="zh-CN" altLang="en-US" dirty="0">
              <a:solidFill>
                <a:srgbClr val="C00000"/>
              </a:solidFill>
            </a:endParaRPr>
          </a:p>
        </p:txBody>
      </p:sp>
      <p:sp>
        <p:nvSpPr>
          <p:cNvPr id="6" name="文本框 5"/>
          <p:cNvSpPr txBox="1"/>
          <p:nvPr/>
        </p:nvSpPr>
        <p:spPr>
          <a:xfrm>
            <a:off x="2538664" y="812322"/>
            <a:ext cx="4801935" cy="523220"/>
          </a:xfrm>
          <a:prstGeom prst="rect">
            <a:avLst/>
          </a:prstGeom>
          <a:noFill/>
        </p:spPr>
        <p:txBody>
          <a:bodyPr wrap="square" rtlCol="0">
            <a:spAutoFit/>
          </a:bodyPr>
          <a:lstStyle/>
          <a:p>
            <a:r>
              <a:rPr lang="en-US" altLang="zh-CN" sz="2800" i="1" dirty="0" err="1">
                <a:solidFill>
                  <a:srgbClr val="0070C0"/>
                </a:solidFill>
              </a:rPr>
              <a:t>nemu</a:t>
            </a:r>
            <a:r>
              <a:rPr lang="en-US" altLang="zh-CN" sz="2800" i="1" dirty="0">
                <a:solidFill>
                  <a:srgbClr val="0070C0"/>
                </a:solidFill>
              </a:rPr>
              <a:t>/</a:t>
            </a:r>
            <a:r>
              <a:rPr lang="en-US" altLang="zh-CN" sz="2800" i="1" dirty="0" err="1">
                <a:solidFill>
                  <a:srgbClr val="0070C0"/>
                </a:solidFill>
              </a:rPr>
              <a:t>src</a:t>
            </a:r>
            <a:r>
              <a:rPr lang="en-US" altLang="zh-CN" sz="2800" i="1" dirty="0">
                <a:solidFill>
                  <a:srgbClr val="0070C0"/>
                </a:solidFill>
              </a:rPr>
              <a:t>/</a:t>
            </a:r>
            <a:r>
              <a:rPr lang="en-US" altLang="zh-CN" sz="2800" i="1" dirty="0" err="1">
                <a:solidFill>
                  <a:srgbClr val="0070C0"/>
                </a:solidFill>
              </a:rPr>
              <a:t>cpu</a:t>
            </a:r>
            <a:r>
              <a:rPr lang="en-US" altLang="zh-CN" sz="2800" i="1" dirty="0">
                <a:solidFill>
                  <a:srgbClr val="0070C0"/>
                </a:solidFill>
              </a:rPr>
              <a:t>/</a:t>
            </a:r>
            <a:r>
              <a:rPr lang="en-US" altLang="zh-CN" sz="2800" i="1" dirty="0" err="1">
                <a:solidFill>
                  <a:srgbClr val="0070C0"/>
                </a:solidFill>
              </a:rPr>
              <a:t>instr</a:t>
            </a:r>
            <a:r>
              <a:rPr lang="en-US" altLang="zh-CN" sz="2800" i="1" dirty="0">
                <a:solidFill>
                  <a:srgbClr val="0070C0"/>
                </a:solidFill>
              </a:rPr>
              <a:t>/</a:t>
            </a:r>
            <a:r>
              <a:rPr lang="en-US" altLang="zh-CN" sz="2800" i="1" dirty="0" err="1">
                <a:solidFill>
                  <a:srgbClr val="0070C0"/>
                </a:solidFill>
              </a:rPr>
              <a:t>mov.c</a:t>
            </a:r>
            <a:r>
              <a:rPr lang="en-US" altLang="zh-CN" sz="2800" i="1" dirty="0">
                <a:solidFill>
                  <a:srgbClr val="0070C0"/>
                </a:solidFill>
              </a:rPr>
              <a:t> </a:t>
            </a:r>
            <a:endParaRPr lang="zh-CN" altLang="en-US" sz="2800" i="1" dirty="0">
              <a:solidFill>
                <a:srgbClr val="0070C0"/>
              </a:solidFill>
            </a:endParaRPr>
          </a:p>
        </p:txBody>
      </p:sp>
      <p:cxnSp>
        <p:nvCxnSpPr>
          <p:cNvPr id="7" name="直接箭头连接符 6"/>
          <p:cNvCxnSpPr/>
          <p:nvPr/>
        </p:nvCxnSpPr>
        <p:spPr>
          <a:xfrm>
            <a:off x="3940629" y="4760686"/>
            <a:ext cx="1008742" cy="638628"/>
          </a:xfrm>
          <a:prstGeom prst="straightConnector1">
            <a:avLst/>
          </a:prstGeom>
          <a:ln w="44450">
            <a:headEnd type="triangle"/>
            <a:tailEnd type="triangle"/>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3903438" y="5193296"/>
            <a:ext cx="740229" cy="369332"/>
          </a:xfrm>
          <a:prstGeom prst="rect">
            <a:avLst/>
          </a:prstGeom>
          <a:noFill/>
        </p:spPr>
        <p:txBody>
          <a:bodyPr wrap="square" rtlCol="0">
            <a:spAutoFit/>
          </a:bodyPr>
          <a:lstStyle/>
          <a:p>
            <a:r>
              <a:rPr lang="zh-CN" altLang="en-US" dirty="0">
                <a:solidFill>
                  <a:srgbClr val="0070C0"/>
                </a:solidFill>
              </a:rPr>
              <a:t>等价</a:t>
            </a:r>
            <a:endParaRPr lang="zh-CN" altLang="en-US" dirty="0">
              <a:solidFill>
                <a:srgbClr val="0070C0"/>
              </a:solidFill>
            </a:endParaRPr>
          </a:p>
        </p:txBody>
      </p:sp>
      <p:sp>
        <p:nvSpPr>
          <p:cNvPr id="3" name="文本框 2"/>
          <p:cNvSpPr txBox="1"/>
          <p:nvPr/>
        </p:nvSpPr>
        <p:spPr>
          <a:xfrm>
            <a:off x="1734457" y="5725886"/>
            <a:ext cx="2358572" cy="923330"/>
          </a:xfrm>
          <a:prstGeom prst="rect">
            <a:avLst/>
          </a:prstGeom>
          <a:noFill/>
          <a:ln w="25400">
            <a:solidFill>
              <a:srgbClr val="FF0000"/>
            </a:solidFill>
          </a:ln>
        </p:spPr>
        <p:txBody>
          <a:bodyPr wrap="square" rtlCol="0">
            <a:spAutoFit/>
          </a:bodyPr>
          <a:lstStyle/>
          <a:p>
            <a:r>
              <a:rPr lang="en-US" altLang="zh-CN" dirty="0" err="1"/>
              <a:t>opr_src</a:t>
            </a:r>
            <a:r>
              <a:rPr lang="zh-CN" altLang="en-US" dirty="0"/>
              <a:t>和</a:t>
            </a:r>
            <a:r>
              <a:rPr lang="en-US" altLang="zh-CN" dirty="0" err="1"/>
              <a:t>opr_dest</a:t>
            </a:r>
            <a:r>
              <a:rPr lang="zh-CN" altLang="en-US" dirty="0"/>
              <a:t>是定义在</a:t>
            </a:r>
            <a:r>
              <a:rPr lang="en-US" altLang="zh-CN" dirty="0" err="1"/>
              <a:t>operand.c</a:t>
            </a:r>
            <a:r>
              <a:rPr lang="zh-CN" altLang="en-US" dirty="0"/>
              <a:t>中的两个全局变量</a:t>
            </a:r>
            <a:endParaRPr lang="zh-CN" alt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561434" y="2166818"/>
            <a:ext cx="2956379" cy="2962349"/>
          </a:xfrm>
          <a:prstGeom prst="rect">
            <a:avLst/>
          </a:prstGeom>
          <a:ln>
            <a:solidFill>
              <a:schemeClr val="tx1"/>
            </a:solidFill>
            <a:prstDash val="dash"/>
          </a:ln>
        </p:spPr>
        <p:txBody>
          <a:bodyPr wrap="square">
            <a:spAutoFit/>
          </a:bodyPr>
          <a:lstStyle/>
          <a:p>
            <a:pPr marL="228600" algn="just">
              <a:spcBef>
                <a:spcPts val="250"/>
              </a:spcBef>
            </a:pPr>
            <a:r>
              <a:rPr lang="en-US" altLang="zh-CN" sz="1100" kern="100" dirty="0" err="1">
                <a:latin typeface="等线" panose="02010600030101010101" charset="-122"/>
                <a:cs typeface="Times New Roman" panose="02020603050405020304" pitchFamily="18" charset="0"/>
              </a:rPr>
              <a:t>make_instr_func</a:t>
            </a:r>
            <a:r>
              <a:rPr lang="en-US" altLang="zh-CN" sz="1100" kern="100" dirty="0">
                <a:latin typeface="等线" panose="02010600030101010101" charset="-122"/>
                <a:cs typeface="Times New Roman" panose="02020603050405020304" pitchFamily="18" charset="0"/>
              </a:rPr>
              <a:t>(mov_r2rm_v) {</a:t>
            </a:r>
            <a:endParaRPr lang="zh-CN" altLang="zh-CN" sz="1100" kern="100" dirty="0">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OPERAND r, </a:t>
            </a:r>
            <a:r>
              <a:rPr lang="en-US" altLang="zh-CN" sz="1100" kern="100" dirty="0" err="1">
                <a:latin typeface="等线" panose="02010600030101010101" charset="-122"/>
                <a:cs typeface="Times New Roman" panose="02020603050405020304" pitchFamily="18" charset="0"/>
              </a:rPr>
              <a:t>rm</a:t>
            </a:r>
            <a:r>
              <a:rPr lang="en-US" altLang="zh-CN" sz="1100" kern="100" dirty="0">
                <a:latin typeface="等线" panose="02010600030101010101" charset="-122"/>
                <a:cs typeface="Times New Roman" panose="02020603050405020304" pitchFamily="18" charset="0"/>
              </a:rPr>
              <a:t>;</a:t>
            </a:r>
            <a:endParaRPr lang="zh-CN" altLang="zh-CN" sz="1100" kern="100" dirty="0">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a:t>
            </a:r>
            <a:r>
              <a:rPr lang="en-US" altLang="zh-CN" sz="1100" kern="100" dirty="0">
                <a:solidFill>
                  <a:srgbClr val="00B050"/>
                </a:solidFill>
                <a:latin typeface="等线" panose="02010600030101010101" charset="-122"/>
                <a:cs typeface="Times New Roman" panose="02020603050405020304" pitchFamily="18" charset="0"/>
              </a:rPr>
              <a:t>// </a:t>
            </a:r>
            <a:r>
              <a:rPr lang="zh-CN" altLang="zh-CN" sz="1100" kern="100" dirty="0">
                <a:solidFill>
                  <a:srgbClr val="00B050"/>
                </a:solidFill>
                <a:latin typeface="等线" panose="02010600030101010101" charset="-122"/>
                <a:cs typeface="Times New Roman" panose="02020603050405020304" pitchFamily="18" charset="0"/>
              </a:rPr>
              <a:t>指定操作数长度</a:t>
            </a:r>
            <a:endParaRPr lang="zh-CN" altLang="zh-CN" sz="1100"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a:t>
            </a:r>
            <a:r>
              <a:rPr lang="en-US" altLang="zh-CN" sz="1100" kern="100" dirty="0" err="1">
                <a:latin typeface="等线" panose="02010600030101010101" charset="-122"/>
                <a:cs typeface="Times New Roman" panose="02020603050405020304" pitchFamily="18" charset="0"/>
              </a:rPr>
              <a:t>rm.data_size</a:t>
            </a:r>
            <a:r>
              <a:rPr lang="en-US" altLang="zh-CN" sz="1100" kern="100" dirty="0">
                <a:latin typeface="等线" panose="02010600030101010101" charset="-122"/>
                <a:cs typeface="Times New Roman" panose="02020603050405020304" pitchFamily="18" charset="0"/>
              </a:rPr>
              <a:t> = </a:t>
            </a:r>
            <a:r>
              <a:rPr lang="en-US" altLang="zh-CN" sz="1100" kern="100" dirty="0" err="1">
                <a:latin typeface="等线" panose="02010600030101010101" charset="-122"/>
                <a:cs typeface="Times New Roman" panose="02020603050405020304" pitchFamily="18" charset="0"/>
              </a:rPr>
              <a:t>r.data_size</a:t>
            </a:r>
            <a:r>
              <a:rPr lang="en-US" altLang="zh-CN" sz="1100" kern="100" dirty="0">
                <a:latin typeface="等线" panose="02010600030101010101" charset="-122"/>
                <a:cs typeface="Times New Roman" panose="02020603050405020304" pitchFamily="18" charset="0"/>
              </a:rPr>
              <a:t> = </a:t>
            </a:r>
            <a:r>
              <a:rPr lang="en-US" altLang="zh-CN" sz="1100" kern="100" dirty="0" err="1">
                <a:latin typeface="等线" panose="02010600030101010101" charset="-122"/>
                <a:cs typeface="Times New Roman" panose="02020603050405020304" pitchFamily="18" charset="0"/>
              </a:rPr>
              <a:t>data_size</a:t>
            </a:r>
            <a:r>
              <a:rPr lang="en-US" altLang="zh-CN" sz="1100" kern="100" dirty="0">
                <a:latin typeface="等线" panose="02010600030101010101" charset="-122"/>
                <a:cs typeface="Times New Roman" panose="02020603050405020304" pitchFamily="18" charset="0"/>
              </a:rPr>
              <a:t>;  </a:t>
            </a:r>
            <a:endParaRPr lang="zh-CN" altLang="zh-CN" sz="1100" kern="100" dirty="0">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a:t>
            </a:r>
            <a:r>
              <a:rPr lang="en-US" altLang="zh-CN" sz="1100" kern="100" dirty="0" err="1">
                <a:latin typeface="等线" panose="02010600030101010101" charset="-122"/>
                <a:cs typeface="Times New Roman" panose="02020603050405020304" pitchFamily="18" charset="0"/>
              </a:rPr>
              <a:t>int</a:t>
            </a:r>
            <a:r>
              <a:rPr lang="en-US" altLang="zh-CN" sz="1100" kern="100" dirty="0">
                <a:latin typeface="等线" panose="02010600030101010101" charset="-122"/>
                <a:cs typeface="Times New Roman" panose="02020603050405020304" pitchFamily="18" charset="0"/>
              </a:rPr>
              <a:t> </a:t>
            </a:r>
            <a:r>
              <a:rPr lang="en-US" altLang="zh-CN" sz="1100" kern="100" dirty="0" err="1">
                <a:latin typeface="等线" panose="02010600030101010101" charset="-122"/>
                <a:cs typeface="Times New Roman" panose="02020603050405020304" pitchFamily="18" charset="0"/>
              </a:rPr>
              <a:t>len</a:t>
            </a:r>
            <a:r>
              <a:rPr lang="en-US" altLang="zh-CN" sz="1100" kern="100" dirty="0">
                <a:latin typeface="等线" panose="02010600030101010101" charset="-122"/>
                <a:cs typeface="Times New Roman" panose="02020603050405020304" pitchFamily="18" charset="0"/>
              </a:rPr>
              <a:t> = 1;</a:t>
            </a:r>
            <a:endParaRPr lang="en-US" altLang="zh-CN" sz="1100" kern="100" dirty="0">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a:t>
            </a:r>
            <a:r>
              <a:rPr lang="en-US" altLang="zh-CN" sz="1100" kern="100" dirty="0">
                <a:solidFill>
                  <a:srgbClr val="00B050"/>
                </a:solidFill>
                <a:latin typeface="等线" panose="02010600030101010101" charset="-122"/>
                <a:cs typeface="Times New Roman" panose="02020603050405020304" pitchFamily="18" charset="0"/>
              </a:rPr>
              <a:t>// </a:t>
            </a:r>
            <a:r>
              <a:rPr lang="zh-CN" altLang="zh-CN" sz="1100" kern="100" dirty="0">
                <a:solidFill>
                  <a:srgbClr val="00B050"/>
                </a:solidFill>
                <a:latin typeface="等线" panose="02010600030101010101" charset="-122"/>
                <a:cs typeface="Times New Roman" panose="02020603050405020304" pitchFamily="18" charset="0"/>
              </a:rPr>
              <a:t>操作数寻址</a:t>
            </a:r>
            <a:endParaRPr lang="zh-CN" altLang="zh-CN" sz="1100"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a:t>
            </a:r>
            <a:r>
              <a:rPr lang="en-US" altLang="zh-CN" sz="1100" kern="100" dirty="0" err="1">
                <a:latin typeface="等线" panose="02010600030101010101" charset="-122"/>
                <a:cs typeface="Times New Roman" panose="02020603050405020304" pitchFamily="18" charset="0"/>
              </a:rPr>
              <a:t>len</a:t>
            </a:r>
            <a:r>
              <a:rPr lang="en-US" altLang="zh-CN" sz="1100" kern="100" dirty="0">
                <a:latin typeface="等线" panose="02010600030101010101" charset="-122"/>
                <a:cs typeface="Times New Roman" panose="02020603050405020304" pitchFamily="18" charset="0"/>
              </a:rPr>
              <a:t> += </a:t>
            </a:r>
            <a:r>
              <a:rPr lang="en-US" altLang="zh-CN" sz="1100" kern="100" dirty="0" err="1">
                <a:latin typeface="等线" panose="02010600030101010101" charset="-122"/>
                <a:cs typeface="Times New Roman" panose="02020603050405020304" pitchFamily="18" charset="0"/>
              </a:rPr>
              <a:t>modrm_r_rm</a:t>
            </a:r>
            <a:r>
              <a:rPr lang="en-US" altLang="zh-CN" sz="1100" kern="100" dirty="0">
                <a:latin typeface="等线" panose="02010600030101010101" charset="-122"/>
                <a:cs typeface="Times New Roman" panose="02020603050405020304" pitchFamily="18" charset="0"/>
              </a:rPr>
              <a:t>(</a:t>
            </a:r>
            <a:r>
              <a:rPr lang="en-US" altLang="zh-CN" sz="1100" kern="100" dirty="0" err="1">
                <a:latin typeface="等线" panose="02010600030101010101" charset="-122"/>
                <a:cs typeface="Times New Roman" panose="02020603050405020304" pitchFamily="18" charset="0"/>
              </a:rPr>
              <a:t>eip</a:t>
            </a:r>
            <a:r>
              <a:rPr lang="en-US" altLang="zh-CN" sz="1100" kern="100" dirty="0">
                <a:latin typeface="等线" panose="02010600030101010101" charset="-122"/>
                <a:cs typeface="Times New Roman" panose="02020603050405020304" pitchFamily="18" charset="0"/>
              </a:rPr>
              <a:t> + 1, &amp;r, &amp;</a:t>
            </a:r>
            <a:r>
              <a:rPr lang="en-US" altLang="zh-CN" sz="1100" kern="100" dirty="0" err="1">
                <a:latin typeface="等线" panose="02010600030101010101" charset="-122"/>
                <a:cs typeface="Times New Roman" panose="02020603050405020304" pitchFamily="18" charset="0"/>
              </a:rPr>
              <a:t>rm</a:t>
            </a:r>
            <a:r>
              <a:rPr lang="en-US" altLang="zh-CN" sz="1100" kern="100" dirty="0">
                <a:latin typeface="等线" panose="02010600030101010101" charset="-122"/>
                <a:cs typeface="Times New Roman" panose="02020603050405020304" pitchFamily="18" charset="0"/>
              </a:rPr>
              <a:t>); </a:t>
            </a:r>
            <a:endParaRPr lang="en-US" altLang="zh-CN" sz="1100" kern="100" dirty="0">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a:t>
            </a:r>
            <a:r>
              <a:rPr lang="en-US" altLang="zh-CN" sz="1100" kern="100" dirty="0">
                <a:solidFill>
                  <a:srgbClr val="00B050"/>
                </a:solidFill>
                <a:latin typeface="等线" panose="02010600030101010101" charset="-122"/>
                <a:cs typeface="Times New Roman" panose="02020603050405020304" pitchFamily="18" charset="0"/>
              </a:rPr>
              <a:t>// </a:t>
            </a:r>
            <a:r>
              <a:rPr lang="zh-CN" altLang="en-US" sz="1100" kern="100" dirty="0">
                <a:solidFill>
                  <a:srgbClr val="00B050"/>
                </a:solidFill>
                <a:latin typeface="等线" panose="02010600030101010101" charset="-122"/>
                <a:cs typeface="Times New Roman" panose="02020603050405020304" pitchFamily="18" charset="0"/>
              </a:rPr>
              <a:t>执行</a:t>
            </a:r>
            <a:r>
              <a:rPr lang="en-US" altLang="zh-CN" sz="1100" kern="100" dirty="0" err="1">
                <a:solidFill>
                  <a:srgbClr val="00B050"/>
                </a:solidFill>
                <a:latin typeface="等线" panose="02010600030101010101" charset="-122"/>
                <a:cs typeface="Times New Roman" panose="02020603050405020304" pitchFamily="18" charset="0"/>
              </a:rPr>
              <a:t>mov</a:t>
            </a:r>
            <a:r>
              <a:rPr lang="zh-CN" altLang="en-US" sz="1100" kern="100" dirty="0">
                <a:solidFill>
                  <a:srgbClr val="00B050"/>
                </a:solidFill>
                <a:latin typeface="等线" panose="02010600030101010101" charset="-122"/>
                <a:cs typeface="Times New Roman" panose="02020603050405020304" pitchFamily="18" charset="0"/>
              </a:rPr>
              <a:t>操作</a:t>
            </a:r>
            <a:r>
              <a:rPr lang="en-US" altLang="zh-CN" sz="1100" kern="100" dirty="0">
                <a:solidFill>
                  <a:srgbClr val="00B050"/>
                </a:solidFill>
                <a:latin typeface="等线" panose="02010600030101010101" charset="-122"/>
                <a:cs typeface="Times New Roman" panose="02020603050405020304" pitchFamily="18" charset="0"/>
              </a:rPr>
              <a:t> </a:t>
            </a:r>
            <a:endParaRPr lang="zh-CN" altLang="zh-CN" sz="1100"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a:t>
            </a:r>
            <a:r>
              <a:rPr lang="en-US" altLang="zh-CN" sz="1100" kern="100" dirty="0" err="1">
                <a:latin typeface="等线" panose="02010600030101010101" charset="-122"/>
                <a:cs typeface="Times New Roman" panose="02020603050405020304" pitchFamily="18" charset="0"/>
              </a:rPr>
              <a:t>operand_read</a:t>
            </a:r>
            <a:r>
              <a:rPr lang="en-US" altLang="zh-CN" sz="1100" kern="100" dirty="0">
                <a:latin typeface="等线" panose="02010600030101010101" charset="-122"/>
                <a:cs typeface="Times New Roman" panose="02020603050405020304" pitchFamily="18" charset="0"/>
              </a:rPr>
              <a:t>(&amp;r);</a:t>
            </a:r>
            <a:endParaRPr lang="zh-CN" altLang="zh-CN" sz="1100" kern="100" dirty="0">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a:t>
            </a:r>
            <a:r>
              <a:rPr lang="en-US" altLang="zh-CN" sz="1100" kern="100" dirty="0" err="1">
                <a:latin typeface="等线" panose="02010600030101010101" charset="-122"/>
                <a:cs typeface="Times New Roman" panose="02020603050405020304" pitchFamily="18" charset="0"/>
              </a:rPr>
              <a:t>rm.val</a:t>
            </a:r>
            <a:r>
              <a:rPr lang="en-US" altLang="zh-CN" sz="1100" kern="100" dirty="0">
                <a:latin typeface="等线" panose="02010600030101010101" charset="-122"/>
                <a:cs typeface="Times New Roman" panose="02020603050405020304" pitchFamily="18" charset="0"/>
              </a:rPr>
              <a:t> = </a:t>
            </a:r>
            <a:r>
              <a:rPr lang="en-US" altLang="zh-CN" sz="1100" kern="100" dirty="0" err="1">
                <a:latin typeface="等线" panose="02010600030101010101" charset="-122"/>
                <a:cs typeface="Times New Roman" panose="02020603050405020304" pitchFamily="18" charset="0"/>
              </a:rPr>
              <a:t>r.val</a:t>
            </a:r>
            <a:r>
              <a:rPr lang="en-US" altLang="zh-CN" sz="1100" kern="100" dirty="0">
                <a:latin typeface="等线" panose="02010600030101010101" charset="-122"/>
                <a:cs typeface="Times New Roman" panose="02020603050405020304" pitchFamily="18" charset="0"/>
              </a:rPr>
              <a:t>;</a:t>
            </a:r>
            <a:endParaRPr lang="zh-CN" altLang="zh-CN" sz="1100" kern="100" dirty="0">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a:t>
            </a:r>
            <a:r>
              <a:rPr lang="en-US" altLang="zh-CN" sz="1100" kern="100" dirty="0" err="1">
                <a:latin typeface="等线" panose="02010600030101010101" charset="-122"/>
                <a:cs typeface="Times New Roman" panose="02020603050405020304" pitchFamily="18" charset="0"/>
              </a:rPr>
              <a:t>operand_write</a:t>
            </a:r>
            <a:r>
              <a:rPr lang="en-US" altLang="zh-CN" sz="1100" kern="100" dirty="0">
                <a:latin typeface="等线" panose="02010600030101010101" charset="-122"/>
                <a:cs typeface="Times New Roman" panose="02020603050405020304" pitchFamily="18" charset="0"/>
              </a:rPr>
              <a:t>(&amp;</a:t>
            </a:r>
            <a:r>
              <a:rPr lang="en-US" altLang="zh-CN" sz="1100" kern="100" dirty="0" err="1">
                <a:latin typeface="等线" panose="02010600030101010101" charset="-122"/>
                <a:cs typeface="Times New Roman" panose="02020603050405020304" pitchFamily="18" charset="0"/>
              </a:rPr>
              <a:t>rm</a:t>
            </a:r>
            <a:r>
              <a:rPr lang="en-US" altLang="zh-CN" sz="1100" kern="100" dirty="0">
                <a:latin typeface="等线" panose="02010600030101010101" charset="-122"/>
                <a:cs typeface="Times New Roman" panose="02020603050405020304" pitchFamily="18" charset="0"/>
              </a:rPr>
              <a:t>);</a:t>
            </a:r>
            <a:endParaRPr lang="zh-CN" altLang="zh-CN" sz="1100" kern="100" dirty="0">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a:t>
            </a:r>
            <a:r>
              <a:rPr lang="en-US" altLang="zh-CN" sz="1100" kern="100" dirty="0">
                <a:solidFill>
                  <a:srgbClr val="00B050"/>
                </a:solidFill>
                <a:latin typeface="等线" panose="02010600030101010101" charset="-122"/>
                <a:cs typeface="Times New Roman" panose="02020603050405020304" pitchFamily="18" charset="0"/>
              </a:rPr>
              <a:t>// </a:t>
            </a:r>
            <a:r>
              <a:rPr lang="zh-CN" altLang="en-US" sz="1100" kern="100" dirty="0">
                <a:solidFill>
                  <a:srgbClr val="00B050"/>
                </a:solidFill>
                <a:latin typeface="等线" panose="02010600030101010101" charset="-122"/>
                <a:cs typeface="Times New Roman" panose="02020603050405020304" pitchFamily="18" charset="0"/>
              </a:rPr>
              <a:t>返回操作数长度</a:t>
            </a:r>
            <a:endParaRPr lang="zh-CN" altLang="zh-CN" sz="1100" kern="100" dirty="0">
              <a:solidFill>
                <a:srgbClr val="00B050"/>
              </a:solidFill>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    return </a:t>
            </a:r>
            <a:r>
              <a:rPr lang="en-US" altLang="zh-CN" sz="1100" kern="100" dirty="0" err="1">
                <a:latin typeface="等线" panose="02010600030101010101" charset="-122"/>
                <a:cs typeface="Times New Roman" panose="02020603050405020304" pitchFamily="18" charset="0"/>
              </a:rPr>
              <a:t>len</a:t>
            </a:r>
            <a:r>
              <a:rPr lang="en-US" altLang="zh-CN" sz="1100" kern="100" dirty="0">
                <a:latin typeface="等线" panose="02010600030101010101" charset="-122"/>
                <a:cs typeface="Times New Roman" panose="02020603050405020304" pitchFamily="18" charset="0"/>
              </a:rPr>
              <a:t>;</a:t>
            </a:r>
            <a:endParaRPr lang="zh-CN" altLang="zh-CN" sz="1100" kern="100" dirty="0">
              <a:latin typeface="等线" panose="02010600030101010101" charset="-122"/>
              <a:cs typeface="Times New Roman" panose="02020603050405020304" pitchFamily="18" charset="0"/>
            </a:endParaRPr>
          </a:p>
          <a:p>
            <a:pPr marL="228600" algn="just">
              <a:spcBef>
                <a:spcPts val="250"/>
              </a:spcBef>
            </a:pPr>
            <a:r>
              <a:rPr lang="en-US" altLang="zh-CN" sz="1100" kern="100" dirty="0">
                <a:latin typeface="等线" panose="02010600030101010101" charset="-122"/>
                <a:cs typeface="Times New Roman" panose="02020603050405020304" pitchFamily="18" charset="0"/>
              </a:rPr>
              <a:t>}</a:t>
            </a:r>
            <a:endParaRPr lang="zh-CN" altLang="zh-CN" sz="1100" kern="100" dirty="0">
              <a:latin typeface="等线" panose="02010600030101010101" charset="-122"/>
              <a:cs typeface="Times New Roman" panose="02020603050405020304" pitchFamily="18" charset="0"/>
            </a:endParaRPr>
          </a:p>
        </p:txBody>
      </p:sp>
      <p:sp>
        <p:nvSpPr>
          <p:cNvPr id="5" name="矩形 4"/>
          <p:cNvSpPr/>
          <p:nvPr/>
        </p:nvSpPr>
        <p:spPr>
          <a:xfrm>
            <a:off x="4643667" y="1399671"/>
            <a:ext cx="6329133" cy="5355312"/>
          </a:xfrm>
          <a:prstGeom prst="rect">
            <a:avLst/>
          </a:prstGeom>
          <a:ln>
            <a:solidFill>
              <a:schemeClr val="tx1"/>
            </a:solidFill>
            <a:prstDash val="dash"/>
          </a:ln>
        </p:spPr>
        <p:txBody>
          <a:bodyPr wrap="square">
            <a:spAutoFit/>
          </a:bodyPr>
          <a:lstStyle/>
          <a:p>
            <a:r>
              <a:rPr lang="zh-CN" altLang="en-US" dirty="0"/>
              <a:t>#include "cpu/instr.h"</a:t>
            </a:r>
            <a:endParaRPr lang="zh-CN" altLang="en-US" dirty="0"/>
          </a:p>
          <a:p>
            <a:endParaRPr lang="zh-CN" altLang="en-US" dirty="0"/>
          </a:p>
          <a:p>
            <a:r>
              <a:rPr lang="zh-CN" altLang="en-US" dirty="0"/>
              <a:t>static void instr_execute_2op() {</a:t>
            </a:r>
            <a:endParaRPr lang="zh-CN" altLang="en-US" dirty="0"/>
          </a:p>
          <a:p>
            <a:r>
              <a:rPr lang="zh-CN" altLang="en-US"/>
              <a:t>	operand</a:t>
            </a:r>
            <a:r>
              <a:rPr lang="zh-CN" altLang="en-US" dirty="0"/>
              <a:t>_read(&amp;opr_src);</a:t>
            </a:r>
            <a:endParaRPr lang="zh-CN" altLang="en-US" dirty="0"/>
          </a:p>
          <a:p>
            <a:r>
              <a:rPr lang="zh-CN" altLang="en-US"/>
              <a:t>	opr</a:t>
            </a:r>
            <a:r>
              <a:rPr lang="zh-CN" altLang="en-US" dirty="0"/>
              <a:t>_dest.val = opr_src.val;</a:t>
            </a:r>
            <a:endParaRPr lang="zh-CN" altLang="en-US" dirty="0"/>
          </a:p>
          <a:p>
            <a:r>
              <a:rPr lang="zh-CN" altLang="en-US"/>
              <a:t>	operand</a:t>
            </a:r>
            <a:r>
              <a:rPr lang="zh-CN" altLang="en-US" dirty="0"/>
              <a:t>_write(&amp;opr_dest);</a:t>
            </a:r>
            <a:endParaRPr lang="zh-CN" altLang="en-US" dirty="0"/>
          </a:p>
          <a:p>
            <a:r>
              <a:rPr lang="zh-CN" altLang="en-US" dirty="0"/>
              <a:t>}</a:t>
            </a:r>
            <a:endParaRPr lang="zh-CN" altLang="en-US" dirty="0"/>
          </a:p>
          <a:p>
            <a:endParaRPr lang="zh-CN" altLang="en-US" dirty="0"/>
          </a:p>
          <a:p>
            <a:r>
              <a:rPr lang="zh-CN" altLang="en-US" dirty="0">
                <a:solidFill>
                  <a:srgbClr val="C00000"/>
                </a:solidFill>
              </a:rPr>
              <a:t>make_instr_impl_2op(mov, r, rm, v)</a:t>
            </a:r>
            <a:endParaRPr lang="en-US" altLang="zh-CN" dirty="0">
              <a:solidFill>
                <a:srgbClr val="C00000"/>
              </a:solidFill>
            </a:endParaRPr>
          </a:p>
          <a:p>
            <a:r>
              <a:rPr lang="en-US" altLang="zh-CN" dirty="0">
                <a:solidFill>
                  <a:srgbClr val="C00000"/>
                </a:solidFill>
              </a:rPr>
              <a:t>// </a:t>
            </a:r>
            <a:r>
              <a:rPr lang="zh-CN" altLang="en-US" dirty="0">
                <a:solidFill>
                  <a:srgbClr val="C00000"/>
                </a:solidFill>
              </a:rPr>
              <a:t>将其进行宏展开后，变为。。。</a:t>
            </a:r>
            <a:endParaRPr lang="en-US" altLang="zh-CN" dirty="0">
              <a:solidFill>
                <a:srgbClr val="C00000"/>
              </a:solidFill>
            </a:endParaRPr>
          </a:p>
          <a:p>
            <a:r>
              <a:rPr lang="zh-CN" altLang="en-US" dirty="0">
                <a:solidFill>
                  <a:schemeClr val="tx1">
                    <a:lumMod val="50000"/>
                    <a:lumOff val="50000"/>
                  </a:schemeClr>
                </a:solidFill>
              </a:rPr>
              <a:t>make_instr_</a:t>
            </a:r>
            <a:r>
              <a:rPr lang="en-US" altLang="zh-CN" dirty="0" err="1">
                <a:solidFill>
                  <a:schemeClr val="tx1">
                    <a:lumMod val="50000"/>
                    <a:lumOff val="50000"/>
                  </a:schemeClr>
                </a:solidFill>
              </a:rPr>
              <a:t>func</a:t>
            </a:r>
            <a:r>
              <a:rPr lang="zh-CN" altLang="en-US" dirty="0">
                <a:solidFill>
                  <a:schemeClr val="tx1">
                    <a:lumMod val="50000"/>
                    <a:lumOff val="50000"/>
                  </a:schemeClr>
                </a:solidFill>
              </a:rPr>
              <a:t>(mov</a:t>
            </a:r>
            <a:r>
              <a:rPr lang="en-US" altLang="zh-CN" dirty="0">
                <a:solidFill>
                  <a:schemeClr val="tx1">
                    <a:lumMod val="50000"/>
                    <a:lumOff val="50000"/>
                  </a:schemeClr>
                </a:solidFill>
              </a:rPr>
              <a:t>_</a:t>
            </a:r>
            <a:r>
              <a:rPr lang="zh-CN" altLang="en-US" dirty="0">
                <a:solidFill>
                  <a:schemeClr val="tx1">
                    <a:lumMod val="50000"/>
                    <a:lumOff val="50000"/>
                  </a:schemeClr>
                </a:solidFill>
              </a:rPr>
              <a:t> r</a:t>
            </a:r>
            <a:r>
              <a:rPr lang="en-US" altLang="zh-CN" dirty="0">
                <a:solidFill>
                  <a:schemeClr val="tx1">
                    <a:lumMod val="50000"/>
                    <a:lumOff val="50000"/>
                  </a:schemeClr>
                </a:solidFill>
              </a:rPr>
              <a:t>2</a:t>
            </a:r>
            <a:r>
              <a:rPr lang="zh-CN" altLang="en-US" dirty="0">
                <a:solidFill>
                  <a:schemeClr val="tx1">
                    <a:lumMod val="50000"/>
                    <a:lumOff val="50000"/>
                  </a:schemeClr>
                </a:solidFill>
              </a:rPr>
              <a:t>rm</a:t>
            </a:r>
            <a:r>
              <a:rPr lang="en-US" altLang="zh-CN" dirty="0">
                <a:solidFill>
                  <a:schemeClr val="tx1">
                    <a:lumMod val="50000"/>
                    <a:lumOff val="50000"/>
                  </a:schemeClr>
                </a:solidFill>
              </a:rPr>
              <a:t>_</a:t>
            </a:r>
            <a:r>
              <a:rPr lang="zh-CN" altLang="en-US" dirty="0">
                <a:solidFill>
                  <a:schemeClr val="tx1">
                    <a:lumMod val="50000"/>
                    <a:lumOff val="50000"/>
                  </a:schemeClr>
                </a:solidFill>
              </a:rPr>
              <a:t>v) </a:t>
            </a:r>
            <a:r>
              <a:rPr lang="en-US" altLang="zh-CN" dirty="0">
                <a:solidFill>
                  <a:schemeClr val="tx1">
                    <a:lumMod val="50000"/>
                    <a:lumOff val="50000"/>
                  </a:schemeClr>
                </a:solidFill>
              </a:rPr>
              <a:t>{</a:t>
            </a:r>
            <a:endParaRPr lang="zh-CN" altLang="en-US" dirty="0">
              <a:solidFill>
                <a:schemeClr val="tx1">
                  <a:lumMod val="50000"/>
                  <a:lumOff val="50000"/>
                </a:schemeClr>
              </a:solidFill>
            </a:endParaRPr>
          </a:p>
          <a:p>
            <a:r>
              <a:rPr lang="en-US" altLang="zh-CN">
                <a:solidFill>
                  <a:schemeClr val="tx1">
                    <a:lumMod val="50000"/>
                    <a:lumOff val="50000"/>
                  </a:schemeClr>
                </a:solidFill>
              </a:rPr>
              <a:t>	</a:t>
            </a:r>
            <a:r>
              <a:rPr lang="zh-CN" altLang="en-US">
                <a:solidFill>
                  <a:schemeClr val="tx1">
                    <a:lumMod val="50000"/>
                    <a:lumOff val="50000"/>
                  </a:schemeClr>
                </a:solidFill>
              </a:rPr>
              <a:t>int </a:t>
            </a:r>
            <a:r>
              <a:rPr lang="zh-CN" altLang="en-US" dirty="0">
                <a:solidFill>
                  <a:schemeClr val="tx1">
                    <a:lumMod val="50000"/>
                    <a:lumOff val="50000"/>
                  </a:schemeClr>
                </a:solidFill>
              </a:rPr>
              <a:t>len = 1;</a:t>
            </a:r>
            <a:endParaRPr lang="en-US" altLang="zh-CN" dirty="0">
              <a:solidFill>
                <a:schemeClr val="tx1">
                  <a:lumMod val="50000"/>
                  <a:lumOff val="50000"/>
                </a:schemeClr>
              </a:solidFill>
            </a:endParaRPr>
          </a:p>
          <a:p>
            <a:r>
              <a:rPr lang="en-US" altLang="zh-CN">
                <a:solidFill>
                  <a:schemeClr val="tx1">
                    <a:lumMod val="50000"/>
                    <a:lumOff val="50000"/>
                  </a:schemeClr>
                </a:solidFill>
              </a:rPr>
              <a:t>	opr_src.data_size </a:t>
            </a:r>
            <a:r>
              <a:rPr lang="en-US" altLang="zh-CN" dirty="0">
                <a:solidFill>
                  <a:schemeClr val="tx1">
                    <a:lumMod val="50000"/>
                    <a:lumOff val="50000"/>
                  </a:schemeClr>
                </a:solidFill>
              </a:rPr>
              <a:t>= </a:t>
            </a:r>
            <a:r>
              <a:rPr lang="en-US" altLang="zh-CN" dirty="0" err="1">
                <a:solidFill>
                  <a:schemeClr val="tx1">
                    <a:lumMod val="50000"/>
                    <a:lumOff val="50000"/>
                  </a:schemeClr>
                </a:solidFill>
              </a:rPr>
              <a:t>opr_dest.data_size</a:t>
            </a:r>
            <a:r>
              <a:rPr lang="en-US" altLang="zh-CN" dirty="0">
                <a:solidFill>
                  <a:schemeClr val="tx1">
                    <a:lumMod val="50000"/>
                    <a:lumOff val="50000"/>
                  </a:schemeClr>
                </a:solidFill>
              </a:rPr>
              <a:t> = </a:t>
            </a:r>
            <a:r>
              <a:rPr lang="en-US" altLang="zh-CN" dirty="0" err="1">
                <a:solidFill>
                  <a:schemeClr val="tx1">
                    <a:lumMod val="50000"/>
                    <a:lumOff val="50000"/>
                  </a:schemeClr>
                </a:solidFill>
              </a:rPr>
              <a:t>data_size</a:t>
            </a:r>
            <a:r>
              <a:rPr lang="en-US" altLang="zh-CN" dirty="0">
                <a:solidFill>
                  <a:schemeClr val="tx1">
                    <a:lumMod val="50000"/>
                    <a:lumOff val="50000"/>
                  </a:schemeClr>
                </a:solidFill>
              </a:rPr>
              <a:t>;</a:t>
            </a:r>
            <a:endParaRPr lang="zh-CN" altLang="en-US" dirty="0">
              <a:solidFill>
                <a:schemeClr val="tx1">
                  <a:lumMod val="50000"/>
                  <a:lumOff val="50000"/>
                </a:schemeClr>
              </a:solidFill>
            </a:endParaRPr>
          </a:p>
          <a:p>
            <a:r>
              <a:rPr lang="en-US" altLang="zh-CN">
                <a:solidFill>
                  <a:schemeClr val="tx1">
                    <a:lumMod val="50000"/>
                    <a:lumOff val="50000"/>
                  </a:schemeClr>
                </a:solidFill>
              </a:rPr>
              <a:t>	len </a:t>
            </a:r>
            <a:r>
              <a:rPr lang="en-US" altLang="zh-CN" dirty="0">
                <a:solidFill>
                  <a:schemeClr val="tx1">
                    <a:lumMod val="50000"/>
                    <a:lumOff val="50000"/>
                  </a:schemeClr>
                </a:solidFill>
              </a:rPr>
              <a:t>+= </a:t>
            </a:r>
            <a:r>
              <a:rPr lang="en-US" altLang="zh-CN" dirty="0" err="1">
                <a:solidFill>
                  <a:srgbClr val="FF0000"/>
                </a:solidFill>
              </a:rPr>
              <a:t>modrm_r_rm</a:t>
            </a:r>
            <a:r>
              <a:rPr lang="en-US" altLang="zh-CN" dirty="0">
                <a:solidFill>
                  <a:schemeClr val="tx1">
                    <a:lumMod val="50000"/>
                    <a:lumOff val="50000"/>
                  </a:schemeClr>
                </a:solidFill>
              </a:rPr>
              <a:t>(</a:t>
            </a:r>
            <a:r>
              <a:rPr lang="en-US" altLang="zh-CN" dirty="0" err="1">
                <a:solidFill>
                  <a:schemeClr val="tx1">
                    <a:lumMod val="50000"/>
                    <a:lumOff val="50000"/>
                  </a:schemeClr>
                </a:solidFill>
              </a:rPr>
              <a:t>eip</a:t>
            </a:r>
            <a:r>
              <a:rPr lang="en-US" altLang="zh-CN" dirty="0">
                <a:solidFill>
                  <a:schemeClr val="tx1">
                    <a:lumMod val="50000"/>
                    <a:lumOff val="50000"/>
                  </a:schemeClr>
                </a:solidFill>
              </a:rPr>
              <a:t> + 1, &amp;</a:t>
            </a:r>
            <a:r>
              <a:rPr lang="en-US" altLang="zh-CN" dirty="0" err="1">
                <a:solidFill>
                  <a:schemeClr val="tx1">
                    <a:lumMod val="50000"/>
                    <a:lumOff val="50000"/>
                  </a:schemeClr>
                </a:solidFill>
              </a:rPr>
              <a:t>opr_src</a:t>
            </a:r>
            <a:r>
              <a:rPr lang="en-US" altLang="zh-CN" dirty="0">
                <a:solidFill>
                  <a:schemeClr val="tx1">
                    <a:lumMod val="50000"/>
                    <a:lumOff val="50000"/>
                  </a:schemeClr>
                </a:solidFill>
              </a:rPr>
              <a:t>, &amp;</a:t>
            </a:r>
            <a:r>
              <a:rPr lang="en-US" altLang="zh-CN" dirty="0" err="1">
                <a:solidFill>
                  <a:schemeClr val="tx1">
                    <a:lumMod val="50000"/>
                    <a:lumOff val="50000"/>
                  </a:schemeClr>
                </a:solidFill>
              </a:rPr>
              <a:t>opr_dest</a:t>
            </a:r>
            <a:r>
              <a:rPr lang="en-US" altLang="zh-CN" dirty="0">
                <a:solidFill>
                  <a:schemeClr val="tx1">
                    <a:lumMod val="50000"/>
                    <a:lumOff val="50000"/>
                  </a:schemeClr>
                </a:solidFill>
              </a:rPr>
              <a:t>);</a:t>
            </a:r>
            <a:endParaRPr lang="zh-CN" altLang="en-US" dirty="0">
              <a:solidFill>
                <a:schemeClr val="tx1">
                  <a:lumMod val="50000"/>
                  <a:lumOff val="50000"/>
                </a:schemeClr>
              </a:solidFill>
            </a:endParaRPr>
          </a:p>
          <a:p>
            <a:r>
              <a:rPr lang="en-US" altLang="zh-CN">
                <a:solidFill>
                  <a:schemeClr val="tx1">
                    <a:lumMod val="50000"/>
                    <a:lumOff val="50000"/>
                  </a:schemeClr>
                </a:solidFill>
              </a:rPr>
              <a:t>	</a:t>
            </a:r>
            <a:r>
              <a:rPr lang="zh-CN" altLang="en-US">
                <a:solidFill>
                  <a:schemeClr val="tx1">
                    <a:lumMod val="50000"/>
                    <a:lumOff val="50000"/>
                  </a:schemeClr>
                </a:solidFill>
              </a:rPr>
              <a:t>print</a:t>
            </a:r>
            <a:r>
              <a:rPr lang="zh-CN" altLang="en-US" dirty="0">
                <a:solidFill>
                  <a:schemeClr val="tx1">
                    <a:lumMod val="50000"/>
                    <a:lumOff val="50000"/>
                  </a:schemeClr>
                </a:solidFill>
              </a:rPr>
              <a:t>_asm_2(</a:t>
            </a:r>
            <a:r>
              <a:rPr lang="en-US" altLang="zh-CN" dirty="0">
                <a:solidFill>
                  <a:schemeClr val="tx1">
                    <a:lumMod val="50000"/>
                    <a:lumOff val="50000"/>
                  </a:schemeClr>
                </a:solidFill>
              </a:rPr>
              <a:t>…</a:t>
            </a:r>
            <a:r>
              <a:rPr lang="zh-CN" altLang="en-US" dirty="0">
                <a:solidFill>
                  <a:schemeClr val="tx1">
                    <a:lumMod val="50000"/>
                    <a:lumOff val="50000"/>
                  </a:schemeClr>
                </a:solidFill>
              </a:rPr>
              <a:t>);</a:t>
            </a:r>
            <a:endParaRPr lang="en-US" altLang="zh-CN" dirty="0">
              <a:solidFill>
                <a:schemeClr val="tx1">
                  <a:lumMod val="50000"/>
                  <a:lumOff val="50000"/>
                </a:schemeClr>
              </a:solidFill>
            </a:endParaRPr>
          </a:p>
          <a:p>
            <a:r>
              <a:rPr lang="en-US" altLang="zh-CN">
                <a:solidFill>
                  <a:schemeClr val="tx1">
                    <a:lumMod val="50000"/>
                    <a:lumOff val="50000"/>
                  </a:schemeClr>
                </a:solidFill>
              </a:rPr>
              <a:t>	</a:t>
            </a:r>
            <a:r>
              <a:rPr lang="zh-CN" altLang="en-US">
                <a:solidFill>
                  <a:schemeClr val="tx1">
                    <a:lumMod val="50000"/>
                    <a:lumOff val="50000"/>
                  </a:schemeClr>
                </a:solidFill>
              </a:rPr>
              <a:t>instr</a:t>
            </a:r>
            <a:r>
              <a:rPr lang="zh-CN" altLang="en-US" dirty="0">
                <a:solidFill>
                  <a:schemeClr val="tx1">
                    <a:lumMod val="50000"/>
                    <a:lumOff val="50000"/>
                  </a:schemeClr>
                </a:solidFill>
              </a:rPr>
              <a:t>_execute_2op()</a:t>
            </a:r>
            <a:r>
              <a:rPr lang="zh-CN" altLang="en-US">
                <a:solidFill>
                  <a:schemeClr val="tx1">
                    <a:lumMod val="50000"/>
                    <a:lumOff val="50000"/>
                  </a:schemeClr>
                </a:solidFill>
              </a:rPr>
              <a:t>; 		</a:t>
            </a:r>
            <a:endParaRPr lang="en-US" altLang="zh-CN" dirty="0">
              <a:solidFill>
                <a:schemeClr val="tx1">
                  <a:lumMod val="50000"/>
                  <a:lumOff val="50000"/>
                </a:schemeClr>
              </a:solidFill>
            </a:endParaRPr>
          </a:p>
          <a:p>
            <a:r>
              <a:rPr lang="en-US" altLang="zh-CN">
                <a:solidFill>
                  <a:schemeClr val="tx1">
                    <a:lumMod val="50000"/>
                    <a:lumOff val="50000"/>
                  </a:schemeClr>
                </a:solidFill>
              </a:rPr>
              <a:t>	</a:t>
            </a:r>
            <a:r>
              <a:rPr lang="zh-CN" altLang="en-US">
                <a:solidFill>
                  <a:schemeClr val="tx1">
                    <a:lumMod val="50000"/>
                    <a:lumOff val="50000"/>
                  </a:schemeClr>
                </a:solidFill>
              </a:rPr>
              <a:t>return </a:t>
            </a:r>
            <a:r>
              <a:rPr lang="zh-CN" altLang="en-US" dirty="0">
                <a:solidFill>
                  <a:schemeClr val="tx1">
                    <a:lumMod val="50000"/>
                    <a:lumOff val="50000"/>
                  </a:schemeClr>
                </a:solidFill>
              </a:rPr>
              <a:t>len; </a:t>
            </a:r>
            <a:endParaRPr lang="en-US" altLang="zh-CN" dirty="0">
              <a:solidFill>
                <a:schemeClr val="tx1">
                  <a:lumMod val="50000"/>
                  <a:lumOff val="50000"/>
                </a:schemeClr>
              </a:solidFill>
            </a:endParaRPr>
          </a:p>
          <a:p>
            <a:r>
              <a:rPr lang="zh-CN" altLang="en-US" dirty="0">
                <a:solidFill>
                  <a:schemeClr val="tx1">
                    <a:lumMod val="50000"/>
                    <a:lumOff val="50000"/>
                  </a:schemeClr>
                </a:solidFill>
              </a:rPr>
              <a:t>}</a:t>
            </a:r>
            <a:endParaRPr lang="zh-CN" altLang="en-US" dirty="0">
              <a:solidFill>
                <a:schemeClr val="tx1">
                  <a:lumMod val="50000"/>
                  <a:lumOff val="50000"/>
                </a:schemeClr>
              </a:solidFill>
            </a:endParaRPr>
          </a:p>
          <a:p>
            <a:endParaRPr lang="zh-CN" altLang="en-US" dirty="0">
              <a:solidFill>
                <a:srgbClr val="C00000"/>
              </a:solidFill>
            </a:endParaRPr>
          </a:p>
        </p:txBody>
      </p:sp>
      <p:sp>
        <p:nvSpPr>
          <p:cNvPr id="6" name="文本框 5"/>
          <p:cNvSpPr txBox="1"/>
          <p:nvPr/>
        </p:nvSpPr>
        <p:spPr>
          <a:xfrm>
            <a:off x="2538664" y="812322"/>
            <a:ext cx="4649535" cy="523220"/>
          </a:xfrm>
          <a:prstGeom prst="rect">
            <a:avLst/>
          </a:prstGeom>
          <a:noFill/>
        </p:spPr>
        <p:txBody>
          <a:bodyPr wrap="square" rtlCol="0">
            <a:spAutoFit/>
          </a:bodyPr>
          <a:lstStyle/>
          <a:p>
            <a:r>
              <a:rPr lang="en-US" altLang="zh-CN" sz="2800" i="1" dirty="0" err="1">
                <a:solidFill>
                  <a:srgbClr val="0070C0"/>
                </a:solidFill>
              </a:rPr>
              <a:t>nemu</a:t>
            </a:r>
            <a:r>
              <a:rPr lang="en-US" altLang="zh-CN" sz="2800" i="1" dirty="0">
                <a:solidFill>
                  <a:srgbClr val="0070C0"/>
                </a:solidFill>
              </a:rPr>
              <a:t>/</a:t>
            </a:r>
            <a:r>
              <a:rPr lang="en-US" altLang="zh-CN" sz="2800" i="1" dirty="0" err="1">
                <a:solidFill>
                  <a:srgbClr val="0070C0"/>
                </a:solidFill>
              </a:rPr>
              <a:t>src</a:t>
            </a:r>
            <a:r>
              <a:rPr lang="en-US" altLang="zh-CN" sz="2800" i="1" dirty="0">
                <a:solidFill>
                  <a:srgbClr val="0070C0"/>
                </a:solidFill>
              </a:rPr>
              <a:t>/</a:t>
            </a:r>
            <a:r>
              <a:rPr lang="en-US" altLang="zh-CN" sz="2800" i="1" dirty="0" err="1">
                <a:solidFill>
                  <a:srgbClr val="0070C0"/>
                </a:solidFill>
              </a:rPr>
              <a:t>cpu</a:t>
            </a:r>
            <a:r>
              <a:rPr lang="en-US" altLang="zh-CN" sz="2800" i="1" dirty="0">
                <a:solidFill>
                  <a:srgbClr val="0070C0"/>
                </a:solidFill>
              </a:rPr>
              <a:t>/</a:t>
            </a:r>
            <a:r>
              <a:rPr lang="en-US" altLang="zh-CN" sz="2800" i="1" dirty="0" err="1">
                <a:solidFill>
                  <a:srgbClr val="0070C0"/>
                </a:solidFill>
              </a:rPr>
              <a:t>instr</a:t>
            </a:r>
            <a:r>
              <a:rPr lang="en-US" altLang="zh-CN" sz="2800" i="1" dirty="0">
                <a:solidFill>
                  <a:srgbClr val="0070C0"/>
                </a:solidFill>
              </a:rPr>
              <a:t>/</a:t>
            </a:r>
            <a:r>
              <a:rPr lang="en-US" altLang="zh-CN" sz="2800" i="1" dirty="0" err="1">
                <a:solidFill>
                  <a:srgbClr val="0070C0"/>
                </a:solidFill>
              </a:rPr>
              <a:t>mov.c</a:t>
            </a:r>
            <a:r>
              <a:rPr lang="en-US" altLang="zh-CN" sz="2800" i="1" dirty="0">
                <a:solidFill>
                  <a:srgbClr val="0070C0"/>
                </a:solidFill>
              </a:rPr>
              <a:t> </a:t>
            </a:r>
            <a:endParaRPr lang="zh-CN" altLang="en-US" sz="2800" i="1" dirty="0">
              <a:solidFill>
                <a:srgbClr val="0070C0"/>
              </a:solidFill>
            </a:endParaRPr>
          </a:p>
        </p:txBody>
      </p:sp>
      <p:cxnSp>
        <p:nvCxnSpPr>
          <p:cNvPr id="7" name="直接箭头连接符 6"/>
          <p:cNvCxnSpPr/>
          <p:nvPr/>
        </p:nvCxnSpPr>
        <p:spPr>
          <a:xfrm>
            <a:off x="3940629" y="4760686"/>
            <a:ext cx="1008742" cy="638628"/>
          </a:xfrm>
          <a:prstGeom prst="straightConnector1">
            <a:avLst/>
          </a:prstGeom>
          <a:ln w="44450">
            <a:headEnd type="triangle"/>
            <a:tailEnd type="triangle"/>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3903438" y="5193296"/>
            <a:ext cx="740229" cy="369332"/>
          </a:xfrm>
          <a:prstGeom prst="rect">
            <a:avLst/>
          </a:prstGeom>
          <a:noFill/>
        </p:spPr>
        <p:txBody>
          <a:bodyPr wrap="square" rtlCol="0">
            <a:spAutoFit/>
          </a:bodyPr>
          <a:lstStyle/>
          <a:p>
            <a:r>
              <a:rPr lang="zh-CN" altLang="en-US" dirty="0">
                <a:solidFill>
                  <a:srgbClr val="0070C0"/>
                </a:solidFill>
              </a:rPr>
              <a:t>等价</a:t>
            </a:r>
            <a:endParaRPr lang="zh-CN" altLang="en-US" dirty="0">
              <a:solidFill>
                <a:srgbClr val="0070C0"/>
              </a:solidFill>
            </a:endParaRPr>
          </a:p>
        </p:txBody>
      </p:sp>
      <p:sp>
        <p:nvSpPr>
          <p:cNvPr id="9" name="文本框 8"/>
          <p:cNvSpPr txBox="1"/>
          <p:nvPr/>
        </p:nvSpPr>
        <p:spPr>
          <a:xfrm>
            <a:off x="1734457" y="5725887"/>
            <a:ext cx="2358572" cy="646331"/>
          </a:xfrm>
          <a:prstGeom prst="rect">
            <a:avLst/>
          </a:prstGeom>
          <a:noFill/>
          <a:ln w="25400">
            <a:solidFill>
              <a:srgbClr val="FF0000"/>
            </a:solidFill>
          </a:ln>
        </p:spPr>
        <p:txBody>
          <a:bodyPr wrap="square" rtlCol="0">
            <a:spAutoFit/>
          </a:bodyPr>
          <a:lstStyle/>
          <a:p>
            <a:r>
              <a:rPr lang="en-US" altLang="zh-CN" dirty="0" err="1"/>
              <a:t>modrm</a:t>
            </a:r>
            <a:r>
              <a:rPr lang="zh-CN" altLang="en-US" dirty="0"/>
              <a:t>系列函数看</a:t>
            </a:r>
            <a:r>
              <a:rPr lang="en-US" altLang="zh-CN" dirty="0"/>
              <a:t>Guide</a:t>
            </a:r>
            <a:r>
              <a:rPr lang="zh-CN" altLang="en-US" dirty="0"/>
              <a:t>的描述</a:t>
            </a:r>
            <a:endParaRPr lang="zh-CN" alt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最终效果</a:t>
            </a:r>
            <a:endParaRPr lang="zh-CN" altLang="en-US" dirty="0"/>
          </a:p>
        </p:txBody>
      </p:sp>
      <p:sp>
        <p:nvSpPr>
          <p:cNvPr id="4" name="日期占位符 3"/>
          <p:cNvSpPr>
            <a:spLocks noGrp="1"/>
          </p:cNvSpPr>
          <p:nvPr>
            <p:ph type="dt" sz="half" idx="10"/>
          </p:nvPr>
        </p:nvSpPr>
        <p:spPr/>
        <p:txBody>
          <a:bodyPr/>
          <a:lstStyle/>
          <a:p>
            <a:fld id="{41D2AEF5-D648-4728-8573-61956C55922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sp>
        <p:nvSpPr>
          <p:cNvPr id="8" name="矩形 7"/>
          <p:cNvSpPr/>
          <p:nvPr/>
        </p:nvSpPr>
        <p:spPr>
          <a:xfrm>
            <a:off x="4813300" y="662277"/>
            <a:ext cx="6096000" cy="5355312"/>
          </a:xfrm>
          <a:prstGeom prst="rect">
            <a:avLst/>
          </a:prstGeom>
        </p:spPr>
        <p:style>
          <a:lnRef idx="2">
            <a:schemeClr val="dk1"/>
          </a:lnRef>
          <a:fillRef idx="1">
            <a:schemeClr val="lt1"/>
          </a:fillRef>
          <a:effectRef idx="0">
            <a:schemeClr val="dk1"/>
          </a:effectRef>
          <a:fontRef idx="minor">
            <a:schemeClr val="dk1"/>
          </a:fontRef>
        </p:style>
        <p:txBody>
          <a:bodyPr>
            <a:spAutoFit/>
          </a:bodyPr>
          <a:lstStyle/>
          <a:p>
            <a:r>
              <a:rPr lang="zh-CN" altLang="en-US" dirty="0"/>
              <a:t>static void instr_execute_2op() </a:t>
            </a:r>
            <a:endParaRPr lang="zh-CN" altLang="en-US" dirty="0"/>
          </a:p>
          <a:p>
            <a:r>
              <a:rPr lang="zh-CN" altLang="en-US" dirty="0"/>
              <a:t>{</a:t>
            </a:r>
            <a:endParaRPr lang="zh-CN" altLang="en-US" dirty="0"/>
          </a:p>
          <a:p>
            <a:r>
              <a:rPr lang="zh-CN" altLang="en-US"/>
              <a:t>	operand</a:t>
            </a:r>
            <a:r>
              <a:rPr lang="zh-CN" altLang="en-US" dirty="0"/>
              <a:t>_read(&amp;opr_src);</a:t>
            </a:r>
            <a:endParaRPr lang="zh-CN" altLang="en-US" dirty="0"/>
          </a:p>
          <a:p>
            <a:r>
              <a:rPr lang="zh-CN" altLang="en-US"/>
              <a:t>	opr</a:t>
            </a:r>
            <a:r>
              <a:rPr lang="zh-CN" altLang="en-US" dirty="0"/>
              <a:t>_dest.val = opr_src.val;</a:t>
            </a:r>
            <a:endParaRPr lang="zh-CN" altLang="en-US" dirty="0"/>
          </a:p>
          <a:p>
            <a:r>
              <a:rPr lang="zh-CN" altLang="en-US"/>
              <a:t>	operand</a:t>
            </a:r>
            <a:r>
              <a:rPr lang="zh-CN" altLang="en-US" dirty="0"/>
              <a:t>_write(&amp;opr_dest);</a:t>
            </a:r>
            <a:endParaRPr lang="zh-CN" altLang="en-US" dirty="0"/>
          </a:p>
          <a:p>
            <a:r>
              <a:rPr lang="zh-CN" altLang="en-US" dirty="0"/>
              <a:t>}</a:t>
            </a:r>
            <a:endParaRPr lang="zh-CN" altLang="en-US" dirty="0"/>
          </a:p>
          <a:p>
            <a:endParaRPr lang="zh-CN" altLang="en-US" dirty="0"/>
          </a:p>
          <a:p>
            <a:r>
              <a:rPr lang="zh-CN" altLang="en-US" dirty="0"/>
              <a:t>make_instr_impl_2op(mov, r, rm, b)</a:t>
            </a:r>
            <a:endParaRPr lang="zh-CN" altLang="en-US" dirty="0"/>
          </a:p>
          <a:p>
            <a:r>
              <a:rPr lang="zh-CN" altLang="en-US" dirty="0"/>
              <a:t>make_instr_impl_2op(mov, r, rm, v)</a:t>
            </a:r>
            <a:endParaRPr lang="zh-CN" altLang="en-US" dirty="0"/>
          </a:p>
          <a:p>
            <a:r>
              <a:rPr lang="zh-CN" altLang="en-US" dirty="0"/>
              <a:t>make_instr_impl_2op(mov, rm, r, b)</a:t>
            </a:r>
            <a:endParaRPr lang="zh-CN" altLang="en-US" dirty="0"/>
          </a:p>
          <a:p>
            <a:r>
              <a:rPr lang="zh-CN" altLang="en-US" dirty="0"/>
              <a:t>make_instr_impl_2op(mov, rm, r, v)</a:t>
            </a:r>
            <a:endParaRPr lang="zh-CN" altLang="en-US" dirty="0"/>
          </a:p>
          <a:p>
            <a:r>
              <a:rPr lang="zh-CN" altLang="en-US" dirty="0"/>
              <a:t>make_instr_impl_2op(mov, i, rm, b)</a:t>
            </a:r>
            <a:endParaRPr lang="zh-CN" altLang="en-US" dirty="0"/>
          </a:p>
          <a:p>
            <a:r>
              <a:rPr lang="zh-CN" altLang="en-US" dirty="0"/>
              <a:t>make_instr_impl_2op(mov, i, rm, v)</a:t>
            </a:r>
            <a:endParaRPr lang="zh-CN" altLang="en-US" dirty="0"/>
          </a:p>
          <a:p>
            <a:r>
              <a:rPr lang="zh-CN" altLang="en-US" dirty="0"/>
              <a:t>make_instr_impl_2op(mov, i, r, b)</a:t>
            </a:r>
            <a:endParaRPr lang="zh-CN" altLang="en-US" dirty="0"/>
          </a:p>
          <a:p>
            <a:r>
              <a:rPr lang="zh-CN" altLang="en-US" dirty="0"/>
              <a:t>make_instr_impl_2op(mov, i, r, v)</a:t>
            </a:r>
            <a:endParaRPr lang="zh-CN" altLang="en-US" dirty="0"/>
          </a:p>
          <a:p>
            <a:r>
              <a:rPr lang="zh-CN" altLang="en-US" dirty="0"/>
              <a:t>make_instr_impl_2op(mov, a, o, b)</a:t>
            </a:r>
            <a:endParaRPr lang="zh-CN" altLang="en-US" dirty="0"/>
          </a:p>
          <a:p>
            <a:r>
              <a:rPr lang="zh-CN" altLang="en-US" dirty="0"/>
              <a:t>make_instr_impl_2op(mov, a, o, v)</a:t>
            </a:r>
            <a:endParaRPr lang="zh-CN" altLang="en-US" dirty="0"/>
          </a:p>
          <a:p>
            <a:r>
              <a:rPr lang="zh-CN" altLang="en-US" dirty="0"/>
              <a:t>make_instr_impl_2op(mov, o, a, b)</a:t>
            </a:r>
            <a:endParaRPr lang="zh-CN" altLang="en-US" dirty="0"/>
          </a:p>
          <a:p>
            <a:r>
              <a:rPr lang="zh-CN" altLang="en-US" dirty="0"/>
              <a:t>make_instr_impl_2op(mov, o, a, v)</a:t>
            </a:r>
            <a:endParaRPr lang="zh-CN" altLang="en-US" dirty="0"/>
          </a:p>
        </p:txBody>
      </p:sp>
      <p:sp>
        <p:nvSpPr>
          <p:cNvPr id="9" name="文本框 8"/>
          <p:cNvSpPr txBox="1"/>
          <p:nvPr/>
        </p:nvSpPr>
        <p:spPr>
          <a:xfrm>
            <a:off x="736600" y="4184650"/>
            <a:ext cx="3105150" cy="369332"/>
          </a:xfrm>
          <a:prstGeom prst="rect">
            <a:avLst/>
          </a:prstGeom>
          <a:noFill/>
        </p:spPr>
        <p:txBody>
          <a:bodyPr wrap="square" rtlCol="0">
            <a:spAutoFit/>
          </a:bodyPr>
          <a:lstStyle/>
          <a:p>
            <a:r>
              <a:rPr lang="zh-CN" altLang="en-US" dirty="0"/>
              <a:t>展开后约等于</a:t>
            </a:r>
            <a:r>
              <a:rPr lang="en-US" altLang="zh-CN" dirty="0"/>
              <a:t>120</a:t>
            </a:r>
            <a:r>
              <a:rPr lang="zh-CN" altLang="en-US" dirty="0"/>
              <a:t>行的代码</a:t>
            </a:r>
            <a:endParaRPr lang="zh-CN" altLang="en-US" dirty="0"/>
          </a:p>
        </p:txBody>
      </p:sp>
      <p:sp>
        <p:nvSpPr>
          <p:cNvPr id="10" name="左大括号 9"/>
          <p:cNvSpPr/>
          <p:nvPr/>
        </p:nvSpPr>
        <p:spPr>
          <a:xfrm>
            <a:off x="4038600" y="2705100"/>
            <a:ext cx="577850" cy="3312489"/>
          </a:xfrm>
          <a:prstGeom prst="leftBrace">
            <a:avLst>
              <a:gd name="adj1" fmla="val 34707"/>
              <a:gd name="adj2" fmla="val 50000"/>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dirty="0"/>
              <a:t>PA 2-1</a:t>
            </a:r>
            <a:r>
              <a:rPr lang="zh-CN" altLang="en-US" dirty="0"/>
              <a:t>的具体操作流程</a:t>
            </a:r>
            <a:endParaRPr lang="zh-CN" altLang="en-US" dirty="0"/>
          </a:p>
        </p:txBody>
      </p:sp>
      <p:sp>
        <p:nvSpPr>
          <p:cNvPr id="3" name="副标题 2"/>
          <p:cNvSpPr>
            <a:spLocks noGrp="1"/>
          </p:cNvSpPr>
          <p:nvPr>
            <p:ph type="subTitle" idx="1"/>
          </p:nvPr>
        </p:nvSpPr>
        <p:spPr/>
        <p:txBody>
          <a:bodyPr/>
          <a:lstStyle/>
          <a:p>
            <a:endParaRPr lang="zh-CN" altLang="en-US"/>
          </a:p>
        </p:txBody>
      </p:sp>
      <p:sp>
        <p:nvSpPr>
          <p:cNvPr id="4" name="日期占位符 3"/>
          <p:cNvSpPr>
            <a:spLocks noGrp="1"/>
          </p:cNvSpPr>
          <p:nvPr>
            <p:ph type="dt" sz="half" idx="10"/>
          </p:nvPr>
        </p:nvSpPr>
        <p:spPr/>
        <p:txBody>
          <a:bodyPr/>
          <a:lstStyle/>
          <a:p>
            <a:fld id="{126D3EE9-7539-4E35-AA32-D6C6D6B84F33}"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365126"/>
            <a:ext cx="12192000" cy="734002"/>
          </a:xfrm>
        </p:spPr>
        <p:txBody>
          <a:bodyPr>
            <a:noAutofit/>
          </a:bodyPr>
          <a:lstStyle/>
          <a:p>
            <a:r>
              <a:rPr lang="en-US" altLang="zh-CN" sz="3600" dirty="0"/>
              <a:t>PA 2-1</a:t>
            </a:r>
            <a:r>
              <a:rPr lang="zh-CN" altLang="en-US" sz="3600" dirty="0"/>
              <a:t>要做的任务：执行</a:t>
            </a:r>
            <a:r>
              <a:rPr lang="en-US" altLang="zh-CN" sz="3600" dirty="0"/>
              <a:t>make run</a:t>
            </a:r>
            <a:r>
              <a:rPr lang="zh-CN" altLang="en-US" sz="3600" dirty="0"/>
              <a:t>或</a:t>
            </a:r>
            <a:r>
              <a:rPr lang="en-US" altLang="zh-CN" sz="3600" dirty="0"/>
              <a:t>make test_pa-2-1</a:t>
            </a:r>
            <a:endParaRPr lang="zh-CN" altLang="en-US" sz="3600" dirty="0"/>
          </a:p>
        </p:txBody>
      </p:sp>
      <p:sp>
        <p:nvSpPr>
          <p:cNvPr id="4" name="日期占位符 3"/>
          <p:cNvSpPr>
            <a:spLocks noGrp="1"/>
          </p:cNvSpPr>
          <p:nvPr>
            <p:ph type="dt" sz="half" idx="10"/>
          </p:nvPr>
        </p:nvSpPr>
        <p:spPr/>
        <p:txBody>
          <a:bodyPr/>
          <a:lstStyle/>
          <a:p>
            <a:fld id="{41D2AEF5-D648-4728-8573-61956C55922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sp>
        <p:nvSpPr>
          <p:cNvPr id="7" name="矩形 6"/>
          <p:cNvSpPr/>
          <p:nvPr/>
        </p:nvSpPr>
        <p:spPr>
          <a:xfrm>
            <a:off x="838200" y="1614686"/>
            <a:ext cx="6170448" cy="3308598"/>
          </a:xfrm>
          <a:prstGeom prst="rect">
            <a:avLst/>
          </a:prstGeom>
          <a:solidFill>
            <a:schemeClr val="bg2"/>
          </a:solidFill>
        </p:spPr>
        <p:txBody>
          <a:bodyPr wrap="square">
            <a:spAutoFit/>
          </a:bodyPr>
          <a:lstStyle/>
          <a:p>
            <a:r>
              <a:rPr lang="zh-CN" altLang="en-US" dirty="0">
                <a:solidFill>
                  <a:srgbClr val="FF0000"/>
                </a:solidFill>
              </a:rPr>
              <a:t>invalid opcode(eip = 0x00030033): 83 f8 01 66 c7 05 34 12 ...</a:t>
            </a:r>
            <a:endParaRPr lang="zh-CN" altLang="en-US" dirty="0">
              <a:solidFill>
                <a:srgbClr val="FF0000"/>
              </a:solidFill>
            </a:endParaRPr>
          </a:p>
          <a:p>
            <a:endParaRPr lang="zh-CN" altLang="en-US" sz="1100" dirty="0"/>
          </a:p>
          <a:p>
            <a:r>
              <a:rPr lang="zh-CN" altLang="en-US" sz="1000" dirty="0"/>
              <a:t>There are two cases which will trigger this unexpected exception:</a:t>
            </a:r>
            <a:endParaRPr lang="zh-CN" altLang="en-US" sz="1000" dirty="0"/>
          </a:p>
          <a:p>
            <a:r>
              <a:rPr lang="zh-CN" altLang="en-US" sz="1000" dirty="0"/>
              <a:t>1. The instruction at eip = 0x00030033 is not implemented.</a:t>
            </a:r>
            <a:endParaRPr lang="zh-CN" altLang="en-US" sz="1000" dirty="0"/>
          </a:p>
          <a:p>
            <a:r>
              <a:rPr lang="zh-CN" altLang="en-US" sz="1000" dirty="0"/>
              <a:t>2. Something is implemented incorrectly.</a:t>
            </a:r>
            <a:endParaRPr lang="zh-CN" altLang="en-US" sz="1000" dirty="0"/>
          </a:p>
          <a:p>
            <a:r>
              <a:rPr lang="zh-CN" altLang="en-US" sz="1000" dirty="0"/>
              <a:t>Find this eip value(0x00030033) in the disassembling result to distinguish which case it is.</a:t>
            </a:r>
            <a:endParaRPr lang="zh-CN" altLang="en-US" sz="1000" dirty="0"/>
          </a:p>
          <a:p>
            <a:endParaRPr lang="zh-CN" altLang="en-US" sz="1000" dirty="0"/>
          </a:p>
          <a:p>
            <a:r>
              <a:rPr lang="zh-CN" altLang="en-US" sz="1000" dirty="0">
                <a:solidFill>
                  <a:srgbClr val="FF0000"/>
                </a:solidFill>
              </a:rPr>
              <a:t>If it is the first case, see</a:t>
            </a:r>
            <a:endParaRPr lang="zh-CN" altLang="en-US" sz="1000" dirty="0">
              <a:solidFill>
                <a:srgbClr val="FF0000"/>
              </a:solidFill>
            </a:endParaRPr>
          </a:p>
          <a:p>
            <a:r>
              <a:rPr lang="zh-CN" altLang="en-US" sz="1000" dirty="0">
                <a:solidFill>
                  <a:srgbClr val="FF0000"/>
                </a:solidFill>
                <a:latin typeface="MS Gothic" panose="020B0609070205080204" pitchFamily="49" charset="-128"/>
                <a:ea typeface="MS Gothic" panose="020B0609070205080204" pitchFamily="49" charset="-128"/>
              </a:rPr>
              <a:t> _ ____   ___    __    __  __                         _ </a:t>
            </a:r>
            <a:endParaRPr lang="zh-CN" altLang="en-US" sz="1000" dirty="0">
              <a:solidFill>
                <a:srgbClr val="FF0000"/>
              </a:solidFill>
              <a:latin typeface="MS Gothic" panose="020B0609070205080204" pitchFamily="49" charset="-128"/>
              <a:ea typeface="MS Gothic" panose="020B0609070205080204" pitchFamily="49" charset="-128"/>
            </a:endParaRPr>
          </a:p>
          <a:p>
            <a:r>
              <a:rPr lang="zh-CN" altLang="en-US" sz="1000" dirty="0">
                <a:solidFill>
                  <a:srgbClr val="FF0000"/>
                </a:solidFill>
                <a:latin typeface="MS Gothic" panose="020B0609070205080204" pitchFamily="49" charset="-128"/>
                <a:ea typeface="MS Gothic" panose="020B0609070205080204" pitchFamily="49" charset="-128"/>
              </a:rPr>
              <a:t>(_)___ </a:t>
            </a:r>
            <a:r>
              <a:rPr lang="en-US" altLang="zh-CN" sz="1000" dirty="0">
                <a:solidFill>
                  <a:srgbClr val="FF0000"/>
                </a:solidFill>
                <a:latin typeface="MS Gothic" panose="020B0609070205080204" pitchFamily="49" charset="-128"/>
                <a:ea typeface="MS Gothic" panose="020B0609070205080204" pitchFamily="49" charset="-128"/>
              </a:rPr>
              <a:t>\</a:t>
            </a:r>
            <a:r>
              <a:rPr lang="zh-CN" altLang="en-US" sz="1000" dirty="0">
                <a:solidFill>
                  <a:srgbClr val="FF0000"/>
                </a:solidFill>
                <a:latin typeface="MS Gothic" panose="020B0609070205080204" pitchFamily="49" charset="-128"/>
                <a:ea typeface="MS Gothic" panose="020B0609070205080204" pitchFamily="49" charset="-128"/>
              </a:rPr>
              <a:t> / _ \  / /   |  \/  |                       | |</a:t>
            </a:r>
            <a:endParaRPr lang="zh-CN" altLang="en-US" sz="1000" dirty="0">
              <a:solidFill>
                <a:srgbClr val="FF0000"/>
              </a:solidFill>
              <a:latin typeface="MS Gothic" panose="020B0609070205080204" pitchFamily="49" charset="-128"/>
              <a:ea typeface="MS Gothic" panose="020B0609070205080204" pitchFamily="49" charset="-128"/>
            </a:endParaRPr>
          </a:p>
          <a:p>
            <a:r>
              <a:rPr lang="zh-CN" altLang="en-US" sz="1000" dirty="0">
                <a:solidFill>
                  <a:srgbClr val="FF0000"/>
                </a:solidFill>
                <a:latin typeface="MS Gothic" panose="020B0609070205080204" pitchFamily="49" charset="-128"/>
                <a:ea typeface="MS Gothic" panose="020B0609070205080204" pitchFamily="49" charset="-128"/>
              </a:rPr>
              <a:t> _  __) | (_) |/ /_   | \  / | __ _ _ __  _   _  __ _| |</a:t>
            </a:r>
            <a:endParaRPr lang="zh-CN" altLang="en-US" sz="1000" dirty="0">
              <a:solidFill>
                <a:srgbClr val="FF0000"/>
              </a:solidFill>
              <a:latin typeface="MS Gothic" panose="020B0609070205080204" pitchFamily="49" charset="-128"/>
              <a:ea typeface="MS Gothic" panose="020B0609070205080204" pitchFamily="49" charset="-128"/>
            </a:endParaRPr>
          </a:p>
          <a:p>
            <a:r>
              <a:rPr lang="zh-CN" altLang="en-US" sz="1000" dirty="0">
                <a:solidFill>
                  <a:srgbClr val="FF0000"/>
                </a:solidFill>
                <a:latin typeface="MS Gothic" panose="020B0609070205080204" pitchFamily="49" charset="-128"/>
                <a:ea typeface="MS Gothic" panose="020B0609070205080204" pitchFamily="49" charset="-128"/>
              </a:rPr>
              <a:t>| ||__ &lt; &gt; _ &lt;| '_ \  | |\/| |/ _` | '_ \| | | |/ _` | |</a:t>
            </a:r>
            <a:endParaRPr lang="zh-CN" altLang="en-US" sz="1000" dirty="0">
              <a:solidFill>
                <a:srgbClr val="FF0000"/>
              </a:solidFill>
              <a:latin typeface="MS Gothic" panose="020B0609070205080204" pitchFamily="49" charset="-128"/>
              <a:ea typeface="MS Gothic" panose="020B0609070205080204" pitchFamily="49" charset="-128"/>
            </a:endParaRPr>
          </a:p>
          <a:p>
            <a:r>
              <a:rPr lang="zh-CN" altLang="en-US" sz="1000" dirty="0">
                <a:solidFill>
                  <a:srgbClr val="FF0000"/>
                </a:solidFill>
                <a:latin typeface="MS Gothic" panose="020B0609070205080204" pitchFamily="49" charset="-128"/>
                <a:ea typeface="MS Gothic" panose="020B0609070205080204" pitchFamily="49" charset="-128"/>
              </a:rPr>
              <a:t>| |___) | (_) | (_) | | |  | | (_| | | | | |_| | (_| | |</a:t>
            </a:r>
            <a:endParaRPr lang="zh-CN" altLang="en-US" sz="1000" dirty="0">
              <a:solidFill>
                <a:srgbClr val="FF0000"/>
              </a:solidFill>
              <a:latin typeface="MS Gothic" panose="020B0609070205080204" pitchFamily="49" charset="-128"/>
              <a:ea typeface="MS Gothic" panose="020B0609070205080204" pitchFamily="49" charset="-128"/>
            </a:endParaRPr>
          </a:p>
          <a:p>
            <a:r>
              <a:rPr lang="zh-CN" altLang="en-US" sz="1000" dirty="0">
                <a:solidFill>
                  <a:srgbClr val="FF0000"/>
                </a:solidFill>
                <a:latin typeface="MS Gothic" panose="020B0609070205080204" pitchFamily="49" charset="-128"/>
                <a:ea typeface="MS Gothic" panose="020B0609070205080204" pitchFamily="49" charset="-128"/>
              </a:rPr>
              <a:t>|_|____/ \___/ \___/  |_|  |_|\__,_|_| |_|\__,_|\__,_|_|</a:t>
            </a:r>
            <a:endParaRPr lang="zh-CN" altLang="en-US" sz="1000" dirty="0">
              <a:solidFill>
                <a:srgbClr val="FF0000"/>
              </a:solidFill>
              <a:latin typeface="MS Gothic" panose="020B0609070205080204" pitchFamily="49" charset="-128"/>
              <a:ea typeface="MS Gothic" panose="020B0609070205080204" pitchFamily="49" charset="-128"/>
            </a:endParaRPr>
          </a:p>
          <a:p>
            <a:endParaRPr lang="zh-CN" altLang="en-US" sz="1000" dirty="0">
              <a:solidFill>
                <a:srgbClr val="FF0000"/>
              </a:solidFill>
            </a:endParaRPr>
          </a:p>
          <a:p>
            <a:r>
              <a:rPr lang="zh-CN" altLang="en-US" sz="1000" dirty="0">
                <a:solidFill>
                  <a:srgbClr val="FF0000"/>
                </a:solidFill>
              </a:rPr>
              <a:t>for more details.</a:t>
            </a:r>
            <a:endParaRPr lang="zh-CN" altLang="en-US" sz="1000" dirty="0">
              <a:solidFill>
                <a:srgbClr val="FF0000"/>
              </a:solidFill>
            </a:endParaRPr>
          </a:p>
          <a:p>
            <a:endParaRPr lang="zh-CN" altLang="en-US" sz="1000" dirty="0">
              <a:solidFill>
                <a:srgbClr val="FF0000"/>
              </a:solidFill>
            </a:endParaRPr>
          </a:p>
          <a:p>
            <a:r>
              <a:rPr lang="zh-CN" altLang="en-US" sz="1000" dirty="0">
                <a:solidFill>
                  <a:srgbClr val="FF0000"/>
                </a:solidFill>
              </a:rPr>
              <a:t>If it is the second case, remember:</a:t>
            </a:r>
            <a:endParaRPr lang="zh-CN" altLang="en-US" sz="1000" dirty="0">
              <a:solidFill>
                <a:srgbClr val="FF0000"/>
              </a:solidFill>
            </a:endParaRPr>
          </a:p>
          <a:p>
            <a:r>
              <a:rPr lang="zh-CN" altLang="en-US" sz="1000" dirty="0">
                <a:solidFill>
                  <a:srgbClr val="FF0000"/>
                </a:solidFill>
              </a:rPr>
              <a:t>* The machine is always right!</a:t>
            </a:r>
            <a:endParaRPr lang="zh-CN" altLang="en-US" sz="1000" dirty="0">
              <a:solidFill>
                <a:srgbClr val="FF0000"/>
              </a:solidFill>
            </a:endParaRPr>
          </a:p>
          <a:p>
            <a:r>
              <a:rPr lang="zh-CN" altLang="en-US" sz="1000" dirty="0">
                <a:solidFill>
                  <a:srgbClr val="FF0000"/>
                </a:solidFill>
              </a:rPr>
              <a:t>* Every line of untested code is always wrong!</a:t>
            </a:r>
            <a:endParaRPr lang="zh-CN" altLang="en-US" sz="1000" dirty="0">
              <a:solidFill>
                <a:srgbClr val="FF0000"/>
              </a:solidFill>
            </a:endParaRPr>
          </a:p>
        </p:txBody>
      </p:sp>
      <p:sp>
        <p:nvSpPr>
          <p:cNvPr id="8" name="文本框 7"/>
          <p:cNvSpPr txBox="1"/>
          <p:nvPr/>
        </p:nvSpPr>
        <p:spPr>
          <a:xfrm>
            <a:off x="7391400" y="1431594"/>
            <a:ext cx="3721100" cy="2677656"/>
          </a:xfrm>
          <a:prstGeom prst="rect">
            <a:avLst/>
          </a:prstGeom>
          <a:noFill/>
        </p:spPr>
        <p:txBody>
          <a:bodyPr wrap="square" rtlCol="0">
            <a:spAutoFit/>
          </a:bodyPr>
          <a:lstStyle/>
          <a:p>
            <a:r>
              <a:rPr lang="zh-CN" altLang="en-US" sz="2800" dirty="0"/>
              <a:t>根据</a:t>
            </a:r>
            <a:r>
              <a:rPr lang="en-US" altLang="zh-CN" sz="2800" dirty="0" err="1"/>
              <a:t>eip</a:t>
            </a:r>
            <a:r>
              <a:rPr lang="zh-CN" altLang="en-US" sz="2800" dirty="0"/>
              <a:t>，结合打印出来的内存内容定位需要实现的指令</a:t>
            </a:r>
            <a:endParaRPr lang="en-US" altLang="zh-CN" sz="2800" dirty="0"/>
          </a:p>
          <a:p>
            <a:endParaRPr lang="en-US" altLang="zh-CN" sz="2800" dirty="0"/>
          </a:p>
          <a:p>
            <a:r>
              <a:rPr lang="zh-CN" altLang="en-US" sz="2800" dirty="0"/>
              <a:t>配合使用我们定制的</a:t>
            </a:r>
            <a:r>
              <a:rPr lang="en-US" altLang="zh-CN" sz="2800" dirty="0" err="1"/>
              <a:t>objdump</a:t>
            </a:r>
            <a:r>
              <a:rPr lang="zh-CN" altLang="en-US" sz="2800" dirty="0"/>
              <a:t>工具</a:t>
            </a:r>
            <a:endParaRPr lang="zh-CN" altLang="en-US" sz="2800" dirty="0"/>
          </a:p>
        </p:txBody>
      </p:sp>
      <p:sp>
        <p:nvSpPr>
          <p:cNvPr id="9" name="矩形 8"/>
          <p:cNvSpPr/>
          <p:nvPr/>
        </p:nvSpPr>
        <p:spPr>
          <a:xfrm>
            <a:off x="1192032" y="5543919"/>
            <a:ext cx="6734536" cy="461665"/>
          </a:xfrm>
          <a:prstGeom prst="rect">
            <a:avLst/>
          </a:prstGeom>
        </p:spPr>
        <p:txBody>
          <a:bodyPr wrap="none">
            <a:spAutoFit/>
          </a:bodyPr>
          <a:lstStyle/>
          <a:p>
            <a:r>
              <a:rPr lang="zh-CN" altLang="en-US" sz="2400" b="1" dirty="0">
                <a:solidFill>
                  <a:schemeClr val="accent5"/>
                </a:solidFill>
              </a:rPr>
              <a:t>http://114.212.10.212/wl/pa2020_spring_guide</a:t>
            </a:r>
            <a:endParaRPr lang="zh-CN" altLang="en-US" sz="2400" b="1" dirty="0">
              <a:solidFill>
                <a:schemeClr val="accent5"/>
              </a:solidFill>
            </a:endParaRPr>
          </a:p>
        </p:txBody>
      </p:sp>
      <p:pic>
        <p:nvPicPr>
          <p:cNvPr id="10" name="图片 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280400" y="4206478"/>
            <a:ext cx="2931932" cy="2237315"/>
          </a:xfrm>
          <a:prstGeom prst="rect">
            <a:avLst/>
          </a:prstGeom>
        </p:spPr>
      </p:pic>
      <p:sp>
        <p:nvSpPr>
          <p:cNvPr id="11" name="文本框 10"/>
          <p:cNvSpPr txBox="1"/>
          <p:nvPr/>
        </p:nvSpPr>
        <p:spPr>
          <a:xfrm>
            <a:off x="1192032" y="6102812"/>
            <a:ext cx="8648700" cy="400110"/>
          </a:xfrm>
          <a:prstGeom prst="rect">
            <a:avLst/>
          </a:prstGeom>
          <a:noFill/>
        </p:spPr>
        <p:txBody>
          <a:bodyPr wrap="square" rtlCol="0">
            <a:spAutoFit/>
          </a:bodyPr>
          <a:lstStyle/>
          <a:p>
            <a:r>
              <a:rPr lang="zh-CN" altLang="en-US" sz="2000" dirty="0">
                <a:latin typeface="Consolas" panose="020B0609020204030204" pitchFamily="49" charset="0"/>
              </a:rPr>
              <a:t>源码：</a:t>
            </a:r>
            <a:r>
              <a:rPr lang="en-US" altLang="zh-CN" sz="2000" dirty="0">
                <a:solidFill>
                  <a:schemeClr val="accent5"/>
                </a:solidFill>
                <a:latin typeface="Consolas" panose="020B0609020204030204" pitchFamily="49" charset="0"/>
              </a:rPr>
              <a:t>https://gitee.com/wlicsnju/binutils4nemu</a:t>
            </a:r>
            <a:endParaRPr lang="zh-CN" altLang="en-US" sz="2000" dirty="0">
              <a:solidFill>
                <a:schemeClr val="accent5"/>
              </a:solidFill>
              <a:latin typeface="Consolas" panose="020B0609020204030204" pitchFamily="49" charset="0"/>
            </a:endParaRPr>
          </a:p>
        </p:txBody>
      </p:sp>
      <p:cxnSp>
        <p:nvCxnSpPr>
          <p:cNvPr id="13" name="直接箭头连接符 12"/>
          <p:cNvCxnSpPr/>
          <p:nvPr/>
        </p:nvCxnSpPr>
        <p:spPr>
          <a:xfrm>
            <a:off x="7926568" y="6102812"/>
            <a:ext cx="518932" cy="0"/>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6096000" y="1045977"/>
            <a:ext cx="4638111" cy="369332"/>
          </a:xfrm>
          <a:prstGeom prst="rect">
            <a:avLst/>
          </a:prstGeom>
          <a:noFill/>
        </p:spPr>
        <p:txBody>
          <a:bodyPr wrap="square" rtlCol="0">
            <a:spAutoFit/>
          </a:bodyPr>
          <a:lstStyle/>
          <a:p>
            <a:r>
              <a:rPr lang="zh-CN" altLang="en-US" dirty="0"/>
              <a:t>需要修改</a:t>
            </a:r>
            <a:r>
              <a:rPr lang="en-US" altLang="zh-CN" dirty="0" err="1"/>
              <a:t>Makefile</a:t>
            </a:r>
            <a:r>
              <a:rPr lang="zh-CN" altLang="en-US" dirty="0"/>
              <a:t>来指定测试用例</a:t>
            </a:r>
            <a:endParaRPr lang="zh-CN" altLang="en-US" dirty="0"/>
          </a:p>
        </p:txBody>
      </p:sp>
      <p:cxnSp>
        <p:nvCxnSpPr>
          <p:cNvPr id="14" name="直接箭头连接符 13"/>
          <p:cNvCxnSpPr>
            <a:stCxn id="3" idx="1"/>
          </p:cNvCxnSpPr>
          <p:nvPr/>
        </p:nvCxnSpPr>
        <p:spPr>
          <a:xfrm flipH="1" flipV="1">
            <a:off x="5822731" y="989149"/>
            <a:ext cx="273269" cy="24149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41D2AEF5-D648-4728-8573-61956C55922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sp>
        <p:nvSpPr>
          <p:cNvPr id="3" name="文本框 2"/>
          <p:cNvSpPr txBox="1"/>
          <p:nvPr/>
        </p:nvSpPr>
        <p:spPr>
          <a:xfrm>
            <a:off x="1003300" y="1409700"/>
            <a:ext cx="10350500" cy="5109091"/>
          </a:xfrm>
          <a:prstGeom prst="rect">
            <a:avLst/>
          </a:prstGeom>
          <a:noFill/>
        </p:spPr>
        <p:txBody>
          <a:bodyPr wrap="square" rtlCol="0">
            <a:spAutoFit/>
          </a:bodyPr>
          <a:lstStyle/>
          <a:p>
            <a:pPr marL="857250" lvl="1" indent="-514350">
              <a:buFont typeface="+mj-lt"/>
              <a:buAutoNum type="arabicPeriod"/>
            </a:pPr>
            <a:r>
              <a:rPr lang="zh-CN" altLang="en-US" sz="3200" b="1" dirty="0"/>
              <a:t>查</a:t>
            </a:r>
            <a:r>
              <a:rPr lang="en-US" altLang="zh-CN" sz="3200" b="1" dirty="0"/>
              <a:t>i386</a:t>
            </a:r>
            <a:r>
              <a:rPr lang="zh-CN" altLang="en-US" sz="3200" b="1" dirty="0"/>
              <a:t>手册得知这是一条什么指令</a:t>
            </a:r>
            <a:endParaRPr lang="en-US" altLang="zh-CN" sz="3200" b="1" dirty="0"/>
          </a:p>
          <a:p>
            <a:pPr marL="1200150" lvl="2" indent="-514350">
              <a:buFont typeface="+mj-lt"/>
              <a:buAutoNum type="alphaLcParenR"/>
            </a:pPr>
            <a:r>
              <a:rPr lang="zh-CN" altLang="en-US" sz="2800" dirty="0"/>
              <a:t>先查</a:t>
            </a:r>
            <a:r>
              <a:rPr lang="en-US" altLang="zh-CN" sz="2800" dirty="0"/>
              <a:t>appendix A</a:t>
            </a:r>
            <a:r>
              <a:rPr lang="zh-CN" altLang="en-US" sz="2800" dirty="0"/>
              <a:t>得知指令的类型和格式</a:t>
            </a:r>
            <a:endParaRPr lang="en-US" altLang="zh-CN" sz="2800" dirty="0"/>
          </a:p>
          <a:p>
            <a:pPr marL="1200150" lvl="2" indent="-514350">
              <a:buFont typeface="+mj-lt"/>
              <a:buAutoNum type="alphaLcParenR"/>
            </a:pPr>
            <a:r>
              <a:rPr lang="zh-CN" altLang="en-US" sz="2800" dirty="0"/>
              <a:t>必要的话查</a:t>
            </a:r>
            <a:r>
              <a:rPr lang="en-US" altLang="zh-CN" sz="2800" dirty="0"/>
              <a:t>section 17.2.1</a:t>
            </a:r>
            <a:r>
              <a:rPr lang="zh-CN" altLang="en-US" sz="2800" dirty="0"/>
              <a:t>译码</a:t>
            </a:r>
            <a:r>
              <a:rPr lang="en-US" altLang="zh-CN" sz="2800" dirty="0" err="1"/>
              <a:t>ModR</a:t>
            </a:r>
            <a:r>
              <a:rPr lang="en-US" altLang="zh-CN" sz="2800" dirty="0"/>
              <a:t>/M</a:t>
            </a:r>
            <a:r>
              <a:rPr lang="zh-CN" altLang="en-US" sz="2800" dirty="0"/>
              <a:t>和</a:t>
            </a:r>
            <a:r>
              <a:rPr lang="en-US" altLang="zh-CN" sz="2800" dirty="0"/>
              <a:t>SIB</a:t>
            </a:r>
            <a:r>
              <a:rPr lang="zh-CN" altLang="en-US" sz="2800" dirty="0"/>
              <a:t>字节</a:t>
            </a:r>
            <a:endParaRPr lang="en-US" altLang="zh-CN" sz="2800" dirty="0"/>
          </a:p>
          <a:p>
            <a:pPr marL="1200150" lvl="2" indent="-514350">
              <a:buFont typeface="+mj-lt"/>
              <a:buAutoNum type="alphaLcParenR"/>
            </a:pPr>
            <a:r>
              <a:rPr lang="zh-CN" altLang="en-US" sz="2800" dirty="0"/>
              <a:t>必要的话查</a:t>
            </a:r>
            <a:r>
              <a:rPr lang="en-US" altLang="zh-CN" sz="2800" dirty="0"/>
              <a:t>section 17.2.2.11</a:t>
            </a:r>
            <a:r>
              <a:rPr lang="zh-CN" altLang="en-US" sz="2800" dirty="0"/>
              <a:t>查看指令的具体含义和细节</a:t>
            </a:r>
            <a:endParaRPr lang="en-US" altLang="zh-CN" sz="2800" dirty="0"/>
          </a:p>
          <a:p>
            <a:pPr marL="857250" lvl="1" indent="-514350">
              <a:buFont typeface="+mj-lt"/>
              <a:buAutoNum type="arabicPeriod"/>
            </a:pPr>
            <a:r>
              <a:rPr lang="zh-CN" altLang="en-US" sz="3200" b="1" dirty="0"/>
              <a:t>写该操作码对应的instr_func</a:t>
            </a:r>
            <a:endParaRPr lang="en-US" altLang="zh-CN" sz="3200" b="1" dirty="0"/>
          </a:p>
          <a:p>
            <a:pPr marL="1200150" lvl="2" indent="-514350">
              <a:buFont typeface="+mj-lt"/>
              <a:buAutoNum type="alphaLcParenR"/>
            </a:pPr>
            <a:r>
              <a:rPr lang="zh-CN" altLang="en-US" sz="3200" dirty="0"/>
              <a:t>例如：</a:t>
            </a:r>
            <a:r>
              <a:rPr lang="en-US" altLang="zh-CN" sz="3200" dirty="0" err="1"/>
              <a:t>make_instr_func</a:t>
            </a:r>
            <a:r>
              <a:rPr lang="en-US" altLang="zh-CN" sz="3200" dirty="0"/>
              <a:t>(mov_i2rm_v)</a:t>
            </a:r>
            <a:endParaRPr lang="en-US" altLang="zh-CN" sz="3200" dirty="0"/>
          </a:p>
          <a:p>
            <a:pPr marL="857250" lvl="1" indent="-514350">
              <a:buFont typeface="+mj-lt"/>
              <a:buAutoNum type="arabicPeriod"/>
            </a:pPr>
            <a:r>
              <a:rPr lang="zh-CN" altLang="en-US" sz="3200" b="1" dirty="0"/>
              <a:t>把这个函数在</a:t>
            </a:r>
            <a:r>
              <a:rPr lang="en-US" altLang="zh-CN" sz="3200" b="1" dirty="0" err="1"/>
              <a:t>nemu</a:t>
            </a:r>
            <a:r>
              <a:rPr lang="en-US" altLang="zh-CN" sz="3200" b="1" dirty="0"/>
              <a:t>/include/</a:t>
            </a:r>
            <a:r>
              <a:rPr lang="en-US" altLang="zh-CN" sz="3200" b="1" dirty="0" err="1"/>
              <a:t>cpu</a:t>
            </a:r>
            <a:r>
              <a:rPr lang="en-US" altLang="zh-CN" sz="3200" b="1" dirty="0"/>
              <a:t>/</a:t>
            </a:r>
            <a:r>
              <a:rPr lang="en-US" altLang="zh-CN" sz="3200" b="1" dirty="0" err="1"/>
              <a:t>instr.h</a:t>
            </a:r>
            <a:r>
              <a:rPr lang="zh-CN" altLang="en-US" sz="3200" b="1" dirty="0"/>
              <a:t>中声明一下</a:t>
            </a:r>
            <a:endParaRPr lang="en-US" altLang="zh-CN" sz="3200" b="1" dirty="0"/>
          </a:p>
          <a:p>
            <a:pPr marL="857250" lvl="1" indent="-514350">
              <a:buFont typeface="+mj-lt"/>
              <a:buAutoNum type="arabicPeriod"/>
            </a:pPr>
            <a:r>
              <a:rPr lang="zh-CN" altLang="en-US" sz="3200" b="1" dirty="0"/>
              <a:t>在</a:t>
            </a:r>
            <a:r>
              <a:rPr lang="en-US" altLang="zh-CN" sz="3200" b="1" dirty="0" err="1"/>
              <a:t>opcode_entry</a:t>
            </a:r>
            <a:r>
              <a:rPr lang="zh-CN" altLang="en-US" sz="3200" b="1" dirty="0"/>
              <a:t>对应该操作码的地方把这个函数的函数名填进去替代原来的</a:t>
            </a:r>
            <a:r>
              <a:rPr lang="en-US" altLang="zh-CN" sz="3200" b="1" dirty="0" err="1"/>
              <a:t>inv</a:t>
            </a:r>
            <a:endParaRPr lang="en-US" altLang="zh-CN" sz="3200" b="1" dirty="0"/>
          </a:p>
          <a:p>
            <a:pPr marL="857250" lvl="1" indent="-514350">
              <a:buFont typeface="+mj-lt"/>
              <a:buAutoNum type="arabicPeriod"/>
            </a:pPr>
            <a:r>
              <a:rPr lang="zh-CN" altLang="en-US" sz="3200" b="1" dirty="0"/>
              <a:t>重复上述过程直至完成所有需要模拟的指令</a:t>
            </a:r>
            <a:endParaRPr lang="zh-CN" altLang="en-US" sz="2800" b="1" dirty="0"/>
          </a:p>
          <a:p>
            <a:endParaRPr lang="zh-CN" altLang="en-US" dirty="0"/>
          </a:p>
        </p:txBody>
      </p:sp>
      <p:sp>
        <p:nvSpPr>
          <p:cNvPr id="16" name="标题 1"/>
          <p:cNvSpPr>
            <a:spLocks noGrp="1"/>
          </p:cNvSpPr>
          <p:nvPr>
            <p:ph type="title"/>
          </p:nvPr>
        </p:nvSpPr>
        <p:spPr>
          <a:xfrm>
            <a:off x="0" y="365126"/>
            <a:ext cx="12192000" cy="734002"/>
          </a:xfrm>
        </p:spPr>
        <p:txBody>
          <a:bodyPr>
            <a:noAutofit/>
          </a:bodyPr>
          <a:lstStyle/>
          <a:p>
            <a:r>
              <a:rPr lang="en-US" altLang="zh-CN" sz="3600" dirty="0"/>
              <a:t>PA 2-1</a:t>
            </a:r>
            <a:r>
              <a:rPr lang="zh-CN" altLang="en-US" sz="3600" dirty="0"/>
              <a:t>要做的任务：执行</a:t>
            </a:r>
            <a:r>
              <a:rPr lang="en-US" altLang="zh-CN" sz="3600" dirty="0"/>
              <a:t>make run</a:t>
            </a:r>
            <a:r>
              <a:rPr lang="zh-CN" altLang="en-US" sz="3600" dirty="0"/>
              <a:t>或</a:t>
            </a:r>
            <a:r>
              <a:rPr lang="en-US" altLang="zh-CN" sz="3600" dirty="0"/>
              <a:t>make test_pa-2-1</a:t>
            </a:r>
            <a:endParaRPr lang="zh-CN" altLang="en-US" sz="36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NEMU</a:t>
            </a:r>
            <a:r>
              <a:rPr lang="zh-CN" altLang="en-US" dirty="0"/>
              <a:t>模拟指令解码和执行</a:t>
            </a:r>
            <a:endParaRPr lang="zh-CN" altLang="en-US" dirty="0"/>
          </a:p>
        </p:txBody>
      </p:sp>
      <p:sp>
        <p:nvSpPr>
          <p:cNvPr id="3" name="内容占位符 2"/>
          <p:cNvSpPr>
            <a:spLocks noGrp="1"/>
          </p:cNvSpPr>
          <p:nvPr>
            <p:ph idx="1"/>
          </p:nvPr>
        </p:nvSpPr>
        <p:spPr>
          <a:xfrm>
            <a:off x="2152650" y="1182256"/>
            <a:ext cx="7886700" cy="805571"/>
          </a:xfrm>
        </p:spPr>
        <p:txBody>
          <a:bodyPr/>
          <a:lstStyle/>
          <a:p>
            <a:r>
              <a:rPr lang="zh-CN" altLang="en-US" dirty="0"/>
              <a:t>针对这个框架有一些要特别注意的地方</a:t>
            </a:r>
            <a:endParaRPr lang="zh-CN" altLang="en-US" dirty="0"/>
          </a:p>
        </p:txBody>
      </p:sp>
      <p:sp>
        <p:nvSpPr>
          <p:cNvPr id="4" name="日期占位符 3"/>
          <p:cNvSpPr>
            <a:spLocks noGrp="1"/>
          </p:cNvSpPr>
          <p:nvPr>
            <p:ph type="dt" sz="half" idx="10"/>
          </p:nvPr>
        </p:nvSpPr>
        <p:spPr/>
        <p:txBody>
          <a:bodyPr/>
          <a:lstStyle/>
          <a:p>
            <a:fld id="{4175FB98-AB12-4AE4-8FF6-2E5909CEBD34}" type="datetime3">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a:t>Programming Assignment</a:t>
            </a:r>
            <a:endParaRPr lang="zh-CN" altLang="en-US"/>
          </a:p>
        </p:txBody>
      </p:sp>
      <p:sp>
        <p:nvSpPr>
          <p:cNvPr id="6" name="灯片编号占位符 5"/>
          <p:cNvSpPr>
            <a:spLocks noGrp="1"/>
          </p:cNvSpPr>
          <p:nvPr>
            <p:ph type="sldNum" sz="quarter" idx="12"/>
          </p:nvPr>
        </p:nvSpPr>
        <p:spPr/>
        <p:txBody>
          <a:bodyPr/>
          <a:lstStyle/>
          <a:p>
            <a:fld id="{A40E146E-410D-4448-BCD3-F60DE2B98E6B}" type="slidenum">
              <a:rPr lang="zh-CN" altLang="en-US" smtClean="0"/>
            </a:fld>
            <a:endParaRPr lang="zh-CN" altLang="en-US"/>
          </a:p>
        </p:txBody>
      </p:sp>
      <p:sp>
        <p:nvSpPr>
          <p:cNvPr id="7" name="矩形 6"/>
          <p:cNvSpPr/>
          <p:nvPr/>
        </p:nvSpPr>
        <p:spPr>
          <a:xfrm>
            <a:off x="2001750" y="2366884"/>
            <a:ext cx="6238360" cy="3416320"/>
          </a:xfrm>
          <a:prstGeom prst="rect">
            <a:avLst/>
          </a:prstGeom>
          <a:ln>
            <a:solidFill>
              <a:schemeClr val="tx1"/>
            </a:solidFill>
          </a:ln>
        </p:spPr>
        <p:txBody>
          <a:bodyPr wrap="square">
            <a:spAutoFit/>
          </a:bodyPr>
          <a:lstStyle/>
          <a:p>
            <a:r>
              <a:rPr lang="en-US" altLang="zh-CN" dirty="0"/>
              <a:t>void exec(uint32_t n) {</a:t>
            </a:r>
            <a:endParaRPr lang="en-US" altLang="zh-CN" dirty="0"/>
          </a:p>
          <a:p>
            <a:r>
              <a:rPr lang="en-US" altLang="zh-CN"/>
              <a:t>	…</a:t>
            </a:r>
            <a:endParaRPr lang="en-US" altLang="zh-CN" dirty="0"/>
          </a:p>
          <a:p>
            <a:r>
              <a:rPr lang="en-US" altLang="zh-CN"/>
              <a:t>	while</a:t>
            </a:r>
            <a:r>
              <a:rPr lang="en-US" altLang="zh-CN" dirty="0"/>
              <a:t>( n &gt; 0 &amp;&amp; </a:t>
            </a:r>
            <a:r>
              <a:rPr lang="en-US" altLang="zh-CN" dirty="0" err="1"/>
              <a:t>nemu_state</a:t>
            </a:r>
            <a:r>
              <a:rPr lang="en-US" altLang="zh-CN" dirty="0"/>
              <a:t> == NEMU_RUN) </a:t>
            </a:r>
            <a:endParaRPr lang="en-US" altLang="zh-CN" dirty="0"/>
          </a:p>
          <a:p>
            <a:r>
              <a:rPr lang="en-US" altLang="zh-CN"/>
              <a:t>	{</a:t>
            </a:r>
            <a:endParaRPr lang="en-US" altLang="zh-CN" dirty="0"/>
          </a:p>
          <a:p>
            <a:r>
              <a:rPr lang="en-US" altLang="zh-CN"/>
              <a:t>		…</a:t>
            </a:r>
            <a:endParaRPr lang="en-US" altLang="zh-CN" dirty="0"/>
          </a:p>
          <a:p>
            <a:r>
              <a:rPr lang="en-US" altLang="zh-CN"/>
              <a:t>		</a:t>
            </a:r>
            <a:r>
              <a:rPr lang="en-US" altLang="zh-CN">
                <a:solidFill>
                  <a:srgbClr val="FF0000"/>
                </a:solidFill>
              </a:rPr>
              <a:t>instr_len </a:t>
            </a:r>
            <a:r>
              <a:rPr lang="en-US" altLang="zh-CN" dirty="0">
                <a:solidFill>
                  <a:srgbClr val="FF0000"/>
                </a:solidFill>
              </a:rPr>
              <a:t>= </a:t>
            </a:r>
            <a:r>
              <a:rPr lang="en-US" altLang="zh-CN" dirty="0" err="1">
                <a:solidFill>
                  <a:srgbClr val="FF0000"/>
                </a:solidFill>
              </a:rPr>
              <a:t>exec_inst</a:t>
            </a:r>
            <a:r>
              <a:rPr lang="en-US" altLang="zh-CN" dirty="0">
                <a:solidFill>
                  <a:srgbClr val="FF0000"/>
                </a:solidFill>
              </a:rPr>
              <a:t>();</a:t>
            </a:r>
            <a:endParaRPr lang="en-US" altLang="zh-CN" dirty="0">
              <a:solidFill>
                <a:srgbClr val="FF0000"/>
              </a:solidFill>
            </a:endParaRPr>
          </a:p>
          <a:p>
            <a:r>
              <a:rPr lang="en-US" altLang="zh-CN">
                <a:solidFill>
                  <a:srgbClr val="FF0000"/>
                </a:solidFill>
              </a:rPr>
              <a:t>		cpu.eip </a:t>
            </a:r>
            <a:r>
              <a:rPr lang="en-US" altLang="zh-CN" dirty="0">
                <a:solidFill>
                  <a:srgbClr val="FF0000"/>
                </a:solidFill>
              </a:rPr>
              <a:t>+= </a:t>
            </a:r>
            <a:r>
              <a:rPr lang="en-US" altLang="zh-CN" dirty="0" err="1">
                <a:solidFill>
                  <a:srgbClr val="FF0000"/>
                </a:solidFill>
              </a:rPr>
              <a:t>instr_len</a:t>
            </a:r>
            <a:r>
              <a:rPr lang="en-US" altLang="zh-CN" dirty="0">
                <a:solidFill>
                  <a:srgbClr val="FF0000"/>
                </a:solidFill>
              </a:rPr>
              <a:t>;</a:t>
            </a:r>
            <a:endParaRPr lang="en-US" altLang="zh-CN" dirty="0">
              <a:solidFill>
                <a:srgbClr val="FF0000"/>
              </a:solidFill>
            </a:endParaRPr>
          </a:p>
          <a:p>
            <a:r>
              <a:rPr lang="en-US" altLang="zh-CN"/>
              <a:t>		n-</a:t>
            </a:r>
            <a:r>
              <a:rPr lang="en-US" altLang="zh-CN" dirty="0"/>
              <a:t>-;</a:t>
            </a:r>
            <a:endParaRPr lang="en-US" altLang="zh-CN" dirty="0"/>
          </a:p>
          <a:p>
            <a:r>
              <a:rPr lang="en-US" altLang="zh-CN"/>
              <a:t>		…</a:t>
            </a:r>
            <a:endParaRPr lang="en-US" altLang="zh-CN" dirty="0"/>
          </a:p>
          <a:p>
            <a:r>
              <a:rPr lang="en-US" altLang="zh-CN"/>
              <a:t>	}</a:t>
            </a:r>
            <a:endParaRPr lang="en-US" altLang="zh-CN" dirty="0"/>
          </a:p>
          <a:p>
            <a:r>
              <a:rPr lang="en-US" altLang="zh-CN"/>
              <a:t>	…</a:t>
            </a:r>
            <a:endParaRPr lang="en-US" altLang="zh-CN" dirty="0"/>
          </a:p>
          <a:p>
            <a:r>
              <a:rPr lang="en-US" altLang="zh-CN" dirty="0"/>
              <a:t>}</a:t>
            </a:r>
            <a:endParaRPr lang="en-US" altLang="zh-CN" dirty="0"/>
          </a:p>
        </p:txBody>
      </p:sp>
      <p:sp>
        <p:nvSpPr>
          <p:cNvPr id="8" name="矩形 7"/>
          <p:cNvSpPr/>
          <p:nvPr/>
        </p:nvSpPr>
        <p:spPr>
          <a:xfrm>
            <a:off x="3707405" y="1691624"/>
            <a:ext cx="3275256" cy="523220"/>
          </a:xfrm>
          <a:prstGeom prst="rect">
            <a:avLst/>
          </a:prstGeom>
        </p:spPr>
        <p:txBody>
          <a:bodyPr wrap="none">
            <a:spAutoFit/>
          </a:bodyPr>
          <a:lstStyle/>
          <a:p>
            <a:r>
              <a:rPr lang="en-US" altLang="zh-CN" sz="2800" i="1" dirty="0" err="1">
                <a:solidFill>
                  <a:srgbClr val="0070C0"/>
                </a:solidFill>
              </a:rPr>
              <a:t>nemu</a:t>
            </a:r>
            <a:r>
              <a:rPr lang="en-US" altLang="zh-CN" sz="2800" i="1" dirty="0">
                <a:solidFill>
                  <a:srgbClr val="0070C0"/>
                </a:solidFill>
              </a:rPr>
              <a:t>/</a:t>
            </a:r>
            <a:r>
              <a:rPr lang="en-US" altLang="zh-CN" sz="2800" i="1" dirty="0" err="1">
                <a:solidFill>
                  <a:srgbClr val="0070C0"/>
                </a:solidFill>
              </a:rPr>
              <a:t>src</a:t>
            </a:r>
            <a:r>
              <a:rPr lang="en-US" altLang="zh-CN" sz="2800" i="1" dirty="0">
                <a:solidFill>
                  <a:srgbClr val="0070C0"/>
                </a:solidFill>
              </a:rPr>
              <a:t>/</a:t>
            </a:r>
            <a:r>
              <a:rPr lang="en-US" altLang="zh-CN" sz="2800" i="1" dirty="0" err="1">
                <a:solidFill>
                  <a:srgbClr val="0070C0"/>
                </a:solidFill>
              </a:rPr>
              <a:t>cpu</a:t>
            </a:r>
            <a:r>
              <a:rPr lang="en-US" altLang="zh-CN" sz="2800" i="1" dirty="0">
                <a:solidFill>
                  <a:srgbClr val="0070C0"/>
                </a:solidFill>
              </a:rPr>
              <a:t>/</a:t>
            </a:r>
            <a:r>
              <a:rPr lang="en-US" altLang="zh-CN" sz="2800" i="1" dirty="0" err="1">
                <a:solidFill>
                  <a:srgbClr val="0070C0"/>
                </a:solidFill>
              </a:rPr>
              <a:t>cpu.c</a:t>
            </a:r>
            <a:endParaRPr lang="en-US" altLang="zh-CN" sz="2800" i="1" dirty="0">
              <a:solidFill>
                <a:srgbClr val="0070C0"/>
              </a:solidFill>
            </a:endParaRPr>
          </a:p>
        </p:txBody>
      </p:sp>
      <p:sp>
        <p:nvSpPr>
          <p:cNvPr id="9" name="文本框 8"/>
          <p:cNvSpPr txBox="1"/>
          <p:nvPr/>
        </p:nvSpPr>
        <p:spPr>
          <a:xfrm>
            <a:off x="6715466" y="3680437"/>
            <a:ext cx="3323885" cy="2031325"/>
          </a:xfrm>
          <a:prstGeom prst="rect">
            <a:avLst/>
          </a:prstGeom>
          <a:solidFill>
            <a:schemeClr val="bg1"/>
          </a:solidFill>
        </p:spPr>
        <p:txBody>
          <a:bodyPr wrap="square" rtlCol="0">
            <a:spAutoFit/>
          </a:bodyPr>
          <a:lstStyle/>
          <a:p>
            <a:r>
              <a:rPr lang="zh-CN" altLang="en-US" dirty="0"/>
              <a:t>这一步非常机械，对于某些指令，如特殊的</a:t>
            </a:r>
            <a:r>
              <a:rPr lang="en-US" altLang="zh-CN" dirty="0" err="1"/>
              <a:t>jmp</a:t>
            </a:r>
            <a:r>
              <a:rPr lang="zh-CN" altLang="en-US" dirty="0"/>
              <a:t>、</a:t>
            </a:r>
            <a:r>
              <a:rPr lang="en-US" altLang="zh-CN" dirty="0"/>
              <a:t>ret</a:t>
            </a:r>
            <a:r>
              <a:rPr lang="zh-CN" altLang="en-US" dirty="0"/>
              <a:t>中涉及到跳转到某一个绝对的地址（而非相对下一条指令起始地址的偏移量）时，要在实现时灵活指定指令长度为</a:t>
            </a:r>
            <a:r>
              <a:rPr lang="en-US" altLang="zh-CN" dirty="0"/>
              <a:t>0</a:t>
            </a:r>
            <a:r>
              <a:rPr lang="zh-CN" altLang="en-US" dirty="0"/>
              <a:t>，来规避</a:t>
            </a:r>
            <a:r>
              <a:rPr lang="en-US" altLang="zh-CN" dirty="0" err="1">
                <a:solidFill>
                  <a:srgbClr val="FF0000"/>
                </a:solidFill>
              </a:rPr>
              <a:t>cpu.eip</a:t>
            </a:r>
            <a:r>
              <a:rPr lang="en-US" altLang="zh-CN" dirty="0">
                <a:solidFill>
                  <a:srgbClr val="FF0000"/>
                </a:solidFill>
              </a:rPr>
              <a:t> += </a:t>
            </a:r>
            <a:r>
              <a:rPr lang="en-US" altLang="zh-CN" dirty="0" err="1">
                <a:solidFill>
                  <a:srgbClr val="FF0000"/>
                </a:solidFill>
              </a:rPr>
              <a:t>instr_len</a:t>
            </a:r>
            <a:endParaRPr lang="zh-CN" alt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24000" y="-21514"/>
            <a:ext cx="9144000" cy="895927"/>
          </a:xfrm>
        </p:spPr>
        <p:txBody>
          <a:bodyPr/>
          <a:lstStyle/>
          <a:p>
            <a:r>
              <a:rPr lang="zh-CN" altLang="en-US" dirty="0"/>
              <a:t>实验目标</a:t>
            </a:r>
            <a:endParaRPr lang="zh-CN" altLang="en-US" dirty="0"/>
          </a:p>
        </p:txBody>
      </p:sp>
      <p:sp>
        <p:nvSpPr>
          <p:cNvPr id="3" name="内容占位符 2"/>
          <p:cNvSpPr>
            <a:spLocks noGrp="1"/>
          </p:cNvSpPr>
          <p:nvPr>
            <p:ph idx="1"/>
          </p:nvPr>
        </p:nvSpPr>
        <p:spPr>
          <a:xfrm>
            <a:off x="7378700" y="1706911"/>
            <a:ext cx="4813300" cy="3620488"/>
          </a:xfrm>
        </p:spPr>
        <p:txBody>
          <a:bodyPr>
            <a:normAutofit/>
          </a:bodyPr>
          <a:lstStyle/>
          <a:p>
            <a:pPr>
              <a:lnSpc>
                <a:spcPct val="150000"/>
              </a:lnSpc>
            </a:pPr>
            <a:r>
              <a:rPr lang="zh-CN" altLang="en-US" sz="2400" dirty="0"/>
              <a:t>建议大家先按照最普通的方式写一些指令</a:t>
            </a:r>
            <a:endParaRPr lang="en-US" altLang="zh-CN" sz="2400" dirty="0"/>
          </a:p>
          <a:p>
            <a:pPr>
              <a:lnSpc>
                <a:spcPct val="150000"/>
              </a:lnSpc>
            </a:pPr>
            <a:r>
              <a:rPr lang="zh-CN" altLang="en-US" sz="2400" dirty="0"/>
              <a:t>发现在实现过程中不方便的地方，再去深入理解框架代码中和精简指令实现的宏的有关内容并部分重构代码</a:t>
            </a:r>
            <a:endParaRPr lang="en-US" altLang="zh-CN" sz="2400" dirty="0"/>
          </a:p>
        </p:txBody>
      </p:sp>
      <p:sp>
        <p:nvSpPr>
          <p:cNvPr id="4" name="日期占位符 3"/>
          <p:cNvSpPr>
            <a:spLocks noGrp="1"/>
          </p:cNvSpPr>
          <p:nvPr>
            <p:ph type="dt" sz="half" idx="10"/>
          </p:nvPr>
        </p:nvSpPr>
        <p:spPr/>
        <p:txBody>
          <a:bodyPr/>
          <a:lstStyle/>
          <a:p>
            <a:fld id="{667A67B2-7B7B-44A5-A503-7FF5F45478B4}" type="datetime3">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a:t>Programming Assignment</a:t>
            </a:r>
            <a:endParaRPr lang="zh-CN" altLang="en-US"/>
          </a:p>
        </p:txBody>
      </p:sp>
      <p:sp>
        <p:nvSpPr>
          <p:cNvPr id="6" name="灯片编号占位符 5"/>
          <p:cNvSpPr>
            <a:spLocks noGrp="1"/>
          </p:cNvSpPr>
          <p:nvPr>
            <p:ph type="sldNum" sz="quarter" idx="12"/>
          </p:nvPr>
        </p:nvSpPr>
        <p:spPr/>
        <p:txBody>
          <a:bodyPr/>
          <a:lstStyle/>
          <a:p>
            <a:fld id="{A40E146E-410D-4448-BCD3-F60DE2B98E6B}" type="slidenum">
              <a:rPr lang="zh-CN" altLang="en-US" smtClean="0"/>
            </a:fld>
            <a:endParaRPr lang="zh-CN" altLang="en-US"/>
          </a:p>
        </p:txBody>
      </p:sp>
      <p:sp>
        <p:nvSpPr>
          <p:cNvPr id="8" name="矩形 7"/>
          <p:cNvSpPr/>
          <p:nvPr/>
        </p:nvSpPr>
        <p:spPr>
          <a:xfrm>
            <a:off x="223865" y="1706911"/>
            <a:ext cx="6955750" cy="3754874"/>
          </a:xfrm>
          <a:prstGeom prst="rect">
            <a:avLst/>
          </a:prstGeom>
        </p:spPr>
        <p:style>
          <a:lnRef idx="2">
            <a:schemeClr val="dk1">
              <a:shade val="50000"/>
            </a:schemeClr>
          </a:lnRef>
          <a:fillRef idx="1">
            <a:schemeClr val="dk1"/>
          </a:fillRef>
          <a:effectRef idx="0">
            <a:schemeClr val="dk1"/>
          </a:effectRef>
          <a:fontRef idx="minor">
            <a:schemeClr val="lt1"/>
          </a:fontRef>
        </p:style>
        <p:txBody>
          <a:bodyPr wrap="none">
            <a:spAutoFit/>
          </a:bodyPr>
          <a:lstStyle/>
          <a:p>
            <a:r>
              <a:rPr lang="en-US" altLang="zh-CN" sz="2000" dirty="0">
                <a:latin typeface="Consolas" panose="020B0609020204030204" pitchFamily="49" charset="0"/>
              </a:rPr>
              <a:t>$ make clean</a:t>
            </a:r>
            <a:endParaRPr lang="en-US" altLang="zh-CN" sz="2000" dirty="0">
              <a:latin typeface="Consolas" panose="020B0609020204030204" pitchFamily="49" charset="0"/>
            </a:endParaRPr>
          </a:p>
          <a:p>
            <a:r>
              <a:rPr lang="en-US" altLang="zh-CN" sz="2000" dirty="0">
                <a:latin typeface="Consolas" panose="020B0609020204030204" pitchFamily="49" charset="0"/>
              </a:rPr>
              <a:t>$ make test_pa-2-1</a:t>
            </a:r>
            <a:endParaRPr lang="en-US" altLang="zh-CN" sz="2000" dirty="0">
              <a:latin typeface="Consolas" panose="020B0609020204030204" pitchFamily="49" charset="0"/>
            </a:endParaRPr>
          </a:p>
          <a:p>
            <a:r>
              <a:rPr lang="en-US" altLang="zh-CN" sz="1100" dirty="0">
                <a:latin typeface="Consolas" panose="020B0609020204030204" pitchFamily="49" charset="0"/>
              </a:rPr>
              <a:t>...</a:t>
            </a:r>
            <a:endParaRPr lang="en-US" altLang="zh-CN" sz="1100" dirty="0">
              <a:latin typeface="Consolas" panose="020B0609020204030204" pitchFamily="49" charset="0"/>
            </a:endParaRPr>
          </a:p>
          <a:p>
            <a:r>
              <a:rPr lang="en-US" altLang="zh-CN" sz="1100" dirty="0">
                <a:latin typeface="Consolas" panose="020B0609020204030204" pitchFamily="49" charset="0"/>
              </a:rPr>
              <a:t>./</a:t>
            </a:r>
            <a:r>
              <a:rPr lang="en-US" altLang="zh-CN" sz="1100" dirty="0" err="1">
                <a:latin typeface="Consolas" panose="020B0609020204030204" pitchFamily="49" charset="0"/>
              </a:rPr>
              <a:t>nemu</a:t>
            </a:r>
            <a:r>
              <a:rPr lang="en-US" altLang="zh-CN" sz="1100" dirty="0">
                <a:latin typeface="Consolas" panose="020B0609020204030204" pitchFamily="49" charset="0"/>
              </a:rPr>
              <a:t>/</a:t>
            </a:r>
            <a:r>
              <a:rPr lang="en-US" altLang="zh-CN" sz="1100" dirty="0" err="1">
                <a:latin typeface="Consolas" panose="020B0609020204030204" pitchFamily="49" charset="0"/>
              </a:rPr>
              <a:t>nemu</a:t>
            </a:r>
            <a:r>
              <a:rPr lang="en-US" altLang="zh-CN" sz="1100" dirty="0">
                <a:latin typeface="Consolas" panose="020B0609020204030204" pitchFamily="49" charset="0"/>
              </a:rPr>
              <a:t> --</a:t>
            </a:r>
            <a:r>
              <a:rPr lang="en-US" altLang="zh-CN" sz="1100" dirty="0" err="1">
                <a:latin typeface="Consolas" panose="020B0609020204030204" pitchFamily="49" charset="0"/>
              </a:rPr>
              <a:t>autorun</a:t>
            </a:r>
            <a:r>
              <a:rPr lang="en-US" altLang="zh-CN" sz="1100" dirty="0">
                <a:latin typeface="Consolas" panose="020B0609020204030204" pitchFamily="49" charset="0"/>
              </a:rPr>
              <a:t> --</a:t>
            </a:r>
            <a:r>
              <a:rPr lang="en-US" altLang="zh-CN" sz="1100" dirty="0" err="1">
                <a:latin typeface="Consolas" panose="020B0609020204030204" pitchFamily="49" charset="0"/>
              </a:rPr>
              <a:t>testcase</a:t>
            </a:r>
            <a:r>
              <a:rPr lang="en-US" altLang="zh-CN" sz="1100" dirty="0">
                <a:latin typeface="Consolas" panose="020B0609020204030204" pitchFamily="49" charset="0"/>
              </a:rPr>
              <a:t> </a:t>
            </a:r>
            <a:r>
              <a:rPr lang="en-US" altLang="zh-CN" sz="1100" dirty="0" err="1">
                <a:latin typeface="Consolas" panose="020B0609020204030204" pitchFamily="49" charset="0"/>
              </a:rPr>
              <a:t>struct</a:t>
            </a:r>
            <a:endParaRPr lang="en-US" altLang="zh-CN" sz="1100" dirty="0">
              <a:latin typeface="Consolas" panose="020B0609020204030204" pitchFamily="49" charset="0"/>
            </a:endParaRPr>
          </a:p>
          <a:p>
            <a:r>
              <a:rPr lang="en-US" altLang="zh-CN" sz="1100" dirty="0">
                <a:latin typeface="Consolas" panose="020B0609020204030204" pitchFamily="49" charset="0"/>
              </a:rPr>
              <a:t>NEMU load and execute </a:t>
            </a:r>
            <a:r>
              <a:rPr lang="en-US" altLang="zh-CN" sz="1100" dirty="0" err="1">
                <a:latin typeface="Consolas" panose="020B0609020204030204" pitchFamily="49" charset="0"/>
              </a:rPr>
              <a:t>img</a:t>
            </a:r>
            <a:r>
              <a:rPr lang="en-US" altLang="zh-CN" sz="1100" dirty="0">
                <a:latin typeface="Consolas" panose="020B0609020204030204" pitchFamily="49" charset="0"/>
              </a:rPr>
              <a:t>: ./</a:t>
            </a:r>
            <a:r>
              <a:rPr lang="en-US" altLang="zh-CN" sz="1100" dirty="0" err="1">
                <a:latin typeface="Consolas" panose="020B0609020204030204" pitchFamily="49" charset="0"/>
              </a:rPr>
              <a:t>testcase</a:t>
            </a:r>
            <a:r>
              <a:rPr lang="en-US" altLang="zh-CN" sz="1100" dirty="0">
                <a:latin typeface="Consolas" panose="020B0609020204030204" pitchFamily="49" charset="0"/>
              </a:rPr>
              <a:t>/bin/</a:t>
            </a:r>
            <a:r>
              <a:rPr lang="en-US" altLang="zh-CN" sz="1100" dirty="0" err="1">
                <a:latin typeface="Consolas" panose="020B0609020204030204" pitchFamily="49" charset="0"/>
              </a:rPr>
              <a:t>struct.img</a:t>
            </a:r>
            <a:r>
              <a:rPr lang="en-US" altLang="zh-CN" sz="1100" dirty="0">
                <a:latin typeface="Consolas" panose="020B0609020204030204" pitchFamily="49" charset="0"/>
              </a:rPr>
              <a:t>  elf: ./</a:t>
            </a:r>
            <a:r>
              <a:rPr lang="en-US" altLang="zh-CN" sz="1100" dirty="0" err="1">
                <a:latin typeface="Consolas" panose="020B0609020204030204" pitchFamily="49" charset="0"/>
              </a:rPr>
              <a:t>testcase</a:t>
            </a:r>
            <a:r>
              <a:rPr lang="en-US" altLang="zh-CN" sz="1100" dirty="0">
                <a:latin typeface="Consolas" panose="020B0609020204030204" pitchFamily="49" charset="0"/>
              </a:rPr>
              <a:t>/bin/</a:t>
            </a:r>
            <a:r>
              <a:rPr lang="en-US" altLang="zh-CN" sz="1100" dirty="0" err="1">
                <a:latin typeface="Consolas" panose="020B0609020204030204" pitchFamily="49" charset="0"/>
              </a:rPr>
              <a:t>struct</a:t>
            </a:r>
            <a:endParaRPr lang="en-US" altLang="zh-CN" sz="1100" dirty="0">
              <a:latin typeface="Consolas" panose="020B0609020204030204" pitchFamily="49" charset="0"/>
            </a:endParaRPr>
          </a:p>
          <a:p>
            <a:r>
              <a:rPr lang="en-US" altLang="zh-CN" sz="1100" dirty="0" err="1">
                <a:latin typeface="Consolas" panose="020B0609020204030204" pitchFamily="49" charset="0"/>
              </a:rPr>
              <a:t>nemu</a:t>
            </a:r>
            <a:r>
              <a:rPr lang="en-US" altLang="zh-CN" sz="1100" dirty="0">
                <a:latin typeface="Consolas" panose="020B0609020204030204" pitchFamily="49" charset="0"/>
              </a:rPr>
              <a:t>: HIT </a:t>
            </a:r>
            <a:r>
              <a:rPr lang="en-US" altLang="zh-CN" sz="1100" dirty="0">
                <a:solidFill>
                  <a:srgbClr val="00B050"/>
                </a:solidFill>
                <a:latin typeface="Consolas" panose="020B0609020204030204" pitchFamily="49" charset="0"/>
              </a:rPr>
              <a:t>GOOD</a:t>
            </a:r>
            <a:r>
              <a:rPr lang="en-US" altLang="zh-CN" sz="1100" dirty="0">
                <a:latin typeface="Consolas" panose="020B0609020204030204" pitchFamily="49" charset="0"/>
              </a:rPr>
              <a:t> TRAP at </a:t>
            </a:r>
            <a:r>
              <a:rPr lang="en-US" altLang="zh-CN" sz="1100" dirty="0" err="1">
                <a:latin typeface="Consolas" panose="020B0609020204030204" pitchFamily="49" charset="0"/>
              </a:rPr>
              <a:t>eip</a:t>
            </a:r>
            <a:r>
              <a:rPr lang="en-US" altLang="zh-CN" sz="1100" dirty="0">
                <a:latin typeface="Consolas" panose="020B0609020204030204" pitchFamily="49" charset="0"/>
              </a:rPr>
              <a:t> = 0x0003010c</a:t>
            </a:r>
            <a:endParaRPr lang="en-US" altLang="zh-CN" sz="1100" dirty="0">
              <a:latin typeface="Consolas" panose="020B0609020204030204" pitchFamily="49" charset="0"/>
            </a:endParaRPr>
          </a:p>
          <a:p>
            <a:r>
              <a:rPr lang="en-US" altLang="zh-CN" sz="1100" dirty="0">
                <a:latin typeface="Consolas" panose="020B0609020204030204" pitchFamily="49" charset="0"/>
              </a:rPr>
              <a:t>NEMU2 terminated</a:t>
            </a:r>
            <a:endParaRPr lang="en-US" altLang="zh-CN" sz="1100" dirty="0">
              <a:latin typeface="Consolas" panose="020B0609020204030204" pitchFamily="49" charset="0"/>
            </a:endParaRPr>
          </a:p>
          <a:p>
            <a:r>
              <a:rPr lang="en-US" altLang="zh-CN" sz="1100" dirty="0">
                <a:latin typeface="Consolas" panose="020B0609020204030204" pitchFamily="49" charset="0"/>
              </a:rPr>
              <a:t>./</a:t>
            </a:r>
            <a:r>
              <a:rPr lang="en-US" altLang="zh-CN" sz="1100" dirty="0" err="1">
                <a:latin typeface="Consolas" panose="020B0609020204030204" pitchFamily="49" charset="0"/>
              </a:rPr>
              <a:t>nemu</a:t>
            </a:r>
            <a:r>
              <a:rPr lang="en-US" altLang="zh-CN" sz="1100" dirty="0">
                <a:latin typeface="Consolas" panose="020B0609020204030204" pitchFamily="49" charset="0"/>
              </a:rPr>
              <a:t>/</a:t>
            </a:r>
            <a:r>
              <a:rPr lang="en-US" altLang="zh-CN" sz="1100" dirty="0" err="1">
                <a:latin typeface="Consolas" panose="020B0609020204030204" pitchFamily="49" charset="0"/>
              </a:rPr>
              <a:t>nemu</a:t>
            </a:r>
            <a:r>
              <a:rPr lang="en-US" altLang="zh-CN" sz="1100" dirty="0">
                <a:latin typeface="Consolas" panose="020B0609020204030204" pitchFamily="49" charset="0"/>
              </a:rPr>
              <a:t> --</a:t>
            </a:r>
            <a:r>
              <a:rPr lang="en-US" altLang="zh-CN" sz="1100" dirty="0" err="1">
                <a:latin typeface="Consolas" panose="020B0609020204030204" pitchFamily="49" charset="0"/>
              </a:rPr>
              <a:t>autorun</a:t>
            </a:r>
            <a:r>
              <a:rPr lang="en-US" altLang="zh-CN" sz="1100" dirty="0">
                <a:latin typeface="Consolas" panose="020B0609020204030204" pitchFamily="49" charset="0"/>
              </a:rPr>
              <a:t> --</a:t>
            </a:r>
            <a:r>
              <a:rPr lang="en-US" altLang="zh-CN" sz="1100" dirty="0" err="1">
                <a:latin typeface="Consolas" panose="020B0609020204030204" pitchFamily="49" charset="0"/>
              </a:rPr>
              <a:t>testcase</a:t>
            </a:r>
            <a:r>
              <a:rPr lang="en-US" altLang="zh-CN" sz="1100" dirty="0">
                <a:latin typeface="Consolas" panose="020B0609020204030204" pitchFamily="49" charset="0"/>
              </a:rPr>
              <a:t> string</a:t>
            </a:r>
            <a:endParaRPr lang="en-US" altLang="zh-CN" sz="1100" dirty="0">
              <a:latin typeface="Consolas" panose="020B0609020204030204" pitchFamily="49" charset="0"/>
            </a:endParaRPr>
          </a:p>
          <a:p>
            <a:r>
              <a:rPr lang="en-US" altLang="zh-CN" sz="1100" dirty="0">
                <a:latin typeface="Consolas" panose="020B0609020204030204" pitchFamily="49" charset="0"/>
              </a:rPr>
              <a:t>NEMU load and execute </a:t>
            </a:r>
            <a:r>
              <a:rPr lang="en-US" altLang="zh-CN" sz="1100" dirty="0" err="1">
                <a:latin typeface="Consolas" panose="020B0609020204030204" pitchFamily="49" charset="0"/>
              </a:rPr>
              <a:t>img</a:t>
            </a:r>
            <a:r>
              <a:rPr lang="en-US" altLang="zh-CN" sz="1100" dirty="0">
                <a:latin typeface="Consolas" panose="020B0609020204030204" pitchFamily="49" charset="0"/>
              </a:rPr>
              <a:t>: ./</a:t>
            </a:r>
            <a:r>
              <a:rPr lang="en-US" altLang="zh-CN" sz="1100" dirty="0" err="1">
                <a:latin typeface="Consolas" panose="020B0609020204030204" pitchFamily="49" charset="0"/>
              </a:rPr>
              <a:t>testcase</a:t>
            </a:r>
            <a:r>
              <a:rPr lang="en-US" altLang="zh-CN" sz="1100" dirty="0">
                <a:latin typeface="Consolas" panose="020B0609020204030204" pitchFamily="49" charset="0"/>
              </a:rPr>
              <a:t>/bin/</a:t>
            </a:r>
            <a:r>
              <a:rPr lang="en-US" altLang="zh-CN" sz="1100" dirty="0" err="1">
                <a:latin typeface="Consolas" panose="020B0609020204030204" pitchFamily="49" charset="0"/>
              </a:rPr>
              <a:t>string.img</a:t>
            </a:r>
            <a:r>
              <a:rPr lang="en-US" altLang="zh-CN" sz="1100" dirty="0">
                <a:latin typeface="Consolas" panose="020B0609020204030204" pitchFamily="49" charset="0"/>
              </a:rPr>
              <a:t>  elf: ./</a:t>
            </a:r>
            <a:r>
              <a:rPr lang="en-US" altLang="zh-CN" sz="1100" dirty="0" err="1">
                <a:latin typeface="Consolas" panose="020B0609020204030204" pitchFamily="49" charset="0"/>
              </a:rPr>
              <a:t>testcase</a:t>
            </a:r>
            <a:r>
              <a:rPr lang="en-US" altLang="zh-CN" sz="1100" dirty="0">
                <a:latin typeface="Consolas" panose="020B0609020204030204" pitchFamily="49" charset="0"/>
              </a:rPr>
              <a:t>/bin/string</a:t>
            </a:r>
            <a:endParaRPr lang="en-US" altLang="zh-CN" sz="1100" dirty="0">
              <a:latin typeface="Consolas" panose="020B0609020204030204" pitchFamily="49" charset="0"/>
            </a:endParaRPr>
          </a:p>
          <a:p>
            <a:r>
              <a:rPr lang="en-US" altLang="zh-CN" sz="1100" dirty="0" err="1">
                <a:latin typeface="Consolas" panose="020B0609020204030204" pitchFamily="49" charset="0"/>
              </a:rPr>
              <a:t>nemu</a:t>
            </a:r>
            <a:r>
              <a:rPr lang="en-US" altLang="zh-CN" sz="1100" dirty="0">
                <a:latin typeface="Consolas" panose="020B0609020204030204" pitchFamily="49" charset="0"/>
              </a:rPr>
              <a:t>: HIT </a:t>
            </a:r>
            <a:r>
              <a:rPr lang="en-US" altLang="zh-CN" sz="1100" dirty="0">
                <a:solidFill>
                  <a:srgbClr val="00B050"/>
                </a:solidFill>
                <a:latin typeface="Consolas" panose="020B0609020204030204" pitchFamily="49" charset="0"/>
              </a:rPr>
              <a:t>GOOD</a:t>
            </a:r>
            <a:r>
              <a:rPr lang="en-US" altLang="zh-CN" sz="1100" dirty="0">
                <a:latin typeface="Consolas" panose="020B0609020204030204" pitchFamily="49" charset="0"/>
              </a:rPr>
              <a:t> TRAP at </a:t>
            </a:r>
            <a:r>
              <a:rPr lang="en-US" altLang="zh-CN" sz="1100" dirty="0" err="1">
                <a:latin typeface="Consolas" panose="020B0609020204030204" pitchFamily="49" charset="0"/>
              </a:rPr>
              <a:t>eip</a:t>
            </a:r>
            <a:r>
              <a:rPr lang="en-US" altLang="zh-CN" sz="1100" dirty="0">
                <a:latin typeface="Consolas" panose="020B0609020204030204" pitchFamily="49" charset="0"/>
              </a:rPr>
              <a:t> = 0x0003016a</a:t>
            </a:r>
            <a:endParaRPr lang="en-US" altLang="zh-CN" sz="1100" dirty="0">
              <a:latin typeface="Consolas" panose="020B0609020204030204" pitchFamily="49" charset="0"/>
            </a:endParaRPr>
          </a:p>
          <a:p>
            <a:r>
              <a:rPr lang="en-US" altLang="zh-CN" sz="1100" dirty="0">
                <a:latin typeface="Consolas" panose="020B0609020204030204" pitchFamily="49" charset="0"/>
              </a:rPr>
              <a:t>NEMU2 terminated</a:t>
            </a:r>
            <a:endParaRPr lang="en-US" altLang="zh-CN" sz="1100" dirty="0">
              <a:latin typeface="Consolas" panose="020B0609020204030204" pitchFamily="49" charset="0"/>
            </a:endParaRPr>
          </a:p>
          <a:p>
            <a:r>
              <a:rPr lang="en-US" altLang="zh-CN" sz="1100" dirty="0">
                <a:latin typeface="Consolas" panose="020B0609020204030204" pitchFamily="49" charset="0"/>
              </a:rPr>
              <a:t>./</a:t>
            </a:r>
            <a:r>
              <a:rPr lang="en-US" altLang="zh-CN" sz="1100" dirty="0" err="1">
                <a:latin typeface="Consolas" panose="020B0609020204030204" pitchFamily="49" charset="0"/>
              </a:rPr>
              <a:t>nemu</a:t>
            </a:r>
            <a:r>
              <a:rPr lang="en-US" altLang="zh-CN" sz="1100" dirty="0">
                <a:latin typeface="Consolas" panose="020B0609020204030204" pitchFamily="49" charset="0"/>
              </a:rPr>
              <a:t>/</a:t>
            </a:r>
            <a:r>
              <a:rPr lang="en-US" altLang="zh-CN" sz="1100" dirty="0" err="1">
                <a:latin typeface="Consolas" panose="020B0609020204030204" pitchFamily="49" charset="0"/>
              </a:rPr>
              <a:t>nemu</a:t>
            </a:r>
            <a:r>
              <a:rPr lang="en-US" altLang="zh-CN" sz="1100" dirty="0">
                <a:latin typeface="Consolas" panose="020B0609020204030204" pitchFamily="49" charset="0"/>
              </a:rPr>
              <a:t> --</a:t>
            </a:r>
            <a:r>
              <a:rPr lang="en-US" altLang="zh-CN" sz="1100" dirty="0" err="1">
                <a:latin typeface="Consolas" panose="020B0609020204030204" pitchFamily="49" charset="0"/>
              </a:rPr>
              <a:t>autorun</a:t>
            </a:r>
            <a:r>
              <a:rPr lang="en-US" altLang="zh-CN" sz="1100" dirty="0">
                <a:latin typeface="Consolas" panose="020B0609020204030204" pitchFamily="49" charset="0"/>
              </a:rPr>
              <a:t> --</a:t>
            </a:r>
            <a:r>
              <a:rPr lang="en-US" altLang="zh-CN" sz="1100" dirty="0" err="1">
                <a:latin typeface="Consolas" panose="020B0609020204030204" pitchFamily="49" charset="0"/>
              </a:rPr>
              <a:t>testcase</a:t>
            </a:r>
            <a:r>
              <a:rPr lang="en-US" altLang="zh-CN" sz="1100" dirty="0">
                <a:latin typeface="Consolas" panose="020B0609020204030204" pitchFamily="49" charset="0"/>
              </a:rPr>
              <a:t> hello-</a:t>
            </a:r>
            <a:r>
              <a:rPr lang="en-US" altLang="zh-CN" sz="1100" dirty="0" err="1">
                <a:latin typeface="Consolas" panose="020B0609020204030204" pitchFamily="49" charset="0"/>
              </a:rPr>
              <a:t>str</a:t>
            </a:r>
            <a:r>
              <a:rPr lang="en-US" altLang="zh-CN" sz="1100" dirty="0">
                <a:latin typeface="Consolas" panose="020B0609020204030204" pitchFamily="49" charset="0"/>
              </a:rPr>
              <a:t> </a:t>
            </a:r>
            <a:endParaRPr lang="en-US" altLang="zh-CN" sz="1100" dirty="0">
              <a:latin typeface="Consolas" panose="020B0609020204030204" pitchFamily="49" charset="0"/>
            </a:endParaRPr>
          </a:p>
          <a:p>
            <a:r>
              <a:rPr lang="en-US" altLang="zh-CN" sz="1100" dirty="0">
                <a:latin typeface="Consolas" panose="020B0609020204030204" pitchFamily="49" charset="0"/>
              </a:rPr>
              <a:t>NEMU load and execute </a:t>
            </a:r>
            <a:r>
              <a:rPr lang="en-US" altLang="zh-CN" sz="1100" dirty="0" err="1">
                <a:latin typeface="Consolas" panose="020B0609020204030204" pitchFamily="49" charset="0"/>
              </a:rPr>
              <a:t>img</a:t>
            </a:r>
            <a:r>
              <a:rPr lang="en-US" altLang="zh-CN" sz="1100" dirty="0">
                <a:latin typeface="Consolas" panose="020B0609020204030204" pitchFamily="49" charset="0"/>
              </a:rPr>
              <a:t>: ./</a:t>
            </a:r>
            <a:r>
              <a:rPr lang="en-US" altLang="zh-CN" sz="1100" dirty="0" err="1">
                <a:latin typeface="Consolas" panose="020B0609020204030204" pitchFamily="49" charset="0"/>
              </a:rPr>
              <a:t>testcase</a:t>
            </a:r>
            <a:r>
              <a:rPr lang="en-US" altLang="zh-CN" sz="1100" dirty="0">
                <a:latin typeface="Consolas" panose="020B0609020204030204" pitchFamily="49" charset="0"/>
              </a:rPr>
              <a:t>/bin/hello-</a:t>
            </a:r>
            <a:r>
              <a:rPr lang="en-US" altLang="zh-CN" sz="1100" dirty="0" err="1">
                <a:latin typeface="Consolas" panose="020B0609020204030204" pitchFamily="49" charset="0"/>
              </a:rPr>
              <a:t>str.img</a:t>
            </a:r>
            <a:r>
              <a:rPr lang="en-US" altLang="zh-CN" sz="1100" dirty="0">
                <a:latin typeface="Consolas" panose="020B0609020204030204" pitchFamily="49" charset="0"/>
              </a:rPr>
              <a:t>  elf: ./</a:t>
            </a:r>
            <a:r>
              <a:rPr lang="en-US" altLang="zh-CN" sz="1100" dirty="0" err="1">
                <a:latin typeface="Consolas" panose="020B0609020204030204" pitchFamily="49" charset="0"/>
              </a:rPr>
              <a:t>testcase</a:t>
            </a:r>
            <a:r>
              <a:rPr lang="en-US" altLang="zh-CN" sz="1100" dirty="0">
                <a:latin typeface="Consolas" panose="020B0609020204030204" pitchFamily="49" charset="0"/>
              </a:rPr>
              <a:t>/bin/hello-</a:t>
            </a:r>
            <a:r>
              <a:rPr lang="en-US" altLang="zh-CN" sz="1100" dirty="0" err="1">
                <a:latin typeface="Consolas" panose="020B0609020204030204" pitchFamily="49" charset="0"/>
              </a:rPr>
              <a:t>str</a:t>
            </a:r>
            <a:endParaRPr lang="en-US" altLang="zh-CN" sz="1100" dirty="0">
              <a:latin typeface="Consolas" panose="020B0609020204030204" pitchFamily="49" charset="0"/>
            </a:endParaRPr>
          </a:p>
          <a:p>
            <a:r>
              <a:rPr lang="en-US" altLang="zh-CN" sz="1100" dirty="0" err="1">
                <a:latin typeface="Consolas" panose="020B0609020204030204" pitchFamily="49" charset="0"/>
              </a:rPr>
              <a:t>nemu</a:t>
            </a:r>
            <a:r>
              <a:rPr lang="en-US" altLang="zh-CN" sz="1100" dirty="0">
                <a:latin typeface="Consolas" panose="020B0609020204030204" pitchFamily="49" charset="0"/>
              </a:rPr>
              <a:t>: HIT </a:t>
            </a:r>
            <a:r>
              <a:rPr lang="en-US" altLang="zh-CN" sz="1100" dirty="0">
                <a:solidFill>
                  <a:srgbClr val="00B050"/>
                </a:solidFill>
                <a:latin typeface="Consolas" panose="020B0609020204030204" pitchFamily="49" charset="0"/>
              </a:rPr>
              <a:t>GOOD</a:t>
            </a:r>
            <a:r>
              <a:rPr lang="en-US" altLang="zh-CN" sz="1100" dirty="0">
                <a:latin typeface="Consolas" panose="020B0609020204030204" pitchFamily="49" charset="0"/>
              </a:rPr>
              <a:t> TRAP at </a:t>
            </a:r>
            <a:r>
              <a:rPr lang="en-US" altLang="zh-CN" sz="1100" dirty="0" err="1">
                <a:latin typeface="Consolas" panose="020B0609020204030204" pitchFamily="49" charset="0"/>
              </a:rPr>
              <a:t>eip</a:t>
            </a:r>
            <a:r>
              <a:rPr lang="en-US" altLang="zh-CN" sz="1100" dirty="0">
                <a:latin typeface="Consolas" panose="020B0609020204030204" pitchFamily="49" charset="0"/>
              </a:rPr>
              <a:t> = 0x00030105</a:t>
            </a:r>
            <a:endParaRPr lang="en-US" altLang="zh-CN" sz="1100" dirty="0">
              <a:latin typeface="Consolas" panose="020B0609020204030204" pitchFamily="49" charset="0"/>
            </a:endParaRPr>
          </a:p>
          <a:p>
            <a:r>
              <a:rPr lang="en-US" altLang="zh-CN" sz="1100" dirty="0">
                <a:latin typeface="Consolas" panose="020B0609020204030204" pitchFamily="49" charset="0"/>
              </a:rPr>
              <a:t>NEMU2 terminated</a:t>
            </a:r>
            <a:endParaRPr lang="en-US" altLang="zh-CN" sz="1100" dirty="0">
              <a:latin typeface="Consolas" panose="020B0609020204030204" pitchFamily="49" charset="0"/>
            </a:endParaRPr>
          </a:p>
          <a:p>
            <a:r>
              <a:rPr lang="en-US" altLang="zh-CN" sz="1100" dirty="0">
                <a:latin typeface="Consolas" panose="020B0609020204030204" pitchFamily="49" charset="0"/>
              </a:rPr>
              <a:t>./</a:t>
            </a:r>
            <a:r>
              <a:rPr lang="en-US" altLang="zh-CN" sz="1100" dirty="0" err="1">
                <a:latin typeface="Consolas" panose="020B0609020204030204" pitchFamily="49" charset="0"/>
              </a:rPr>
              <a:t>nemu</a:t>
            </a:r>
            <a:r>
              <a:rPr lang="en-US" altLang="zh-CN" sz="1100" dirty="0">
                <a:latin typeface="Consolas" panose="020B0609020204030204" pitchFamily="49" charset="0"/>
              </a:rPr>
              <a:t>/</a:t>
            </a:r>
            <a:r>
              <a:rPr lang="en-US" altLang="zh-CN" sz="1100" dirty="0" err="1">
                <a:latin typeface="Consolas" panose="020B0609020204030204" pitchFamily="49" charset="0"/>
              </a:rPr>
              <a:t>nemu</a:t>
            </a:r>
            <a:r>
              <a:rPr lang="en-US" altLang="zh-CN" sz="1100" dirty="0">
                <a:latin typeface="Consolas" panose="020B0609020204030204" pitchFamily="49" charset="0"/>
              </a:rPr>
              <a:t> --</a:t>
            </a:r>
            <a:r>
              <a:rPr lang="en-US" altLang="zh-CN" sz="1100" dirty="0" err="1">
                <a:latin typeface="Consolas" panose="020B0609020204030204" pitchFamily="49" charset="0"/>
              </a:rPr>
              <a:t>autorun</a:t>
            </a:r>
            <a:r>
              <a:rPr lang="en-US" altLang="zh-CN" sz="1100" dirty="0">
                <a:latin typeface="Consolas" panose="020B0609020204030204" pitchFamily="49" charset="0"/>
              </a:rPr>
              <a:t> --</a:t>
            </a:r>
            <a:r>
              <a:rPr lang="en-US" altLang="zh-CN" sz="1100" dirty="0" err="1">
                <a:latin typeface="Consolas" panose="020B0609020204030204" pitchFamily="49" charset="0"/>
              </a:rPr>
              <a:t>testcase</a:t>
            </a:r>
            <a:r>
              <a:rPr lang="en-US" altLang="zh-CN" sz="1100" dirty="0">
                <a:latin typeface="Consolas" panose="020B0609020204030204" pitchFamily="49" charset="0"/>
              </a:rPr>
              <a:t> test-float</a:t>
            </a:r>
            <a:endParaRPr lang="en-US" altLang="zh-CN" sz="1100" dirty="0">
              <a:latin typeface="Consolas" panose="020B0609020204030204" pitchFamily="49" charset="0"/>
            </a:endParaRPr>
          </a:p>
          <a:p>
            <a:r>
              <a:rPr lang="en-US" altLang="zh-CN" sz="1100" dirty="0">
                <a:latin typeface="Consolas" panose="020B0609020204030204" pitchFamily="49" charset="0"/>
              </a:rPr>
              <a:t>NEMU load and execute </a:t>
            </a:r>
            <a:r>
              <a:rPr lang="en-US" altLang="zh-CN" sz="1100" dirty="0" err="1">
                <a:latin typeface="Consolas" panose="020B0609020204030204" pitchFamily="49" charset="0"/>
              </a:rPr>
              <a:t>img</a:t>
            </a:r>
            <a:r>
              <a:rPr lang="en-US" altLang="zh-CN" sz="1100" dirty="0">
                <a:latin typeface="Consolas" panose="020B0609020204030204" pitchFamily="49" charset="0"/>
              </a:rPr>
              <a:t>: ./</a:t>
            </a:r>
            <a:r>
              <a:rPr lang="en-US" altLang="zh-CN" sz="1100" dirty="0" err="1">
                <a:latin typeface="Consolas" panose="020B0609020204030204" pitchFamily="49" charset="0"/>
              </a:rPr>
              <a:t>testcase</a:t>
            </a:r>
            <a:r>
              <a:rPr lang="en-US" altLang="zh-CN" sz="1100" dirty="0">
                <a:latin typeface="Consolas" panose="020B0609020204030204" pitchFamily="49" charset="0"/>
              </a:rPr>
              <a:t>/bin/test-</a:t>
            </a:r>
            <a:r>
              <a:rPr lang="en-US" altLang="zh-CN" sz="1100" dirty="0" err="1">
                <a:latin typeface="Consolas" panose="020B0609020204030204" pitchFamily="49" charset="0"/>
              </a:rPr>
              <a:t>float.img</a:t>
            </a:r>
            <a:r>
              <a:rPr lang="en-US" altLang="zh-CN" sz="1100" dirty="0">
                <a:latin typeface="Consolas" panose="020B0609020204030204" pitchFamily="49" charset="0"/>
              </a:rPr>
              <a:t>  elf: ./</a:t>
            </a:r>
            <a:r>
              <a:rPr lang="en-US" altLang="zh-CN" sz="1100" dirty="0" err="1">
                <a:latin typeface="Consolas" panose="020B0609020204030204" pitchFamily="49" charset="0"/>
              </a:rPr>
              <a:t>testcase</a:t>
            </a:r>
            <a:r>
              <a:rPr lang="en-US" altLang="zh-CN" sz="1100" dirty="0">
                <a:latin typeface="Consolas" panose="020B0609020204030204" pitchFamily="49" charset="0"/>
              </a:rPr>
              <a:t>/bin/test-float</a:t>
            </a:r>
            <a:endParaRPr lang="en-US" altLang="zh-CN" sz="1100" dirty="0">
              <a:latin typeface="Consolas" panose="020B0609020204030204" pitchFamily="49" charset="0"/>
            </a:endParaRPr>
          </a:p>
          <a:p>
            <a:r>
              <a:rPr lang="en-US" altLang="zh-CN" sz="1100" dirty="0" err="1">
                <a:latin typeface="Consolas" panose="020B0609020204030204" pitchFamily="49" charset="0"/>
              </a:rPr>
              <a:t>nemu</a:t>
            </a:r>
            <a:r>
              <a:rPr lang="en-US" altLang="zh-CN" sz="1100" dirty="0">
                <a:latin typeface="Consolas" panose="020B0609020204030204" pitchFamily="49" charset="0"/>
              </a:rPr>
              <a:t>: HIT </a:t>
            </a:r>
            <a:r>
              <a:rPr lang="en-US" altLang="zh-CN" sz="1100" dirty="0">
                <a:solidFill>
                  <a:srgbClr val="C00000"/>
                </a:solidFill>
                <a:latin typeface="Consolas" panose="020B0609020204030204" pitchFamily="49" charset="0"/>
              </a:rPr>
              <a:t>BAD</a:t>
            </a:r>
            <a:r>
              <a:rPr lang="en-US" altLang="zh-CN" sz="1100" dirty="0">
                <a:latin typeface="Consolas" panose="020B0609020204030204" pitchFamily="49" charset="0"/>
              </a:rPr>
              <a:t> TRAP at </a:t>
            </a:r>
            <a:r>
              <a:rPr lang="en-US" altLang="zh-CN" sz="1100" dirty="0" err="1">
                <a:latin typeface="Consolas" panose="020B0609020204030204" pitchFamily="49" charset="0"/>
              </a:rPr>
              <a:t>eip</a:t>
            </a:r>
            <a:r>
              <a:rPr lang="en-US" altLang="zh-CN" sz="1100" dirty="0">
                <a:latin typeface="Consolas" panose="020B0609020204030204" pitchFamily="49" charset="0"/>
              </a:rPr>
              <a:t> = 0x000300c8</a:t>
            </a:r>
            <a:endParaRPr lang="en-US" altLang="zh-CN" sz="1100" dirty="0">
              <a:latin typeface="Consolas" panose="020B0609020204030204" pitchFamily="49" charset="0"/>
            </a:endParaRPr>
          </a:p>
          <a:p>
            <a:r>
              <a:rPr lang="en-US" altLang="zh-CN" sz="1100" dirty="0">
                <a:latin typeface="Consolas" panose="020B0609020204030204" pitchFamily="49" charset="0"/>
              </a:rPr>
              <a:t>NEMU2 terminated</a:t>
            </a:r>
            <a:endParaRPr lang="en-US" altLang="zh-CN" sz="1100" dirty="0">
              <a:latin typeface="Consolas" panose="020B0609020204030204" pitchFamily="49" charset="0"/>
            </a:endParaRPr>
          </a:p>
          <a:p>
            <a:r>
              <a:rPr lang="en-US" altLang="zh-CN" sz="1100" dirty="0">
                <a:latin typeface="Consolas" panose="020B0609020204030204" pitchFamily="49" charset="0"/>
              </a:rPr>
              <a:t>make[1]: Leaving directory '/home/</a:t>
            </a:r>
            <a:r>
              <a:rPr lang="en-US" altLang="zh-CN" sz="1100" dirty="0" err="1">
                <a:latin typeface="Consolas" panose="020B0609020204030204" pitchFamily="49" charset="0"/>
              </a:rPr>
              <a:t>icspa</a:t>
            </a:r>
            <a:r>
              <a:rPr lang="en-US" altLang="zh-CN" sz="1100" dirty="0">
                <a:latin typeface="Consolas" panose="020B0609020204030204" pitchFamily="49" charset="0"/>
              </a:rPr>
              <a:t>/teaching/</a:t>
            </a:r>
            <a:r>
              <a:rPr lang="en-US" altLang="zh-CN" sz="1100" dirty="0" err="1">
                <a:latin typeface="Consolas" panose="020B0609020204030204" pitchFamily="49" charset="0"/>
              </a:rPr>
              <a:t>temp_test</a:t>
            </a:r>
            <a:r>
              <a:rPr lang="en-US" altLang="zh-CN" sz="1100" dirty="0">
                <a:latin typeface="Consolas" panose="020B0609020204030204" pitchFamily="49" charset="0"/>
              </a:rPr>
              <a:t>/</a:t>
            </a:r>
            <a:r>
              <a:rPr lang="en-US" altLang="zh-CN" sz="1100" dirty="0" err="1">
                <a:latin typeface="Consolas" panose="020B0609020204030204" pitchFamily="49" charset="0"/>
              </a:rPr>
              <a:t>pa_code</a:t>
            </a:r>
            <a:r>
              <a:rPr lang="en-US" altLang="zh-CN" sz="1100" dirty="0">
                <a:latin typeface="Consolas" panose="020B0609020204030204" pitchFamily="49" charset="0"/>
              </a:rPr>
              <a:t>'</a:t>
            </a:r>
            <a:endParaRPr lang="zh-CN" altLang="en-US" sz="2000" dirty="0">
              <a:latin typeface="Consolas" panose="020B0609020204030204" pitchFamily="49" charset="0"/>
            </a:endParaRPr>
          </a:p>
        </p:txBody>
      </p:sp>
      <p:sp>
        <p:nvSpPr>
          <p:cNvPr id="9" name="文本框 8"/>
          <p:cNvSpPr txBox="1"/>
          <p:nvPr/>
        </p:nvSpPr>
        <p:spPr>
          <a:xfrm>
            <a:off x="127000" y="1219200"/>
            <a:ext cx="2025650" cy="461665"/>
          </a:xfrm>
          <a:prstGeom prst="rect">
            <a:avLst/>
          </a:prstGeom>
          <a:noFill/>
        </p:spPr>
        <p:txBody>
          <a:bodyPr wrap="square" rtlCol="0">
            <a:spAutoFit/>
          </a:bodyPr>
          <a:lstStyle/>
          <a:p>
            <a:r>
              <a:rPr lang="zh-CN" altLang="en-US" sz="2400" dirty="0"/>
              <a:t>控制台</a:t>
            </a:r>
            <a:endParaRPr lang="zh-CN" altLang="en-US" sz="24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dirty="0"/>
              <a:t>PA 2-1 </a:t>
            </a:r>
            <a:r>
              <a:rPr lang="zh-CN" altLang="en-US" dirty="0"/>
              <a:t>结束</a:t>
            </a:r>
            <a:endParaRPr lang="zh-CN" altLang="en-US" dirty="0"/>
          </a:p>
        </p:txBody>
      </p:sp>
      <p:sp>
        <p:nvSpPr>
          <p:cNvPr id="3" name="副标题 2"/>
          <p:cNvSpPr>
            <a:spLocks noGrp="1"/>
          </p:cNvSpPr>
          <p:nvPr>
            <p:ph type="subTitle" idx="1"/>
          </p:nvPr>
        </p:nvSpPr>
        <p:spPr>
          <a:xfrm>
            <a:off x="3510280" y="3723005"/>
            <a:ext cx="7021086" cy="1442720"/>
          </a:xfrm>
        </p:spPr>
        <p:txBody>
          <a:bodyPr/>
          <a:lstStyle/>
          <a:p>
            <a:pPr algn="l"/>
            <a:r>
              <a:rPr lang="en-US" altLang="zh-CN" dirty="0"/>
              <a:t>PA 2-1 </a:t>
            </a:r>
            <a:r>
              <a:rPr lang="zh-CN" altLang="en-US" dirty="0"/>
              <a:t>截止时间 待定！请关注</a:t>
            </a:r>
            <a:r>
              <a:rPr lang="en-US" altLang="zh-CN" dirty="0"/>
              <a:t>QQ</a:t>
            </a:r>
            <a:r>
              <a:rPr lang="zh-CN" altLang="en-US" dirty="0"/>
              <a:t>群</a:t>
            </a:r>
            <a:r>
              <a:rPr lang="zh-CN" altLang="en-US" dirty="0"/>
              <a:t>通知！</a:t>
            </a:r>
            <a:endParaRPr lang="zh-CN" altLang="en-US" dirty="0"/>
          </a:p>
        </p:txBody>
      </p:sp>
      <p:sp>
        <p:nvSpPr>
          <p:cNvPr id="4" name="日期占位符 3"/>
          <p:cNvSpPr>
            <a:spLocks noGrp="1"/>
          </p:cNvSpPr>
          <p:nvPr>
            <p:ph type="dt" sz="half" idx="10"/>
          </p:nvPr>
        </p:nvSpPr>
        <p:spPr/>
        <p:txBody>
          <a:bodyPr/>
          <a:lstStyle/>
          <a:p>
            <a:fld id="{126D3EE9-7539-4E35-AA32-D6C6D6B84F33}"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南京大学</a:t>
            </a:r>
            <a:r>
              <a:rPr lang="en-US" altLang="zh-CN"/>
              <a:t>-</a:t>
            </a:r>
            <a:r>
              <a:rPr lang="zh-CN" altLang="en-US"/>
              <a:t>计算机系统基础</a:t>
            </a:r>
            <a:r>
              <a:rPr lang="en-US" altLang="zh-CN"/>
              <a:t>-PA</a:t>
            </a:r>
            <a:endParaRPr lang="zh-CN" altLang="en-US"/>
          </a:p>
        </p:txBody>
      </p:sp>
      <p:sp>
        <p:nvSpPr>
          <p:cNvPr id="6" name="灯片编号占位符 5"/>
          <p:cNvSpPr>
            <a:spLocks noGrp="1"/>
          </p:cNvSpPr>
          <p:nvPr>
            <p:ph type="sldNum" sz="quarter" idx="12"/>
          </p:nvPr>
        </p:nvSpPr>
        <p:spPr/>
        <p:txBody>
          <a:bodyPr/>
          <a:lstStyle/>
          <a:p>
            <a:fld id="{060257D9-7AE1-4835-BC7B-58BA9867DEAF}" type="slidenum">
              <a:rPr lang="zh-CN" altLang="en-US" smtClean="0"/>
            </a:fld>
            <a:endParaRPr lang="zh-CN" altLang="en-US"/>
          </a:p>
        </p:txBody>
      </p:sp>
    </p:spTree>
  </p:cSld>
  <p:clrMapOvr>
    <a:masterClrMapping/>
  </p:clrMapOvr>
</p:sld>
</file>

<file path=ppt/tags/tag1.xml><?xml version="1.0" encoding="utf-8"?>
<p:tagLst xmlns:p="http://schemas.openxmlformats.org/presentationml/2006/main">
  <p:tag name="KSO_WPP_MARK_KEY" val="5762f098-69a0-4a26-ae90-c3a445f16651"/>
  <p:tag name="COMMONDATA" val="eyJoZGlkIjoiODBiZDM0ZDFkZDAwZGVmZTY2MTgzNDgxYWJhNmE0OGUifQ=="/>
</p:tagLst>
</file>

<file path=ppt/theme/theme1.xml><?xml version="1.0" encoding="utf-8"?>
<a:theme xmlns:a="http://schemas.openxmlformats.org/drawingml/2006/main" name="2020_spring_pa_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2020_spring_pa_0</Template>
  <TotalTime>0</TotalTime>
  <Words>42906</Words>
  <Application>WPS 演示</Application>
  <PresentationFormat>宽屏</PresentationFormat>
  <Paragraphs>2202</Paragraphs>
  <Slides>68</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68</vt:i4>
      </vt:variant>
    </vt:vector>
  </HeadingPairs>
  <TitlesOfParts>
    <vt:vector size="80" baseType="lpstr">
      <vt:lpstr>Arial</vt:lpstr>
      <vt:lpstr>宋体</vt:lpstr>
      <vt:lpstr>Wingdings</vt:lpstr>
      <vt:lpstr>微软雅黑</vt:lpstr>
      <vt:lpstr>幼圆</vt:lpstr>
      <vt:lpstr>MS Gothic</vt:lpstr>
      <vt:lpstr>Consolas</vt:lpstr>
      <vt:lpstr>Times New Roman</vt:lpstr>
      <vt:lpstr>Calibri</vt:lpstr>
      <vt:lpstr>等线</vt:lpstr>
      <vt:lpstr>Arial Unicode MS</vt:lpstr>
      <vt:lpstr>2020_spring_pa_0</vt:lpstr>
      <vt:lpstr>PA 2-1 – 指令解码与执行 (2)</vt:lpstr>
      <vt:lpstr>目录</vt:lpstr>
      <vt:lpstr>计算机执行程序的过程</vt:lpstr>
      <vt:lpstr>NEMU模拟程序执行：1. 装载程序</vt:lpstr>
      <vt:lpstr>NEMU模拟程序执行：1. 装载程序</vt:lpstr>
      <vt:lpstr>PowerPoint 演示文稿</vt:lpstr>
      <vt:lpstr>NEMU模拟程序执行：2. 执行程序</vt:lpstr>
      <vt:lpstr>指令的解码</vt:lpstr>
      <vt:lpstr>指令的解码</vt:lpstr>
      <vt:lpstr>指令的解码</vt:lpstr>
      <vt:lpstr>NEMU模拟指令解码和执行</vt:lpstr>
      <vt:lpstr>目录</vt:lpstr>
      <vt:lpstr>NEMU模拟指令解码和执行</vt:lpstr>
      <vt:lpstr>NEMU模拟指令解码和执行</vt:lpstr>
      <vt:lpstr>NEMU模拟指令解码和执行</vt:lpstr>
      <vt:lpstr>PowerPoint 演示文稿</vt:lpstr>
      <vt:lpstr>特殊的操作码编码方式</vt:lpstr>
      <vt:lpstr>特殊的操作码编码方式</vt:lpstr>
      <vt:lpstr>特殊的操作码编码方式</vt:lpstr>
      <vt:lpstr>特殊的操作码编码方式</vt:lpstr>
      <vt:lpstr>特殊的操作码编码方式</vt:lpstr>
      <vt:lpstr>PowerPoint 演示文稿</vt:lpstr>
      <vt:lpstr>特殊的操作码编码方式</vt:lpstr>
      <vt:lpstr>特殊的操作码编码方式</vt:lpstr>
      <vt:lpstr>PowerPoint 演示文稿</vt:lpstr>
      <vt:lpstr>目录</vt:lpstr>
      <vt:lpstr>NEMU模拟指令解码和执行</vt:lpstr>
      <vt:lpstr>NEMU模拟指令解码和执行</vt:lpstr>
      <vt:lpstr>NEMU模拟指令解码和执行</vt:lpstr>
      <vt:lpstr>NEMU模拟指令解码和执行</vt:lpstr>
      <vt:lpstr>NEMU模拟指令解码和执行</vt:lpstr>
      <vt:lpstr>NEMU模拟指令解码和执行</vt:lpstr>
      <vt:lpstr>NEMU模拟指令解码和执行</vt:lpstr>
      <vt:lpstr>NEMU模拟指令解码和执行</vt:lpstr>
      <vt:lpstr>NEMU模拟指令解码和执行</vt:lpstr>
      <vt:lpstr>NEMU模拟指令解码和执行</vt:lpstr>
      <vt:lpstr>NEMU模拟指令解码和执行</vt:lpstr>
      <vt:lpstr>NEMU模拟指令解码和执行</vt:lpstr>
      <vt:lpstr>NEMU模拟指令解码和执行</vt:lpstr>
      <vt:lpstr>NEMU模拟指令解码和执行</vt:lpstr>
      <vt:lpstr>NEMU模拟指令解码和执行</vt:lpstr>
      <vt:lpstr>NEMU模拟指令解码和执行</vt:lpstr>
      <vt:lpstr>PowerPoint 演示文稿</vt:lpstr>
      <vt:lpstr>容易写出低质量代码：代码克隆</vt:lpstr>
      <vt:lpstr>目录</vt:lpstr>
      <vt:lpstr>观察操作码编码规律</vt:lpstr>
      <vt:lpstr>思路：将功能抽象出来</vt:lpstr>
      <vt:lpstr>用于精简指令实现的宏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最终效果</vt:lpstr>
      <vt:lpstr>PA 2-1的具体操作流程</vt:lpstr>
      <vt:lpstr>PA 2-1要做的任务：执行make run或make test_pa-2-1</vt:lpstr>
      <vt:lpstr>PA 2-1要做的任务：执行make run或make test_pa-2-1</vt:lpstr>
      <vt:lpstr>NEMU模拟指令解码和执行</vt:lpstr>
      <vt:lpstr>实验目标</vt:lpstr>
      <vt:lpstr>PA 2-1 结束</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 2-0 – 汇编基础知识先导课</dc:title>
  <dc:creator>wangliang</dc:creator>
  <cp:lastModifiedBy>汪亮</cp:lastModifiedBy>
  <cp:revision>641</cp:revision>
  <dcterms:created xsi:type="dcterms:W3CDTF">2025-10-11T03:38:00Z</dcterms:created>
  <dcterms:modified xsi:type="dcterms:W3CDTF">2026-09-22T03:43:46Z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761A232AE5354583A63B86B6D71329E4_12</vt:lpwstr>
  </property>
  <property fmtid="{D5CDD505-2E9C-101B-9397-08002B2CF9AE}" pid="3" name="KSOProductBuildVer">
    <vt:lpwstr>2052-12.1.0.28043</vt:lpwstr>
  </property>
</Properties>
</file>