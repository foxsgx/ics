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7"/>
  </p:notesMasterIdLst>
  <p:sldIdLst>
    <p:sldId id="256" r:id="rId3"/>
    <p:sldId id="257" r:id="rId4"/>
    <p:sldId id="258" r:id="rId5"/>
    <p:sldId id="259" r:id="rId6"/>
    <p:sldId id="262" r:id="rId7"/>
    <p:sldId id="263" r:id="rId8"/>
    <p:sldId id="260" r:id="rId9"/>
    <p:sldId id="272" r:id="rId10"/>
    <p:sldId id="261" r:id="rId11"/>
    <p:sldId id="265" r:id="rId12"/>
    <p:sldId id="273" r:id="rId13"/>
    <p:sldId id="274" r:id="rId14"/>
    <p:sldId id="346" r:id="rId15"/>
    <p:sldId id="264" r:id="rId16"/>
    <p:sldId id="266" r:id="rId17"/>
    <p:sldId id="267" r:id="rId18"/>
    <p:sldId id="276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7" r:id="rId28"/>
    <p:sldId id="284" r:id="rId29"/>
    <p:sldId id="285" r:id="rId30"/>
    <p:sldId id="286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45" r:id="rId44"/>
    <p:sldId id="300" r:id="rId45"/>
    <p:sldId id="301" r:id="rId46"/>
    <p:sldId id="302" r:id="rId47"/>
    <p:sldId id="348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7" r:id="rId67"/>
    <p:sldId id="329" r:id="rId68"/>
    <p:sldId id="325" r:id="rId69"/>
    <p:sldId id="326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7" r:id="rId86"/>
  </p:sldIdLst>
  <p:sldSz cx="12192000" cy="6858000"/>
  <p:notesSz cx="6858000" cy="9144000"/>
  <p:custDataLst>
    <p:tags r:id="rId9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5" autoAdjust="0"/>
    <p:restoredTop sz="86706" autoAdjust="0"/>
  </p:normalViewPr>
  <p:slideViewPr>
    <p:cSldViewPr snapToGrid="0">
      <p:cViewPr varScale="1">
        <p:scale>
          <a:sx n="82" d="100"/>
          <a:sy n="82" d="100"/>
        </p:scale>
        <p:origin x="113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1" Type="http://schemas.openxmlformats.org/officeDocument/2006/relationships/tags" Target="tags/tag1.xml"/><Relationship Id="rId90" Type="http://schemas.openxmlformats.org/officeDocument/2006/relationships/tableStyles" Target="tableStyles.xml"/><Relationship Id="rId9" Type="http://schemas.openxmlformats.org/officeDocument/2006/relationships/slide" Target="slides/slide7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notesMaster" Target="notesMasters/notesMaster1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0590E7-942F-4C29-9E50-D54868E0B3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D7544-8E25-4E2A-BF62-CCE69D4AB9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3EE9-7539-4E35-AA32-D6C6D6B84F3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colorTemperature colorTemp="6494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365126"/>
            <a:ext cx="5105400" cy="63987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E14F-C2EF-41E5-9B49-9D7F2521220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DC0B-D807-4923-9E89-90102AF9581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A34C-E308-437A-94E8-E3B69343B8A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CC21-3CDC-4DC7-916A-202D8537E58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44A0-6583-4732-B45B-E3AB620BB41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D07D-41E5-4021-AEF2-C6FA1A3E613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7DE8-D5E2-476E-B7EB-7F9125C53A0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29EB-E43E-4B8C-A6CD-D68D2F1740E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9E0E-51F1-4E5B-B40B-731AE888A5F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48509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/>
                </a:solidFill>
              </a:defRPr>
            </a:lvl1pPr>
          </a:lstStyle>
          <a:p>
            <a:fld id="{0D503F90-05AE-4701-92F6-A8D652C905C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8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/>
                </a:solidFill>
              </a:defRPr>
            </a:lvl1pPr>
          </a:lstStyle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emf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2692400"/>
            <a:ext cx="9144000" cy="1203642"/>
          </a:xfrm>
        </p:spPr>
        <p:txBody>
          <a:bodyPr>
            <a:normAutofit/>
          </a:bodyPr>
          <a:lstStyle/>
          <a:p>
            <a:pPr algn="l"/>
            <a:r>
              <a:rPr lang="en-US" altLang="zh-CN" sz="4800" dirty="0"/>
              <a:t>PA 2-1 – </a:t>
            </a:r>
            <a:r>
              <a:rPr lang="zh-CN" altLang="en-US" sz="4800" dirty="0"/>
              <a:t>指令解码与执行</a:t>
            </a:r>
            <a:endParaRPr lang="zh-CN" altLang="en-US" sz="4800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4298315"/>
            <a:ext cx="9144000" cy="1655762"/>
          </a:xfrm>
        </p:spPr>
        <p:txBody>
          <a:bodyPr/>
          <a:lstStyle/>
          <a:p>
            <a:pPr algn="r"/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09</a:t>
            </a:r>
            <a:r>
              <a:rPr lang="zh-CN" altLang="en-US" dirty="0"/>
              <a:t>月</a:t>
            </a:r>
            <a:r>
              <a:rPr lang="en-US" altLang="zh-CN"/>
              <a:t>20</a:t>
            </a:r>
            <a:r>
              <a:rPr lang="zh-CN" altLang="en-US"/>
              <a:t>日</a:t>
            </a:r>
            <a:endParaRPr lang="zh-CN" altLang="en-US"/>
          </a:p>
          <a:p>
            <a:pPr algn="r"/>
            <a:r>
              <a:rPr lang="en-US" altLang="zh-CN" dirty="0">
                <a:sym typeface="+mn-ea"/>
              </a:rPr>
              <a:t>2026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09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>
                <a:sym typeface="+mn-ea"/>
              </a:rPr>
              <a:t>23</a:t>
            </a:r>
            <a:r>
              <a:rPr lang="zh-CN" altLang="en-US">
                <a:sym typeface="+mn-ea"/>
              </a:rPr>
              <a:t>日</a:t>
            </a:r>
            <a:endParaRPr lang="zh-CN" altLang="en-US"/>
          </a:p>
          <a:p>
            <a:pPr algn="r"/>
            <a:r>
              <a:rPr lang="zh-CN" altLang="en-US" dirty="0"/>
              <a:t>南京大学</a:t>
            </a:r>
            <a:r>
              <a:rPr lang="en-US" altLang="zh-CN" dirty="0"/>
              <a:t>《</a:t>
            </a:r>
            <a:r>
              <a:rPr lang="zh-CN" altLang="en-US" dirty="0"/>
              <a:t>计算机系统基础</a:t>
            </a:r>
            <a:r>
              <a:rPr lang="en-US" altLang="zh-CN" dirty="0"/>
              <a:t>》</a:t>
            </a:r>
            <a:r>
              <a:rPr lang="zh-CN" altLang="en-US" dirty="0"/>
              <a:t>课程组</a:t>
            </a:r>
            <a:endParaRPr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1524000" y="1359434"/>
            <a:ext cx="6858000" cy="1332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计算机系统基础</a:t>
            </a:r>
            <a:b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Programming Assignment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070E-0867-4427-9438-18C4952E710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汇编知识提要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879659" y="3650734"/>
            <a:ext cx="138614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Consolas" panose="020B0609020204030204" pitchFamily="49" charset="0"/>
              </a:rPr>
              <a:t>e9 00 00 00 00 55 89 e5 53 83 ec 10 e8 8f 00 00 00 </a:t>
            </a:r>
            <a:r>
              <a:rPr lang="en-US" altLang="zh-CN" sz="3600" dirty="0">
                <a:latin typeface="Consolas" panose="020B0609020204030204" pitchFamily="49" charset="0"/>
              </a:rPr>
              <a:t>...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1087100" cy="1204191"/>
          </a:xfrm>
        </p:spPr>
        <p:txBody>
          <a:bodyPr/>
          <a:lstStyle/>
          <a:p>
            <a:r>
              <a:rPr lang="zh-CN" altLang="en-US" dirty="0"/>
              <a:t>不管什么语言写的程序，最后交给</a:t>
            </a:r>
            <a:r>
              <a:rPr lang="en-US" altLang="zh-CN" dirty="0"/>
              <a:t>CPU</a:t>
            </a:r>
            <a:r>
              <a:rPr lang="zh-CN" altLang="en-US" dirty="0"/>
              <a:t>执行的，都是机器指令的序列</a:t>
            </a:r>
            <a:endParaRPr lang="en-US" altLang="zh-CN" dirty="0"/>
          </a:p>
          <a:p>
            <a:r>
              <a:rPr lang="zh-CN" altLang="en-US" dirty="0"/>
              <a:t>这些指令与对应的汇编助记符一一对应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62" y="3352358"/>
            <a:ext cx="1739383" cy="129584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879658" y="4636313"/>
            <a:ext cx="13735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jmp 30005; push %ebp; mov %esp,%ebp; push %ebx; sub $0x10,%esp; call 300a0; ...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8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/>
              <a:t>程序执行的宏观过程与模拟</a:t>
            </a:r>
            <a:endParaRPr lang="zh-CN" altLang="en-US" b="1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单条指令的解码与</a:t>
            </a:r>
            <a:r>
              <a:rPr lang="en-US" altLang="zh-CN" b="1" dirty="0"/>
              <a:t>NEMU</a:t>
            </a:r>
            <a:r>
              <a:rPr lang="zh-CN" altLang="en-US" b="1" dirty="0"/>
              <a:t>实现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程序执行的宏观过程与模拟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b="1" dirty="0"/>
              <a:t>单条指令的解码与</a:t>
            </a:r>
            <a:r>
              <a:rPr lang="en-US" altLang="zh-CN" b="1" dirty="0"/>
              <a:t>NEMU</a:t>
            </a:r>
            <a:r>
              <a:rPr lang="zh-CN" altLang="en-US" b="1" dirty="0"/>
              <a:t>实现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计算机执行程序的过程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计算机执行程序的过程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419341" y="3714580"/>
            <a:ext cx="26395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1. </a:t>
            </a:r>
            <a:r>
              <a:rPr lang="zh-CN" altLang="en-US" sz="2000" dirty="0"/>
              <a:t>将可执行文件中的指令、数据从外部存储器（如，硬盘）装载到内存中</a:t>
            </a:r>
            <a:endParaRPr lang="zh-CN" altLang="en-US" sz="2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438227" y="5236094"/>
            <a:ext cx="2406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PA 2-2 </a:t>
            </a:r>
            <a:r>
              <a:rPr lang="zh-CN" altLang="en-US" sz="2000" dirty="0">
                <a:solidFill>
                  <a:srgbClr val="C00000"/>
                </a:solidFill>
              </a:rPr>
              <a:t>深入探讨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PA 2-1 </a:t>
            </a:r>
            <a:r>
              <a:rPr lang="zh-CN" altLang="en-US" sz="2000" dirty="0">
                <a:solidFill>
                  <a:srgbClr val="C00000"/>
                </a:solidFill>
              </a:rPr>
              <a:t>简化实现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4040351" y="3197088"/>
            <a:ext cx="0" cy="1166648"/>
          </a:xfrm>
          <a:prstGeom prst="straightConnector1">
            <a:avLst/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计算机执行程序的过程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419341" y="3714580"/>
            <a:ext cx="26395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1. </a:t>
            </a:r>
            <a:r>
              <a:rPr lang="zh-CN" altLang="en-US" sz="2000" dirty="0"/>
              <a:t>将可执行文件中的指令、数据从外部存储器（如，硬盘）装载到内存中</a:t>
            </a:r>
            <a:endParaRPr lang="zh-CN" altLang="en-US" sz="2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438227" y="5236094"/>
            <a:ext cx="2406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PA 2-2 </a:t>
            </a:r>
            <a:r>
              <a:rPr lang="zh-CN" altLang="en-US" sz="2000" dirty="0">
                <a:solidFill>
                  <a:srgbClr val="C00000"/>
                </a:solidFill>
              </a:rPr>
              <a:t>深入探讨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PA 2-1 </a:t>
            </a:r>
            <a:r>
              <a:rPr lang="zh-CN" altLang="en-US" sz="2000" dirty="0">
                <a:solidFill>
                  <a:srgbClr val="C00000"/>
                </a:solidFill>
              </a:rPr>
              <a:t>简化实现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4040351" y="3197088"/>
            <a:ext cx="0" cy="1166648"/>
          </a:xfrm>
          <a:prstGeom prst="straightConnector1">
            <a:avLst/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曲线连接符 26"/>
          <p:cNvCxnSpPr/>
          <p:nvPr/>
        </p:nvCxnSpPr>
        <p:spPr>
          <a:xfrm rot="16200000" flipH="1">
            <a:off x="7565248" y="413617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曲线连接符 31"/>
          <p:cNvCxnSpPr/>
          <p:nvPr/>
        </p:nvCxnSpPr>
        <p:spPr>
          <a:xfrm rot="5400000" flipH="1">
            <a:off x="7565248" y="1451809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153182" y="2085619"/>
            <a:ext cx="309635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2. </a:t>
            </a:r>
            <a:r>
              <a:rPr lang="zh-CN" altLang="en-US" sz="2000" dirty="0"/>
              <a:t>循环往复地取指令、取操作数、执行、写操作数（若需要写）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计算机执行程序的过程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419341" y="3714580"/>
            <a:ext cx="26395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1. </a:t>
            </a:r>
            <a:r>
              <a:rPr lang="zh-CN" altLang="en-US" sz="2000" dirty="0"/>
              <a:t>将可执行文件中的指令、数据从外部存储器（如，硬盘）装载到内存中</a:t>
            </a:r>
            <a:endParaRPr lang="zh-CN" altLang="en-US" sz="2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438227" y="5236094"/>
            <a:ext cx="2406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PA 2-2 </a:t>
            </a:r>
            <a:r>
              <a:rPr lang="zh-CN" altLang="en-US" sz="2000" dirty="0">
                <a:solidFill>
                  <a:srgbClr val="C00000"/>
                </a:solidFill>
              </a:rPr>
              <a:t>深入探讨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PA 2-1 </a:t>
            </a:r>
            <a:r>
              <a:rPr lang="zh-CN" altLang="en-US" sz="2000" dirty="0">
                <a:solidFill>
                  <a:srgbClr val="C00000"/>
                </a:solidFill>
              </a:rPr>
              <a:t>简化实现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4040351" y="3197088"/>
            <a:ext cx="0" cy="1166648"/>
          </a:xfrm>
          <a:prstGeom prst="straightConnector1">
            <a:avLst/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曲线连接符 26"/>
          <p:cNvCxnSpPr/>
          <p:nvPr/>
        </p:nvCxnSpPr>
        <p:spPr>
          <a:xfrm rot="16200000" flipH="1">
            <a:off x="7565248" y="413617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曲线连接符 31"/>
          <p:cNvCxnSpPr/>
          <p:nvPr/>
        </p:nvCxnSpPr>
        <p:spPr>
          <a:xfrm rot="5400000" flipH="1">
            <a:off x="7565248" y="1451809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153182" y="2085619"/>
            <a:ext cx="309635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2. </a:t>
            </a:r>
            <a:r>
              <a:rPr lang="zh-CN" altLang="en-US" sz="2000" dirty="0"/>
              <a:t>循环往复地取指令、取操作数、执行、写操作数（若需要写）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41818" y="3305408"/>
            <a:ext cx="2623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endParaRPr lang="en-US" altLang="zh-CN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kernel/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70756" y="1348531"/>
            <a:ext cx="4346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856795" y="5449229"/>
            <a:ext cx="34617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PA 4-2 </a:t>
            </a:r>
            <a:r>
              <a:rPr lang="zh-CN" altLang="en-US" sz="2400" dirty="0"/>
              <a:t>再模拟，目前用内存中的</a:t>
            </a:r>
            <a:r>
              <a:rPr lang="en-US" altLang="zh-CN" sz="2400" dirty="0" err="1"/>
              <a:t>ramdisk</a:t>
            </a:r>
            <a:r>
              <a:rPr lang="zh-CN" altLang="en-US" sz="2400" dirty="0"/>
              <a:t>替代</a:t>
            </a:r>
            <a:endParaRPr lang="zh-CN" altLang="en-US" sz="24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8610600" y="1348531"/>
            <a:ext cx="3900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56795" y="3551629"/>
            <a:ext cx="4076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/>
              <a:t>相关代码</a:t>
            </a:r>
            <a:endParaRPr lang="zh-CN" alt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圆角矩形标注 39"/>
          <p:cNvSpPr/>
          <p:nvPr/>
        </p:nvSpPr>
        <p:spPr>
          <a:xfrm>
            <a:off x="5283200" y="2570289"/>
            <a:ext cx="6426200" cy="3581400"/>
          </a:xfrm>
          <a:prstGeom prst="wedgeRoundRectCallout">
            <a:avLst>
              <a:gd name="adj1" fmla="val -62291"/>
              <a:gd name="adj2" fmla="val 1575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PA 2-1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>
          <a:xfrm>
            <a:off x="863600" y="1568574"/>
            <a:ext cx="10490200" cy="66497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sz="3600" dirty="0"/>
              <a:t>执行</a:t>
            </a:r>
            <a:r>
              <a:rPr lang="en-US" altLang="zh-CN" sz="3600" dirty="0">
                <a:solidFill>
                  <a:srgbClr val="FF0000"/>
                </a:solidFill>
              </a:rPr>
              <a:t>make run</a:t>
            </a:r>
            <a:r>
              <a:rPr lang="zh-CN" altLang="en-US" sz="3600" dirty="0"/>
              <a:t>或者</a:t>
            </a:r>
            <a:r>
              <a:rPr lang="en-US" altLang="zh-CN" sz="3600" dirty="0">
                <a:solidFill>
                  <a:srgbClr val="FF0000"/>
                </a:solidFill>
              </a:rPr>
              <a:t>make test_pa-2-1</a:t>
            </a:r>
            <a:r>
              <a:rPr lang="zh-CN" altLang="en-US" sz="3600" dirty="0"/>
              <a:t>运行</a:t>
            </a:r>
            <a:r>
              <a:rPr lang="en-US" altLang="zh-CN" sz="3600" dirty="0"/>
              <a:t>PA 2-1</a:t>
            </a:r>
            <a:r>
              <a:rPr lang="zh-CN" altLang="en-US" sz="3600" dirty="0"/>
              <a:t>任务</a:t>
            </a:r>
            <a:endParaRPr lang="zh-CN" altLang="en-US" sz="3600" dirty="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45"/>
          <a:stretch>
            <a:fillRect/>
          </a:stretch>
        </p:blipFill>
        <p:spPr>
          <a:xfrm>
            <a:off x="5547620" y="2965638"/>
            <a:ext cx="5920480" cy="279070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04" y="3421189"/>
            <a:ext cx="3663330" cy="24901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596900" y="3340493"/>
            <a:ext cx="11074400" cy="306075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-116803" y="4753235"/>
            <a:ext cx="906915" cy="12034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PA 2-1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>
          <a:xfrm>
            <a:off x="863600" y="1403936"/>
            <a:ext cx="10490200" cy="66497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sz="3600" dirty="0"/>
              <a:t>执行</a:t>
            </a:r>
            <a:r>
              <a:rPr lang="en-US" altLang="zh-CN" sz="3600" dirty="0">
                <a:solidFill>
                  <a:srgbClr val="FF0000"/>
                </a:solidFill>
              </a:rPr>
              <a:t>make run</a:t>
            </a:r>
            <a:r>
              <a:rPr lang="zh-CN" altLang="en-US" sz="3600" dirty="0"/>
              <a:t>或者</a:t>
            </a:r>
            <a:r>
              <a:rPr lang="en-US" altLang="zh-CN" sz="3600" dirty="0">
                <a:solidFill>
                  <a:srgbClr val="FF0000"/>
                </a:solidFill>
              </a:rPr>
              <a:t>make test_pa-2-1</a:t>
            </a:r>
            <a:r>
              <a:rPr lang="zh-CN" altLang="en-US" sz="3600" dirty="0"/>
              <a:t>运行</a:t>
            </a:r>
            <a:r>
              <a:rPr lang="en-US" altLang="zh-CN" sz="3600" dirty="0"/>
              <a:t>PA 2-1</a:t>
            </a:r>
            <a:r>
              <a:rPr lang="zh-CN" altLang="en-US" sz="3600" dirty="0"/>
              <a:t>任务</a:t>
            </a:r>
            <a:endParaRPr lang="zh-CN" altLang="en-US" sz="36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98500" y="2984928"/>
            <a:ext cx="6273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600" dirty="0" err="1"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latin typeface="Consolas" panose="020B0609020204030204" pitchFamily="49" charset="0"/>
              </a:rPr>
              <a:t>add.c</a:t>
            </a:r>
            <a:r>
              <a:rPr lang="en-US" altLang="zh-CN" sz="3600" dirty="0">
                <a:latin typeface="Consolas" panose="020B0609020204030204" pitchFamily="49" charset="0"/>
              </a:rPr>
              <a:t>               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600" dirty="0" err="1">
                <a:solidFill>
                  <a:srgbClr val="00B0F0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rgbClr val="00B0F0"/>
                </a:solidFill>
                <a:latin typeface="Consolas" panose="020B0609020204030204" pitchFamily="49" charset="0"/>
              </a:rPr>
              <a:t>/bin/add 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rgbClr val="00B050"/>
                </a:solidFill>
                <a:latin typeface="Consolas" panose="020B0609020204030204" pitchFamily="49" charset="0"/>
              </a:rPr>
              <a:t>/bin/</a:t>
            </a:r>
            <a:r>
              <a:rPr lang="en-US" altLang="zh-CN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add.img</a:t>
            </a:r>
            <a:endParaRPr lang="zh-CN" altLang="en-US" sz="3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38200" y="2053929"/>
            <a:ext cx="6267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第一步，</a:t>
            </a:r>
            <a:r>
              <a:rPr lang="zh-CN" altLang="en-US" sz="3600" dirty="0">
                <a:solidFill>
                  <a:srgbClr val="FF0000"/>
                </a:solidFill>
              </a:rPr>
              <a:t>编译</a:t>
            </a:r>
            <a:r>
              <a:rPr lang="zh-CN" altLang="en-US" sz="3600" dirty="0"/>
              <a:t>得到测试用例的</a:t>
            </a:r>
            <a:r>
              <a:rPr lang="zh-CN" altLang="en-US" sz="3600" dirty="0">
                <a:solidFill>
                  <a:srgbClr val="00B0F0"/>
                </a:solidFill>
              </a:rPr>
              <a:t>可执行文件</a:t>
            </a:r>
            <a:r>
              <a:rPr lang="zh-CN" altLang="en-US" sz="3600" dirty="0"/>
              <a:t>和</a:t>
            </a:r>
            <a:r>
              <a:rPr lang="zh-CN" altLang="en-US" sz="3600" dirty="0">
                <a:solidFill>
                  <a:srgbClr val="00B050"/>
                </a:solidFill>
              </a:rPr>
              <a:t>二进制镜像文件</a:t>
            </a:r>
            <a:endParaRPr lang="zh-CN" altLang="en-US" sz="3600" dirty="0">
              <a:solidFill>
                <a:srgbClr val="00B050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197100" y="4035935"/>
            <a:ext cx="0" cy="4572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197100" y="5174443"/>
            <a:ext cx="0" cy="4572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2423473" y="3794263"/>
            <a:ext cx="101822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i="1" dirty="0" err="1"/>
              <a:t>gcc</a:t>
            </a:r>
            <a:endParaRPr lang="zh-CN" altLang="en-US" sz="4400" i="1" dirty="0"/>
          </a:p>
        </p:txBody>
      </p:sp>
      <p:sp>
        <p:nvSpPr>
          <p:cNvPr id="25" name="矩形 24"/>
          <p:cNvSpPr/>
          <p:nvPr/>
        </p:nvSpPr>
        <p:spPr>
          <a:xfrm>
            <a:off x="2378748" y="4949300"/>
            <a:ext cx="21259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i="1" dirty="0" err="1"/>
              <a:t>objcopy</a:t>
            </a:r>
            <a:endParaRPr lang="zh-CN" altLang="en-US" sz="4400" i="1" dirty="0"/>
          </a:p>
        </p:txBody>
      </p:sp>
      <p:sp>
        <p:nvSpPr>
          <p:cNvPr id="26" name="矩形 25"/>
          <p:cNvSpPr/>
          <p:nvPr/>
        </p:nvSpPr>
        <p:spPr>
          <a:xfrm>
            <a:off x="5851406" y="4570773"/>
            <a:ext cx="5724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// ELF 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格式的可执行文件，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PA 2-2 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处理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851406" y="5725810"/>
            <a:ext cx="4801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// 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二进制镜像文件，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PA 2-1 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使用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509000" y="2359711"/>
            <a:ext cx="336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/>
              <a:t>testcase</a:t>
            </a:r>
            <a:r>
              <a:rPr lang="en-US" altLang="zh-CN" sz="3200" dirty="0"/>
              <a:t>/</a:t>
            </a:r>
            <a:r>
              <a:rPr lang="en-US" altLang="zh-CN" sz="3200" dirty="0" err="1"/>
              <a:t>Makefile</a:t>
            </a:r>
            <a:endParaRPr lang="zh-CN" altLang="en-US" sz="3200" dirty="0"/>
          </a:p>
        </p:txBody>
      </p:sp>
      <p:cxnSp>
        <p:nvCxnSpPr>
          <p:cNvPr id="32" name="直接箭头连接符 31"/>
          <p:cNvCxnSpPr>
            <a:stCxn id="19" idx="3"/>
            <a:endCxn id="29" idx="1"/>
          </p:cNvCxnSpPr>
          <p:nvPr/>
        </p:nvCxnSpPr>
        <p:spPr>
          <a:xfrm flipV="1">
            <a:off x="7105650" y="2652099"/>
            <a:ext cx="1403350" cy="1995"/>
          </a:xfrm>
          <a:prstGeom prst="straightConnector1">
            <a:avLst/>
          </a:prstGeom>
          <a:ln w="38100">
            <a:headEnd type="triangle" w="lg" len="lg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7204075" y="2195585"/>
            <a:ext cx="120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规则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731122" y="3581505"/>
            <a:ext cx="8295778" cy="17595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PA 2-1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>
          <a:xfrm>
            <a:off x="863600" y="1403936"/>
            <a:ext cx="10490200" cy="66497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sz="3600" dirty="0"/>
              <a:t>执行</a:t>
            </a:r>
            <a:r>
              <a:rPr lang="en-US" altLang="zh-CN" sz="3600" dirty="0">
                <a:solidFill>
                  <a:srgbClr val="FF0000"/>
                </a:solidFill>
              </a:rPr>
              <a:t>make run</a:t>
            </a:r>
            <a:r>
              <a:rPr lang="zh-CN" altLang="en-US" sz="3600" dirty="0"/>
              <a:t>或者</a:t>
            </a:r>
            <a:r>
              <a:rPr lang="en-US" altLang="zh-CN" sz="3600" dirty="0">
                <a:solidFill>
                  <a:srgbClr val="FF0000"/>
                </a:solidFill>
              </a:rPr>
              <a:t>make test_pa-2-1</a:t>
            </a:r>
            <a:r>
              <a:rPr lang="zh-CN" altLang="en-US" sz="3600" dirty="0"/>
              <a:t>运行</a:t>
            </a:r>
            <a:r>
              <a:rPr lang="en-US" altLang="zh-CN" sz="3600" dirty="0"/>
              <a:t>PA 2-1</a:t>
            </a:r>
            <a:r>
              <a:rPr lang="zh-CN" altLang="en-US" sz="3600" dirty="0"/>
              <a:t>任务</a:t>
            </a:r>
            <a:endParaRPr lang="zh-CN" altLang="en-US" sz="3600" dirty="0"/>
          </a:p>
        </p:txBody>
      </p:sp>
      <p:sp>
        <p:nvSpPr>
          <p:cNvPr id="19" name="文本框 18"/>
          <p:cNvSpPr txBox="1"/>
          <p:nvPr/>
        </p:nvSpPr>
        <p:spPr>
          <a:xfrm>
            <a:off x="838200" y="2053929"/>
            <a:ext cx="6267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第一步，</a:t>
            </a:r>
            <a:r>
              <a:rPr lang="zh-CN" altLang="en-US" sz="3600" dirty="0">
                <a:solidFill>
                  <a:srgbClr val="FF0000"/>
                </a:solidFill>
              </a:rPr>
              <a:t>编译</a:t>
            </a:r>
            <a:r>
              <a:rPr lang="zh-CN" altLang="en-US" sz="3600" dirty="0"/>
              <a:t>得到测试用例的</a:t>
            </a:r>
            <a:r>
              <a:rPr lang="zh-CN" altLang="en-US" sz="3600" dirty="0">
                <a:solidFill>
                  <a:srgbClr val="00B0F0"/>
                </a:solidFill>
              </a:rPr>
              <a:t>可执行文件</a:t>
            </a:r>
            <a:r>
              <a:rPr lang="zh-CN" altLang="en-US" sz="3600" dirty="0"/>
              <a:t>和</a:t>
            </a:r>
            <a:r>
              <a:rPr lang="zh-CN" altLang="en-US" sz="3600" dirty="0">
                <a:solidFill>
                  <a:srgbClr val="00B050"/>
                </a:solidFill>
              </a:rPr>
              <a:t>二进制镜像文件</a:t>
            </a:r>
            <a:endParaRPr lang="zh-CN" altLang="en-US" sz="3600" dirty="0">
              <a:solidFill>
                <a:srgbClr val="00B05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509000" y="2359711"/>
            <a:ext cx="336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/>
              <a:t>testcase</a:t>
            </a:r>
            <a:r>
              <a:rPr lang="en-US" altLang="zh-CN" sz="3200" dirty="0"/>
              <a:t>/</a:t>
            </a:r>
            <a:r>
              <a:rPr lang="en-US" altLang="zh-CN" sz="3200" dirty="0" err="1"/>
              <a:t>Makefile</a:t>
            </a:r>
            <a:endParaRPr lang="zh-CN" altLang="en-US" sz="3200" dirty="0"/>
          </a:p>
        </p:txBody>
      </p:sp>
      <p:cxnSp>
        <p:nvCxnSpPr>
          <p:cNvPr id="32" name="直接箭头连接符 31"/>
          <p:cNvCxnSpPr>
            <a:stCxn id="19" idx="3"/>
            <a:endCxn id="29" idx="1"/>
          </p:cNvCxnSpPr>
          <p:nvPr/>
        </p:nvCxnSpPr>
        <p:spPr>
          <a:xfrm flipV="1">
            <a:off x="7105650" y="2652099"/>
            <a:ext cx="1403350" cy="1995"/>
          </a:xfrm>
          <a:prstGeom prst="straightConnector1">
            <a:avLst/>
          </a:prstGeom>
          <a:ln w="38100">
            <a:headEnd type="triangle" w="lg" len="lg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7204075" y="2195585"/>
            <a:ext cx="120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规则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5607050" y="5590623"/>
            <a:ext cx="6267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第二步，</a:t>
            </a:r>
            <a:r>
              <a:rPr lang="en-US" altLang="zh-CN" sz="3600" dirty="0"/>
              <a:t>NEMU</a:t>
            </a:r>
            <a:r>
              <a:rPr lang="zh-CN" altLang="en-US" sz="3600" dirty="0"/>
              <a:t>执行测试用例</a:t>
            </a:r>
            <a:endParaRPr lang="zh-CN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3766047" y="4181669"/>
            <a:ext cx="82608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Consolas" panose="020B0609020204030204" pitchFamily="49" charset="0"/>
              </a:rPr>
              <a:t>./nemu/nemu --autorun --testcase add</a:t>
            </a:r>
            <a:endParaRPr lang="zh-CN" altLang="en-US" sz="3200" dirty="0">
              <a:latin typeface="Consolas" panose="020B0609020204030204" pitchFamily="49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22" y="3380933"/>
            <a:ext cx="3736478" cy="2003645"/>
          </a:xfrm>
          <a:prstGeom prst="rect">
            <a:avLst/>
          </a:prstGeom>
        </p:spPr>
      </p:pic>
      <p:cxnSp>
        <p:nvCxnSpPr>
          <p:cNvPr id="27" name="直接箭头连接符 26"/>
          <p:cNvCxnSpPr/>
          <p:nvPr/>
        </p:nvCxnSpPr>
        <p:spPr>
          <a:xfrm flipV="1">
            <a:off x="7378700" y="2765489"/>
            <a:ext cx="1130300" cy="714733"/>
          </a:xfrm>
          <a:prstGeom prst="straightConnector1">
            <a:avLst/>
          </a:prstGeom>
          <a:ln w="38100">
            <a:headEnd type="triangle" w="lg" len="lg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879011" y="2996321"/>
            <a:ext cx="120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规则</a:t>
            </a:r>
            <a:endParaRPr lang="zh-CN" altLang="en-US" dirty="0"/>
          </a:p>
        </p:txBody>
      </p:sp>
      <p:sp>
        <p:nvSpPr>
          <p:cNvPr id="13" name="任意多边形 12"/>
          <p:cNvSpPr/>
          <p:nvPr/>
        </p:nvSpPr>
        <p:spPr>
          <a:xfrm flipV="1">
            <a:off x="2781300" y="4571697"/>
            <a:ext cx="8470900" cy="642843"/>
          </a:xfrm>
          <a:custGeom>
            <a:avLst/>
            <a:gdLst>
              <a:gd name="connsiteX0" fmla="*/ 0 w 8470900"/>
              <a:gd name="connsiteY0" fmla="*/ 560835 h 560835"/>
              <a:gd name="connsiteX1" fmla="*/ 3556000 w 8470900"/>
              <a:gd name="connsiteY1" fmla="*/ 103635 h 560835"/>
              <a:gd name="connsiteX2" fmla="*/ 6261100 w 8470900"/>
              <a:gd name="connsiteY2" fmla="*/ 27435 h 560835"/>
              <a:gd name="connsiteX3" fmla="*/ 8470900 w 8470900"/>
              <a:gd name="connsiteY3" fmla="*/ 471935 h 560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70900" h="560835">
                <a:moveTo>
                  <a:pt x="0" y="560835"/>
                </a:moveTo>
                <a:cubicBezTo>
                  <a:pt x="1256242" y="376685"/>
                  <a:pt x="2512484" y="192535"/>
                  <a:pt x="3556000" y="103635"/>
                </a:cubicBezTo>
                <a:cubicBezTo>
                  <a:pt x="4599516" y="14735"/>
                  <a:pt x="5441950" y="-33948"/>
                  <a:pt x="6261100" y="27435"/>
                </a:cubicBezTo>
                <a:cubicBezTo>
                  <a:pt x="7080250" y="88818"/>
                  <a:pt x="7775575" y="280376"/>
                  <a:pt x="8470900" y="471935"/>
                </a:cubicBezTo>
              </a:path>
            </a:pathLst>
          </a:custGeom>
          <a:noFill/>
          <a:ln w="3810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3347" y="2180638"/>
            <a:ext cx="1227512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添加自己的测试用例：</a:t>
            </a:r>
            <a:endParaRPr lang="en-US" altLang="zh-CN" sz="3600" dirty="0"/>
          </a:p>
          <a:p>
            <a:pPr marL="342900" indent="-342900">
              <a:buAutoNum type="arabicPeriod"/>
            </a:pPr>
            <a:r>
              <a:rPr lang="zh-CN" altLang="en-US" sz="3200" dirty="0"/>
              <a:t>添加</a:t>
            </a:r>
            <a:r>
              <a:rPr lang="en-US" altLang="zh-CN" sz="3200" dirty="0" err="1"/>
              <a:t>testcase</a:t>
            </a:r>
            <a:r>
              <a:rPr lang="en-US" altLang="zh-CN" sz="3200" dirty="0"/>
              <a:t>/</a:t>
            </a:r>
            <a:r>
              <a:rPr lang="en-US" altLang="zh-CN" sz="3200" dirty="0" err="1"/>
              <a:t>src</a:t>
            </a:r>
            <a:r>
              <a:rPr lang="en-US" altLang="zh-CN" sz="3200" dirty="0"/>
              <a:t>/</a:t>
            </a:r>
            <a:r>
              <a:rPr lang="en-US" altLang="zh-CN" sz="3200" dirty="0" err="1"/>
              <a:t>my_case.c</a:t>
            </a:r>
            <a:endParaRPr lang="en-US" altLang="zh-CN" sz="3200" dirty="0"/>
          </a:p>
          <a:p>
            <a:pPr marL="342900" indent="-342900">
              <a:buAutoNum type="arabicPeriod"/>
            </a:pPr>
            <a:r>
              <a:rPr lang="zh-CN" altLang="en-US" sz="3200" dirty="0"/>
              <a:t>重新编译整个项目，或单独重新编译</a:t>
            </a:r>
            <a:r>
              <a:rPr lang="en-US" altLang="zh-CN" sz="3200" dirty="0" err="1"/>
              <a:t>testcase</a:t>
            </a:r>
            <a:endParaRPr lang="en-US" altLang="zh-CN" sz="3200" dirty="0"/>
          </a:p>
          <a:p>
            <a:pPr marL="342900" indent="-342900">
              <a:buAutoNum type="arabicPeriod"/>
            </a:pPr>
            <a:r>
              <a:rPr lang="zh-CN" altLang="en-US" sz="3200" dirty="0"/>
              <a:t>控制台执行：</a:t>
            </a:r>
            <a:r>
              <a:rPr lang="en-US" altLang="zh-CN" sz="3200" dirty="0"/>
              <a:t>./</a:t>
            </a:r>
            <a:r>
              <a:rPr lang="en-US" altLang="zh-CN" sz="3200" dirty="0" err="1"/>
              <a:t>nemu</a:t>
            </a:r>
            <a:r>
              <a:rPr lang="en-US" altLang="zh-CN" sz="3200" dirty="0"/>
              <a:t>/</a:t>
            </a:r>
            <a:r>
              <a:rPr lang="en-US" altLang="zh-CN" sz="3200" dirty="0" err="1"/>
              <a:t>nemu</a:t>
            </a:r>
            <a:r>
              <a:rPr lang="en-US" altLang="zh-CN" sz="3200" dirty="0"/>
              <a:t> --</a:t>
            </a:r>
            <a:r>
              <a:rPr lang="en-US" altLang="zh-CN" sz="3200" dirty="0" err="1"/>
              <a:t>testcase</a:t>
            </a:r>
            <a:r>
              <a:rPr lang="en-US" altLang="zh-CN" sz="3200" dirty="0"/>
              <a:t> </a:t>
            </a:r>
            <a:r>
              <a:rPr lang="en-US" altLang="zh-CN" sz="3200" dirty="0" err="1"/>
              <a:t>my_case</a:t>
            </a:r>
            <a:r>
              <a:rPr lang="en-US" altLang="zh-CN" sz="3200" dirty="0"/>
              <a:t> --</a:t>
            </a:r>
            <a:r>
              <a:rPr lang="en-US" altLang="zh-CN" sz="3200" dirty="0" err="1"/>
              <a:t>autorun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1. 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419341" y="3714580"/>
            <a:ext cx="26395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1. </a:t>
            </a:r>
            <a:r>
              <a:rPr lang="zh-CN" altLang="en-US" sz="2000" dirty="0"/>
              <a:t>将可执行文件中的指令、数据从外部存储器（如，硬盘）装载到内存中</a:t>
            </a:r>
            <a:endParaRPr lang="zh-CN" altLang="en-US" sz="2000" dirty="0"/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4040351" y="3197088"/>
            <a:ext cx="0" cy="1166648"/>
          </a:xfrm>
          <a:prstGeom prst="straightConnector1">
            <a:avLst/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4419341" y="3605048"/>
            <a:ext cx="2639598" cy="163104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1. 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0x7FFFFFF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611656" y="1987328"/>
            <a:ext cx="69686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@ 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memory.c</a:t>
            </a:r>
            <a:endParaRPr lang="en-US" altLang="zh-CN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uint8_t </a:t>
            </a:r>
            <a:r>
              <a:rPr lang="en-US" altLang="zh-CN" sz="3600" dirty="0" err="1">
                <a:latin typeface="Consolas" panose="020B0609020204030204" pitchFamily="49" charset="0"/>
              </a:rPr>
              <a:t>hw_mem</a:t>
            </a:r>
            <a:r>
              <a:rPr lang="en-US" altLang="zh-CN" sz="3600" dirty="0">
                <a:latin typeface="Consolas" panose="020B0609020204030204" pitchFamily="49" charset="0"/>
              </a:rPr>
              <a:t>[MEM_SIZE_B]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7" name="左大括号 6"/>
          <p:cNvSpPr/>
          <p:nvPr/>
        </p:nvSpPr>
        <p:spPr>
          <a:xfrm rot="5400000">
            <a:off x="5916984" y="-1322575"/>
            <a:ext cx="392623" cy="9738257"/>
          </a:xfrm>
          <a:prstGeom prst="leftBrace">
            <a:avLst>
              <a:gd name="adj1" fmla="val 42810"/>
              <a:gd name="adj2" fmla="val 55337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137" y="94347"/>
            <a:ext cx="2252956" cy="12755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2" name="文本框 41"/>
          <p:cNvSpPr txBox="1"/>
          <p:nvPr/>
        </p:nvSpPr>
        <p:spPr>
          <a:xfrm>
            <a:off x="838199" y="1366367"/>
            <a:ext cx="1031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1.1 NEMU</a:t>
            </a:r>
            <a:r>
              <a:rPr lang="zh-CN" altLang="en-US" sz="3600" dirty="0"/>
              <a:t>初始化模拟内存（</a:t>
            </a:r>
            <a:r>
              <a:rPr lang="en-US" altLang="zh-CN" sz="3600" dirty="0"/>
              <a:t>PA 2-1</a:t>
            </a:r>
            <a:r>
              <a:rPr lang="zh-CN" altLang="en-US" sz="3600" dirty="0"/>
              <a:t>的装载）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1. 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199" y="1366367"/>
            <a:ext cx="1031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1.1 NEMU</a:t>
            </a:r>
            <a:r>
              <a:rPr lang="zh-CN" altLang="en-US" sz="3600" dirty="0"/>
              <a:t>初始化模拟内存（</a:t>
            </a:r>
            <a:r>
              <a:rPr lang="en-US" altLang="zh-CN" sz="3600" dirty="0"/>
              <a:t>PA 2-1</a:t>
            </a:r>
            <a:r>
              <a:rPr lang="zh-CN" altLang="en-US" sz="3600" dirty="0"/>
              <a:t>的装载）</a:t>
            </a:r>
            <a:endParaRPr lang="zh-CN" altLang="en-US" sz="3600" dirty="0"/>
          </a:p>
        </p:txBody>
      </p:sp>
      <p:sp>
        <p:nvSpPr>
          <p:cNvPr id="33" name="矩形 32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   0x7FFFFFF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85628" y="1898398"/>
            <a:ext cx="11658600" cy="104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600" dirty="0" err="1">
                <a:solidFill>
                  <a:srgbClr val="00B0F0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rgbClr val="00B0F0"/>
                </a:solidFill>
                <a:latin typeface="Consolas" panose="020B0609020204030204" pitchFamily="49" charset="0"/>
              </a:rPr>
              <a:t>/bin/add    </a:t>
            </a:r>
            <a:r>
              <a:rPr lang="en-US" altLang="zh-CN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rgbClr val="00B050"/>
                </a:solidFill>
                <a:latin typeface="Consolas" panose="020B0609020204030204" pitchFamily="49" charset="0"/>
              </a:rPr>
              <a:t>/bin/</a:t>
            </a:r>
            <a:r>
              <a:rPr lang="en-US" altLang="zh-CN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add.img</a:t>
            </a:r>
            <a:endParaRPr lang="zh-CN" altLang="en-US" sz="3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2750338" y="2950898"/>
            <a:ext cx="1072362" cy="1609788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5501158" y="3024888"/>
            <a:ext cx="1128242" cy="1563353"/>
          </a:xfrm>
          <a:prstGeom prst="straightConnector1">
            <a:avLst/>
          </a:prstGeom>
          <a:ln w="1270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649406" y="3145804"/>
            <a:ext cx="2227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/>
              <a:t>直接拷贝</a:t>
            </a:r>
            <a:endParaRPr lang="zh-CN" altLang="en-US" sz="40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137" y="94347"/>
            <a:ext cx="2252956" cy="12755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矩形 9"/>
          <p:cNvSpPr/>
          <p:nvPr/>
        </p:nvSpPr>
        <p:spPr>
          <a:xfrm>
            <a:off x="6809300" y="3104103"/>
            <a:ext cx="412805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load_exec</a:t>
            </a:r>
            <a:r>
              <a:rPr lang="en-US" altLang="zh-CN" sz="2800" dirty="0">
                <a:latin typeface="Consolas" panose="020B0609020204030204" pitchFamily="49" charset="0"/>
              </a:rPr>
              <a:t>()  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@ 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/main.c:30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1. 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200" y="1035009"/>
            <a:ext cx="1031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1.1 NEMU</a:t>
            </a:r>
            <a:r>
              <a:rPr lang="zh-CN" altLang="en-US" sz="3600" dirty="0"/>
              <a:t>初始化模拟内存（</a:t>
            </a:r>
            <a:r>
              <a:rPr lang="en-US" altLang="zh-CN" sz="3600" dirty="0"/>
              <a:t>PA 2-1</a:t>
            </a:r>
            <a:r>
              <a:rPr lang="zh-CN" altLang="en-US" sz="3600" dirty="0"/>
              <a:t>的装载）</a:t>
            </a:r>
            <a:endParaRPr lang="zh-CN" altLang="en-US" sz="3600" dirty="0"/>
          </a:p>
        </p:txBody>
      </p:sp>
      <p:sp>
        <p:nvSpPr>
          <p:cNvPr id="33" name="矩形 32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   0x7FFFFFF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137" y="94347"/>
            <a:ext cx="2252956" cy="12755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6" name="矩形 15"/>
          <p:cNvSpPr/>
          <p:nvPr/>
        </p:nvSpPr>
        <p:spPr>
          <a:xfrm>
            <a:off x="1118870" y="2279937"/>
            <a:ext cx="40081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8d 4c 24 04 83 e4 f0 </a:t>
            </a:r>
            <a:r>
              <a:rPr lang="en-US" altLang="zh-CN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 71 fc 55 89 e5 53 51 e8 fc </a:t>
            </a:r>
            <a:r>
              <a:rPr lang="en-US" altLang="zh-CN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endParaRPr lang="en-US" altLang="zh-CN" sz="20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……</a:t>
            </a:r>
            <a:endParaRPr lang="en-US" altLang="zh-CN" sz="20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4682099" y="3078595"/>
            <a:ext cx="1088390" cy="1368072"/>
          </a:xfrm>
          <a:prstGeom prst="straightConnector1">
            <a:avLst/>
          </a:prstGeom>
          <a:ln w="1270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891899" y="1824408"/>
            <a:ext cx="485394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200" dirty="0" err="1">
                <a:latin typeface="Consolas" panose="020B0609020204030204" pitchFamily="49" charset="0"/>
              </a:rPr>
              <a:t>hello_world.o</a:t>
            </a:r>
            <a:r>
              <a:rPr lang="en-US" altLang="zh-CN" sz="1200" dirty="0">
                <a:latin typeface="Consolas" panose="020B0609020204030204" pitchFamily="49" charset="0"/>
              </a:rPr>
              <a:t>:     file format elf32-i386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Disassembly of section .text: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00000000 &lt;main&gt;: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0:   8d 4c 24 04             lea    0x4(%</a:t>
            </a:r>
            <a:r>
              <a:rPr lang="en-US" altLang="zh-CN" sz="1200" dirty="0" err="1">
                <a:latin typeface="Consolas" panose="020B0609020204030204" pitchFamily="49" charset="0"/>
              </a:rPr>
              <a:t>esp</a:t>
            </a:r>
            <a:r>
              <a:rPr lang="en-US" altLang="zh-CN" sz="1200" dirty="0">
                <a:latin typeface="Consolas" panose="020B0609020204030204" pitchFamily="49" charset="0"/>
              </a:rPr>
              <a:t>),%</a:t>
            </a:r>
            <a:r>
              <a:rPr lang="en-US" altLang="zh-CN" sz="1200" dirty="0" err="1">
                <a:latin typeface="Consolas" panose="020B0609020204030204" pitchFamily="49" charset="0"/>
              </a:rPr>
              <a:t>ecx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4:   83 e4 f0                and    $0xfffffff0,%esp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7:  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71 fc                </a:t>
            </a:r>
            <a:r>
              <a:rPr lang="en-US" altLang="zh-CN" sz="1200" dirty="0" err="1">
                <a:latin typeface="Consolas" panose="020B0609020204030204" pitchFamily="49" charset="0"/>
              </a:rPr>
              <a:t>pushl</a:t>
            </a:r>
            <a:r>
              <a:rPr lang="en-US" altLang="zh-CN" sz="1200" dirty="0">
                <a:latin typeface="Consolas" panose="020B0609020204030204" pitchFamily="49" charset="0"/>
              </a:rPr>
              <a:t>  -0x4(%</a:t>
            </a:r>
            <a:r>
              <a:rPr lang="en-US" altLang="zh-CN" sz="1200" dirty="0" err="1">
                <a:latin typeface="Consolas" panose="020B0609020204030204" pitchFamily="49" charset="0"/>
              </a:rPr>
              <a:t>ecx</a:t>
            </a:r>
            <a:r>
              <a:rPr lang="en-US" altLang="zh-CN" sz="1200" dirty="0">
                <a:latin typeface="Consolas" panose="020B0609020204030204" pitchFamily="49" charset="0"/>
              </a:rPr>
              <a:t>)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a:   55                      push   %</a:t>
            </a:r>
            <a:r>
              <a:rPr lang="en-US" altLang="zh-CN" sz="1200" dirty="0" err="1">
                <a:latin typeface="Consolas" panose="020B0609020204030204" pitchFamily="49" charset="0"/>
              </a:rPr>
              <a:t>ebp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b:   89 e5                   </a:t>
            </a:r>
            <a:r>
              <a:rPr lang="en-US" altLang="zh-CN" sz="1200" dirty="0" err="1">
                <a:latin typeface="Consolas" panose="020B0609020204030204" pitchFamily="49" charset="0"/>
              </a:rPr>
              <a:t>mov</a:t>
            </a:r>
            <a:r>
              <a:rPr lang="en-US" altLang="zh-CN" sz="1200" dirty="0">
                <a:latin typeface="Consolas" panose="020B0609020204030204" pitchFamily="49" charset="0"/>
              </a:rPr>
              <a:t>    %</a:t>
            </a:r>
            <a:r>
              <a:rPr lang="en-US" altLang="zh-CN" sz="1200" dirty="0" err="1">
                <a:latin typeface="Consolas" panose="020B0609020204030204" pitchFamily="49" charset="0"/>
              </a:rPr>
              <a:t>esp</a:t>
            </a:r>
            <a:r>
              <a:rPr lang="en-US" altLang="zh-CN" sz="1200" dirty="0">
                <a:latin typeface="Consolas" panose="020B0609020204030204" pitchFamily="49" charset="0"/>
              </a:rPr>
              <a:t>,%</a:t>
            </a:r>
            <a:r>
              <a:rPr lang="en-US" altLang="zh-CN" sz="1200" dirty="0" err="1">
                <a:latin typeface="Consolas" panose="020B0609020204030204" pitchFamily="49" charset="0"/>
              </a:rPr>
              <a:t>ebp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d:   53                      push   %</a:t>
            </a:r>
            <a:r>
              <a:rPr lang="en-US" altLang="zh-CN" sz="1200" dirty="0" err="1">
                <a:latin typeface="Consolas" panose="020B0609020204030204" pitchFamily="49" charset="0"/>
              </a:rPr>
              <a:t>ebx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e:   51                      push   %</a:t>
            </a:r>
            <a:r>
              <a:rPr lang="en-US" altLang="zh-CN" sz="1200" dirty="0" err="1">
                <a:latin typeface="Consolas" panose="020B0609020204030204" pitchFamily="49" charset="0"/>
              </a:rPr>
              <a:t>ecx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f:   e8 fc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         call   10 &lt;main+0x10&gt;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086985" y="2611564"/>
            <a:ext cx="1656715" cy="84028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275189" y="216094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反汇编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1. 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199" y="1366367"/>
            <a:ext cx="1031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1.2 NEMU</a:t>
            </a:r>
            <a:r>
              <a:rPr lang="zh-CN" altLang="en-US" sz="3600" dirty="0"/>
              <a:t>初始化</a:t>
            </a:r>
            <a:r>
              <a:rPr lang="en-US" altLang="zh-CN" sz="3600" dirty="0"/>
              <a:t>CPU</a:t>
            </a:r>
            <a:endParaRPr lang="zh-CN" altLang="en-US" sz="36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137" y="94347"/>
            <a:ext cx="2252956" cy="12755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矩形 16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b="1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  </a:t>
            </a:r>
            <a:r>
              <a:rPr lang="en-US" altLang="zh-CN" sz="2000" b="1" kern="1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0x7FFFFFF</a:t>
            </a:r>
            <a:endParaRPr lang="zh-CN" altLang="zh-CN" sz="2000" b="1" kern="100" dirty="0">
              <a:solidFill>
                <a:srgbClr val="7030A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2237" y="2620233"/>
            <a:ext cx="33570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/>
              <a:t>初始化</a:t>
            </a:r>
            <a:r>
              <a:rPr lang="en-US" altLang="zh-CN" sz="3600" dirty="0">
                <a:solidFill>
                  <a:srgbClr val="FF0000"/>
                </a:solidFill>
              </a:rPr>
              <a:t>EIP</a:t>
            </a:r>
            <a:r>
              <a:rPr lang="zh-CN" altLang="en-US" sz="3600" dirty="0"/>
              <a:t>和</a:t>
            </a:r>
            <a:r>
              <a:rPr lang="en-US" altLang="zh-CN" sz="3600" dirty="0">
                <a:solidFill>
                  <a:srgbClr val="7030A0"/>
                </a:solidFill>
              </a:rPr>
              <a:t>ESP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7956331" y="3213136"/>
            <a:ext cx="1568669" cy="1003264"/>
          </a:xfrm>
          <a:prstGeom prst="straightConnector1">
            <a:avLst/>
          </a:prstGeom>
          <a:ln w="635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4648201" y="3213136"/>
            <a:ext cx="1447799" cy="87524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997691" y="1628746"/>
            <a:ext cx="47322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Consolas" panose="020B0609020204030204" pitchFamily="49" charset="0"/>
              </a:rPr>
              <a:t>init_cpu</a:t>
            </a:r>
            <a:r>
              <a:rPr lang="en-US" altLang="zh-CN" sz="2800" dirty="0">
                <a:latin typeface="Consolas" panose="020B0609020204030204" pitchFamily="49" charset="0"/>
              </a:rPr>
              <a:t>()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@ 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/cpu.c:17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1. 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199" y="1366367"/>
            <a:ext cx="1031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1.2 NEMU</a:t>
            </a:r>
            <a:r>
              <a:rPr lang="zh-CN" altLang="en-US" sz="3600" dirty="0"/>
              <a:t>初始化</a:t>
            </a:r>
            <a:r>
              <a:rPr lang="en-US" altLang="zh-CN" sz="3600" dirty="0"/>
              <a:t>CPU</a:t>
            </a:r>
            <a:endParaRPr lang="zh-CN" altLang="en-US" sz="36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137" y="94347"/>
            <a:ext cx="2252956" cy="12755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矩形 16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b="1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  </a:t>
            </a:r>
            <a:r>
              <a:rPr lang="en-US" altLang="zh-CN" sz="2000" b="1" kern="1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0x7FFFFFF</a:t>
            </a:r>
            <a:endParaRPr lang="zh-CN" altLang="zh-CN" sz="2000" b="1" kern="100" dirty="0">
              <a:solidFill>
                <a:srgbClr val="7030A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2237" y="2620233"/>
            <a:ext cx="33570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/>
              <a:t>初始化</a:t>
            </a:r>
            <a:r>
              <a:rPr lang="en-US" altLang="zh-CN" sz="3600" dirty="0">
                <a:solidFill>
                  <a:srgbClr val="FF0000"/>
                </a:solidFill>
              </a:rPr>
              <a:t>EIP</a:t>
            </a:r>
            <a:r>
              <a:rPr lang="zh-CN" altLang="en-US" sz="3600" dirty="0"/>
              <a:t>和</a:t>
            </a:r>
            <a:r>
              <a:rPr lang="en-US" altLang="zh-CN" sz="3600" dirty="0">
                <a:solidFill>
                  <a:srgbClr val="7030A0"/>
                </a:solidFill>
              </a:rPr>
              <a:t>ESP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7956331" y="3213136"/>
            <a:ext cx="1568669" cy="1003264"/>
          </a:xfrm>
          <a:prstGeom prst="straightConnector1">
            <a:avLst/>
          </a:prstGeom>
          <a:ln w="635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4648201" y="3213136"/>
            <a:ext cx="1447799" cy="87524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997691" y="1628746"/>
            <a:ext cx="47322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Consolas" panose="020B0609020204030204" pitchFamily="49" charset="0"/>
              </a:rPr>
              <a:t>init_cpu</a:t>
            </a:r>
            <a:r>
              <a:rPr lang="en-US" altLang="zh-CN" sz="2800" dirty="0">
                <a:latin typeface="Consolas" panose="020B0609020204030204" pitchFamily="49" charset="0"/>
              </a:rPr>
              <a:t>()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@ 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/cpu.c:17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98795" y="3177827"/>
            <a:ext cx="1608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指向测试用例的第一条指令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04117" y="2340433"/>
            <a:ext cx="40081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8d 4c 24 04 83 e4 f0 </a:t>
            </a:r>
            <a:r>
              <a:rPr lang="en-US" altLang="zh-CN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 71 fc 55 89 e5 53 51 e8 fc </a:t>
            </a:r>
            <a:r>
              <a:rPr lang="en-US" altLang="zh-CN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endParaRPr lang="en-US" altLang="zh-CN" sz="20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……</a:t>
            </a:r>
            <a:endParaRPr lang="en-US" altLang="zh-CN" sz="20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H="1" flipV="1">
            <a:off x="1093077" y="2694224"/>
            <a:ext cx="3029048" cy="1445043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计算机执行程序的过程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419341" y="3714580"/>
            <a:ext cx="26395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1. </a:t>
            </a:r>
            <a:r>
              <a:rPr lang="zh-CN" altLang="en-US" sz="2000" dirty="0"/>
              <a:t>将可执行文件中的指令、数据从外部存储器（如，硬盘）装载到内存中</a:t>
            </a:r>
            <a:endParaRPr lang="zh-CN" altLang="en-US" sz="2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438227" y="5236094"/>
            <a:ext cx="2406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PA 2-2 </a:t>
            </a:r>
            <a:r>
              <a:rPr lang="zh-CN" altLang="en-US" sz="2000" dirty="0">
                <a:solidFill>
                  <a:srgbClr val="C00000"/>
                </a:solidFill>
              </a:rPr>
              <a:t>深入探讨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PA 2-1 </a:t>
            </a:r>
            <a:r>
              <a:rPr lang="zh-CN" altLang="en-US" sz="2000" dirty="0">
                <a:solidFill>
                  <a:srgbClr val="C00000"/>
                </a:solidFill>
              </a:rPr>
              <a:t>简化实现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4040351" y="3197088"/>
            <a:ext cx="0" cy="1166648"/>
          </a:xfrm>
          <a:prstGeom prst="straightConnector1">
            <a:avLst/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曲线连接符 26"/>
          <p:cNvCxnSpPr/>
          <p:nvPr/>
        </p:nvCxnSpPr>
        <p:spPr>
          <a:xfrm rot="16200000" flipH="1">
            <a:off x="7565248" y="413617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曲线连接符 31"/>
          <p:cNvCxnSpPr/>
          <p:nvPr/>
        </p:nvCxnSpPr>
        <p:spPr>
          <a:xfrm rot="5400000" flipH="1">
            <a:off x="7565248" y="1451809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153182" y="2085619"/>
            <a:ext cx="309635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2. </a:t>
            </a:r>
            <a:r>
              <a:rPr lang="zh-CN" altLang="en-US" sz="2000" dirty="0"/>
              <a:t>循环往复地取指令、取操作数、执行、写操作数（若需要写）</a:t>
            </a:r>
            <a:endParaRPr lang="zh-CN" altLang="en-US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6813183" y="5562996"/>
            <a:ext cx="12605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rgbClr val="00B050"/>
                </a:solidFill>
              </a:rPr>
              <a:t>√</a:t>
            </a:r>
            <a:endParaRPr lang="zh-CN" altLang="en-US" sz="6600" dirty="0">
              <a:solidFill>
                <a:srgbClr val="00B050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123640" y="2087562"/>
            <a:ext cx="3125900" cy="119983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2. </a:t>
            </a:r>
            <a:r>
              <a:rPr lang="zh-CN" altLang="en-US" dirty="0"/>
              <a:t>执行程序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32" y="164810"/>
            <a:ext cx="2147683" cy="121595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100" y="1754840"/>
            <a:ext cx="9707799" cy="435951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文本框 9"/>
          <p:cNvSpPr txBox="1"/>
          <p:nvPr/>
        </p:nvSpPr>
        <p:spPr>
          <a:xfrm>
            <a:off x="1857703" y="1380765"/>
            <a:ext cx="34473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i="1" dirty="0"/>
              <a:t>在</a:t>
            </a:r>
            <a:r>
              <a:rPr lang="en-US" altLang="zh-CN" sz="2800" i="1" dirty="0"/>
              <a:t>C</a:t>
            </a:r>
            <a:r>
              <a:rPr lang="zh-CN" altLang="en-US" sz="2800" i="1" dirty="0"/>
              <a:t>语言里如何模拟这个循环往复的过程？</a:t>
            </a:r>
            <a:endParaRPr lang="zh-CN" altLang="en-US" sz="2800" i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2. </a:t>
            </a:r>
            <a:r>
              <a:rPr lang="zh-CN" altLang="en-US" dirty="0"/>
              <a:t>执行程序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32" y="164810"/>
            <a:ext cx="2147683" cy="12159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矩形 2"/>
          <p:cNvSpPr/>
          <p:nvPr/>
        </p:nvSpPr>
        <p:spPr>
          <a:xfrm>
            <a:off x="211895" y="1965541"/>
            <a:ext cx="6739009" cy="4401205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void exec(uint32_t 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{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nemu_state = NEMU_RUN;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while</a:t>
            </a:r>
            <a:r>
              <a:rPr lang="zh-CN" altLang="en-US" sz="2000" dirty="0">
                <a:latin typeface="Consolas" panose="020B0609020204030204" pitchFamily="49" charset="0"/>
              </a:rPr>
              <a:t> (n &gt; 0 &amp;&amp; nemu_state == NEMU_RUN)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 // 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执行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指向的指令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instr_len = exec_inst();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	 //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指向下一条指令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cpu.eip += instr_len;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n--;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altLang="zh-CN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1965" y="1380766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2. </a:t>
            </a:r>
            <a:r>
              <a:rPr lang="zh-CN" altLang="en-US" dirty="0"/>
              <a:t>执行程序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32" y="164810"/>
            <a:ext cx="2147683" cy="12159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矩形 2"/>
          <p:cNvSpPr/>
          <p:nvPr/>
        </p:nvSpPr>
        <p:spPr>
          <a:xfrm>
            <a:off x="211895" y="1965541"/>
            <a:ext cx="6739009" cy="4401205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void exec(uint32_t 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{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nemu_state = NEMU_RUN;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while</a:t>
            </a:r>
            <a:r>
              <a:rPr lang="zh-CN" altLang="en-US" sz="2000" dirty="0">
                <a:latin typeface="Consolas" panose="020B0609020204030204" pitchFamily="49" charset="0"/>
              </a:rPr>
              <a:t> (n &gt; 0 &amp;&amp; nemu_state == NEMU_RUN)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 // 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执行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指向的指令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instr_len = exec_inst();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	 //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指向下一条指令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cpu.eip += instr_len;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n--;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altLang="zh-CN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1965" y="1380766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52781" y="4180819"/>
            <a:ext cx="8797034" cy="22467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lvl="2"/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exec_inst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uint8_t opcode =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 	opcode = </a:t>
            </a:r>
            <a:r>
              <a:rPr lang="en-US" altLang="zh-CN" sz="2000" dirty="0" err="1">
                <a:latin typeface="Consolas" panose="020B0609020204030204" pitchFamily="49" charset="0"/>
              </a:rPr>
              <a:t>instr_fetch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latin typeface="Consolas" panose="020B0609020204030204" pitchFamily="49" charset="0"/>
              </a:rPr>
              <a:t>, 1);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latin typeface="Consolas" panose="020B0609020204030204" pitchFamily="49" charset="0"/>
              </a:rPr>
              <a:t>opcode_entry</a:t>
            </a:r>
            <a:r>
              <a:rPr lang="en-US" altLang="zh-CN" sz="2000" dirty="0">
                <a:latin typeface="Consolas" panose="020B0609020204030204" pitchFamily="49" charset="0"/>
              </a:rPr>
              <a:t>[opcode](</a:t>
            </a:r>
            <a:r>
              <a:rPr lang="en-US" altLang="zh-CN" sz="2000" dirty="0" err="1"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latin typeface="Consolas" panose="020B0609020204030204" pitchFamily="49" charset="0"/>
              </a:rPr>
              <a:t>, opcode);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return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94876" y="5809138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2. </a:t>
            </a:r>
            <a:r>
              <a:rPr lang="zh-CN" altLang="en-US" dirty="0"/>
              <a:t>执行程序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32" y="164810"/>
            <a:ext cx="2147683" cy="12159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矩形 2"/>
          <p:cNvSpPr/>
          <p:nvPr/>
        </p:nvSpPr>
        <p:spPr>
          <a:xfrm>
            <a:off x="211895" y="1965541"/>
            <a:ext cx="6739009" cy="4401205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void exec(uint32_t 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{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nemu_state = NEMU_RUN;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while</a:t>
            </a:r>
            <a:r>
              <a:rPr lang="zh-CN" altLang="en-US" sz="2000" dirty="0">
                <a:latin typeface="Consolas" panose="020B0609020204030204" pitchFamily="49" charset="0"/>
              </a:rPr>
              <a:t> (n &gt; 0 &amp;&amp; nemu_state == NEMU_RUN)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 // 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执行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指向的指令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instr_len = exec_inst();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	 //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指向下一条指令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cpu.eip += instr_len;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n--;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altLang="zh-CN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1965" y="1380766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52781" y="4180819"/>
            <a:ext cx="8797034" cy="22467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lvl="2"/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exec_inst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uint8_t opcode =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 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opcode =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instr_fetch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, 1);</a:t>
            </a:r>
            <a:endParaRPr lang="en-US" altLang="zh-CN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latin typeface="Consolas" panose="020B0609020204030204" pitchFamily="49" charset="0"/>
              </a:rPr>
              <a:t>opcode_entry</a:t>
            </a:r>
            <a:r>
              <a:rPr lang="en-US" altLang="zh-CN" sz="2000" dirty="0">
                <a:latin typeface="Consolas" panose="020B0609020204030204" pitchFamily="49" charset="0"/>
              </a:rPr>
              <a:t>[opcode](</a:t>
            </a:r>
            <a:r>
              <a:rPr lang="en-US" altLang="zh-CN" sz="2000" dirty="0" err="1"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latin typeface="Consolas" panose="020B0609020204030204" pitchFamily="49" charset="0"/>
              </a:rPr>
              <a:t>, opcode);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return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94876" y="5809138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0" y="4396262"/>
            <a:ext cx="5399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读</a:t>
            </a:r>
            <a:r>
              <a:rPr lang="en-US" altLang="zh-CN" dirty="0" err="1">
                <a:solidFill>
                  <a:srgbClr val="C00000"/>
                </a:solidFill>
              </a:rPr>
              <a:t>cpu.eip</a:t>
            </a:r>
            <a:r>
              <a:rPr lang="zh-CN" altLang="en-US" dirty="0">
                <a:solidFill>
                  <a:srgbClr val="C00000"/>
                </a:solidFill>
              </a:rPr>
              <a:t>内存地址处，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字节的数据（指令操作码）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7488455" y="4765594"/>
            <a:ext cx="567890" cy="36467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2. </a:t>
            </a:r>
            <a:r>
              <a:rPr lang="zh-CN" altLang="en-US" dirty="0"/>
              <a:t>执行程序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32" y="164810"/>
            <a:ext cx="2147683" cy="12159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矩形 2"/>
          <p:cNvSpPr/>
          <p:nvPr/>
        </p:nvSpPr>
        <p:spPr>
          <a:xfrm>
            <a:off x="211895" y="1965541"/>
            <a:ext cx="6739009" cy="4401205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void exec(uint32_t 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{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nemu_state = NEMU_RUN;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while</a:t>
            </a:r>
            <a:r>
              <a:rPr lang="zh-CN" altLang="en-US" sz="2000" dirty="0">
                <a:latin typeface="Consolas" panose="020B0609020204030204" pitchFamily="49" charset="0"/>
              </a:rPr>
              <a:t> (n &gt; 0 &amp;&amp; nemu_state == NEMU_RUN)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 // 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执行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指向的指令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instr_len = exec_inst();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	 //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指向下一条指令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cpu.eip += instr_len;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n--;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altLang="zh-CN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1965" y="1380766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52781" y="4180819"/>
            <a:ext cx="8797034" cy="22467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lvl="2"/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exec_inst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uint8_t opcode =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 	opcode = </a:t>
            </a:r>
            <a:r>
              <a:rPr lang="en-US" altLang="zh-CN" sz="2000" dirty="0" err="1">
                <a:latin typeface="Consolas" panose="020B0609020204030204" pitchFamily="49" charset="0"/>
              </a:rPr>
              <a:t>instr_fetch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latin typeface="Consolas" panose="020B0609020204030204" pitchFamily="49" charset="0"/>
              </a:rPr>
              <a:t>, 1);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opcode_entry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[opcode](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, opcode);</a:t>
            </a:r>
            <a:endParaRPr lang="en-US" altLang="zh-CN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return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94876" y="5809138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0" y="4396262"/>
            <a:ext cx="5399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解码并执行该指令，返回指令长度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7632834" y="4765594"/>
            <a:ext cx="423511" cy="73043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010" y="301728"/>
            <a:ext cx="9890735" cy="6186702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697303" y="301728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2. </a:t>
            </a:r>
            <a:r>
              <a:rPr lang="zh-CN" altLang="en-US" dirty="0"/>
              <a:t>执行程序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32" y="164810"/>
            <a:ext cx="2147683" cy="12159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矩形 2"/>
          <p:cNvSpPr/>
          <p:nvPr/>
        </p:nvSpPr>
        <p:spPr>
          <a:xfrm>
            <a:off x="211895" y="1965541"/>
            <a:ext cx="6739009" cy="4401205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void exec(uint32_t 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{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nemu_state = NEMU_RUN;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while</a:t>
            </a:r>
            <a:r>
              <a:rPr lang="zh-CN" altLang="en-US" sz="2000" dirty="0">
                <a:latin typeface="Consolas" panose="020B0609020204030204" pitchFamily="49" charset="0"/>
              </a:rPr>
              <a:t> (n &gt; 0 &amp;&amp; nemu_state == NEMU_RUN)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 // 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执行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指向的指令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instr_len = exec_inst();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	 //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指向下一条指令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cpu.eip += instr_len;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n--;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altLang="zh-CN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1965" y="1380766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52781" y="4180819"/>
            <a:ext cx="8797034" cy="22467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lvl="2"/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exec_inst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uint8_t opcode =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 	opcode = </a:t>
            </a:r>
            <a:r>
              <a:rPr lang="en-US" altLang="zh-CN" sz="2000" dirty="0" err="1">
                <a:latin typeface="Consolas" panose="020B0609020204030204" pitchFamily="49" charset="0"/>
              </a:rPr>
              <a:t>instr_fetch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latin typeface="Consolas" panose="020B0609020204030204" pitchFamily="49" charset="0"/>
              </a:rPr>
              <a:t>, 1);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opcode_entry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[opcode](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, opcode);</a:t>
            </a:r>
            <a:endParaRPr lang="en-US" altLang="zh-CN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return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94876" y="5809138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0" y="4396262"/>
            <a:ext cx="5399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解码并执行该指令，返回指令长度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7632834" y="4765594"/>
            <a:ext cx="423511" cy="73043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882153" y="4319318"/>
            <a:ext cx="1735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how to?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/>
              <a:t>程序执行的宏观过程与模拟</a:t>
            </a:r>
            <a:endParaRPr lang="zh-CN" altLang="en-US" b="1" dirty="0"/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单条指令的解码与</a:t>
            </a:r>
            <a:r>
              <a:rPr lang="en-US" altLang="zh-CN" b="1" dirty="0">
                <a:solidFill>
                  <a:srgbClr val="C00000"/>
                </a:solidFill>
              </a:rPr>
              <a:t>NEMU</a:t>
            </a:r>
            <a:r>
              <a:rPr lang="zh-CN" altLang="en-US" b="1" dirty="0">
                <a:solidFill>
                  <a:srgbClr val="C00000"/>
                </a:solidFill>
              </a:rPr>
              <a:t>实现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40220" y="2755280"/>
            <a:ext cx="91582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CN" altLang="en-US" sz="3200" kern="100" dirty="0">
                <a:latin typeface="等线" panose="02010600030101010101" charset="-122"/>
                <a:cs typeface="Times New Roman" panose="02020603050405020304" pitchFamily="18" charset="0"/>
              </a:rPr>
              <a:t>内存中的指令数据：</a:t>
            </a: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123026" y="2536730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013181" y="2160158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EIP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013181" y="3518902"/>
            <a:ext cx="4288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如何理解？怎么模拟？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5" y="2087666"/>
            <a:ext cx="6902669" cy="3590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文本框 10"/>
          <p:cNvSpPr txBox="1"/>
          <p:nvPr/>
        </p:nvSpPr>
        <p:spPr>
          <a:xfrm>
            <a:off x="8405649" y="2682436"/>
            <a:ext cx="2661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不同的汇编同一条指令</a:t>
            </a:r>
            <a:endParaRPr lang="zh-CN" altLang="en-US" sz="3600" dirty="0"/>
          </a:p>
        </p:txBody>
      </p:sp>
      <p:sp>
        <p:nvSpPr>
          <p:cNvPr id="12" name="矩形 11"/>
          <p:cNvSpPr/>
          <p:nvPr/>
        </p:nvSpPr>
        <p:spPr>
          <a:xfrm>
            <a:off x="1261241" y="1107823"/>
            <a:ext cx="91582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CN" altLang="en-US" sz="3200" kern="100" dirty="0">
                <a:latin typeface="等线" panose="02010600030101010101" charset="-122"/>
                <a:cs typeface="Times New Roman" panose="02020603050405020304" pitchFamily="18" charset="0"/>
              </a:rPr>
              <a:t>内存中的指令数据：</a:t>
            </a: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3" name="等腰三角形 12"/>
          <p:cNvSpPr/>
          <p:nvPr/>
        </p:nvSpPr>
        <p:spPr>
          <a:xfrm rot="10800000">
            <a:off x="5144047" y="889273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034202" y="512701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EIP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8405649" y="4298263"/>
            <a:ext cx="30716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按</a:t>
            </a:r>
            <a:r>
              <a:rPr lang="en-US" altLang="zh-CN" sz="3200" dirty="0"/>
              <a:t>i386</a:t>
            </a:r>
            <a:r>
              <a:rPr lang="zh-CN" altLang="en-US" sz="3200" dirty="0"/>
              <a:t>指令集体系结构的规定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61241" y="1107823"/>
            <a:ext cx="91582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CN" altLang="en-US" sz="3200" kern="100" dirty="0">
                <a:latin typeface="等线" panose="02010600030101010101" charset="-122"/>
                <a:cs typeface="Times New Roman" panose="02020603050405020304" pitchFamily="18" charset="0"/>
              </a:rPr>
              <a:t>内存中的指令数据：</a:t>
            </a: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144047" y="889273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034202" y="512701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EIP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756887" y="3732115"/>
            <a:ext cx="110016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+-----------+-----------+-----------+--------+------+------+------+------------+-----------+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|instruction| address-  | </a:t>
            </a:r>
            <a:r>
              <a:rPr lang="en-US" altLang="zh-CN" sz="1500" b="1" kern="100" dirty="0">
                <a:solidFill>
                  <a:srgbClr val="00B05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operand-</a:t>
            </a: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|segment |</a:t>
            </a:r>
            <a:r>
              <a:rPr lang="en-US" altLang="zh-CN" sz="1500" b="1" kern="100" dirty="0" err="1">
                <a:solidFill>
                  <a:srgbClr val="FF000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opcode</a:t>
            </a:r>
            <a:r>
              <a:rPr lang="en-US" altLang="zh-CN" sz="1500" kern="100" dirty="0" err="1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</a:t>
            </a:r>
            <a:r>
              <a:rPr lang="en-US" altLang="zh-CN" sz="1500" b="1" kern="100" dirty="0" err="1">
                <a:solidFill>
                  <a:srgbClr val="00B0F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ModR</a:t>
            </a:r>
            <a:r>
              <a:rPr lang="en-US" altLang="zh-CN" sz="1500" b="1" kern="100" dirty="0">
                <a:solidFill>
                  <a:srgbClr val="00B0F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/M</a:t>
            </a: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</a:t>
            </a:r>
            <a:r>
              <a:rPr lang="en-US" altLang="zh-CN" sz="1500" b="1" kern="100" dirty="0">
                <a:solidFill>
                  <a:srgbClr val="00B0F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SIB</a:t>
            </a: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|</a:t>
            </a:r>
            <a:r>
              <a:rPr lang="en-US" altLang="zh-CN" sz="1500" b="1" kern="100" dirty="0">
                <a:solidFill>
                  <a:srgbClr val="00B0F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displacement</a:t>
            </a: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</a:t>
            </a:r>
            <a:r>
              <a:rPr lang="en-US" altLang="zh-CN" sz="1500" b="1" kern="100" dirty="0">
                <a:solidFill>
                  <a:srgbClr val="00B0F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immediate</a:t>
            </a: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|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 prefix   |size </a:t>
            </a:r>
            <a:r>
              <a:rPr lang="en-US" altLang="zh-CN" sz="1500" kern="100" dirty="0" err="1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prefix|</a:t>
            </a:r>
            <a:r>
              <a:rPr lang="en-US" altLang="zh-CN" sz="1500" b="1" kern="100" dirty="0" err="1">
                <a:solidFill>
                  <a:srgbClr val="00B05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size</a:t>
            </a:r>
            <a:r>
              <a:rPr lang="en-US" altLang="zh-CN" sz="1500" b="1" kern="100" dirty="0">
                <a:solidFill>
                  <a:srgbClr val="00B05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1500" b="1" kern="100" dirty="0" err="1">
                <a:solidFill>
                  <a:srgbClr val="00B05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prefix</a:t>
            </a:r>
            <a:r>
              <a:rPr lang="en-US" altLang="zh-CN" sz="1500" kern="100" dirty="0" err="1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|override</a:t>
            </a: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     |      |      |            |           |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|-----------+-----------+-----------+--------+------+------+------+------------+-----------|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  0 OR 1  |   0 OR 1  |   0 OR 1  | 0 OR 1 |1 OR 2|0 OR 1|0 OR 1| 0,1,2 OR 4 |0,1,2 OR 4 |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- - - - - - - - - - - - - - - - - - - - - - - - - - - - - - - - - - - - - - - - - - - - -|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                                      number of bytes                                    |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+------------------------------------------------------------------------------------------+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3" name="左大括号 12"/>
          <p:cNvSpPr/>
          <p:nvPr/>
        </p:nvSpPr>
        <p:spPr>
          <a:xfrm rot="5400000">
            <a:off x="3908533" y="1494375"/>
            <a:ext cx="237067" cy="4238413"/>
          </a:xfrm>
          <a:prstGeom prst="leftBrac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333732" y="2645802"/>
            <a:ext cx="3520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各种前缀，我们只模拟</a:t>
            </a:r>
            <a:r>
              <a:rPr lang="en-US" altLang="zh-CN" dirty="0">
                <a:solidFill>
                  <a:srgbClr val="00B050"/>
                </a:solidFill>
              </a:rPr>
              <a:t>operand-size prefix</a:t>
            </a:r>
            <a:r>
              <a:rPr lang="zh-CN" altLang="en-US" dirty="0">
                <a:solidFill>
                  <a:srgbClr val="00B050"/>
                </a:solidFill>
              </a:rPr>
              <a:t>，其值为</a:t>
            </a:r>
            <a:r>
              <a:rPr lang="en-US" altLang="zh-CN" dirty="0">
                <a:solidFill>
                  <a:srgbClr val="00B050"/>
                </a:solidFill>
              </a:rPr>
              <a:t>0x66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20997" y="1888496"/>
            <a:ext cx="3025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操作码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00B0F0"/>
                </a:solidFill>
              </a:rPr>
              <a:t>ModR</a:t>
            </a:r>
            <a:r>
              <a:rPr lang="en-US" altLang="zh-CN" dirty="0">
                <a:solidFill>
                  <a:srgbClr val="00B0F0"/>
                </a:solidFill>
              </a:rPr>
              <a:t>/M</a:t>
            </a:r>
            <a:r>
              <a:rPr lang="zh-CN" altLang="en-US" dirty="0">
                <a:solidFill>
                  <a:srgbClr val="FF0000"/>
                </a:solidFill>
              </a:rPr>
              <a:t>中也可能包含一点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6509917" y="2602885"/>
            <a:ext cx="432" cy="11292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左大括号 16"/>
          <p:cNvSpPr/>
          <p:nvPr/>
        </p:nvSpPr>
        <p:spPr>
          <a:xfrm rot="5400000">
            <a:off x="8587430" y="1781611"/>
            <a:ext cx="237066" cy="3663941"/>
          </a:xfrm>
          <a:prstGeom prst="leftBrac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978801" y="288635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各种找到操作数（寻址）的办法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21840" y="5923199"/>
            <a:ext cx="3074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最大是</a:t>
            </a:r>
            <a:r>
              <a:rPr lang="en-US" altLang="zh-CN" dirty="0">
                <a:solidFill>
                  <a:srgbClr val="0070C0"/>
                </a:solidFill>
              </a:rPr>
              <a:t>4</a:t>
            </a:r>
            <a:r>
              <a:rPr lang="zh-CN" altLang="en-US" dirty="0">
                <a:solidFill>
                  <a:srgbClr val="0070C0"/>
                </a:solidFill>
              </a:rPr>
              <a:t>，体现我们是</a:t>
            </a:r>
            <a:r>
              <a:rPr lang="en-US" altLang="zh-CN" dirty="0">
                <a:solidFill>
                  <a:srgbClr val="0070C0"/>
                </a:solidFill>
              </a:rPr>
              <a:t>32</a:t>
            </a:r>
            <a:r>
              <a:rPr lang="zh-CN" altLang="en-US" dirty="0">
                <a:solidFill>
                  <a:srgbClr val="0070C0"/>
                </a:solidFill>
              </a:rPr>
              <a:t>位机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20" name="直接箭头连接符 19"/>
          <p:cNvCxnSpPr>
            <a:stCxn id="19" idx="0"/>
          </p:cNvCxnSpPr>
          <p:nvPr/>
        </p:nvCxnSpPr>
        <p:spPr>
          <a:xfrm flipV="1">
            <a:off x="8959281" y="4958574"/>
            <a:ext cx="235214" cy="964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9" idx="0"/>
          </p:cNvCxnSpPr>
          <p:nvPr/>
        </p:nvCxnSpPr>
        <p:spPr>
          <a:xfrm flipV="1">
            <a:off x="8959281" y="4929403"/>
            <a:ext cx="1338457" cy="993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86938" y="5657433"/>
            <a:ext cx="2381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按</a:t>
            </a:r>
            <a:r>
              <a:rPr lang="en-US" altLang="zh-CN" sz="2400" dirty="0"/>
              <a:t>i386</a:t>
            </a:r>
            <a:r>
              <a:rPr lang="zh-CN" altLang="en-US" sz="2400" dirty="0"/>
              <a:t>指令集体系结构的规定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01065" y="1580224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084020" y="1392659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974175" y="1016087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EIP</a:t>
            </a:r>
            <a:endParaRPr lang="zh-CN" altLang="en-US" dirty="0"/>
          </a:p>
        </p:txBody>
      </p:sp>
      <p:cxnSp>
        <p:nvCxnSpPr>
          <p:cNvPr id="10" name="直接连接符 9"/>
          <p:cNvCxnSpPr/>
          <p:nvPr/>
        </p:nvCxnSpPr>
        <p:spPr>
          <a:xfrm>
            <a:off x="1950545" y="2580025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061545" y="2989952"/>
            <a:ext cx="7848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800" dirty="0"/>
              <a:t>不是</a:t>
            </a:r>
            <a:r>
              <a:rPr lang="en-US" altLang="zh-CN" sz="2800" dirty="0"/>
              <a:t>0x66</a:t>
            </a:r>
            <a:r>
              <a:rPr lang="zh-CN" altLang="en-US" sz="2800" dirty="0"/>
              <a:t>，操作数</a:t>
            </a:r>
            <a:r>
              <a:rPr lang="en-US" altLang="zh-CN" sz="2800" dirty="0"/>
              <a:t>32</a:t>
            </a:r>
            <a:r>
              <a:rPr lang="zh-CN" altLang="en-US" sz="2800" dirty="0"/>
              <a:t>位，</a:t>
            </a:r>
            <a:r>
              <a:rPr lang="en-US" altLang="zh-CN" sz="2800" dirty="0"/>
              <a:t>0x8b</a:t>
            </a:r>
            <a:r>
              <a:rPr lang="zh-CN" altLang="en-US" sz="2800" dirty="0"/>
              <a:t>为操作码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194" y="81531"/>
            <a:ext cx="8386328" cy="677202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8120" y="5245210"/>
            <a:ext cx="2133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i386</a:t>
            </a:r>
            <a:r>
              <a:rPr lang="zh-CN" altLang="en-US" dirty="0">
                <a:solidFill>
                  <a:srgbClr val="C00000"/>
                </a:solidFill>
              </a:rPr>
              <a:t>手册，</a:t>
            </a:r>
            <a:r>
              <a:rPr lang="en-US" altLang="zh-CN" dirty="0">
                <a:solidFill>
                  <a:srgbClr val="C00000"/>
                </a:solidFill>
              </a:rPr>
              <a:t>pg. 414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Appendix A, One-Byte Opcode Map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4666" y="355467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8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03116" y="0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B</a:t>
            </a:r>
            <a:endParaRPr lang="en-US" altLang="zh-CN" sz="3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194" y="81531"/>
            <a:ext cx="8386328" cy="677202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8120" y="5245210"/>
            <a:ext cx="2133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i386</a:t>
            </a:r>
            <a:r>
              <a:rPr lang="zh-CN" altLang="en-US" dirty="0">
                <a:solidFill>
                  <a:srgbClr val="C00000"/>
                </a:solidFill>
              </a:rPr>
              <a:t>手册，</a:t>
            </a:r>
            <a:r>
              <a:rPr lang="en-US" altLang="zh-CN" dirty="0">
                <a:solidFill>
                  <a:srgbClr val="C00000"/>
                </a:solidFill>
              </a:rPr>
              <a:t>pg. 414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Appendix A, One-Byte Opcode Map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4666" y="355467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8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03116" y="0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B</a:t>
            </a:r>
            <a:endParaRPr lang="en-US" altLang="zh-CN" sz="3200" dirty="0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84408" y="3448695"/>
            <a:ext cx="2444900" cy="58477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  <a:latin typeface="Consolas" panose="020B0609020204030204" pitchFamily="49" charset="0"/>
              </a:rPr>
              <a:t>MOV </a:t>
            </a:r>
            <a:r>
              <a:rPr lang="en-US" altLang="zh-CN" sz="3200" dirty="0" err="1">
                <a:solidFill>
                  <a:srgbClr val="C00000"/>
                </a:solidFill>
                <a:latin typeface="Consolas" panose="020B0609020204030204" pitchFamily="49" charset="0"/>
              </a:rPr>
              <a:t>Gv</a:t>
            </a:r>
            <a:r>
              <a:rPr lang="en-US" altLang="zh-CN" sz="3200" dirty="0">
                <a:solidFill>
                  <a:srgbClr val="C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3200" dirty="0" err="1">
                <a:solidFill>
                  <a:srgbClr val="C00000"/>
                </a:solidFill>
                <a:latin typeface="Consolas" panose="020B0609020204030204" pitchFamily="49" charset="0"/>
              </a:rPr>
              <a:t>Ev</a:t>
            </a:r>
            <a:endParaRPr lang="zh-CN" altLang="en-US" sz="32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012404" y="5712571"/>
            <a:ext cx="393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i386</a:t>
            </a:r>
            <a:r>
              <a:rPr lang="zh-CN" altLang="en-US" dirty="0">
                <a:solidFill>
                  <a:srgbClr val="C00000"/>
                </a:solidFill>
              </a:rPr>
              <a:t>手册，</a:t>
            </a:r>
            <a:r>
              <a:rPr lang="en-US" altLang="zh-CN" dirty="0">
                <a:solidFill>
                  <a:srgbClr val="C00000"/>
                </a:solidFill>
              </a:rPr>
              <a:t>pg. 412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Appendix A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76195" y="882875"/>
            <a:ext cx="1883849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MOV </a:t>
            </a: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Gv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Ev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195" y="3274499"/>
            <a:ext cx="9051287" cy="52725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45" y="1691623"/>
            <a:ext cx="9153851" cy="12740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345" y="4464158"/>
            <a:ext cx="9144000" cy="38665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888860" y="4850817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16</a:t>
            </a:r>
            <a:r>
              <a:rPr lang="zh-CN" altLang="en-US" dirty="0"/>
              <a:t>位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638041" y="4850817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32</a:t>
            </a:r>
            <a:r>
              <a:rPr lang="zh-CN" altLang="en-US" dirty="0"/>
              <a:t>位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2086" y="1577590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5041" y="139002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1566" y="2577391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2567" y="2987318"/>
            <a:ext cx="86916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sz="2800" dirty="0"/>
              <a:t>查</a:t>
            </a:r>
            <a:r>
              <a:rPr lang="en-US" altLang="zh-CN" sz="2800" dirty="0"/>
              <a:t>i386</a:t>
            </a:r>
            <a:r>
              <a:rPr lang="zh-CN" altLang="en-US" sz="2800" dirty="0"/>
              <a:t>手册 </a:t>
            </a:r>
            <a:r>
              <a:rPr lang="en-US" altLang="zh-CN" sz="2800" dirty="0"/>
              <a:t>– Appendix A – 0x8b</a:t>
            </a:r>
            <a:r>
              <a:rPr lang="zh-CN" altLang="en-US" sz="2800" dirty="0"/>
              <a:t>对应</a:t>
            </a:r>
            <a:r>
              <a:rPr lang="en-US" altLang="zh-CN" sz="2800" dirty="0">
                <a:solidFill>
                  <a:srgbClr val="FF0000"/>
                </a:solidFill>
              </a:rPr>
              <a:t>MOV</a:t>
            </a:r>
            <a:r>
              <a:rPr lang="en-US" altLang="zh-CN" sz="2800" dirty="0"/>
              <a:t> </a:t>
            </a:r>
            <a:r>
              <a:rPr lang="en-US" altLang="zh-CN" sz="2800" dirty="0" err="1">
                <a:solidFill>
                  <a:srgbClr val="00B0F0"/>
                </a:solidFill>
              </a:rPr>
              <a:t>Gv</a:t>
            </a:r>
            <a:r>
              <a:rPr lang="en-US" altLang="zh-CN" sz="2800" dirty="0">
                <a:solidFill>
                  <a:srgbClr val="00B0F0"/>
                </a:solidFill>
              </a:rPr>
              <a:t>, </a:t>
            </a:r>
            <a:r>
              <a:rPr lang="en-US" altLang="zh-CN" sz="2800" dirty="0" err="1">
                <a:solidFill>
                  <a:srgbClr val="00B0F0"/>
                </a:solidFill>
              </a:rPr>
              <a:t>Ev</a:t>
            </a:r>
            <a:endParaRPr lang="en-US" altLang="zh-CN" sz="2800" dirty="0">
              <a:solidFill>
                <a:srgbClr val="00B0F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Intel</a:t>
            </a:r>
            <a:r>
              <a:rPr lang="zh-CN" altLang="en-US" dirty="0"/>
              <a:t>格式，表示把一个</a:t>
            </a:r>
            <a:r>
              <a:rPr lang="en-US" altLang="zh-CN" dirty="0" err="1">
                <a:solidFill>
                  <a:srgbClr val="00B0F0"/>
                </a:solidFill>
              </a:rPr>
              <a:t>Ev</a:t>
            </a:r>
            <a:r>
              <a:rPr lang="zh-CN" altLang="en-US" dirty="0"/>
              <a:t>类型操作数</a:t>
            </a:r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zh-CN" altLang="en-US" dirty="0"/>
              <a:t>到</a:t>
            </a:r>
            <a:r>
              <a:rPr lang="en-US" altLang="zh-CN" dirty="0" err="1">
                <a:solidFill>
                  <a:srgbClr val="00B0F0"/>
                </a:solidFill>
              </a:rPr>
              <a:t>Gv</a:t>
            </a:r>
            <a:r>
              <a:rPr lang="zh-CN" altLang="en-US" dirty="0"/>
              <a:t>类型操作数里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 err="1"/>
              <a:t>objdump</a:t>
            </a:r>
            <a:r>
              <a:rPr lang="zh-CN" altLang="en-US" dirty="0"/>
              <a:t>和</a:t>
            </a:r>
            <a:r>
              <a:rPr lang="en-US" altLang="zh-CN" dirty="0" err="1"/>
              <a:t>gdb</a:t>
            </a:r>
            <a:r>
              <a:rPr lang="zh-CN" altLang="en-US" dirty="0"/>
              <a:t>中采用的</a:t>
            </a:r>
            <a:r>
              <a:rPr lang="en-US" altLang="zh-CN" dirty="0"/>
              <a:t>AT&amp;T</a:t>
            </a:r>
            <a:r>
              <a:rPr lang="zh-CN" altLang="en-US" dirty="0"/>
              <a:t>格式指令操作数顺序正好相反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若有需要，到</a:t>
            </a:r>
            <a:r>
              <a:rPr lang="en-US" altLang="zh-CN" dirty="0"/>
              <a:t>i386</a:t>
            </a:r>
            <a:r>
              <a:rPr lang="zh-CN" altLang="en-US" dirty="0"/>
              <a:t>手册</a:t>
            </a:r>
            <a:r>
              <a:rPr lang="en-US" altLang="zh-CN" dirty="0"/>
              <a:t>Chapter 17</a:t>
            </a:r>
            <a:r>
              <a:rPr lang="zh-CN" altLang="en-US" dirty="0"/>
              <a:t>细查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Ev</a:t>
            </a:r>
            <a:r>
              <a:rPr lang="zh-CN" altLang="en-US" dirty="0"/>
              <a:t>和</a:t>
            </a:r>
            <a:r>
              <a:rPr lang="en-US" altLang="zh-CN" dirty="0" err="1"/>
              <a:t>Gv</a:t>
            </a:r>
            <a:r>
              <a:rPr lang="zh-CN" altLang="en-US" dirty="0"/>
              <a:t>都说明后面跟</a:t>
            </a:r>
            <a:r>
              <a:rPr lang="en-US" altLang="zh-CN" sz="4000" dirty="0" err="1">
                <a:solidFill>
                  <a:srgbClr val="FF0000"/>
                </a:solidFill>
              </a:rPr>
              <a:t>ModR</a:t>
            </a:r>
            <a:r>
              <a:rPr lang="en-US" altLang="zh-CN" sz="4000" dirty="0">
                <a:solidFill>
                  <a:srgbClr val="FF0000"/>
                </a:solidFill>
              </a:rPr>
              <a:t>/M</a:t>
            </a:r>
            <a:r>
              <a:rPr lang="zh-CN" altLang="en-US" sz="4000" dirty="0">
                <a:solidFill>
                  <a:srgbClr val="FF0000"/>
                </a:solidFill>
              </a:rPr>
              <a:t>字节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00556" y="1013453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6144" y="1712184"/>
            <a:ext cx="7698085" cy="2418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85186" y="4874354"/>
            <a:ext cx="393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i386</a:t>
            </a:r>
            <a:r>
              <a:rPr lang="zh-CN" altLang="en-US" dirty="0">
                <a:solidFill>
                  <a:srgbClr val="C00000"/>
                </a:solidFill>
              </a:rPr>
              <a:t>手册，</a:t>
            </a:r>
            <a:r>
              <a:rPr lang="en-US" altLang="zh-CN" dirty="0">
                <a:solidFill>
                  <a:srgbClr val="C00000"/>
                </a:solidFill>
              </a:rPr>
              <a:t>pg. 242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Section 17.2.1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2085" y="1598610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5040" y="141104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1565" y="2598411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2565" y="3008338"/>
            <a:ext cx="78486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sz="2800" dirty="0">
                <a:solidFill>
                  <a:srgbClr val="FF0000"/>
                </a:solidFill>
              </a:rPr>
              <a:t>MOV</a:t>
            </a:r>
            <a:r>
              <a:rPr lang="en-US" altLang="zh-CN" sz="2800" dirty="0"/>
              <a:t> </a:t>
            </a:r>
            <a:r>
              <a:rPr lang="en-US" altLang="zh-CN" sz="2800" dirty="0" err="1">
                <a:solidFill>
                  <a:srgbClr val="00B0F0"/>
                </a:solidFill>
              </a:rPr>
              <a:t>Gv</a:t>
            </a:r>
            <a:r>
              <a:rPr lang="en-US" altLang="zh-CN" sz="2800" dirty="0">
                <a:solidFill>
                  <a:srgbClr val="00B0F0"/>
                </a:solidFill>
              </a:rPr>
              <a:t>, </a:t>
            </a:r>
            <a:r>
              <a:rPr lang="en-US" altLang="zh-CN" sz="2800" dirty="0" err="1">
                <a:solidFill>
                  <a:srgbClr val="00B0F0"/>
                </a:solidFill>
              </a:rPr>
              <a:t>Ev</a:t>
            </a:r>
            <a:endParaRPr lang="en-US" altLang="zh-CN" sz="2800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800" dirty="0" err="1"/>
              <a:t>Ev</a:t>
            </a:r>
            <a:r>
              <a:rPr lang="zh-CN" altLang="en-US" sz="2800" dirty="0"/>
              <a:t>和</a:t>
            </a:r>
            <a:r>
              <a:rPr lang="en-US" altLang="zh-CN" sz="2800" dirty="0" err="1"/>
              <a:t>Gv</a:t>
            </a:r>
            <a:r>
              <a:rPr lang="zh-CN" altLang="en-US" sz="2800" dirty="0"/>
              <a:t>都说明后面跟</a:t>
            </a:r>
            <a:r>
              <a:rPr lang="en-US" altLang="zh-CN" sz="2800" dirty="0" err="1"/>
              <a:t>ModR</a:t>
            </a:r>
            <a:r>
              <a:rPr lang="en-US" altLang="zh-CN" sz="2800" dirty="0"/>
              <a:t>/M</a:t>
            </a:r>
            <a:r>
              <a:rPr lang="zh-CN" altLang="en-US" sz="2800" dirty="0"/>
              <a:t>字节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93473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0555" y="1034473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28363" y="101886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705406" y="4293367"/>
            <a:ext cx="6106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0x94 =       10         010           100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4971427" y="4958553"/>
            <a:ext cx="4459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</a:rPr>
              <a:t>MOD              REG/OPCODE                 R/M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2086" y="1598610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5041" y="141104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1566" y="2598411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2566" y="3008338"/>
            <a:ext cx="78486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sz="2800" dirty="0">
                <a:solidFill>
                  <a:srgbClr val="FF0000"/>
                </a:solidFill>
              </a:rPr>
              <a:t>MOV</a:t>
            </a:r>
            <a:r>
              <a:rPr lang="en-US" altLang="zh-CN" sz="2800" dirty="0"/>
              <a:t> </a:t>
            </a:r>
            <a:r>
              <a:rPr lang="en-US" altLang="zh-CN" sz="2800" dirty="0" err="1">
                <a:solidFill>
                  <a:srgbClr val="00B0F0"/>
                </a:solidFill>
              </a:rPr>
              <a:t>Gv</a:t>
            </a:r>
            <a:r>
              <a:rPr lang="en-US" altLang="zh-CN" sz="2800" dirty="0">
                <a:solidFill>
                  <a:srgbClr val="00B0F0"/>
                </a:solidFill>
              </a:rPr>
              <a:t>, </a:t>
            </a:r>
            <a:r>
              <a:rPr lang="en-US" altLang="zh-CN" sz="2800" dirty="0" err="1">
                <a:solidFill>
                  <a:srgbClr val="00B0F0"/>
                </a:solidFill>
              </a:rPr>
              <a:t>Ev</a:t>
            </a:r>
            <a:endParaRPr lang="en-US" altLang="zh-CN" sz="2800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800" dirty="0" err="1"/>
              <a:t>Ev</a:t>
            </a:r>
            <a:r>
              <a:rPr lang="zh-CN" altLang="en-US" sz="2800" dirty="0"/>
              <a:t>和</a:t>
            </a:r>
            <a:r>
              <a:rPr lang="en-US" altLang="zh-CN" sz="2800" dirty="0" err="1"/>
              <a:t>Gv</a:t>
            </a:r>
            <a:r>
              <a:rPr lang="zh-CN" altLang="en-US" sz="2800" dirty="0"/>
              <a:t>都说明后面跟</a:t>
            </a:r>
            <a:r>
              <a:rPr lang="en-US" altLang="zh-CN" sz="2800" dirty="0" err="1"/>
              <a:t>ModR</a:t>
            </a:r>
            <a:r>
              <a:rPr lang="en-US" altLang="zh-CN" sz="2800" dirty="0"/>
              <a:t>/M</a:t>
            </a:r>
            <a:r>
              <a:rPr lang="zh-CN" altLang="en-US" sz="2800" dirty="0"/>
              <a:t>字节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93474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0556" y="1034473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28364" y="101886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705407" y="4293367"/>
            <a:ext cx="6106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0x94 =       10         </a:t>
            </a:r>
            <a:r>
              <a:rPr lang="en-US" altLang="zh-CN" sz="3600" dirty="0">
                <a:solidFill>
                  <a:srgbClr val="FF0000"/>
                </a:solidFill>
              </a:rPr>
              <a:t>010</a:t>
            </a:r>
            <a:r>
              <a:rPr lang="en-US" altLang="zh-CN" sz="3600" dirty="0"/>
              <a:t>           100</a:t>
            </a:r>
            <a:endParaRPr lang="zh-CN" altLang="en-US" sz="3600" dirty="0"/>
          </a:p>
        </p:txBody>
      </p:sp>
      <p:sp>
        <p:nvSpPr>
          <p:cNvPr id="16" name="文本框 15"/>
          <p:cNvSpPr txBox="1"/>
          <p:nvPr/>
        </p:nvSpPr>
        <p:spPr>
          <a:xfrm>
            <a:off x="4343034" y="4130493"/>
            <a:ext cx="5844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根据</a:t>
            </a:r>
            <a:r>
              <a:rPr lang="en-US" altLang="zh-CN" dirty="0" err="1">
                <a:solidFill>
                  <a:srgbClr val="FF0000"/>
                </a:solidFill>
              </a:rPr>
              <a:t>Gv</a:t>
            </a:r>
            <a:r>
              <a:rPr lang="zh-CN" altLang="en-US" dirty="0">
                <a:solidFill>
                  <a:srgbClr val="FF0000"/>
                </a:solidFill>
              </a:rPr>
              <a:t>和没有</a:t>
            </a:r>
            <a:r>
              <a:rPr lang="en-US" altLang="zh-CN" dirty="0">
                <a:solidFill>
                  <a:srgbClr val="FF0000"/>
                </a:solidFill>
              </a:rPr>
              <a:t>0x66</a:t>
            </a:r>
            <a:r>
              <a:rPr lang="zh-CN" altLang="en-US" dirty="0">
                <a:solidFill>
                  <a:srgbClr val="FF0000"/>
                </a:solidFill>
              </a:rPr>
              <a:t>前缀，查</a:t>
            </a:r>
            <a:r>
              <a:rPr lang="en-US" altLang="zh-CN" dirty="0">
                <a:solidFill>
                  <a:srgbClr val="FF0000"/>
                </a:solidFill>
              </a:rPr>
              <a:t>i386</a:t>
            </a:r>
            <a:r>
              <a:rPr lang="zh-CN" altLang="en-US" dirty="0">
                <a:solidFill>
                  <a:srgbClr val="FF0000"/>
                </a:solidFill>
              </a:rPr>
              <a:t>手册表</a:t>
            </a:r>
            <a:r>
              <a:rPr lang="en-US" altLang="zh-CN" dirty="0">
                <a:solidFill>
                  <a:srgbClr val="FF0000"/>
                </a:solidFill>
              </a:rPr>
              <a:t>17.2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010</a:t>
            </a:r>
            <a:r>
              <a:rPr lang="zh-CN" altLang="en-US" dirty="0">
                <a:solidFill>
                  <a:srgbClr val="FF0000"/>
                </a:solidFill>
              </a:rPr>
              <a:t>表示</a:t>
            </a:r>
            <a:r>
              <a:rPr lang="en-US" altLang="zh-CN" dirty="0" err="1">
                <a:solidFill>
                  <a:srgbClr val="FF0000"/>
                </a:solidFill>
              </a:rPr>
              <a:t>edx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914469" y="4939698"/>
            <a:ext cx="4459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</a:rPr>
              <a:t>MOD           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REG/OPCODE</a:t>
            </a:r>
            <a:r>
              <a:rPr lang="en-US" altLang="zh-CN" dirty="0">
                <a:latin typeface="+mn-ea"/>
              </a:rPr>
              <a:t>                 R/M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2086" y="1598609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5041" y="1411044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1566" y="2598410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2566" y="3008337"/>
            <a:ext cx="7848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B0F0"/>
                </a:solidFill>
              </a:rPr>
              <a:t>Gv</a:t>
            </a:r>
            <a:r>
              <a:rPr lang="en-US" altLang="zh-CN" dirty="0">
                <a:solidFill>
                  <a:srgbClr val="00B0F0"/>
                </a:solidFill>
              </a:rPr>
              <a:t>, </a:t>
            </a:r>
            <a:r>
              <a:rPr lang="en-US" altLang="zh-CN" dirty="0" err="1">
                <a:solidFill>
                  <a:srgbClr val="00B0F0"/>
                </a:solidFill>
              </a:rPr>
              <a:t>Ev</a:t>
            </a:r>
            <a:endParaRPr lang="en-US" altLang="zh-CN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800" dirty="0" err="1"/>
              <a:t>Ev</a:t>
            </a:r>
            <a:r>
              <a:rPr lang="zh-CN" altLang="en-US" sz="2800" dirty="0"/>
              <a:t>和</a:t>
            </a:r>
            <a:r>
              <a:rPr lang="en-US" altLang="zh-CN" sz="2800" dirty="0" err="1"/>
              <a:t>Gv</a:t>
            </a:r>
            <a:r>
              <a:rPr lang="zh-CN" altLang="en-US" sz="2800" dirty="0"/>
              <a:t>都说明后面跟</a:t>
            </a:r>
            <a:r>
              <a:rPr lang="en-US" altLang="zh-CN" sz="2800" dirty="0" err="1"/>
              <a:t>ModR</a:t>
            </a:r>
            <a:r>
              <a:rPr lang="en-US" altLang="zh-CN" sz="2800" dirty="0"/>
              <a:t>/M</a:t>
            </a:r>
            <a:r>
              <a:rPr lang="zh-CN" altLang="en-US" sz="2800" dirty="0"/>
              <a:t>字节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93474" y="141104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0556" y="1034472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28364" y="1018866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705407" y="4293366"/>
            <a:ext cx="6106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0x94 =       </a:t>
            </a:r>
            <a:r>
              <a:rPr lang="en-US" altLang="zh-CN" sz="3600" dirty="0">
                <a:solidFill>
                  <a:srgbClr val="FF0000"/>
                </a:solidFill>
              </a:rPr>
              <a:t>10</a:t>
            </a:r>
            <a:r>
              <a:rPr lang="en-US" altLang="zh-CN" sz="3600" dirty="0"/>
              <a:t>         010           </a:t>
            </a:r>
            <a:r>
              <a:rPr lang="en-US" altLang="zh-CN" sz="3600" dirty="0">
                <a:solidFill>
                  <a:srgbClr val="FF0000"/>
                </a:solidFill>
              </a:rPr>
              <a:t>100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971428" y="4962842"/>
            <a:ext cx="4459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</a:rPr>
              <a:t>MOD</a:t>
            </a:r>
            <a:r>
              <a:rPr lang="en-US" altLang="zh-CN" dirty="0">
                <a:latin typeface="+mn-ea"/>
              </a:rPr>
              <a:t>             REG/OPCODE               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R/M</a:t>
            </a:r>
            <a:endParaRPr lang="zh-CN" altLang="en-US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06416" y="4054292"/>
            <a:ext cx="6385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查</a:t>
            </a:r>
            <a:r>
              <a:rPr lang="en-US" altLang="zh-CN" dirty="0">
                <a:solidFill>
                  <a:srgbClr val="FF0000"/>
                </a:solidFill>
              </a:rPr>
              <a:t>i386</a:t>
            </a:r>
            <a:r>
              <a:rPr lang="zh-CN" altLang="en-US" dirty="0">
                <a:solidFill>
                  <a:srgbClr val="FF0000"/>
                </a:solidFill>
              </a:rPr>
              <a:t>手册表</a:t>
            </a:r>
            <a:r>
              <a:rPr lang="en-US" altLang="zh-CN" dirty="0">
                <a:solidFill>
                  <a:srgbClr val="FF0000"/>
                </a:solidFill>
              </a:rPr>
              <a:t>17-3</a:t>
            </a:r>
            <a:r>
              <a:rPr lang="zh-CN" altLang="en-US" dirty="0">
                <a:solidFill>
                  <a:srgbClr val="FF0000"/>
                </a:solidFill>
              </a:rPr>
              <a:t>，发现是内存地址</a:t>
            </a:r>
            <a:r>
              <a:rPr lang="en-US" altLang="zh-CN" dirty="0">
                <a:solidFill>
                  <a:srgbClr val="FF0000"/>
                </a:solidFill>
              </a:rPr>
              <a:t>disp32[--][--]</a:t>
            </a:r>
            <a:r>
              <a:rPr lang="zh-CN" altLang="en-US" dirty="0">
                <a:solidFill>
                  <a:srgbClr val="FF0000"/>
                </a:solidFill>
              </a:rPr>
              <a:t>，还有</a:t>
            </a:r>
            <a:r>
              <a:rPr lang="en-US" altLang="zh-CN" dirty="0">
                <a:solidFill>
                  <a:srgbClr val="FF0000"/>
                </a:solidFill>
              </a:rPr>
              <a:t>SIB</a:t>
            </a:r>
            <a:r>
              <a:rPr lang="zh-CN" altLang="en-US" dirty="0">
                <a:solidFill>
                  <a:srgbClr val="FF0000"/>
                </a:solidFill>
              </a:rPr>
              <a:t>字节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2086" y="1593682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5041" y="1406117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1566" y="2593483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2567" y="3003410"/>
            <a:ext cx="985626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B0F0"/>
                </a:solidFill>
              </a:rPr>
              <a:t>Gv</a:t>
            </a:r>
            <a:r>
              <a:rPr lang="en-US" altLang="zh-CN" dirty="0">
                <a:solidFill>
                  <a:srgbClr val="00B0F0"/>
                </a:solidFill>
              </a:rPr>
              <a:t>, </a:t>
            </a:r>
            <a:r>
              <a:rPr lang="en-US" altLang="zh-CN" dirty="0" err="1">
                <a:solidFill>
                  <a:srgbClr val="00B0F0"/>
                </a:solidFill>
              </a:rPr>
              <a:t>Ev</a:t>
            </a:r>
            <a:endParaRPr lang="en-US" altLang="zh-CN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Ev</a:t>
            </a:r>
            <a:r>
              <a:rPr lang="zh-CN" altLang="en-US" dirty="0"/>
              <a:t>和</a:t>
            </a:r>
            <a:r>
              <a:rPr lang="en-US" altLang="zh-CN" dirty="0" err="1"/>
              <a:t>Gv</a:t>
            </a:r>
            <a:r>
              <a:rPr lang="zh-CN" altLang="en-US" dirty="0"/>
              <a:t>都说明后面跟</a:t>
            </a:r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r>
              <a:rPr lang="zh-CN" altLang="en-US" dirty="0"/>
              <a:t>字节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根据</a:t>
            </a:r>
            <a:r>
              <a:rPr lang="en-US" altLang="zh-CN" sz="2800" dirty="0"/>
              <a:t>Mod + R/M</a:t>
            </a:r>
            <a:r>
              <a:rPr lang="zh-CN" altLang="en-US" sz="2800" dirty="0"/>
              <a:t>域决定有</a:t>
            </a:r>
            <a:r>
              <a:rPr lang="en-US" altLang="zh-CN" sz="2800" dirty="0"/>
              <a:t>SIB</a:t>
            </a:r>
            <a:r>
              <a:rPr lang="zh-CN" altLang="en-US" sz="2800" dirty="0"/>
              <a:t>字节（内存地址</a:t>
            </a:r>
            <a:r>
              <a:rPr lang="en-US" altLang="zh-CN" sz="2800" dirty="0"/>
              <a:t>disp32[--][--]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93474" y="1406118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0556" y="1029545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28364" y="101393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705407" y="4288439"/>
            <a:ext cx="6106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0x83 =       10         000           011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4619088" y="4943043"/>
            <a:ext cx="4815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</a:rPr>
              <a:t>       SS                     INDEX                        BASE</a:t>
            </a:r>
            <a:endParaRPr lang="zh-CN" altLang="en-US" dirty="0">
              <a:latin typeface="+mn-ea"/>
            </a:endParaRPr>
          </a:p>
        </p:txBody>
      </p:sp>
      <p:sp>
        <p:nvSpPr>
          <p:cNvPr id="16" name="等腰三角形 15"/>
          <p:cNvSpPr/>
          <p:nvPr/>
        </p:nvSpPr>
        <p:spPr>
          <a:xfrm>
            <a:off x="4226874" y="2113271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129052" y="227975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sib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393" y="1240221"/>
            <a:ext cx="8005213" cy="250340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85186" y="4874354"/>
            <a:ext cx="393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i386</a:t>
            </a:r>
            <a:r>
              <a:rPr lang="zh-CN" altLang="en-US" dirty="0">
                <a:solidFill>
                  <a:srgbClr val="C00000"/>
                </a:solidFill>
              </a:rPr>
              <a:t>手册，</a:t>
            </a:r>
            <a:r>
              <a:rPr lang="en-US" altLang="zh-CN" dirty="0">
                <a:solidFill>
                  <a:srgbClr val="C00000"/>
                </a:solidFill>
              </a:rPr>
              <a:t>pg. 242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Section 17.2.1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2086" y="1598609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5041" y="1411044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1566" y="2598410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2566" y="3008337"/>
            <a:ext cx="100794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B0F0"/>
                </a:solidFill>
              </a:rPr>
              <a:t>Gv</a:t>
            </a:r>
            <a:r>
              <a:rPr lang="en-US" altLang="zh-CN" dirty="0">
                <a:solidFill>
                  <a:srgbClr val="00B0F0"/>
                </a:solidFill>
              </a:rPr>
              <a:t>, </a:t>
            </a:r>
            <a:r>
              <a:rPr lang="en-US" altLang="zh-CN" dirty="0" err="1">
                <a:solidFill>
                  <a:srgbClr val="00B0F0"/>
                </a:solidFill>
              </a:rPr>
              <a:t>Ev</a:t>
            </a:r>
            <a:endParaRPr lang="en-US" altLang="zh-CN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Ev</a:t>
            </a:r>
            <a:r>
              <a:rPr lang="zh-CN" altLang="en-US" dirty="0"/>
              <a:t>和</a:t>
            </a:r>
            <a:r>
              <a:rPr lang="en-US" altLang="zh-CN" dirty="0" err="1"/>
              <a:t>Gv</a:t>
            </a:r>
            <a:r>
              <a:rPr lang="zh-CN" altLang="en-US" dirty="0"/>
              <a:t>都说明后面跟</a:t>
            </a:r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r>
              <a:rPr lang="zh-CN" altLang="en-US" dirty="0"/>
              <a:t>字节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根据</a:t>
            </a:r>
            <a:r>
              <a:rPr lang="en-US" altLang="zh-CN" sz="2800" dirty="0"/>
              <a:t>Mod + R/M</a:t>
            </a:r>
            <a:r>
              <a:rPr lang="zh-CN" altLang="en-US" sz="2800" dirty="0"/>
              <a:t>域决定有</a:t>
            </a:r>
            <a:r>
              <a:rPr lang="en-US" altLang="zh-CN" sz="2800" dirty="0"/>
              <a:t>SIB</a:t>
            </a:r>
            <a:r>
              <a:rPr lang="zh-CN" altLang="en-US" sz="2800" dirty="0"/>
              <a:t>字节（内存地址</a:t>
            </a:r>
            <a:r>
              <a:rPr lang="en-US" altLang="zh-CN" sz="2800" dirty="0"/>
              <a:t>disp32[--][--]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93474" y="141104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0556" y="1034472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28364" y="1018866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705407" y="4293366"/>
            <a:ext cx="6106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0x83 =       10         000           011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4944911" y="4947970"/>
            <a:ext cx="45031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</a:rPr>
              <a:t>   SS                    INDEX                        BASE</a:t>
            </a:r>
            <a:endParaRPr lang="zh-CN" altLang="en-US" dirty="0">
              <a:latin typeface="+mn-ea"/>
            </a:endParaRPr>
          </a:p>
        </p:txBody>
      </p:sp>
      <p:sp>
        <p:nvSpPr>
          <p:cNvPr id="16" name="等腰三角形 15"/>
          <p:cNvSpPr/>
          <p:nvPr/>
        </p:nvSpPr>
        <p:spPr>
          <a:xfrm>
            <a:off x="4226874" y="2118198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129052" y="2284683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sib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191372" y="5057288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查</a:t>
            </a:r>
            <a:r>
              <a:rPr lang="en-US" altLang="zh-CN" dirty="0">
                <a:solidFill>
                  <a:srgbClr val="FF0000"/>
                </a:solidFill>
              </a:rPr>
              <a:t>i386</a:t>
            </a:r>
            <a:r>
              <a:rPr lang="zh-CN" altLang="en-US" dirty="0">
                <a:solidFill>
                  <a:srgbClr val="FF0000"/>
                </a:solidFill>
              </a:rPr>
              <a:t>手册表</a:t>
            </a:r>
            <a:r>
              <a:rPr lang="en-US" altLang="zh-CN" dirty="0">
                <a:solidFill>
                  <a:srgbClr val="FF0000"/>
                </a:solidFill>
              </a:rPr>
              <a:t>17-4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125624" y="5214269"/>
            <a:ext cx="432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*4                      </a:t>
            </a:r>
            <a:r>
              <a:rPr lang="en-US" altLang="zh-CN" dirty="0" err="1">
                <a:solidFill>
                  <a:srgbClr val="FF0000"/>
                </a:solidFill>
              </a:rPr>
              <a:t>eax</a:t>
            </a:r>
            <a:r>
              <a:rPr lang="en-US" altLang="zh-CN" dirty="0">
                <a:solidFill>
                  <a:srgbClr val="FF0000"/>
                </a:solidFill>
              </a:rPr>
              <a:t>                            </a:t>
            </a:r>
            <a:r>
              <a:rPr lang="en-US" altLang="zh-CN" dirty="0" err="1">
                <a:solidFill>
                  <a:srgbClr val="FF0000"/>
                </a:solidFill>
              </a:rPr>
              <a:t>ebx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56948" y="3485390"/>
            <a:ext cx="40244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内存地址 </a:t>
            </a:r>
            <a:r>
              <a:rPr lang="en-US" altLang="zh-CN" sz="2400" dirty="0">
                <a:solidFill>
                  <a:srgbClr val="FF0000"/>
                </a:solidFill>
              </a:rPr>
              <a:t>= disp32+ebx+eax*4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4714" y="1598610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7669" y="141104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4194" y="2598411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5193" y="3008338"/>
            <a:ext cx="99112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B0F0"/>
                </a:solidFill>
              </a:rPr>
              <a:t>Gv</a:t>
            </a:r>
            <a:r>
              <a:rPr lang="en-US" altLang="zh-CN" dirty="0">
                <a:solidFill>
                  <a:srgbClr val="00B0F0"/>
                </a:solidFill>
              </a:rPr>
              <a:t>, </a:t>
            </a:r>
            <a:r>
              <a:rPr lang="en-US" altLang="zh-CN" dirty="0" err="1">
                <a:solidFill>
                  <a:srgbClr val="00B0F0"/>
                </a:solidFill>
              </a:rPr>
              <a:t>Ev</a:t>
            </a:r>
            <a:endParaRPr lang="en-US" altLang="zh-CN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Ev</a:t>
            </a:r>
            <a:r>
              <a:rPr lang="zh-CN" altLang="en-US" dirty="0"/>
              <a:t>和</a:t>
            </a:r>
            <a:r>
              <a:rPr lang="en-US" altLang="zh-CN" dirty="0" err="1"/>
              <a:t>Gv</a:t>
            </a:r>
            <a:r>
              <a:rPr lang="zh-CN" altLang="en-US" dirty="0"/>
              <a:t>都说明后面跟</a:t>
            </a:r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r>
              <a:rPr lang="zh-CN" altLang="en-US" dirty="0"/>
              <a:t>字节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根据</a:t>
            </a:r>
            <a:r>
              <a:rPr lang="en-US" altLang="zh-CN" dirty="0"/>
              <a:t>Mod + R/M</a:t>
            </a:r>
            <a:r>
              <a:rPr lang="zh-CN" altLang="en-US" dirty="0"/>
              <a:t>域决定有</a:t>
            </a:r>
            <a:r>
              <a:rPr lang="en-US" altLang="zh-CN" dirty="0"/>
              <a:t>SIB</a:t>
            </a:r>
            <a:r>
              <a:rPr lang="zh-CN" altLang="en-US" dirty="0"/>
              <a:t>字节（内存地址</a:t>
            </a:r>
            <a:r>
              <a:rPr lang="en-US" altLang="zh-CN" dirty="0"/>
              <a:t>disp32[--][--]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2800" dirty="0"/>
              <a:t>SIB</a:t>
            </a:r>
            <a:r>
              <a:rPr lang="zh-CN" altLang="en-US" sz="2800" dirty="0"/>
              <a:t>字节后面自然还有</a:t>
            </a:r>
            <a:r>
              <a:rPr lang="en-US" altLang="zh-CN" sz="2800" dirty="0"/>
              <a:t>disp32 – 32</a:t>
            </a:r>
            <a:r>
              <a:rPr lang="zh-CN" altLang="en-US" sz="2800" dirty="0"/>
              <a:t>位的偏移量（小端方式）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96102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3184" y="1034473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30992" y="101886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等腰三角形 13"/>
          <p:cNvSpPr/>
          <p:nvPr/>
        </p:nvSpPr>
        <p:spPr>
          <a:xfrm>
            <a:off x="4229502" y="2118199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131680" y="2284684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sib</a:t>
            </a:r>
            <a:endParaRPr lang="zh-CN" altLang="en-US" dirty="0"/>
          </a:p>
        </p:txBody>
      </p:sp>
      <p:sp>
        <p:nvSpPr>
          <p:cNvPr id="16" name="等腰三角形 15"/>
          <p:cNvSpPr/>
          <p:nvPr/>
        </p:nvSpPr>
        <p:spPr>
          <a:xfrm rot="10800000">
            <a:off x="4750302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等腰三角形 16"/>
          <p:cNvSpPr/>
          <p:nvPr/>
        </p:nvSpPr>
        <p:spPr>
          <a:xfrm rot="10800000">
            <a:off x="5267435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/>
        </p:nvSpPr>
        <p:spPr>
          <a:xfrm rot="10800000">
            <a:off x="5858359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10800000">
            <a:off x="6375492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863444" y="1411045"/>
            <a:ext cx="1631950" cy="9434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267435" y="1016001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disp32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11575" y="1577589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094530" y="1390024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61055" y="2577390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72055" y="2987317"/>
            <a:ext cx="91440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B0F0"/>
                </a:solidFill>
              </a:rPr>
              <a:t>Gv</a:t>
            </a:r>
            <a:r>
              <a:rPr lang="en-US" altLang="zh-CN" dirty="0">
                <a:solidFill>
                  <a:srgbClr val="00B0F0"/>
                </a:solidFill>
              </a:rPr>
              <a:t>, </a:t>
            </a:r>
            <a:r>
              <a:rPr lang="en-US" altLang="zh-CN" dirty="0" err="1">
                <a:solidFill>
                  <a:srgbClr val="00B0F0"/>
                </a:solidFill>
              </a:rPr>
              <a:t>Ev</a:t>
            </a:r>
            <a:endParaRPr lang="en-US" altLang="zh-CN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Ev</a:t>
            </a:r>
            <a:r>
              <a:rPr lang="zh-CN" altLang="en-US" dirty="0"/>
              <a:t>和</a:t>
            </a:r>
            <a:r>
              <a:rPr lang="en-US" altLang="zh-CN" dirty="0" err="1"/>
              <a:t>Gv</a:t>
            </a:r>
            <a:r>
              <a:rPr lang="zh-CN" altLang="en-US" dirty="0"/>
              <a:t>都说明后面跟</a:t>
            </a:r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r>
              <a:rPr lang="zh-CN" altLang="en-US" dirty="0"/>
              <a:t>字节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根据</a:t>
            </a:r>
            <a:r>
              <a:rPr lang="en-US" altLang="zh-CN" dirty="0"/>
              <a:t>Mod + R/M</a:t>
            </a:r>
            <a:r>
              <a:rPr lang="zh-CN" altLang="en-US" dirty="0"/>
              <a:t>域决定有</a:t>
            </a:r>
            <a:r>
              <a:rPr lang="en-US" altLang="zh-CN" dirty="0"/>
              <a:t>SIB</a:t>
            </a:r>
            <a:r>
              <a:rPr lang="zh-CN" altLang="en-US" dirty="0"/>
              <a:t>字节（内存地址</a:t>
            </a:r>
            <a:r>
              <a:rPr lang="en-US" altLang="zh-CN" dirty="0"/>
              <a:t>disp32[--][--]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SIB</a:t>
            </a:r>
            <a:r>
              <a:rPr lang="zh-CN" altLang="en-US" dirty="0"/>
              <a:t>字节后面自然还有</a:t>
            </a:r>
            <a:r>
              <a:rPr lang="en-US" altLang="zh-CN" dirty="0"/>
              <a:t>disp32 – 32</a:t>
            </a:r>
            <a:r>
              <a:rPr lang="zh-CN" altLang="en-US" dirty="0"/>
              <a:t>位的偏移量（小端方式）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该指令所有需要的信息已经获得，对应</a:t>
            </a:r>
            <a:r>
              <a:rPr lang="en-US" altLang="zh-CN" sz="2800" dirty="0"/>
              <a:t>AT&amp;T</a:t>
            </a:r>
            <a:r>
              <a:rPr lang="zh-CN" altLang="en-US" sz="2800" dirty="0"/>
              <a:t>格式汇编：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82963" y="139002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590045" y="1013452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17853" y="997846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等腰三角形 13"/>
          <p:cNvSpPr/>
          <p:nvPr/>
        </p:nvSpPr>
        <p:spPr>
          <a:xfrm>
            <a:off x="4216363" y="2097178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118541" y="2263663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sib</a:t>
            </a:r>
            <a:endParaRPr lang="zh-CN" altLang="en-US" dirty="0"/>
          </a:p>
        </p:txBody>
      </p:sp>
      <p:sp>
        <p:nvSpPr>
          <p:cNvPr id="16" name="等腰三角形 15"/>
          <p:cNvSpPr/>
          <p:nvPr/>
        </p:nvSpPr>
        <p:spPr>
          <a:xfrm rot="10800000">
            <a:off x="4737163" y="139002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等腰三角形 16"/>
          <p:cNvSpPr/>
          <p:nvPr/>
        </p:nvSpPr>
        <p:spPr>
          <a:xfrm rot="10800000">
            <a:off x="5254296" y="139002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/>
        </p:nvSpPr>
        <p:spPr>
          <a:xfrm rot="10800000">
            <a:off x="5845220" y="139002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10800000">
            <a:off x="6362353" y="139002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850305" y="1390024"/>
            <a:ext cx="1631950" cy="9434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254296" y="994980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disp32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1709222" y="5266449"/>
            <a:ext cx="8773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err="1">
                <a:latin typeface="Consolas" panose="020B0609020204030204" pitchFamily="49" charset="0"/>
              </a:rPr>
              <a:t>movl</a:t>
            </a:r>
            <a:r>
              <a:rPr lang="en-US" altLang="zh-CN" sz="3200" b="1" dirty="0">
                <a:latin typeface="Consolas" panose="020B0609020204030204" pitchFamily="49" charset="0"/>
              </a:rPr>
              <a:t>    0x1100(%</a:t>
            </a:r>
            <a:r>
              <a:rPr lang="en-US" altLang="zh-CN" sz="3200" b="1" dirty="0" err="1">
                <a:latin typeface="Consolas" panose="020B0609020204030204" pitchFamily="49" charset="0"/>
              </a:rPr>
              <a:t>ebx</a:t>
            </a:r>
            <a:r>
              <a:rPr lang="en-US" altLang="zh-CN" sz="3200" b="1" dirty="0">
                <a:latin typeface="Consolas" panose="020B0609020204030204" pitchFamily="49" charset="0"/>
              </a:rPr>
              <a:t>, %</a:t>
            </a:r>
            <a:r>
              <a:rPr lang="en-US" altLang="zh-CN" sz="3200" b="1" dirty="0" err="1">
                <a:latin typeface="Consolas" panose="020B0609020204030204" pitchFamily="49" charset="0"/>
              </a:rPr>
              <a:t>eax</a:t>
            </a:r>
            <a:r>
              <a:rPr lang="en-US" altLang="zh-CN" sz="3200" b="1" dirty="0">
                <a:latin typeface="Consolas" panose="020B0609020204030204" pitchFamily="49" charset="0"/>
              </a:rPr>
              <a:t>, 4),    %</a:t>
            </a:r>
            <a:r>
              <a:rPr lang="en-US" altLang="zh-CN" sz="3200" b="1" dirty="0" err="1">
                <a:latin typeface="Consolas" panose="020B0609020204030204" pitchFamily="49" charset="0"/>
              </a:rPr>
              <a:t>edx</a:t>
            </a:r>
            <a:endParaRPr lang="zh-CN" altLang="en-US" sz="3200" b="1" dirty="0">
              <a:latin typeface="Consolas" panose="020B0609020204030204" pitchFamily="49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V="1">
            <a:off x="6774355" y="1224017"/>
            <a:ext cx="0" cy="11811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右箭头 23"/>
          <p:cNvSpPr/>
          <p:nvPr/>
        </p:nvSpPr>
        <p:spPr>
          <a:xfrm>
            <a:off x="7074922" y="1287517"/>
            <a:ext cx="1422400" cy="29007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221936" y="9905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后续指令</a:t>
            </a:r>
            <a:endParaRPr lang="zh-CN" altLang="en-US" dirty="0"/>
          </a:p>
        </p:txBody>
      </p:sp>
      <p:sp>
        <p:nvSpPr>
          <p:cNvPr id="26" name="等腰三角形 25"/>
          <p:cNvSpPr/>
          <p:nvPr/>
        </p:nvSpPr>
        <p:spPr>
          <a:xfrm>
            <a:off x="6932840" y="2092702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838319" y="2247068"/>
            <a:ext cx="208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EIP</a:t>
            </a:r>
            <a:r>
              <a:rPr lang="zh-CN" altLang="en-US" dirty="0"/>
              <a:t>指向下一条指令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/>
              <a:t>程序执行的宏观过程与模拟</a:t>
            </a:r>
            <a:endParaRPr lang="zh-CN" altLang="en-US" b="1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单条指令的解码与</a:t>
            </a:r>
            <a:r>
              <a:rPr lang="en-US" altLang="zh-CN" b="1" dirty="0">
                <a:solidFill>
                  <a:srgbClr val="C00000"/>
                </a:solidFill>
              </a:rPr>
              <a:t>NEMU</a:t>
            </a:r>
            <a:r>
              <a:rPr lang="zh-CN" altLang="en-US" b="1" dirty="0">
                <a:solidFill>
                  <a:srgbClr val="C00000"/>
                </a:solidFill>
              </a:rPr>
              <a:t>实现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12798" y="732127"/>
            <a:ext cx="6807753" cy="56323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void </a:t>
            </a:r>
            <a:r>
              <a:rPr lang="en-US" altLang="zh-CN" dirty="0">
                <a:solidFill>
                  <a:srgbClr val="FF0000"/>
                </a:solidFill>
              </a:rPr>
              <a:t>exec</a:t>
            </a:r>
            <a:r>
              <a:rPr lang="en-US" altLang="zh-CN" dirty="0"/>
              <a:t>(uint32_t n) {</a:t>
            </a:r>
            <a:endParaRPr lang="en-US" altLang="zh-CN" dirty="0"/>
          </a:p>
          <a:p>
            <a:r>
              <a:rPr lang="en-US" altLang="zh-CN" dirty="0"/>
              <a:t>	…</a:t>
            </a:r>
            <a:endParaRPr lang="en-US" altLang="zh-CN" dirty="0"/>
          </a:p>
          <a:p>
            <a:r>
              <a:rPr lang="en-US" altLang="zh-CN" dirty="0"/>
              <a:t>	while( n &gt; 0 &amp;&amp; </a:t>
            </a:r>
            <a:r>
              <a:rPr lang="en-US" altLang="zh-CN" dirty="0" err="1"/>
              <a:t>nemu_state</a:t>
            </a:r>
            <a:r>
              <a:rPr lang="en-US" altLang="zh-CN" dirty="0"/>
              <a:t> == NEMU_RUN) {</a:t>
            </a:r>
            <a:endParaRPr lang="en-US" altLang="zh-CN" dirty="0"/>
          </a:p>
          <a:p>
            <a:r>
              <a:rPr lang="en-US" altLang="zh-CN" dirty="0"/>
              <a:t>		…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instr_len</a:t>
            </a:r>
            <a:r>
              <a:rPr lang="en-US" altLang="zh-CN" dirty="0"/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exec_inst</a:t>
            </a:r>
            <a:r>
              <a:rPr lang="en-US" altLang="zh-CN" dirty="0"/>
              <a:t>();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cpu.eip</a:t>
            </a:r>
            <a:r>
              <a:rPr lang="en-US" altLang="zh-CN" dirty="0"/>
              <a:t> += </a:t>
            </a:r>
            <a:r>
              <a:rPr lang="en-US" altLang="zh-CN" dirty="0" err="1"/>
              <a:t>instr_len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	n--;</a:t>
            </a:r>
            <a:endParaRPr lang="en-US" altLang="zh-CN" dirty="0"/>
          </a:p>
          <a:p>
            <a:r>
              <a:rPr lang="en-US" altLang="zh-CN" dirty="0"/>
              <a:t>		…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	…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int </a:t>
            </a:r>
            <a:r>
              <a:rPr lang="zh-CN" altLang="en-US" dirty="0">
                <a:solidFill>
                  <a:srgbClr val="FF0000"/>
                </a:solidFill>
              </a:rPr>
              <a:t>exec_inst</a:t>
            </a:r>
            <a:r>
              <a:rPr lang="zh-CN" altLang="en-US" dirty="0"/>
              <a:t>() {</a:t>
            </a:r>
            <a:endParaRPr lang="zh-CN" altLang="en-US" dirty="0"/>
          </a:p>
          <a:p>
            <a:r>
              <a:rPr lang="zh-CN" altLang="en-US" dirty="0"/>
              <a:t>	uint8_t opcode = 0;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00B050"/>
                </a:solidFill>
              </a:rPr>
              <a:t>// get the opcode， 取操作数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	opcode = instr_fetch(cpu.eip, 1);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00B050"/>
                </a:solidFill>
              </a:rPr>
              <a:t>// instruction decode and execution，执行这条指令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	int len = </a:t>
            </a:r>
            <a:r>
              <a:rPr lang="zh-CN" altLang="en-US" dirty="0">
                <a:solidFill>
                  <a:srgbClr val="FF0000"/>
                </a:solidFill>
              </a:rPr>
              <a:t>opcode_entry</a:t>
            </a:r>
            <a:r>
              <a:rPr lang="zh-CN" altLang="en-US" dirty="0"/>
              <a:t>[opcode](cpu.eip, opcode);</a:t>
            </a:r>
            <a:endParaRPr lang="zh-CN" altLang="en-US" dirty="0"/>
          </a:p>
          <a:p>
            <a:r>
              <a:rPr lang="zh-CN" altLang="en-US" dirty="0"/>
              <a:t>	return len;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返回指令长度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}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03531" y="5360276"/>
            <a:ext cx="5454869" cy="46245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118156" y="5361066"/>
            <a:ext cx="232278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指令解码与执行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838200" y="-1875"/>
            <a:ext cx="10515600" cy="734002"/>
          </a:xfrm>
        </p:spPr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5"/>
            <a:ext cx="7886700" cy="1103116"/>
          </a:xfrm>
        </p:spPr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</a:rPr>
              <a:t>opcode_entry</a:t>
            </a:r>
            <a:r>
              <a:rPr lang="zh-CN" altLang="en-US" sz="2400" dirty="0"/>
              <a:t>是一个函数指针数组</a:t>
            </a:r>
            <a:endParaRPr lang="en-US" altLang="zh-CN" sz="2400" dirty="0"/>
          </a:p>
          <a:p>
            <a:pPr lvl="1"/>
            <a:r>
              <a:rPr lang="zh-CN" altLang="en-US" dirty="0"/>
              <a:t>其中每一个元素指向一条指令的模拟函数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AD215-1418-4E81-96D3-6CA3A3A27D46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37903" y="2252313"/>
            <a:ext cx="852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访问 opcode_entry[opcode]     </a:t>
            </a:r>
            <a:r>
              <a:rPr lang="en-US" altLang="zh-CN" sz="2400" dirty="0"/>
              <a:t>==     </a:t>
            </a:r>
            <a:r>
              <a:rPr lang="zh-CN" altLang="en-US" sz="2400" dirty="0"/>
              <a:t>调用对应位置指向的函数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2037903" y="2756446"/>
            <a:ext cx="51651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/decode/</a:t>
            </a:r>
            <a:r>
              <a:rPr lang="en-US" altLang="zh-CN" sz="2800" i="1" dirty="0" err="1">
                <a:solidFill>
                  <a:srgbClr val="0070C0"/>
                </a:solidFill>
              </a:rPr>
              <a:t>opcode.c</a:t>
            </a:r>
            <a:endParaRPr lang="en-US" altLang="zh-CN" sz="2800" i="1" dirty="0">
              <a:solidFill>
                <a:srgbClr val="0070C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19902" y="3322370"/>
            <a:ext cx="494558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#include "</a:t>
            </a:r>
            <a:r>
              <a:rPr lang="en-US" altLang="zh-CN" sz="2400" dirty="0" err="1"/>
              <a:t>cpu</a:t>
            </a:r>
            <a:r>
              <a:rPr lang="en-US" altLang="zh-CN" sz="2400" dirty="0"/>
              <a:t>/</a:t>
            </a:r>
            <a:r>
              <a:rPr lang="en-US" altLang="zh-CN" sz="2400" dirty="0" err="1"/>
              <a:t>instr.h</a:t>
            </a:r>
            <a:r>
              <a:rPr lang="en-US" altLang="zh-CN" sz="2400" dirty="0"/>
              <a:t>"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instr_func</a:t>
            </a:r>
            <a:r>
              <a:rPr lang="zh-CN" altLang="en-US" sz="2400" dirty="0"/>
              <a:t> opcode_entry[256] = { </a:t>
            </a:r>
            <a:r>
              <a:rPr lang="en-US" altLang="zh-CN" sz="2400" dirty="0"/>
              <a:t>… }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3020728" y="4758181"/>
            <a:ext cx="7204511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// the type of an instruction entry</a:t>
            </a:r>
            <a:endParaRPr lang="zh-CN" altLang="en-US" sz="2400" dirty="0"/>
          </a:p>
          <a:p>
            <a:r>
              <a:rPr lang="zh-CN" altLang="en-US" sz="2400" dirty="0"/>
              <a:t>typedef int (*</a:t>
            </a:r>
            <a:r>
              <a:rPr lang="zh-CN" altLang="en-US" sz="2400" dirty="0">
                <a:solidFill>
                  <a:srgbClr val="FF0000"/>
                </a:solidFill>
              </a:rPr>
              <a:t>instr_func</a:t>
            </a:r>
            <a:r>
              <a:rPr lang="zh-CN" altLang="en-US" sz="2400" dirty="0"/>
              <a:t>)(uint32_t eip, uint8_t opcode);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2037903" y="4116495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en-US" altLang="zh-CN" sz="2800" i="1" dirty="0">
              <a:solidFill>
                <a:srgbClr val="0070C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99293" y="264872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实现某一条指令的功能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383325" y="109316"/>
            <a:ext cx="77524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3600" kern="100" dirty="0">
                <a:latin typeface="等线" panose="02010600030101010101" charset="-122"/>
                <a:cs typeface="Times New Roman" panose="02020603050405020304" pitchFamily="18" charset="0"/>
              </a:rPr>
              <a:t>内存： </a:t>
            </a:r>
            <a:r>
              <a:rPr lang="en-US" altLang="zh-CN" sz="3600" kern="100" dirty="0">
                <a:latin typeface="等线" panose="02010600030101010101" charset="-122"/>
                <a:cs typeface="Times New Roman" panose="02020603050405020304" pitchFamily="18" charset="0"/>
              </a:rPr>
              <a:t>C7 05 48 11 10 00 02 00 00 00</a:t>
            </a:r>
            <a:endParaRPr lang="zh-CN" altLang="zh-CN" sz="36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57515" y="1054896"/>
            <a:ext cx="3275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cpu.c</a:t>
            </a:r>
            <a:endParaRPr lang="en-US" altLang="zh-CN" sz="2800" i="1" dirty="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59928" y="1122959"/>
            <a:ext cx="558288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void </a:t>
            </a:r>
            <a:r>
              <a:rPr lang="en-US" altLang="zh-CN" sz="1400" dirty="0">
                <a:solidFill>
                  <a:srgbClr val="FF0000"/>
                </a:solidFill>
              </a:rPr>
              <a:t>exec</a:t>
            </a:r>
            <a:r>
              <a:rPr lang="en-US" altLang="zh-CN" sz="1400" dirty="0"/>
              <a:t>(uint32_t n) {</a:t>
            </a:r>
            <a:endParaRPr lang="en-US" altLang="zh-CN" sz="1400" dirty="0"/>
          </a:p>
          <a:p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	while( n &gt; 0 &amp;&amp; </a:t>
            </a:r>
            <a:r>
              <a:rPr lang="en-US" altLang="zh-CN" sz="1400" dirty="0" err="1"/>
              <a:t>nemu_state</a:t>
            </a:r>
            <a:r>
              <a:rPr lang="en-US" altLang="zh-CN" sz="1400" dirty="0"/>
              <a:t> == NEMU_RUN) {</a:t>
            </a:r>
            <a:endParaRPr lang="en-US" altLang="zh-CN" sz="1400" dirty="0"/>
          </a:p>
          <a:p>
            <a:r>
              <a:rPr lang="en-US" altLang="zh-CN" sz="1400" dirty="0"/>
              <a:t>		…</a:t>
            </a:r>
            <a:endParaRPr lang="en-US" altLang="zh-CN" sz="1400" dirty="0"/>
          </a:p>
          <a:p>
            <a:r>
              <a:rPr lang="en-US" altLang="zh-CN" sz="1400" dirty="0"/>
              <a:t>		</a:t>
            </a:r>
            <a:r>
              <a:rPr lang="en-US" altLang="zh-CN" sz="1400" dirty="0" err="1"/>
              <a:t>instr_len</a:t>
            </a:r>
            <a:r>
              <a:rPr lang="en-US" altLang="zh-CN" sz="1400" dirty="0"/>
              <a:t> = </a:t>
            </a:r>
            <a:r>
              <a:rPr lang="en-US" altLang="zh-CN" sz="1400" dirty="0" err="1">
                <a:solidFill>
                  <a:srgbClr val="FF0000"/>
                </a:solidFill>
              </a:rPr>
              <a:t>exec_inst</a:t>
            </a:r>
            <a:r>
              <a:rPr lang="en-US" altLang="zh-CN" sz="1400" dirty="0"/>
              <a:t>();</a:t>
            </a:r>
            <a:endParaRPr lang="en-US" altLang="zh-CN" sz="1400" dirty="0"/>
          </a:p>
          <a:p>
            <a:r>
              <a:rPr lang="en-US" altLang="zh-CN" sz="1400" dirty="0"/>
              <a:t>		</a:t>
            </a:r>
            <a:r>
              <a:rPr lang="en-US" altLang="zh-CN" sz="1400" dirty="0" err="1"/>
              <a:t>cpu.eip</a:t>
            </a:r>
            <a:r>
              <a:rPr lang="en-US" altLang="zh-CN" sz="1400" dirty="0"/>
              <a:t> += </a:t>
            </a:r>
            <a:r>
              <a:rPr lang="en-US" altLang="zh-CN" sz="1400" dirty="0" err="1"/>
              <a:t>instr_len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		n--;</a:t>
            </a:r>
            <a:endParaRPr lang="en-US" altLang="zh-CN" sz="1400" dirty="0"/>
          </a:p>
          <a:p>
            <a:r>
              <a:rPr lang="en-US" altLang="zh-CN" sz="1400" dirty="0"/>
              <a:t>		…</a:t>
            </a:r>
            <a:endParaRPr lang="en-US" altLang="zh-CN" sz="1400" dirty="0"/>
          </a:p>
          <a:p>
            <a:r>
              <a:rPr lang="en-US" altLang="zh-CN" sz="1400" dirty="0"/>
              <a:t>	}</a:t>
            </a:r>
            <a:endParaRPr lang="en-US" altLang="zh-CN" sz="1400" dirty="0"/>
          </a:p>
          <a:p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int </a:t>
            </a:r>
            <a:r>
              <a:rPr lang="zh-CN" altLang="en-US" sz="1400" dirty="0">
                <a:solidFill>
                  <a:srgbClr val="FF0000"/>
                </a:solidFill>
              </a:rPr>
              <a:t>exec_inst</a:t>
            </a:r>
            <a:r>
              <a:rPr lang="zh-CN" altLang="en-US" sz="1400" dirty="0"/>
              <a:t>() {</a:t>
            </a:r>
            <a:endParaRPr lang="zh-CN" altLang="en-US" sz="1400" dirty="0"/>
          </a:p>
          <a:p>
            <a:r>
              <a:rPr lang="zh-CN" altLang="en-US" sz="1400" dirty="0"/>
              <a:t>	uint8_t opcode = 0;</a:t>
            </a:r>
            <a:endParaRPr lang="zh-CN" altLang="en-US" sz="1400" dirty="0"/>
          </a:p>
          <a:p>
            <a:r>
              <a:rPr lang="zh-CN" altLang="en-US" sz="1400" dirty="0"/>
              <a:t>	opcode = instr_fetch(cpu.eip, 1);</a:t>
            </a:r>
            <a:endParaRPr lang="zh-CN" altLang="en-US" sz="1400" dirty="0"/>
          </a:p>
          <a:p>
            <a:r>
              <a:rPr lang="zh-CN" altLang="en-US" sz="1400" dirty="0"/>
              <a:t>	int len = </a:t>
            </a:r>
            <a:r>
              <a:rPr lang="zh-CN" altLang="en-US" sz="1400" dirty="0">
                <a:solidFill>
                  <a:srgbClr val="FF0000"/>
                </a:solidFill>
              </a:rPr>
              <a:t>opcode_entry</a:t>
            </a:r>
            <a:r>
              <a:rPr lang="zh-CN" altLang="en-US" sz="1400" dirty="0"/>
              <a:t>[opcode](cpu.eip, opcode);</a:t>
            </a:r>
            <a:endParaRPr lang="zh-CN" altLang="en-US" sz="1400" dirty="0"/>
          </a:p>
          <a:p>
            <a:r>
              <a:rPr lang="zh-CN" altLang="en-US" sz="1400" dirty="0"/>
              <a:t>	return len;  </a:t>
            </a:r>
            <a:r>
              <a:rPr lang="en-US" altLang="zh-CN" sz="1400" dirty="0">
                <a:solidFill>
                  <a:srgbClr val="00B050"/>
                </a:solidFill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</a:rPr>
              <a:t>返回指令长度</a:t>
            </a:r>
            <a:endParaRPr lang="zh-CN" altLang="en-US" sz="1400" dirty="0">
              <a:solidFill>
                <a:srgbClr val="00B050"/>
              </a:solidFill>
            </a:endParaRPr>
          </a:p>
          <a:p>
            <a:r>
              <a:rPr lang="zh-CN" altLang="en-US" sz="1400" dirty="0"/>
              <a:t>}</a:t>
            </a:r>
            <a:endParaRPr lang="zh-CN" altLang="en-US" sz="1400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489345" y="755646"/>
            <a:ext cx="3262025" cy="3428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120082" y="3151030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1. </a:t>
            </a:r>
            <a:r>
              <a:rPr lang="en-US" altLang="zh-CN" dirty="0" err="1">
                <a:solidFill>
                  <a:srgbClr val="FF0000"/>
                </a:solidFill>
              </a:rPr>
              <a:t>cpu.eip</a:t>
            </a:r>
            <a:r>
              <a:rPr lang="zh-CN" altLang="en-US" dirty="0">
                <a:solidFill>
                  <a:srgbClr val="FF0000"/>
                </a:solidFill>
              </a:rPr>
              <a:t>指向</a:t>
            </a:r>
            <a:r>
              <a:rPr lang="en-US" altLang="zh-CN" dirty="0">
                <a:solidFill>
                  <a:srgbClr val="FF0000"/>
                </a:solidFill>
              </a:rPr>
              <a:t>C7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55244" y="4122153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2. Opcode</a:t>
            </a:r>
            <a:r>
              <a:rPr lang="zh-CN" altLang="en-US" dirty="0">
                <a:solidFill>
                  <a:srgbClr val="FF0000"/>
                </a:solidFill>
              </a:rPr>
              <a:t>取出为</a:t>
            </a:r>
            <a:r>
              <a:rPr lang="en-US" altLang="zh-CN" dirty="0">
                <a:solidFill>
                  <a:srgbClr val="FF0000"/>
                </a:solidFill>
              </a:rPr>
              <a:t>C7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500736" y="6296859"/>
            <a:ext cx="3389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err="1">
                <a:solidFill>
                  <a:srgbClr val="0070C0"/>
                </a:solidFill>
              </a:rPr>
              <a:t>nemu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src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cpu</a:t>
            </a:r>
            <a:r>
              <a:rPr lang="en-US" altLang="zh-CN" i="1" dirty="0">
                <a:solidFill>
                  <a:srgbClr val="0070C0"/>
                </a:solidFill>
              </a:rPr>
              <a:t>/decode/</a:t>
            </a:r>
            <a:r>
              <a:rPr lang="en-US" altLang="zh-CN" i="1" dirty="0" err="1">
                <a:solidFill>
                  <a:srgbClr val="0070C0"/>
                </a:solidFill>
              </a:rPr>
              <a:t>opcode.c</a:t>
            </a:r>
            <a:endParaRPr lang="en-US" altLang="zh-CN" i="1" dirty="0">
              <a:solidFill>
                <a:srgbClr val="0070C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959927" y="5281197"/>
            <a:ext cx="4682692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1400" dirty="0"/>
              <a:t>#include "</a:t>
            </a:r>
            <a:r>
              <a:rPr lang="en-US" altLang="zh-CN" sz="1400" dirty="0" err="1"/>
              <a:t>cpu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instr.h</a:t>
            </a:r>
            <a:r>
              <a:rPr lang="en-US" altLang="zh-CN" sz="1400" dirty="0"/>
              <a:t>"</a:t>
            </a:r>
            <a:endParaRPr lang="en-US" altLang="zh-CN" sz="1400" dirty="0"/>
          </a:p>
          <a:p>
            <a:r>
              <a:rPr lang="zh-CN" altLang="en-US" sz="1400" dirty="0"/>
              <a:t>instr_func opcode_entry[256] = {</a:t>
            </a:r>
            <a:endParaRPr lang="en-US" altLang="zh-CN" sz="1400" dirty="0"/>
          </a:p>
          <a:p>
            <a:r>
              <a:rPr lang="zh-CN" altLang="en-US" sz="1400" dirty="0"/>
              <a:t> </a:t>
            </a:r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/* 0xc4 - </a:t>
            </a:r>
            <a:r>
              <a:rPr lang="en-US" altLang="zh-CN" sz="1400" dirty="0">
                <a:solidFill>
                  <a:srgbClr val="FF0000"/>
                </a:solidFill>
              </a:rPr>
              <a:t>0xc7</a:t>
            </a:r>
            <a:r>
              <a:rPr lang="en-US" altLang="zh-CN" sz="1400" dirty="0"/>
              <a:t>*/	</a:t>
            </a:r>
            <a:r>
              <a:rPr lang="en-US" altLang="zh-CN" sz="1400" dirty="0" err="1"/>
              <a:t>inv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inv</a:t>
            </a:r>
            <a:r>
              <a:rPr lang="en-US" altLang="zh-CN" sz="1400" dirty="0"/>
              <a:t>, mov_i2rm_b,</a:t>
            </a:r>
            <a:r>
              <a:rPr lang="en-US" altLang="zh-CN" sz="1400" dirty="0">
                <a:solidFill>
                  <a:srgbClr val="FF0000"/>
                </a:solidFill>
              </a:rPr>
              <a:t> mov_i2rm_v</a:t>
            </a:r>
            <a:r>
              <a:rPr lang="en-US" altLang="zh-CN" sz="1400" dirty="0"/>
              <a:t>, </a:t>
            </a:r>
            <a:endParaRPr lang="en-US" altLang="zh-CN" sz="1400" dirty="0"/>
          </a:p>
          <a:p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8211127" y="4568673"/>
            <a:ext cx="420715" cy="1395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618279" y="5325736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3. </a:t>
            </a:r>
            <a:r>
              <a:rPr lang="zh-CN" altLang="en-US" dirty="0">
                <a:solidFill>
                  <a:srgbClr val="FF0000"/>
                </a:solidFill>
              </a:rPr>
              <a:t>访问数组即函数调用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437374" y="3013528"/>
            <a:ext cx="3188887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dirty="0" err="1"/>
              <a:t>make_instr_func</a:t>
            </a:r>
            <a:r>
              <a:rPr lang="en-US" altLang="zh-CN" sz="1400" dirty="0"/>
              <a:t>(</a:t>
            </a:r>
            <a:r>
              <a:rPr lang="en-US" altLang="zh-CN" sz="1400" dirty="0">
                <a:solidFill>
                  <a:srgbClr val="7030A0"/>
                </a:solidFill>
              </a:rPr>
              <a:t>mov_i2rm_v</a:t>
            </a:r>
            <a:r>
              <a:rPr lang="en-US" altLang="zh-CN" sz="1400" dirty="0"/>
              <a:t>) { </a:t>
            </a:r>
            <a:endParaRPr lang="zh-CN" altLang="zh-CN" sz="1400" dirty="0"/>
          </a:p>
          <a:p>
            <a:r>
              <a:rPr lang="en-US" altLang="zh-CN" sz="1400" dirty="0"/>
              <a:t>    OPERAND </a:t>
            </a:r>
            <a:r>
              <a:rPr lang="en-US" altLang="zh-CN" sz="1400" dirty="0" err="1"/>
              <a:t>rm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imm</a:t>
            </a:r>
            <a:r>
              <a:rPr lang="en-US" altLang="zh-CN" sz="1400" dirty="0"/>
              <a:t>;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rm.data_size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data_size</a:t>
            </a:r>
            <a:r>
              <a:rPr lang="en-US" altLang="zh-CN" sz="1400" dirty="0"/>
              <a:t>; </a:t>
            </a:r>
            <a:endParaRPr lang="zh-CN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 = 1;                       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 += </a:t>
            </a:r>
            <a:r>
              <a:rPr lang="en-US" altLang="zh-CN" sz="1400" dirty="0" err="1"/>
              <a:t>modrm_rm</a:t>
            </a:r>
            <a:r>
              <a:rPr lang="en-US" altLang="zh-CN" sz="1400" dirty="0"/>
              <a:t>(</a:t>
            </a:r>
            <a:r>
              <a:rPr lang="en-US" altLang="zh-CN" sz="1400" dirty="0" err="1"/>
              <a:t>eip</a:t>
            </a:r>
            <a:r>
              <a:rPr lang="en-US" altLang="zh-CN" sz="1400" dirty="0"/>
              <a:t> + 1, &amp;</a:t>
            </a:r>
            <a:r>
              <a:rPr lang="en-US" altLang="zh-CN" sz="1400" dirty="0" err="1"/>
              <a:t>rm</a:t>
            </a:r>
            <a:r>
              <a:rPr lang="en-US" altLang="zh-CN" sz="1400" dirty="0"/>
              <a:t>);</a:t>
            </a:r>
            <a:r>
              <a:rPr lang="en-US" altLang="zh-CN" sz="1400" dirty="0">
                <a:solidFill>
                  <a:srgbClr val="FF0000"/>
                </a:solidFill>
              </a:rPr>
              <a:t>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imm.type</a:t>
            </a:r>
            <a:r>
              <a:rPr lang="en-US" altLang="zh-CN" sz="1400" dirty="0"/>
              <a:t> = OPR_IMM; 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imm.addr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eip</a:t>
            </a:r>
            <a:r>
              <a:rPr lang="en-US" altLang="zh-CN" sz="1400" dirty="0"/>
              <a:t> +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; 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imm.data_size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data_size</a:t>
            </a:r>
            <a:r>
              <a:rPr lang="en-US" altLang="zh-CN" sz="1400" dirty="0"/>
              <a:t>;       </a:t>
            </a:r>
            <a:endParaRPr lang="zh-CN" altLang="zh-CN" sz="1400" dirty="0"/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operand_read</a:t>
            </a:r>
            <a:r>
              <a:rPr lang="en-US" altLang="zh-CN" sz="1400" dirty="0"/>
              <a:t>(&amp;</a:t>
            </a:r>
            <a:r>
              <a:rPr lang="en-US" altLang="zh-CN" sz="1400" dirty="0" err="1"/>
              <a:t>imm</a:t>
            </a:r>
            <a:r>
              <a:rPr lang="en-US" altLang="zh-CN" sz="1400" dirty="0"/>
              <a:t>); 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rm.val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imm.val</a:t>
            </a:r>
            <a:r>
              <a:rPr lang="en-US" altLang="zh-CN" sz="1400" dirty="0"/>
              <a:t>;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operand_write</a:t>
            </a:r>
            <a:r>
              <a:rPr lang="en-US" altLang="zh-CN" sz="1400" dirty="0"/>
              <a:t>(&amp;</a:t>
            </a:r>
            <a:r>
              <a:rPr lang="en-US" altLang="zh-CN" sz="1400" dirty="0" err="1"/>
              <a:t>rm</a:t>
            </a:r>
            <a:r>
              <a:rPr lang="en-US" altLang="zh-CN" sz="1400" dirty="0"/>
              <a:t>);</a:t>
            </a:r>
            <a:endParaRPr lang="zh-CN" altLang="zh-CN" sz="1400" dirty="0"/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r>
              <a:rPr lang="en-US" altLang="zh-CN" sz="1400" dirty="0"/>
              <a:t>   </a:t>
            </a:r>
            <a:r>
              <a:rPr lang="en-US" altLang="zh-CN" sz="1400" dirty="0">
                <a:solidFill>
                  <a:srgbClr val="FF0000"/>
                </a:solidFill>
              </a:rPr>
              <a:t> return </a:t>
            </a:r>
            <a:r>
              <a:rPr lang="en-US" altLang="zh-CN" sz="1400" dirty="0" err="1">
                <a:solidFill>
                  <a:srgbClr val="FF0000"/>
                </a:solidFill>
              </a:rPr>
              <a:t>len</a:t>
            </a:r>
            <a:r>
              <a:rPr lang="en-US" altLang="zh-CN" sz="1400" dirty="0">
                <a:solidFill>
                  <a:srgbClr val="FF0000"/>
                </a:solidFill>
              </a:rPr>
              <a:t> + </a:t>
            </a:r>
            <a:r>
              <a:rPr lang="en-US" altLang="zh-CN" sz="1400" dirty="0" err="1">
                <a:solidFill>
                  <a:srgbClr val="FF0000"/>
                </a:solidFill>
              </a:rPr>
              <a:t>data_size</a:t>
            </a:r>
            <a:r>
              <a:rPr lang="en-US" altLang="zh-CN" sz="1400" dirty="0">
                <a:solidFill>
                  <a:srgbClr val="FF0000"/>
                </a:solidFill>
              </a:rPr>
              <a:t> / 8;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sp>
        <p:nvSpPr>
          <p:cNvPr id="24" name="文本框 23"/>
          <p:cNvSpPr txBox="1"/>
          <p:nvPr/>
        </p:nvSpPr>
        <p:spPr>
          <a:xfrm>
            <a:off x="1870296" y="2655756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cpu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instr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mov.c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H="1" flipV="1">
            <a:off x="3668739" y="3321270"/>
            <a:ext cx="4868869" cy="26308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V="1">
            <a:off x="3668739" y="4588861"/>
            <a:ext cx="2590807" cy="14650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3752879" y="6053959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4. </a:t>
            </a:r>
            <a:r>
              <a:rPr lang="zh-CN" altLang="en-US" dirty="0">
                <a:solidFill>
                  <a:srgbClr val="FF0000"/>
                </a:solidFill>
              </a:rPr>
              <a:t>返回指令长度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5550166" y="2373745"/>
            <a:ext cx="1201617" cy="2327564"/>
          </a:xfrm>
          <a:custGeom>
            <a:avLst/>
            <a:gdLst>
              <a:gd name="connsiteX0" fmla="*/ 333399 w 1201617"/>
              <a:gd name="connsiteY0" fmla="*/ 2327564 h 2327564"/>
              <a:gd name="connsiteX1" fmla="*/ 47071 w 1201617"/>
              <a:gd name="connsiteY1" fmla="*/ 701964 h 2327564"/>
              <a:gd name="connsiteX2" fmla="*/ 1201617 w 1201617"/>
              <a:gd name="connsiteY2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1617" h="2327564">
                <a:moveTo>
                  <a:pt x="333399" y="2327564"/>
                </a:moveTo>
                <a:cubicBezTo>
                  <a:pt x="117883" y="1708727"/>
                  <a:pt x="-97632" y="1089891"/>
                  <a:pt x="47071" y="701964"/>
                </a:cubicBezTo>
                <a:cubicBezTo>
                  <a:pt x="191774" y="314037"/>
                  <a:pt x="696695" y="157018"/>
                  <a:pt x="1201617" y="0"/>
                </a:cubicBezTo>
              </a:path>
            </a:pathLst>
          </a:cu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489344" y="2196728"/>
            <a:ext cx="196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5. </a:t>
            </a:r>
            <a:r>
              <a:rPr lang="zh-CN" altLang="en-US" dirty="0">
                <a:solidFill>
                  <a:srgbClr val="FF0000"/>
                </a:solidFill>
              </a:rPr>
              <a:t>循环开启下一条指令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4136174" y="755646"/>
            <a:ext cx="383372" cy="463554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668739" y="1271278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</a:t>
            </a:r>
            <a:r>
              <a:rPr lang="en-US" altLang="zh-CN" dirty="0"/>
              <a:t>EIP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959197" y="2044032"/>
            <a:ext cx="2161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mov_i2rm_v</a:t>
            </a:r>
            <a:r>
              <a:rPr lang="zh-CN" altLang="en-US" dirty="0">
                <a:solidFill>
                  <a:srgbClr val="7030A0"/>
                </a:solidFill>
              </a:rPr>
              <a:t>是模拟</a:t>
            </a:r>
            <a:r>
              <a:rPr lang="en-US" altLang="zh-CN" dirty="0">
                <a:solidFill>
                  <a:srgbClr val="7030A0"/>
                </a:solidFill>
              </a:rPr>
              <a:t>C7</a:t>
            </a:r>
            <a:r>
              <a:rPr lang="zh-CN" altLang="en-US" dirty="0">
                <a:solidFill>
                  <a:srgbClr val="7030A0"/>
                </a:solidFill>
              </a:rPr>
              <a:t>指令的函数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2" grpId="0"/>
      <p:bldP spid="34" grpId="0"/>
      <p:bldP spid="35" grpId="0" animBg="1"/>
      <p:bldP spid="3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173813"/>
            <a:ext cx="11154103" cy="844173"/>
          </a:xfrm>
        </p:spPr>
        <p:txBody>
          <a:bodyPr/>
          <a:lstStyle/>
          <a:p>
            <a:r>
              <a:rPr lang="zh-CN" altLang="en-US" sz="2400" dirty="0"/>
              <a:t>怎么写某操作码对应的instr_func？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3278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mov_i2rm_v</a:t>
            </a:r>
            <a:r>
              <a:rPr lang="en-US" altLang="zh-CN" dirty="0"/>
              <a:t>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835565" y="2817038"/>
            <a:ext cx="7075054" cy="23083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/>
              <a:t>这是一条把一个立即数</a:t>
            </a:r>
            <a:r>
              <a:rPr lang="en-US" altLang="zh-CN" sz="2400" dirty="0" err="1"/>
              <a:t>mov</a:t>
            </a:r>
            <a:r>
              <a:rPr lang="zh-CN" altLang="en-US" sz="2400" dirty="0"/>
              <a:t>到</a:t>
            </a:r>
            <a:r>
              <a:rPr lang="en-US" altLang="zh-CN" sz="2400" dirty="0"/>
              <a:t>R/M</a:t>
            </a:r>
            <a:r>
              <a:rPr lang="zh-CN" altLang="en-US" sz="2400" dirty="0"/>
              <a:t>中的指令，操作数长度为</a:t>
            </a:r>
            <a:r>
              <a:rPr lang="en-US" altLang="zh-CN" sz="2400" dirty="0"/>
              <a:t>16</a:t>
            </a:r>
            <a:r>
              <a:rPr lang="zh-CN" altLang="en-US" sz="2400" dirty="0"/>
              <a:t>或</a:t>
            </a:r>
            <a:r>
              <a:rPr lang="en-US" altLang="zh-CN" sz="2400" dirty="0"/>
              <a:t>32</a:t>
            </a:r>
            <a:r>
              <a:rPr lang="zh-CN" altLang="en-US" sz="2400" dirty="0"/>
              <a:t>位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推荐命名规则：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指令名</a:t>
            </a:r>
            <a:r>
              <a:rPr lang="en-US" altLang="zh-CN" sz="2400" dirty="0"/>
              <a:t>_</a:t>
            </a:r>
            <a:r>
              <a:rPr lang="zh-CN" altLang="en-US" sz="2400" dirty="0">
                <a:solidFill>
                  <a:srgbClr val="00B0F0"/>
                </a:solidFill>
              </a:rPr>
              <a:t>源操作数类型</a:t>
            </a:r>
            <a:r>
              <a:rPr lang="en-US" altLang="zh-CN" sz="2400" dirty="0"/>
              <a:t>2</a:t>
            </a:r>
            <a:r>
              <a:rPr lang="zh-CN" altLang="en-US" sz="2400" dirty="0">
                <a:solidFill>
                  <a:srgbClr val="00B0F0"/>
                </a:solidFill>
              </a:rPr>
              <a:t>目的操作数类型</a:t>
            </a:r>
            <a:r>
              <a:rPr lang="en-US" altLang="zh-CN" sz="2400" dirty="0"/>
              <a:t>_</a:t>
            </a:r>
            <a:r>
              <a:rPr lang="zh-CN" altLang="en-US" sz="2400" dirty="0">
                <a:solidFill>
                  <a:srgbClr val="00B050"/>
                </a:solidFill>
              </a:rPr>
              <a:t>长度后缀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2255"/>
            <a:ext cx="10515600" cy="1078060"/>
          </a:xfr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 err="1">
                <a:solidFill>
                  <a:srgbClr val="00B0F0"/>
                </a:solidFill>
              </a:rPr>
              <a:t>nemu</a:t>
            </a:r>
            <a:r>
              <a:rPr lang="en-US" altLang="zh-CN" dirty="0">
                <a:solidFill>
                  <a:srgbClr val="00B0F0"/>
                </a:solidFill>
              </a:rPr>
              <a:t>/include/</a:t>
            </a:r>
            <a:r>
              <a:rPr lang="en-US" altLang="zh-CN" dirty="0" err="1">
                <a:solidFill>
                  <a:srgbClr val="00B0F0"/>
                </a:solidFill>
              </a:rPr>
              <a:t>cpu</a:t>
            </a:r>
            <a:r>
              <a:rPr lang="en-US" altLang="zh-CN" dirty="0">
                <a:solidFill>
                  <a:srgbClr val="00B0F0"/>
                </a:solidFill>
              </a:rPr>
              <a:t>/</a:t>
            </a:r>
            <a:r>
              <a:rPr lang="en-US" altLang="zh-CN" dirty="0" err="1">
                <a:solidFill>
                  <a:srgbClr val="00B0F0"/>
                </a:solidFill>
              </a:rPr>
              <a:t>instr_helper.h</a:t>
            </a:r>
            <a:r>
              <a:rPr lang="zh-CN" altLang="en-US" dirty="0"/>
              <a:t>中我们给出了用于精简指令实现的宏，一些实用信息（详细用法参阅教程，比较详尽）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6656-A3C5-419B-815B-44FDC47B6127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269068" y="1977569"/>
            <a:ext cx="78739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#define make_instr_impl_2op(</a:t>
            </a:r>
            <a:r>
              <a:rPr lang="en-US" altLang="zh-CN" sz="2000" dirty="0" err="1">
                <a:solidFill>
                  <a:srgbClr val="FF0000"/>
                </a:solidFill>
              </a:rPr>
              <a:t>inst_name</a:t>
            </a:r>
            <a:r>
              <a:rPr lang="en-US" altLang="zh-CN" sz="2000" dirty="0"/>
              <a:t>, </a:t>
            </a:r>
            <a:r>
              <a:rPr lang="en-US" altLang="zh-CN" sz="2000" dirty="0" err="1">
                <a:solidFill>
                  <a:srgbClr val="00B0F0"/>
                </a:solidFill>
              </a:rPr>
              <a:t>src_type</a:t>
            </a:r>
            <a:r>
              <a:rPr lang="en-US" altLang="zh-CN" sz="2000" dirty="0"/>
              <a:t>, </a:t>
            </a:r>
            <a:r>
              <a:rPr lang="en-US" altLang="zh-CN" sz="2000" dirty="0" err="1">
                <a:solidFill>
                  <a:srgbClr val="00B0F0"/>
                </a:solidFill>
              </a:rPr>
              <a:t>dest_type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00B050"/>
                </a:solidFill>
              </a:rPr>
              <a:t>suffix</a:t>
            </a:r>
            <a:r>
              <a:rPr lang="en-US" altLang="zh-CN" sz="2000" dirty="0"/>
              <a:t>) …</a:t>
            </a:r>
            <a:endParaRPr lang="en-US" altLang="zh-CN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2374901" y="2396431"/>
            <a:ext cx="828944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FF0000"/>
                </a:solidFill>
              </a:rPr>
              <a:t>inst_name</a:t>
            </a:r>
            <a:r>
              <a:rPr lang="zh-CN" altLang="en-US" dirty="0"/>
              <a:t>就是指令的名称：</a:t>
            </a:r>
            <a:r>
              <a:rPr lang="en-US" altLang="zh-CN" dirty="0" err="1"/>
              <a:t>mov</a:t>
            </a:r>
            <a:r>
              <a:rPr lang="zh-CN" altLang="en-US" dirty="0"/>
              <a:t>，</a:t>
            </a:r>
            <a:r>
              <a:rPr lang="en-US" altLang="zh-CN" dirty="0"/>
              <a:t>add</a:t>
            </a:r>
            <a:r>
              <a:rPr lang="zh-CN" altLang="en-US" dirty="0"/>
              <a:t>，</a:t>
            </a:r>
            <a:r>
              <a:rPr lang="en-US" altLang="zh-CN" dirty="0"/>
              <a:t>sub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B0F0"/>
                </a:solidFill>
              </a:rPr>
              <a:t>src_type</a:t>
            </a:r>
            <a:r>
              <a:rPr lang="zh-CN" altLang="en-US" dirty="0"/>
              <a:t>和</a:t>
            </a:r>
            <a:r>
              <a:rPr lang="en-US" altLang="zh-CN" dirty="0" err="1">
                <a:solidFill>
                  <a:srgbClr val="00B0F0"/>
                </a:solidFill>
              </a:rPr>
              <a:t>dest_type</a:t>
            </a:r>
            <a:r>
              <a:rPr lang="zh-CN" altLang="en-US" dirty="0"/>
              <a:t>是源和目的操作数类型，与</a:t>
            </a:r>
            <a:r>
              <a:rPr lang="en-US" altLang="zh-CN" dirty="0" err="1"/>
              <a:t>decode_operand</a:t>
            </a:r>
            <a:r>
              <a:rPr lang="zh-CN" altLang="en-US" dirty="0"/>
              <a:t>系列宏一致：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rm</a:t>
            </a:r>
            <a:r>
              <a:rPr lang="en-US" altLang="zh-CN" dirty="0"/>
              <a:t> – </a:t>
            </a:r>
            <a:r>
              <a:rPr lang="zh-CN" altLang="en-US" dirty="0"/>
              <a:t>寄存器或内存地址 </a:t>
            </a:r>
            <a:r>
              <a:rPr lang="en-US" altLang="zh-CN" dirty="0"/>
              <a:t>– </a:t>
            </a:r>
            <a:r>
              <a:rPr lang="zh-CN" altLang="en-US" dirty="0"/>
              <a:t>对应手册</a:t>
            </a:r>
            <a:r>
              <a:rPr lang="en-US" altLang="zh-CN" dirty="0"/>
              <a:t>E</a:t>
            </a:r>
            <a:r>
              <a:rPr lang="zh-CN" altLang="en-US" dirty="0"/>
              <a:t>类型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 – </a:t>
            </a:r>
            <a:r>
              <a:rPr lang="zh-CN" altLang="en-US" dirty="0"/>
              <a:t>寄存器地址 </a:t>
            </a:r>
            <a:r>
              <a:rPr lang="en-US" altLang="zh-CN" dirty="0"/>
              <a:t>– </a:t>
            </a:r>
            <a:r>
              <a:rPr lang="zh-CN" altLang="en-US" dirty="0"/>
              <a:t>对应手册</a:t>
            </a:r>
            <a:r>
              <a:rPr lang="en-US" altLang="zh-CN" dirty="0"/>
              <a:t>G</a:t>
            </a:r>
            <a:r>
              <a:rPr lang="zh-CN" altLang="en-US" dirty="0"/>
              <a:t>类型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i</a:t>
            </a:r>
            <a:r>
              <a:rPr lang="en-US" altLang="zh-CN" dirty="0"/>
              <a:t> – </a:t>
            </a:r>
            <a:r>
              <a:rPr lang="zh-CN" altLang="en-US" dirty="0"/>
              <a:t>立即数 </a:t>
            </a:r>
            <a:r>
              <a:rPr lang="en-US" altLang="zh-CN" dirty="0"/>
              <a:t>– </a:t>
            </a:r>
            <a:r>
              <a:rPr lang="zh-CN" altLang="en-US" dirty="0"/>
              <a:t>对应手册</a:t>
            </a:r>
            <a:r>
              <a:rPr lang="en-US" altLang="zh-CN" dirty="0"/>
              <a:t>I</a:t>
            </a:r>
            <a:r>
              <a:rPr lang="zh-CN" altLang="en-US" dirty="0"/>
              <a:t>类型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 – </a:t>
            </a:r>
            <a:r>
              <a:rPr lang="zh-CN" altLang="en-US" dirty="0"/>
              <a:t>内存地址 </a:t>
            </a:r>
            <a:r>
              <a:rPr lang="en-US" altLang="zh-CN" dirty="0"/>
              <a:t>– </a:t>
            </a:r>
            <a:r>
              <a:rPr lang="zh-CN" altLang="en-US" dirty="0"/>
              <a:t>差不多对应手册</a:t>
            </a:r>
            <a:r>
              <a:rPr lang="en-US" altLang="zh-CN" dirty="0"/>
              <a:t>M</a:t>
            </a:r>
            <a:r>
              <a:rPr lang="zh-CN" altLang="en-US" dirty="0"/>
              <a:t>类型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– </a:t>
            </a:r>
            <a:r>
              <a:rPr lang="zh-CN" altLang="en-US" dirty="0"/>
              <a:t>根据操作数长度对应</a:t>
            </a:r>
            <a:r>
              <a:rPr lang="en-US" altLang="zh-CN" dirty="0"/>
              <a:t>al, ax, </a:t>
            </a:r>
            <a:r>
              <a:rPr lang="en-US" altLang="zh-CN" dirty="0" err="1"/>
              <a:t>eax</a:t>
            </a:r>
            <a:r>
              <a:rPr lang="en-US" altLang="zh-CN" dirty="0"/>
              <a:t> – </a:t>
            </a:r>
            <a:r>
              <a:rPr lang="zh-CN" altLang="en-US" dirty="0"/>
              <a:t>手册里没有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 – </a:t>
            </a:r>
            <a:r>
              <a:rPr lang="zh-CN" altLang="en-US" dirty="0"/>
              <a:t>根据操作数长度对应</a:t>
            </a:r>
            <a:r>
              <a:rPr lang="en-US" altLang="zh-CN" dirty="0"/>
              <a:t>cl, cx, </a:t>
            </a:r>
            <a:r>
              <a:rPr lang="en-US" altLang="zh-CN" dirty="0" err="1"/>
              <a:t>ecx</a:t>
            </a:r>
            <a:r>
              <a:rPr lang="en-US" altLang="zh-CN" dirty="0"/>
              <a:t> – </a:t>
            </a:r>
            <a:r>
              <a:rPr lang="zh-CN" altLang="en-US" dirty="0"/>
              <a:t>手册里没有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 – </a:t>
            </a:r>
            <a:r>
              <a:rPr lang="zh-CN" altLang="en-US" dirty="0"/>
              <a:t>偏移量 </a:t>
            </a:r>
            <a:r>
              <a:rPr lang="en-US" altLang="zh-CN" dirty="0"/>
              <a:t>– </a:t>
            </a:r>
            <a:r>
              <a:rPr lang="zh-CN" altLang="en-US" dirty="0"/>
              <a:t>对应手册里的</a:t>
            </a:r>
            <a:r>
              <a:rPr lang="en-US" altLang="zh-CN" dirty="0"/>
              <a:t>O</a:t>
            </a:r>
            <a:r>
              <a:rPr lang="zh-CN" altLang="en-US" dirty="0"/>
              <a:t>类型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B050"/>
                </a:solidFill>
              </a:rPr>
              <a:t>suffix</a:t>
            </a:r>
            <a:r>
              <a:rPr lang="zh-CN" altLang="en-US" dirty="0"/>
              <a:t>是操作数长度后缀，与</a:t>
            </a:r>
            <a:r>
              <a:rPr lang="en-US" altLang="zh-CN" dirty="0" err="1"/>
              <a:t>decode_data_size</a:t>
            </a:r>
            <a:r>
              <a:rPr lang="zh-CN" altLang="en-US" dirty="0"/>
              <a:t>系列宏一致：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b, w, l, v – 8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，</a:t>
            </a:r>
            <a:r>
              <a:rPr lang="en-US" altLang="zh-CN" dirty="0"/>
              <a:t>16/32</a:t>
            </a:r>
            <a:r>
              <a:rPr lang="zh-CN" altLang="en-US" dirty="0"/>
              <a:t>位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bv</a:t>
            </a:r>
            <a:r>
              <a:rPr lang="en-US" altLang="zh-CN" dirty="0"/>
              <a:t> – </a:t>
            </a:r>
            <a:r>
              <a:rPr lang="zh-CN" altLang="en-US" dirty="0"/>
              <a:t>源操作数为</a:t>
            </a:r>
            <a:r>
              <a:rPr lang="en-US" altLang="zh-CN" dirty="0"/>
              <a:t>8</a:t>
            </a:r>
            <a:r>
              <a:rPr lang="zh-CN" altLang="en-US" dirty="0"/>
              <a:t>位，目的操作数为</a:t>
            </a:r>
            <a:r>
              <a:rPr lang="en-US" altLang="zh-CN" dirty="0"/>
              <a:t>16/32</a:t>
            </a:r>
            <a:r>
              <a:rPr lang="zh-CN" altLang="en-US" dirty="0"/>
              <a:t>位，特殊指令用到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short, near – </a:t>
            </a:r>
            <a:r>
              <a:rPr lang="en-US" altLang="zh-CN" dirty="0" err="1"/>
              <a:t>jmp</a:t>
            </a:r>
            <a:r>
              <a:rPr lang="zh-CN" altLang="en-US" dirty="0"/>
              <a:t>指令用到，分别指代</a:t>
            </a:r>
            <a:r>
              <a:rPr lang="en-US" altLang="zh-CN" dirty="0"/>
              <a:t>8</a:t>
            </a:r>
            <a:r>
              <a:rPr lang="zh-CN" altLang="en-US" dirty="0"/>
              <a:t>位和</a:t>
            </a:r>
            <a:r>
              <a:rPr lang="en-US" altLang="zh-CN" dirty="0"/>
              <a:t>32</a:t>
            </a:r>
            <a:r>
              <a:rPr lang="zh-CN" altLang="en-US" dirty="0"/>
              <a:t>位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974608" y="6157877"/>
            <a:ext cx="35889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solidFill>
                  <a:srgbClr val="FF0000"/>
                </a:solidFill>
              </a:rPr>
              <a:t>你可以根据实际需要添加其他的宏或改写已有的宏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3278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>
                <a:solidFill>
                  <a:srgbClr val="FF0000"/>
                </a:solidFill>
              </a:rPr>
              <a:t>make_instr_func</a:t>
            </a:r>
            <a:r>
              <a:rPr lang="en-US" altLang="zh-CN" dirty="0">
                <a:solidFill>
                  <a:srgbClr val="FF0000"/>
                </a:solidFill>
              </a:rPr>
              <a:t>(mov_i2rm_v) </a:t>
            </a:r>
            <a:r>
              <a:rPr lang="en-US" altLang="zh-CN" dirty="0"/>
              <a:t>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3278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>
                <a:solidFill>
                  <a:srgbClr val="FF0000"/>
                </a:solidFill>
              </a:rPr>
              <a:t>make_instr_func</a:t>
            </a:r>
            <a:r>
              <a:rPr lang="en-US" altLang="zh-CN" dirty="0">
                <a:solidFill>
                  <a:srgbClr val="FF0000"/>
                </a:solidFill>
              </a:rPr>
              <a:t>(mov_i2rm_v) </a:t>
            </a:r>
            <a:r>
              <a:rPr lang="en-US" altLang="zh-CN" dirty="0"/>
              <a:t>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73482" y="2224058"/>
            <a:ext cx="11049455" cy="15081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rgbClr val="0070C0"/>
                </a:solidFill>
              </a:rPr>
              <a:t>nemu</a:t>
            </a:r>
            <a:r>
              <a:rPr lang="en-US" altLang="zh-CN" sz="3200" dirty="0">
                <a:solidFill>
                  <a:srgbClr val="0070C0"/>
                </a:solidFill>
              </a:rPr>
              <a:t>/include/</a:t>
            </a:r>
            <a:r>
              <a:rPr lang="en-US" altLang="zh-CN" sz="3200" dirty="0" err="1">
                <a:solidFill>
                  <a:srgbClr val="0070C0"/>
                </a:solidFill>
              </a:rPr>
              <a:t>cpu</a:t>
            </a:r>
            <a:r>
              <a:rPr lang="en-US" altLang="zh-CN" sz="3200" dirty="0">
                <a:solidFill>
                  <a:srgbClr val="0070C0"/>
                </a:solidFill>
              </a:rPr>
              <a:t>/</a:t>
            </a:r>
            <a:r>
              <a:rPr lang="en-US" altLang="zh-CN" sz="3200" dirty="0" err="1">
                <a:solidFill>
                  <a:srgbClr val="0070C0"/>
                </a:solidFill>
              </a:rPr>
              <a:t>instr_helper.h</a:t>
            </a:r>
            <a:endParaRPr lang="en-US" altLang="zh-CN" sz="3200" dirty="0">
              <a:solidFill>
                <a:srgbClr val="0070C0"/>
              </a:solidFill>
            </a:endParaRPr>
          </a:p>
          <a:p>
            <a:endParaRPr lang="en-US" altLang="zh-CN" sz="3200" dirty="0"/>
          </a:p>
          <a:p>
            <a:r>
              <a:rPr lang="en-US" altLang="zh-CN" sz="2800" dirty="0"/>
              <a:t>#define </a:t>
            </a:r>
            <a:r>
              <a:rPr lang="en-US" altLang="zh-CN" sz="2800" dirty="0" err="1"/>
              <a:t>make_instr_func</a:t>
            </a:r>
            <a:r>
              <a:rPr lang="en-US" altLang="zh-CN" sz="2800" dirty="0"/>
              <a:t>(name)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name(uint32_t </a:t>
            </a:r>
            <a:r>
              <a:rPr lang="en-US" altLang="zh-CN" sz="2800" dirty="0" err="1"/>
              <a:t>eip</a:t>
            </a:r>
            <a:r>
              <a:rPr lang="en-US" altLang="zh-CN" sz="2800" dirty="0"/>
              <a:t>, uint8_t opcode)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2780146" y="4575134"/>
            <a:ext cx="4945585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#include "</a:t>
            </a:r>
            <a:r>
              <a:rPr lang="en-US" altLang="zh-CN" sz="2400" dirty="0" err="1"/>
              <a:t>cpu</a:t>
            </a:r>
            <a:r>
              <a:rPr lang="en-US" altLang="zh-CN" sz="2400" dirty="0"/>
              <a:t>/</a:t>
            </a:r>
            <a:r>
              <a:rPr lang="en-US" altLang="zh-CN" sz="2400" dirty="0" err="1"/>
              <a:t>instr.h</a:t>
            </a:r>
            <a:r>
              <a:rPr lang="en-US" altLang="zh-CN" sz="2400" dirty="0"/>
              <a:t>"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instr_func</a:t>
            </a:r>
            <a:r>
              <a:rPr lang="zh-CN" altLang="en-US" sz="2400" dirty="0"/>
              <a:t> opcode_entry[256] = { </a:t>
            </a:r>
            <a:r>
              <a:rPr lang="en-US" altLang="zh-CN" sz="2400" dirty="0"/>
              <a:t>… }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2780146" y="5577710"/>
            <a:ext cx="720451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// the type of an instruction entry</a:t>
            </a:r>
            <a:endParaRPr lang="zh-CN" altLang="en-US" sz="2400" dirty="0"/>
          </a:p>
          <a:p>
            <a:r>
              <a:rPr lang="zh-CN" altLang="en-US" sz="2400" dirty="0"/>
              <a:t>typedef int (*</a:t>
            </a:r>
            <a:r>
              <a:rPr lang="zh-CN" altLang="en-US" sz="2400" dirty="0">
                <a:solidFill>
                  <a:srgbClr val="FF0000"/>
                </a:solidFill>
              </a:rPr>
              <a:t>instr_func</a:t>
            </a:r>
            <a:r>
              <a:rPr lang="zh-CN" altLang="en-US" sz="2400" dirty="0"/>
              <a:t>)(uint32_t eip, uint8_t opcode);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655200" y="4779339"/>
            <a:ext cx="2384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对比一下</a:t>
            </a:r>
            <a:r>
              <a:rPr lang="en-US" altLang="zh-CN" dirty="0" err="1">
                <a:solidFill>
                  <a:srgbClr val="C00000"/>
                </a:solidFill>
              </a:rPr>
              <a:t>opcode_entry</a:t>
            </a:r>
            <a:r>
              <a:rPr lang="zh-CN" altLang="en-US" dirty="0">
                <a:solidFill>
                  <a:srgbClr val="C00000"/>
                </a:solidFill>
              </a:rPr>
              <a:t>的类型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7596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OPERAND</a:t>
            </a:r>
            <a:r>
              <a:rPr lang="en-US" altLang="zh-CN" dirty="0"/>
              <a:t>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1500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OPERAND</a:t>
            </a:r>
            <a:r>
              <a:rPr lang="en-US" altLang="zh-CN" dirty="0"/>
              <a:t>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619951" y="1567145"/>
            <a:ext cx="6477000" cy="467820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rgbClr val="0070C0"/>
                </a:solidFill>
              </a:rPr>
              <a:t>nemu</a:t>
            </a:r>
            <a:r>
              <a:rPr lang="en-US" altLang="zh-CN" sz="2800" dirty="0">
                <a:solidFill>
                  <a:srgbClr val="0070C0"/>
                </a:solidFill>
              </a:rPr>
              <a:t>/include/</a:t>
            </a:r>
            <a:r>
              <a:rPr lang="en-US" altLang="zh-CN" sz="2800" dirty="0" err="1">
                <a:solidFill>
                  <a:srgbClr val="0070C0"/>
                </a:solidFill>
              </a:rPr>
              <a:t>cpu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operand.h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/>
          </a:p>
          <a:p>
            <a:r>
              <a:rPr lang="en-US" altLang="zh-CN" dirty="0" err="1"/>
              <a:t>enum</a:t>
            </a:r>
            <a:r>
              <a:rPr lang="en-US" altLang="zh-CN" dirty="0"/>
              <a:t> {OPR_IMM, OPR_REG, OPR_MEM, OPR_CREG, OPR_SREG};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typedef struct {</a:t>
            </a:r>
            <a:endParaRPr lang="zh-CN" altLang="en-US" dirty="0"/>
          </a:p>
          <a:p>
            <a:r>
              <a:rPr lang="zh-CN" altLang="en-US" dirty="0"/>
              <a:t>	int type;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en-US" dirty="0">
                <a:solidFill>
                  <a:srgbClr val="00B050"/>
                </a:solidFill>
              </a:rPr>
              <a:t>地址，随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en-US" dirty="0">
                <a:solidFill>
                  <a:srgbClr val="00B050"/>
                </a:solidFill>
              </a:rPr>
              <a:t>不同解释也不同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	uint32_t addr; </a:t>
            </a:r>
            <a:endParaRPr lang="zh-CN" altLang="en-US" dirty="0"/>
          </a:p>
          <a:p>
            <a:r>
              <a:rPr lang="zh-CN" altLang="en-US" dirty="0"/>
              <a:t>	uint8_t sreg;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现在不管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	uint32_t val;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>
                <a:solidFill>
                  <a:srgbClr val="00B050"/>
                </a:solidFill>
              </a:rPr>
              <a:t>data_size</a:t>
            </a:r>
            <a:r>
              <a:rPr lang="en-US" altLang="zh-CN" dirty="0">
                <a:solidFill>
                  <a:srgbClr val="00B050"/>
                </a:solidFill>
              </a:rPr>
              <a:t> = 8, 16, 32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	size_t data_size;	</a:t>
            </a:r>
            <a:endParaRPr lang="zh-CN" altLang="en-US" dirty="0"/>
          </a:p>
          <a:p>
            <a:r>
              <a:rPr lang="zh-CN" altLang="en-US" dirty="0"/>
              <a:t>#ifdef DEBUG</a:t>
            </a:r>
            <a:endParaRPr lang="zh-CN" altLang="en-US" dirty="0"/>
          </a:p>
          <a:p>
            <a:r>
              <a:rPr lang="zh-CN" altLang="en-US" dirty="0"/>
              <a:t>	MEM_ADDR mem_addr;</a:t>
            </a:r>
            <a:endParaRPr lang="zh-CN" altLang="en-US" dirty="0"/>
          </a:p>
          <a:p>
            <a:r>
              <a:rPr lang="zh-CN" altLang="en-US" dirty="0"/>
              <a:t>#endif</a:t>
            </a:r>
            <a:endParaRPr lang="zh-CN" altLang="en-US" dirty="0"/>
          </a:p>
          <a:p>
            <a:r>
              <a:rPr lang="zh-CN" altLang="en-US" dirty="0"/>
              <a:t>}</a:t>
            </a:r>
            <a:r>
              <a:rPr lang="zh-CN" altLang="en-US" dirty="0">
                <a:solidFill>
                  <a:srgbClr val="FF0000"/>
                </a:solidFill>
              </a:rPr>
              <a:t>OPERAND</a:t>
            </a:r>
            <a:r>
              <a:rPr lang="en-US" altLang="zh-CN" dirty="0"/>
              <a:t>;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8463816" y="3291841"/>
            <a:ext cx="789271" cy="741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6326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1881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>
                <a:solidFill>
                  <a:srgbClr val="FF0000"/>
                </a:solidFill>
              </a:rPr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83067" y="2200844"/>
            <a:ext cx="5792998" cy="384720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rgbClr val="0070C0"/>
                </a:solidFill>
              </a:rPr>
              <a:t>nemu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src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cpu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instr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data_size.c</a:t>
            </a:r>
            <a:endParaRPr lang="en-US" altLang="zh-CN" sz="2800" dirty="0">
              <a:solidFill>
                <a:srgbClr val="0070C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uint8_t </a:t>
            </a:r>
            <a:r>
              <a:rPr lang="zh-CN" altLang="en-US" dirty="0">
                <a:solidFill>
                  <a:srgbClr val="FF0000"/>
                </a:solidFill>
              </a:rPr>
              <a:t>data_size</a:t>
            </a:r>
            <a:r>
              <a:rPr lang="zh-CN" altLang="en-US" dirty="0"/>
              <a:t> = 32;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make_instr_func(data_size_16) {</a:t>
            </a:r>
            <a:endParaRPr lang="zh-CN" altLang="en-US" dirty="0"/>
          </a:p>
          <a:p>
            <a:r>
              <a:rPr lang="zh-CN" altLang="en-US" dirty="0"/>
              <a:t>	uint8_t op_code = 0;</a:t>
            </a:r>
            <a:endParaRPr lang="zh-CN" altLang="en-US" dirty="0"/>
          </a:p>
          <a:p>
            <a:r>
              <a:rPr lang="zh-CN" altLang="en-US" dirty="0"/>
              <a:t>	int len = 0;</a:t>
            </a:r>
            <a:endParaRPr lang="zh-CN" altLang="en-US" dirty="0"/>
          </a:p>
          <a:p>
            <a:r>
              <a:rPr lang="zh-CN" altLang="en-US" dirty="0"/>
              <a:t>	data_size = 16;</a:t>
            </a:r>
            <a:endParaRPr lang="zh-CN" altLang="en-US" dirty="0"/>
          </a:p>
          <a:p>
            <a:r>
              <a:rPr lang="zh-CN" altLang="en-US" dirty="0"/>
              <a:t>	op_code = instr_fetch(eip + 1, 1);</a:t>
            </a:r>
            <a:endParaRPr lang="zh-CN" altLang="en-US" dirty="0"/>
          </a:p>
          <a:p>
            <a:r>
              <a:rPr lang="zh-CN" altLang="en-US" dirty="0"/>
              <a:t>	len = opcode_entry[op_code](eip + 1, op_code);</a:t>
            </a:r>
            <a:endParaRPr lang="zh-CN" altLang="en-US" dirty="0"/>
          </a:p>
          <a:p>
            <a:r>
              <a:rPr lang="zh-CN" altLang="en-US" dirty="0"/>
              <a:t>	data_size = 32;</a:t>
            </a:r>
            <a:endParaRPr lang="zh-CN" altLang="en-US" dirty="0"/>
          </a:p>
          <a:p>
            <a:r>
              <a:rPr lang="zh-CN" altLang="en-US" dirty="0"/>
              <a:t>	return 1 + len;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3278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>
                <a:solidFill>
                  <a:srgbClr val="FF0000"/>
                </a:solidFill>
              </a:rPr>
              <a:t>modrm_rm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eip</a:t>
            </a:r>
            <a:r>
              <a:rPr lang="en-US" altLang="zh-CN" dirty="0">
                <a:solidFill>
                  <a:srgbClr val="FF0000"/>
                </a:solidFill>
              </a:rPr>
              <a:t> + 1, &amp;</a:t>
            </a:r>
            <a:r>
              <a:rPr lang="en-US" altLang="zh-CN" dirty="0" err="1">
                <a:solidFill>
                  <a:srgbClr val="FF0000"/>
                </a:solidFill>
              </a:rPr>
              <a:t>rm</a:t>
            </a:r>
            <a:r>
              <a:rPr lang="en-US" altLang="zh-CN" dirty="0">
                <a:solidFill>
                  <a:srgbClr val="FF0000"/>
                </a:solidFill>
              </a:rPr>
              <a:t>);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2389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>
                <a:solidFill>
                  <a:srgbClr val="FF0000"/>
                </a:solidFill>
              </a:rPr>
              <a:t>modrm_rm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eip</a:t>
            </a:r>
            <a:r>
              <a:rPr lang="en-US" altLang="zh-CN" dirty="0">
                <a:solidFill>
                  <a:srgbClr val="FF0000"/>
                </a:solidFill>
              </a:rPr>
              <a:t> + 1, &amp;</a:t>
            </a:r>
            <a:r>
              <a:rPr lang="en-US" altLang="zh-CN" dirty="0" err="1">
                <a:solidFill>
                  <a:srgbClr val="FF0000"/>
                </a:solidFill>
              </a:rPr>
              <a:t>rm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190895" y="3668022"/>
            <a:ext cx="6336991" cy="21236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rgbClr val="0070C0"/>
                </a:solidFill>
              </a:rPr>
              <a:t>nemu</a:t>
            </a:r>
            <a:r>
              <a:rPr lang="en-US" altLang="zh-CN" sz="2400" dirty="0">
                <a:solidFill>
                  <a:srgbClr val="0070C0"/>
                </a:solidFill>
              </a:rPr>
              <a:t>/</a:t>
            </a:r>
            <a:r>
              <a:rPr lang="en-US" altLang="zh-CN" sz="2400" dirty="0" err="1">
                <a:solidFill>
                  <a:srgbClr val="0070C0"/>
                </a:solidFill>
              </a:rPr>
              <a:t>src</a:t>
            </a:r>
            <a:r>
              <a:rPr lang="en-US" altLang="zh-CN" sz="2400" dirty="0">
                <a:solidFill>
                  <a:srgbClr val="0070C0"/>
                </a:solidFill>
              </a:rPr>
              <a:t>/</a:t>
            </a:r>
            <a:r>
              <a:rPr lang="en-US" altLang="zh-CN" sz="2400" dirty="0" err="1">
                <a:solidFill>
                  <a:srgbClr val="0070C0"/>
                </a:solidFill>
              </a:rPr>
              <a:t>cpu</a:t>
            </a:r>
            <a:r>
              <a:rPr lang="en-US" altLang="zh-CN" sz="2400" dirty="0">
                <a:solidFill>
                  <a:srgbClr val="0070C0"/>
                </a:solidFill>
              </a:rPr>
              <a:t>/decode/</a:t>
            </a:r>
            <a:r>
              <a:rPr lang="en-US" altLang="zh-CN" sz="2400" dirty="0" err="1">
                <a:solidFill>
                  <a:srgbClr val="0070C0"/>
                </a:solidFill>
              </a:rPr>
              <a:t>modrm.c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modrm_rm</a:t>
            </a:r>
            <a:r>
              <a:rPr lang="en-US" altLang="zh-CN" dirty="0"/>
              <a:t>(uint32_t </a:t>
            </a:r>
            <a:r>
              <a:rPr lang="en-US" altLang="zh-CN" dirty="0" err="1"/>
              <a:t>eip</a:t>
            </a:r>
            <a:r>
              <a:rPr lang="en-US" altLang="zh-CN" dirty="0"/>
              <a:t>, OPERAND * </a:t>
            </a:r>
            <a:r>
              <a:rPr lang="en-US" altLang="zh-CN" dirty="0" err="1"/>
              <a:t>rm</a:t>
            </a:r>
            <a:r>
              <a:rPr lang="en-US" altLang="zh-CN" dirty="0"/>
              <a:t>) 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就是查表过程变成代码</a:t>
            </a:r>
            <a:endParaRPr lang="en-US" altLang="zh-CN" dirty="0"/>
          </a:p>
          <a:p>
            <a:r>
              <a:rPr lang="zh-CN" altLang="en-US" dirty="0"/>
              <a:t>会将传入的</a:t>
            </a:r>
            <a:r>
              <a:rPr lang="en-US" altLang="zh-CN" dirty="0" err="1"/>
              <a:t>rm</a:t>
            </a:r>
            <a:r>
              <a:rPr lang="zh-CN" altLang="en-US" dirty="0"/>
              <a:t>变量的</a:t>
            </a:r>
            <a:r>
              <a:rPr lang="en-US" altLang="zh-CN" dirty="0"/>
              <a:t>type</a:t>
            </a:r>
            <a:r>
              <a:rPr lang="zh-CN" altLang="en-US" dirty="0"/>
              <a:t>和</a:t>
            </a:r>
            <a:r>
              <a:rPr lang="en-US" altLang="zh-CN" dirty="0" err="1"/>
              <a:t>addr</a:t>
            </a:r>
            <a:r>
              <a:rPr lang="zh-CN" altLang="en-US" dirty="0"/>
              <a:t>（包括</a:t>
            </a:r>
            <a:r>
              <a:rPr lang="en-US" altLang="zh-CN" dirty="0" err="1"/>
              <a:t>sreg</a:t>
            </a:r>
            <a:r>
              <a:rPr lang="zh-CN" altLang="en-US" dirty="0"/>
              <a:t>）填好</a:t>
            </a:r>
            <a:endParaRPr lang="en-US" altLang="zh-CN" dirty="0"/>
          </a:p>
          <a:p>
            <a:r>
              <a:rPr lang="zh-CN" altLang="en-US" dirty="0"/>
              <a:t>返回解析</a:t>
            </a:r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r>
              <a:rPr lang="zh-CN" altLang="en-US" dirty="0"/>
              <a:t>所扫描过的字节数（包括可能的</a:t>
            </a:r>
            <a:r>
              <a:rPr lang="en-US" altLang="zh-CN" dirty="0"/>
              <a:t>SIB</a:t>
            </a:r>
            <a:r>
              <a:rPr lang="zh-CN" altLang="en-US" dirty="0"/>
              <a:t>和</a:t>
            </a:r>
            <a:r>
              <a:rPr lang="en-US" altLang="zh-CN" dirty="0" err="1"/>
              <a:t>disp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101660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operand_read</a:t>
            </a:r>
            <a:r>
              <a:rPr lang="en-US" altLang="zh-CN" dirty="0">
                <a:solidFill>
                  <a:srgbClr val="FF0000"/>
                </a:solidFill>
              </a:rPr>
              <a:t>(&amp;</a:t>
            </a:r>
            <a:r>
              <a:rPr lang="en-US" altLang="zh-CN" dirty="0" err="1">
                <a:solidFill>
                  <a:srgbClr val="FF0000"/>
                </a:solidFill>
              </a:rPr>
              <a:t>imm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  <a:r>
              <a:rPr lang="en-US" altLang="zh-CN" dirty="0"/>
              <a:t>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5564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operand_read</a:t>
            </a:r>
            <a:r>
              <a:rPr lang="en-US" altLang="zh-CN" dirty="0">
                <a:solidFill>
                  <a:srgbClr val="FF0000"/>
                </a:solidFill>
              </a:rPr>
              <a:t>(&amp;</a:t>
            </a:r>
            <a:r>
              <a:rPr lang="en-US" altLang="zh-CN" dirty="0" err="1">
                <a:solidFill>
                  <a:srgbClr val="FF0000"/>
                </a:solidFill>
              </a:rPr>
              <a:t>imm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  <a:r>
              <a:rPr lang="en-US" altLang="zh-CN" dirty="0"/>
              <a:t>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770568" y="777303"/>
            <a:ext cx="8722931" cy="59708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cpu</a:t>
            </a:r>
            <a:r>
              <a:rPr lang="en-US" altLang="zh-CN" dirty="0">
                <a:solidFill>
                  <a:srgbClr val="0070C0"/>
                </a:solidFill>
              </a:rPr>
              <a:t>/decode/</a:t>
            </a:r>
            <a:r>
              <a:rPr lang="en-US" altLang="zh-CN" dirty="0" err="1">
                <a:solidFill>
                  <a:srgbClr val="0070C0"/>
                </a:solidFill>
              </a:rPr>
              <a:t>operand.c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sz="1400" dirty="0"/>
          </a:p>
          <a:p>
            <a:r>
              <a:rPr lang="zh-CN" altLang="en-US" sz="1400" dirty="0"/>
              <a:t>void operand_read(OPERAND * opr) {</a:t>
            </a:r>
            <a:endParaRPr lang="zh-CN" altLang="en-US" sz="1400" dirty="0"/>
          </a:p>
          <a:p>
            <a:r>
              <a:rPr lang="zh-CN" altLang="en-US" sz="1400" dirty="0"/>
              <a:t>	switch(opr-&gt;type) {</a:t>
            </a:r>
            <a:endParaRPr lang="zh-CN" altLang="en-US" sz="1400" dirty="0"/>
          </a:p>
          <a:p>
            <a:r>
              <a:rPr lang="zh-CN" altLang="en-US" sz="1400" dirty="0"/>
              <a:t>		case OPR_MEM: </a:t>
            </a:r>
            <a:r>
              <a:rPr lang="en-US" altLang="zh-CN" sz="1400" dirty="0"/>
              <a:t>…</a:t>
            </a:r>
            <a:endParaRPr lang="zh-CN" altLang="en-US" sz="1400" dirty="0"/>
          </a:p>
          <a:p>
            <a:r>
              <a:rPr lang="zh-CN" altLang="en-US" sz="1400" dirty="0"/>
              <a:t>		case OPR_IMM: </a:t>
            </a:r>
            <a:endParaRPr lang="zh-CN" altLang="en-US" sz="1400" dirty="0"/>
          </a:p>
          <a:p>
            <a:r>
              <a:rPr lang="zh-CN" altLang="en-US" sz="1400" dirty="0"/>
              <a:t>			opr-&gt;val = vaddr_read(opr-&gt;addr, SREG_CS, 4);</a:t>
            </a:r>
            <a:endParaRPr lang="zh-CN" altLang="en-US" sz="1400" dirty="0"/>
          </a:p>
          <a:p>
            <a:r>
              <a:rPr lang="zh-CN" altLang="en-US" sz="1400" dirty="0"/>
              <a:t>			break;</a:t>
            </a:r>
            <a:endParaRPr lang="zh-CN" altLang="en-US" sz="1400" dirty="0"/>
          </a:p>
          <a:p>
            <a:r>
              <a:rPr lang="zh-CN" altLang="en-US" sz="1400" dirty="0"/>
              <a:t>		case OPR_REG:</a:t>
            </a:r>
            <a:endParaRPr lang="en-US" altLang="zh-CN" sz="1400" dirty="0"/>
          </a:p>
          <a:p>
            <a:r>
              <a:rPr lang="en-US" altLang="zh-CN" sz="1400" dirty="0"/>
              <a:t>			if(</a:t>
            </a:r>
            <a:r>
              <a:rPr lang="en-US" altLang="zh-CN" sz="1400" dirty="0" err="1"/>
              <a:t>opr</a:t>
            </a:r>
            <a:r>
              <a:rPr lang="en-US" altLang="zh-CN" sz="1400" dirty="0"/>
              <a:t>-&gt;</a:t>
            </a:r>
            <a:r>
              <a:rPr lang="en-US" altLang="zh-CN" sz="1400" dirty="0" err="1"/>
              <a:t>data_size</a:t>
            </a:r>
            <a:r>
              <a:rPr lang="en-US" altLang="zh-CN" sz="1400" dirty="0"/>
              <a:t> == 8) {</a:t>
            </a:r>
            <a:endParaRPr lang="en-US" altLang="zh-CN" sz="1400" dirty="0"/>
          </a:p>
          <a:p>
            <a:r>
              <a:rPr lang="en-US" altLang="zh-CN" sz="1400" dirty="0"/>
              <a:t>				</a:t>
            </a:r>
            <a:r>
              <a:rPr lang="en-US" altLang="zh-CN" sz="1400" dirty="0" err="1"/>
              <a:t>opr</a:t>
            </a:r>
            <a:r>
              <a:rPr lang="en-US" altLang="zh-CN" sz="1400" dirty="0"/>
              <a:t>-&gt;</a:t>
            </a:r>
            <a:r>
              <a:rPr lang="en-US" altLang="zh-CN" sz="1400" dirty="0" err="1"/>
              <a:t>val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cpu.gpr</a:t>
            </a:r>
            <a:r>
              <a:rPr lang="en-US" altLang="zh-CN" sz="1400" dirty="0"/>
              <a:t>[</a:t>
            </a:r>
            <a:r>
              <a:rPr lang="en-US" altLang="zh-CN" sz="1400" dirty="0" err="1"/>
              <a:t>opr</a:t>
            </a:r>
            <a:r>
              <a:rPr lang="en-US" altLang="zh-CN" sz="1400" dirty="0"/>
              <a:t>-&gt;</a:t>
            </a:r>
            <a:r>
              <a:rPr lang="en-US" altLang="zh-CN" sz="1400" dirty="0" err="1"/>
              <a:t>addr</a:t>
            </a:r>
            <a:r>
              <a:rPr lang="en-US" altLang="zh-CN" sz="1400" dirty="0"/>
              <a:t> % 4]._8[</a:t>
            </a:r>
            <a:r>
              <a:rPr lang="en-US" altLang="zh-CN" sz="1400" dirty="0" err="1"/>
              <a:t>opr</a:t>
            </a:r>
            <a:r>
              <a:rPr lang="en-US" altLang="zh-CN" sz="1400" dirty="0"/>
              <a:t>-&gt;</a:t>
            </a:r>
            <a:r>
              <a:rPr lang="en-US" altLang="zh-CN" sz="1400" dirty="0" err="1"/>
              <a:t>addr</a:t>
            </a:r>
            <a:r>
              <a:rPr lang="en-US" altLang="zh-CN" sz="1400" dirty="0"/>
              <a:t> / 4];</a:t>
            </a:r>
            <a:endParaRPr lang="en-US" altLang="zh-CN" sz="1400" dirty="0"/>
          </a:p>
          <a:p>
            <a:r>
              <a:rPr lang="en-US" altLang="zh-CN" sz="1400" dirty="0"/>
              <a:t>			} else {</a:t>
            </a:r>
            <a:endParaRPr lang="en-US" altLang="zh-CN" sz="1400" dirty="0"/>
          </a:p>
          <a:p>
            <a:r>
              <a:rPr lang="en-US" altLang="zh-CN" sz="1400" dirty="0"/>
              <a:t>				</a:t>
            </a:r>
            <a:r>
              <a:rPr lang="en-US" altLang="zh-CN" sz="1400" dirty="0" err="1"/>
              <a:t>opr</a:t>
            </a:r>
            <a:r>
              <a:rPr lang="en-US" altLang="zh-CN" sz="1400" dirty="0"/>
              <a:t>-&gt;</a:t>
            </a:r>
            <a:r>
              <a:rPr lang="en-US" altLang="zh-CN" sz="1400" dirty="0" err="1"/>
              <a:t>val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cpu.gpr</a:t>
            </a:r>
            <a:r>
              <a:rPr lang="en-US" altLang="zh-CN" sz="1400" dirty="0"/>
              <a:t>[</a:t>
            </a:r>
            <a:r>
              <a:rPr lang="en-US" altLang="zh-CN" sz="1400" dirty="0" err="1"/>
              <a:t>opr</a:t>
            </a:r>
            <a:r>
              <a:rPr lang="en-US" altLang="zh-CN" sz="1400" dirty="0"/>
              <a:t>-&gt;</a:t>
            </a:r>
            <a:r>
              <a:rPr lang="en-US" altLang="zh-CN" sz="1400" dirty="0" err="1"/>
              <a:t>addr</a:t>
            </a:r>
            <a:r>
              <a:rPr lang="en-US" altLang="zh-CN" sz="1400" dirty="0"/>
              <a:t>]._32;</a:t>
            </a:r>
            <a:endParaRPr lang="en-US" altLang="zh-CN" sz="1400" dirty="0"/>
          </a:p>
          <a:p>
            <a:r>
              <a:rPr lang="en-US" altLang="zh-CN" sz="1400" dirty="0"/>
              <a:t>			}</a:t>
            </a:r>
            <a:endParaRPr lang="en-US" altLang="zh-CN" sz="1400" dirty="0"/>
          </a:p>
          <a:p>
            <a:r>
              <a:rPr lang="en-US" altLang="zh-CN" sz="1400" dirty="0"/>
              <a:t>			break;</a:t>
            </a:r>
            <a:endParaRPr lang="zh-CN" altLang="en-US" sz="1400" dirty="0"/>
          </a:p>
          <a:p>
            <a:r>
              <a:rPr lang="zh-CN" altLang="en-US" sz="1400" dirty="0"/>
              <a:t>		case OPR_CREG: </a:t>
            </a:r>
            <a:r>
              <a:rPr lang="en-US" altLang="zh-CN" sz="1400" dirty="0"/>
              <a:t>…</a:t>
            </a:r>
            <a:endParaRPr lang="zh-CN" altLang="en-US" sz="1400" dirty="0"/>
          </a:p>
          <a:p>
            <a:r>
              <a:rPr lang="zh-CN" altLang="en-US" sz="1400" dirty="0"/>
              <a:t>		case OPR_SREG: </a:t>
            </a:r>
            <a:r>
              <a:rPr lang="en-US" altLang="zh-CN" sz="1400" dirty="0"/>
              <a:t>…</a:t>
            </a:r>
            <a:endParaRPr lang="zh-CN" altLang="en-US" sz="1400" dirty="0"/>
          </a:p>
          <a:p>
            <a:r>
              <a:rPr lang="zh-CN" altLang="en-US" sz="1400" dirty="0"/>
              <a:t>	</a:t>
            </a:r>
            <a:endParaRPr lang="zh-CN" altLang="en-US" sz="1400" dirty="0"/>
          </a:p>
          <a:p>
            <a:r>
              <a:rPr lang="zh-CN" altLang="en-US" sz="1400" dirty="0"/>
              <a:t>	// deal with data size</a:t>
            </a:r>
            <a:endParaRPr lang="zh-CN" altLang="en-US" sz="1400" dirty="0"/>
          </a:p>
          <a:p>
            <a:r>
              <a:rPr lang="zh-CN" altLang="en-US" sz="1400" dirty="0"/>
              <a:t>	switch(opr-&gt;data_size) {</a:t>
            </a:r>
            <a:endParaRPr lang="zh-CN" altLang="en-US" sz="1400" dirty="0"/>
          </a:p>
          <a:p>
            <a:r>
              <a:rPr lang="zh-CN" altLang="en-US" sz="1400" dirty="0"/>
              <a:t>		case 8: opr-&gt;val = opr-&gt;val &amp; 0xff; break;</a:t>
            </a:r>
            <a:endParaRPr lang="zh-CN" altLang="en-US" sz="1400" dirty="0"/>
          </a:p>
          <a:p>
            <a:r>
              <a:rPr lang="zh-CN" altLang="en-US" sz="1400" dirty="0"/>
              <a:t>		case 16: opr-&gt;val = opr-&gt;val &amp; 0xffff; break;</a:t>
            </a:r>
            <a:endParaRPr lang="zh-CN" altLang="en-US" sz="1400" dirty="0"/>
          </a:p>
          <a:p>
            <a:r>
              <a:rPr lang="zh-CN" altLang="en-US" sz="1400" dirty="0"/>
              <a:t>		case 32: break;</a:t>
            </a:r>
            <a:endParaRPr lang="zh-CN" altLang="en-US" sz="1400" dirty="0"/>
          </a:p>
          <a:p>
            <a:r>
              <a:rPr lang="zh-CN" altLang="en-US" sz="1400" dirty="0"/>
              <a:t>		default: </a:t>
            </a:r>
            <a:r>
              <a:rPr lang="en-US" altLang="zh-CN" sz="1400" dirty="0"/>
              <a:t>…</a:t>
            </a:r>
            <a:endParaRPr lang="zh-CN" altLang="en-US" sz="1400" dirty="0"/>
          </a:p>
          <a:p>
            <a:r>
              <a:rPr lang="zh-CN" altLang="en-US" sz="1400" dirty="0"/>
              <a:t>	}</a:t>
            </a:r>
            <a:endParaRPr lang="zh-CN" altLang="en-US" sz="1400" dirty="0"/>
          </a:p>
          <a:p>
            <a:r>
              <a:rPr lang="zh-CN" altLang="en-US" sz="1400" dirty="0"/>
              <a:t>}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8739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rm.val</a:t>
            </a:r>
            <a:r>
              <a:rPr lang="en-US" altLang="zh-CN" dirty="0">
                <a:solidFill>
                  <a:srgbClr val="FF0000"/>
                </a:solidFill>
              </a:rPr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imm.val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operand_write</a:t>
            </a:r>
            <a:r>
              <a:rPr lang="en-US" altLang="zh-CN" dirty="0">
                <a:solidFill>
                  <a:srgbClr val="FF0000"/>
                </a:solidFill>
              </a:rPr>
              <a:t>(&amp;</a:t>
            </a:r>
            <a:r>
              <a:rPr lang="en-US" altLang="zh-CN" dirty="0" err="1">
                <a:solidFill>
                  <a:srgbClr val="FF0000"/>
                </a:solidFill>
              </a:rPr>
              <a:t>rm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866021" y="4928136"/>
            <a:ext cx="2618072" cy="83099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/>
              <a:t>执行</a:t>
            </a:r>
            <a:r>
              <a:rPr lang="en-US" altLang="zh-CN" sz="2400" dirty="0" err="1"/>
              <a:t>mov</a:t>
            </a:r>
            <a:r>
              <a:rPr lang="zh-CN" altLang="en-US" sz="2400" dirty="0"/>
              <a:t>操作并且写目的操作数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6961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>
                <a:solidFill>
                  <a:srgbClr val="FF0000"/>
                </a:solidFill>
              </a:rPr>
              <a:t> return </a:t>
            </a:r>
            <a:r>
              <a:rPr lang="en-US" altLang="zh-CN" dirty="0" err="1">
                <a:solidFill>
                  <a:srgbClr val="FF0000"/>
                </a:solidFill>
              </a:rPr>
              <a:t>len</a:t>
            </a:r>
            <a:r>
              <a:rPr lang="en-US" altLang="zh-CN" dirty="0">
                <a:solidFill>
                  <a:srgbClr val="FF0000"/>
                </a:solidFill>
              </a:rPr>
              <a:t> + </a:t>
            </a:r>
            <a:r>
              <a:rPr lang="en-US" altLang="zh-CN" dirty="0" err="1">
                <a:solidFill>
                  <a:srgbClr val="FF0000"/>
                </a:solidFill>
              </a:rPr>
              <a:t>data_size</a:t>
            </a:r>
            <a:r>
              <a:rPr lang="en-US" altLang="zh-CN" dirty="0">
                <a:solidFill>
                  <a:srgbClr val="FF0000"/>
                </a:solidFill>
              </a:rPr>
              <a:t> / 8; 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866022" y="4928136"/>
            <a:ext cx="2184935" cy="4616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/>
              <a:t>返回指令长度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383325" y="109316"/>
            <a:ext cx="77524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3600" kern="100" dirty="0">
                <a:latin typeface="等线" panose="02010600030101010101" charset="-122"/>
                <a:cs typeface="Times New Roman" panose="02020603050405020304" pitchFamily="18" charset="0"/>
              </a:rPr>
              <a:t>内存： </a:t>
            </a:r>
            <a:r>
              <a:rPr lang="en-US" altLang="zh-CN" sz="3600" kern="100" dirty="0">
                <a:latin typeface="等线" panose="02010600030101010101" charset="-122"/>
                <a:cs typeface="Times New Roman" panose="02020603050405020304" pitchFamily="18" charset="0"/>
              </a:rPr>
              <a:t>C7 05 48 11 10 00 02 00 00 00</a:t>
            </a:r>
            <a:endParaRPr lang="zh-CN" altLang="zh-CN" sz="36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57515" y="1054896"/>
            <a:ext cx="3275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cpu.c</a:t>
            </a:r>
            <a:endParaRPr lang="en-US" altLang="zh-CN" sz="2800" i="1" dirty="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59928" y="1122959"/>
            <a:ext cx="558288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void </a:t>
            </a:r>
            <a:r>
              <a:rPr lang="en-US" altLang="zh-CN" sz="1400" dirty="0">
                <a:solidFill>
                  <a:srgbClr val="FF0000"/>
                </a:solidFill>
              </a:rPr>
              <a:t>exec</a:t>
            </a:r>
            <a:r>
              <a:rPr lang="en-US" altLang="zh-CN" sz="1400" dirty="0"/>
              <a:t>(uint32_t n) {</a:t>
            </a:r>
            <a:endParaRPr lang="en-US" altLang="zh-CN" sz="1400" dirty="0"/>
          </a:p>
          <a:p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	while( n &gt; 0 &amp;&amp; </a:t>
            </a:r>
            <a:r>
              <a:rPr lang="en-US" altLang="zh-CN" sz="1400" dirty="0" err="1"/>
              <a:t>nemu_state</a:t>
            </a:r>
            <a:r>
              <a:rPr lang="en-US" altLang="zh-CN" sz="1400" dirty="0"/>
              <a:t> == NEMU_RUN) {</a:t>
            </a:r>
            <a:endParaRPr lang="en-US" altLang="zh-CN" sz="1400" dirty="0"/>
          </a:p>
          <a:p>
            <a:r>
              <a:rPr lang="en-US" altLang="zh-CN" sz="1400" dirty="0"/>
              <a:t>		…</a:t>
            </a:r>
            <a:endParaRPr lang="en-US" altLang="zh-CN" sz="1400" dirty="0"/>
          </a:p>
          <a:p>
            <a:r>
              <a:rPr lang="en-US" altLang="zh-CN" sz="1400" dirty="0"/>
              <a:t>		</a:t>
            </a:r>
            <a:r>
              <a:rPr lang="en-US" altLang="zh-CN" sz="1400" dirty="0" err="1"/>
              <a:t>instr_len</a:t>
            </a:r>
            <a:r>
              <a:rPr lang="en-US" altLang="zh-CN" sz="1400" dirty="0"/>
              <a:t> = </a:t>
            </a:r>
            <a:r>
              <a:rPr lang="en-US" altLang="zh-CN" sz="1400" dirty="0" err="1">
                <a:solidFill>
                  <a:srgbClr val="FF0000"/>
                </a:solidFill>
              </a:rPr>
              <a:t>exec_inst</a:t>
            </a:r>
            <a:r>
              <a:rPr lang="en-US" altLang="zh-CN" sz="1400" dirty="0"/>
              <a:t>();</a:t>
            </a:r>
            <a:endParaRPr lang="en-US" altLang="zh-CN" sz="1400" dirty="0"/>
          </a:p>
          <a:p>
            <a:r>
              <a:rPr lang="en-US" altLang="zh-CN" sz="1400" dirty="0"/>
              <a:t>		</a:t>
            </a:r>
            <a:r>
              <a:rPr lang="en-US" altLang="zh-CN" sz="1400" dirty="0" err="1"/>
              <a:t>cpu.eip</a:t>
            </a:r>
            <a:r>
              <a:rPr lang="en-US" altLang="zh-CN" sz="1400" dirty="0"/>
              <a:t> += </a:t>
            </a:r>
            <a:r>
              <a:rPr lang="en-US" altLang="zh-CN" sz="1400" dirty="0" err="1"/>
              <a:t>instr_len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		n--;</a:t>
            </a:r>
            <a:endParaRPr lang="en-US" altLang="zh-CN" sz="1400" dirty="0"/>
          </a:p>
          <a:p>
            <a:r>
              <a:rPr lang="en-US" altLang="zh-CN" sz="1400" dirty="0"/>
              <a:t>		…</a:t>
            </a:r>
            <a:endParaRPr lang="en-US" altLang="zh-CN" sz="1400" dirty="0"/>
          </a:p>
          <a:p>
            <a:r>
              <a:rPr lang="en-US" altLang="zh-CN" sz="1400" dirty="0"/>
              <a:t>	}</a:t>
            </a:r>
            <a:endParaRPr lang="en-US" altLang="zh-CN" sz="1400" dirty="0"/>
          </a:p>
          <a:p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int </a:t>
            </a:r>
            <a:r>
              <a:rPr lang="zh-CN" altLang="en-US" sz="1400" dirty="0">
                <a:solidFill>
                  <a:srgbClr val="FF0000"/>
                </a:solidFill>
              </a:rPr>
              <a:t>exec_inst</a:t>
            </a:r>
            <a:r>
              <a:rPr lang="zh-CN" altLang="en-US" sz="1400" dirty="0"/>
              <a:t>() {</a:t>
            </a:r>
            <a:endParaRPr lang="zh-CN" altLang="en-US" sz="1400" dirty="0"/>
          </a:p>
          <a:p>
            <a:r>
              <a:rPr lang="zh-CN" altLang="en-US" sz="1400" dirty="0"/>
              <a:t>	uint8_t opcode = 0;</a:t>
            </a:r>
            <a:endParaRPr lang="zh-CN" altLang="en-US" sz="1400" dirty="0"/>
          </a:p>
          <a:p>
            <a:r>
              <a:rPr lang="zh-CN" altLang="en-US" sz="1400" dirty="0"/>
              <a:t>	opcode = instr_fetch(cpu.eip, 1);</a:t>
            </a:r>
            <a:endParaRPr lang="zh-CN" altLang="en-US" sz="1400" dirty="0"/>
          </a:p>
          <a:p>
            <a:r>
              <a:rPr lang="zh-CN" altLang="en-US" sz="1400" dirty="0"/>
              <a:t>	int len = </a:t>
            </a:r>
            <a:r>
              <a:rPr lang="zh-CN" altLang="en-US" sz="1400" dirty="0">
                <a:solidFill>
                  <a:srgbClr val="FF0000"/>
                </a:solidFill>
              </a:rPr>
              <a:t>opcode_entry</a:t>
            </a:r>
            <a:r>
              <a:rPr lang="zh-CN" altLang="en-US" sz="1400" dirty="0"/>
              <a:t>[opcode](cpu.eip, opcode);</a:t>
            </a:r>
            <a:endParaRPr lang="zh-CN" altLang="en-US" sz="1400" dirty="0"/>
          </a:p>
          <a:p>
            <a:r>
              <a:rPr lang="zh-CN" altLang="en-US" sz="1400" dirty="0"/>
              <a:t>	return len;  </a:t>
            </a:r>
            <a:r>
              <a:rPr lang="en-US" altLang="zh-CN" sz="1400" dirty="0">
                <a:solidFill>
                  <a:srgbClr val="00B050"/>
                </a:solidFill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</a:rPr>
              <a:t>返回指令长度</a:t>
            </a:r>
            <a:endParaRPr lang="zh-CN" altLang="en-US" sz="1400" dirty="0">
              <a:solidFill>
                <a:srgbClr val="00B050"/>
              </a:solidFill>
            </a:endParaRPr>
          </a:p>
          <a:p>
            <a:r>
              <a:rPr lang="zh-CN" altLang="en-US" sz="1400" dirty="0"/>
              <a:t>}</a:t>
            </a:r>
            <a:endParaRPr lang="zh-CN" altLang="en-US" sz="1400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489345" y="755646"/>
            <a:ext cx="3262025" cy="3428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120082" y="3151030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1. </a:t>
            </a:r>
            <a:r>
              <a:rPr lang="en-US" altLang="zh-CN" dirty="0" err="1">
                <a:solidFill>
                  <a:srgbClr val="FF0000"/>
                </a:solidFill>
              </a:rPr>
              <a:t>cpu.eip</a:t>
            </a:r>
            <a:r>
              <a:rPr lang="zh-CN" altLang="en-US" dirty="0">
                <a:solidFill>
                  <a:srgbClr val="FF0000"/>
                </a:solidFill>
              </a:rPr>
              <a:t>指向</a:t>
            </a:r>
            <a:r>
              <a:rPr lang="en-US" altLang="zh-CN" dirty="0">
                <a:solidFill>
                  <a:srgbClr val="FF0000"/>
                </a:solidFill>
              </a:rPr>
              <a:t>C7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55244" y="4122153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2. Opcode</a:t>
            </a:r>
            <a:r>
              <a:rPr lang="zh-CN" altLang="en-US" dirty="0">
                <a:solidFill>
                  <a:srgbClr val="FF0000"/>
                </a:solidFill>
              </a:rPr>
              <a:t>取出为</a:t>
            </a:r>
            <a:r>
              <a:rPr lang="en-US" altLang="zh-CN" dirty="0">
                <a:solidFill>
                  <a:srgbClr val="FF0000"/>
                </a:solidFill>
              </a:rPr>
              <a:t>C7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500736" y="6296859"/>
            <a:ext cx="3389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err="1">
                <a:solidFill>
                  <a:srgbClr val="0070C0"/>
                </a:solidFill>
              </a:rPr>
              <a:t>nemu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src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cpu</a:t>
            </a:r>
            <a:r>
              <a:rPr lang="en-US" altLang="zh-CN" i="1" dirty="0">
                <a:solidFill>
                  <a:srgbClr val="0070C0"/>
                </a:solidFill>
              </a:rPr>
              <a:t>/decode/</a:t>
            </a:r>
            <a:r>
              <a:rPr lang="en-US" altLang="zh-CN" i="1" dirty="0" err="1">
                <a:solidFill>
                  <a:srgbClr val="0070C0"/>
                </a:solidFill>
              </a:rPr>
              <a:t>opcode.c</a:t>
            </a:r>
            <a:endParaRPr lang="en-US" altLang="zh-CN" i="1" dirty="0">
              <a:solidFill>
                <a:srgbClr val="0070C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959927" y="5281197"/>
            <a:ext cx="4682692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1400" dirty="0"/>
              <a:t>#include "</a:t>
            </a:r>
            <a:r>
              <a:rPr lang="en-US" altLang="zh-CN" sz="1400" dirty="0" err="1"/>
              <a:t>cpu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instr.h</a:t>
            </a:r>
            <a:r>
              <a:rPr lang="en-US" altLang="zh-CN" sz="1400" dirty="0"/>
              <a:t>"</a:t>
            </a:r>
            <a:endParaRPr lang="en-US" altLang="zh-CN" sz="1400" dirty="0"/>
          </a:p>
          <a:p>
            <a:r>
              <a:rPr lang="zh-CN" altLang="en-US" sz="1400" dirty="0"/>
              <a:t>instr_func opcode_entry[256] = {</a:t>
            </a:r>
            <a:endParaRPr lang="en-US" altLang="zh-CN" sz="1400" dirty="0"/>
          </a:p>
          <a:p>
            <a:r>
              <a:rPr lang="zh-CN" altLang="en-US" sz="1400" dirty="0"/>
              <a:t> </a:t>
            </a:r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/* 0xc4 - </a:t>
            </a:r>
            <a:r>
              <a:rPr lang="en-US" altLang="zh-CN" sz="1400" dirty="0">
                <a:solidFill>
                  <a:srgbClr val="FF0000"/>
                </a:solidFill>
              </a:rPr>
              <a:t>0xc7</a:t>
            </a:r>
            <a:r>
              <a:rPr lang="en-US" altLang="zh-CN" sz="1400" dirty="0"/>
              <a:t>*/	</a:t>
            </a:r>
            <a:r>
              <a:rPr lang="en-US" altLang="zh-CN" sz="1400" dirty="0" err="1"/>
              <a:t>inv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inv</a:t>
            </a:r>
            <a:r>
              <a:rPr lang="en-US" altLang="zh-CN" sz="1400" dirty="0"/>
              <a:t>, mov_i2rm_b,</a:t>
            </a:r>
            <a:r>
              <a:rPr lang="en-US" altLang="zh-CN" sz="1400" dirty="0">
                <a:solidFill>
                  <a:srgbClr val="FF0000"/>
                </a:solidFill>
              </a:rPr>
              <a:t> mov_i2rm_v</a:t>
            </a:r>
            <a:r>
              <a:rPr lang="en-US" altLang="zh-CN" sz="1400" dirty="0"/>
              <a:t>, </a:t>
            </a:r>
            <a:endParaRPr lang="en-US" altLang="zh-CN" sz="1400" dirty="0"/>
          </a:p>
          <a:p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8211127" y="4568673"/>
            <a:ext cx="258618" cy="14050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618279" y="5325736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3. </a:t>
            </a:r>
            <a:r>
              <a:rPr lang="zh-CN" altLang="en-US" dirty="0">
                <a:solidFill>
                  <a:srgbClr val="FF0000"/>
                </a:solidFill>
              </a:rPr>
              <a:t>访问数组即函数调用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634377" y="3108118"/>
            <a:ext cx="3012904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dirty="0" err="1"/>
              <a:t>make_instr_func</a:t>
            </a:r>
            <a:r>
              <a:rPr lang="en-US" altLang="zh-CN" sz="1400" dirty="0"/>
              <a:t>(</a:t>
            </a:r>
            <a:r>
              <a:rPr lang="en-US" altLang="zh-CN" sz="1400" dirty="0">
                <a:solidFill>
                  <a:srgbClr val="7030A0"/>
                </a:solidFill>
              </a:rPr>
              <a:t>mov_i2rm_v</a:t>
            </a:r>
            <a:r>
              <a:rPr lang="en-US" altLang="zh-CN" sz="1400" dirty="0"/>
              <a:t>) { </a:t>
            </a:r>
            <a:endParaRPr lang="zh-CN" altLang="zh-CN" sz="1400" dirty="0"/>
          </a:p>
          <a:p>
            <a:r>
              <a:rPr lang="en-US" altLang="zh-CN" sz="1400" dirty="0"/>
              <a:t>    OPERAND </a:t>
            </a:r>
            <a:r>
              <a:rPr lang="en-US" altLang="zh-CN" sz="1400" dirty="0" err="1"/>
              <a:t>rm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imm</a:t>
            </a:r>
            <a:r>
              <a:rPr lang="en-US" altLang="zh-CN" sz="1400" dirty="0"/>
              <a:t>;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rm.data_size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data_size</a:t>
            </a:r>
            <a:r>
              <a:rPr lang="en-US" altLang="zh-CN" sz="1400" dirty="0"/>
              <a:t>; </a:t>
            </a:r>
            <a:endParaRPr lang="zh-CN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 = 1;                       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 += </a:t>
            </a:r>
            <a:r>
              <a:rPr lang="en-US" altLang="zh-CN" sz="1400" dirty="0" err="1"/>
              <a:t>modrm_rm</a:t>
            </a:r>
            <a:r>
              <a:rPr lang="en-US" altLang="zh-CN" sz="1400" dirty="0"/>
              <a:t>(</a:t>
            </a:r>
            <a:r>
              <a:rPr lang="en-US" altLang="zh-CN" sz="1400" dirty="0" err="1"/>
              <a:t>eip</a:t>
            </a:r>
            <a:r>
              <a:rPr lang="en-US" altLang="zh-CN" sz="1400" dirty="0"/>
              <a:t> + 1, &amp;</a:t>
            </a:r>
            <a:r>
              <a:rPr lang="en-US" altLang="zh-CN" sz="1400" dirty="0" err="1"/>
              <a:t>rm</a:t>
            </a:r>
            <a:r>
              <a:rPr lang="en-US" altLang="zh-CN" sz="1400" dirty="0"/>
              <a:t>);</a:t>
            </a:r>
            <a:r>
              <a:rPr lang="en-US" altLang="zh-CN" sz="1400" dirty="0">
                <a:solidFill>
                  <a:srgbClr val="FF0000"/>
                </a:solidFill>
              </a:rPr>
              <a:t>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imm.type</a:t>
            </a:r>
            <a:r>
              <a:rPr lang="en-US" altLang="zh-CN" sz="1400" dirty="0"/>
              <a:t> = OPR_IMM; 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imm.addr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eip</a:t>
            </a:r>
            <a:r>
              <a:rPr lang="en-US" altLang="zh-CN" sz="1400" dirty="0"/>
              <a:t> +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; 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imm.data_size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data_size</a:t>
            </a:r>
            <a:r>
              <a:rPr lang="en-US" altLang="zh-CN" sz="1400" dirty="0"/>
              <a:t>;       </a:t>
            </a:r>
            <a:endParaRPr lang="zh-CN" altLang="zh-CN" sz="1400" dirty="0"/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operand_read</a:t>
            </a:r>
            <a:r>
              <a:rPr lang="en-US" altLang="zh-CN" sz="1400" dirty="0"/>
              <a:t>(&amp;</a:t>
            </a:r>
            <a:r>
              <a:rPr lang="en-US" altLang="zh-CN" sz="1400" dirty="0" err="1"/>
              <a:t>imm</a:t>
            </a:r>
            <a:r>
              <a:rPr lang="en-US" altLang="zh-CN" sz="1400" dirty="0"/>
              <a:t>); 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rm.val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imm.val</a:t>
            </a:r>
            <a:r>
              <a:rPr lang="en-US" altLang="zh-CN" sz="1400" dirty="0"/>
              <a:t>;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operand_write</a:t>
            </a:r>
            <a:r>
              <a:rPr lang="en-US" altLang="zh-CN" sz="1400" dirty="0"/>
              <a:t>(&amp;</a:t>
            </a:r>
            <a:r>
              <a:rPr lang="en-US" altLang="zh-CN" sz="1400" dirty="0" err="1"/>
              <a:t>rm</a:t>
            </a:r>
            <a:r>
              <a:rPr lang="en-US" altLang="zh-CN" sz="1400" dirty="0"/>
              <a:t>);</a:t>
            </a:r>
            <a:endParaRPr lang="zh-CN" altLang="zh-CN" sz="1400" dirty="0"/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r>
              <a:rPr lang="en-US" altLang="zh-CN" sz="1400" dirty="0"/>
              <a:t>   </a:t>
            </a:r>
            <a:r>
              <a:rPr lang="en-US" altLang="zh-CN" sz="1400" dirty="0">
                <a:solidFill>
                  <a:srgbClr val="FF0000"/>
                </a:solidFill>
              </a:rPr>
              <a:t> return </a:t>
            </a:r>
            <a:r>
              <a:rPr lang="en-US" altLang="zh-CN" sz="1400" dirty="0" err="1">
                <a:solidFill>
                  <a:srgbClr val="FF0000"/>
                </a:solidFill>
              </a:rPr>
              <a:t>len</a:t>
            </a:r>
            <a:r>
              <a:rPr lang="en-US" altLang="zh-CN" sz="1400" dirty="0">
                <a:solidFill>
                  <a:srgbClr val="FF0000"/>
                </a:solidFill>
              </a:rPr>
              <a:t> + </a:t>
            </a:r>
            <a:r>
              <a:rPr lang="en-US" altLang="zh-CN" sz="1400" dirty="0" err="1">
                <a:solidFill>
                  <a:srgbClr val="FF0000"/>
                </a:solidFill>
              </a:rPr>
              <a:t>data_size</a:t>
            </a:r>
            <a:r>
              <a:rPr lang="en-US" altLang="zh-CN" sz="1400" dirty="0">
                <a:solidFill>
                  <a:srgbClr val="FF0000"/>
                </a:solidFill>
              </a:rPr>
              <a:t> / 8;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sp>
        <p:nvSpPr>
          <p:cNvPr id="24" name="文本框 23"/>
          <p:cNvSpPr txBox="1"/>
          <p:nvPr/>
        </p:nvSpPr>
        <p:spPr>
          <a:xfrm>
            <a:off x="1870296" y="2655756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cpu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instr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mov.c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H="1" flipV="1">
            <a:off x="3834244" y="3395037"/>
            <a:ext cx="4387709" cy="25786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V="1">
            <a:off x="4136175" y="4588861"/>
            <a:ext cx="2123371" cy="15727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4018775" y="6187510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4. </a:t>
            </a:r>
            <a:r>
              <a:rPr lang="zh-CN" altLang="en-US" dirty="0">
                <a:solidFill>
                  <a:srgbClr val="FF0000"/>
                </a:solidFill>
              </a:rPr>
              <a:t>返回指令长度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5550166" y="2373745"/>
            <a:ext cx="1201617" cy="2327564"/>
          </a:xfrm>
          <a:custGeom>
            <a:avLst/>
            <a:gdLst>
              <a:gd name="connsiteX0" fmla="*/ 333399 w 1201617"/>
              <a:gd name="connsiteY0" fmla="*/ 2327564 h 2327564"/>
              <a:gd name="connsiteX1" fmla="*/ 47071 w 1201617"/>
              <a:gd name="connsiteY1" fmla="*/ 701964 h 2327564"/>
              <a:gd name="connsiteX2" fmla="*/ 1201617 w 1201617"/>
              <a:gd name="connsiteY2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1617" h="2327564">
                <a:moveTo>
                  <a:pt x="333399" y="2327564"/>
                </a:moveTo>
                <a:cubicBezTo>
                  <a:pt x="117883" y="1708727"/>
                  <a:pt x="-97632" y="1089891"/>
                  <a:pt x="47071" y="701964"/>
                </a:cubicBezTo>
                <a:cubicBezTo>
                  <a:pt x="191774" y="314037"/>
                  <a:pt x="696695" y="157018"/>
                  <a:pt x="1201617" y="0"/>
                </a:cubicBezTo>
              </a:path>
            </a:pathLst>
          </a:cu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489344" y="2196728"/>
            <a:ext cx="196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5. </a:t>
            </a:r>
            <a:r>
              <a:rPr lang="zh-CN" altLang="en-US" dirty="0">
                <a:solidFill>
                  <a:srgbClr val="FF0000"/>
                </a:solidFill>
              </a:rPr>
              <a:t>循环开启下一条指令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4136174" y="755646"/>
            <a:ext cx="383372" cy="463554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668739" y="1271278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</a:t>
            </a:r>
            <a:r>
              <a:rPr lang="en-US" altLang="zh-CN" dirty="0"/>
              <a:t>EIP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882619" y="1770792"/>
            <a:ext cx="2136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mov_i2rm_v</a:t>
            </a:r>
            <a:r>
              <a:rPr lang="zh-CN" altLang="en-US" dirty="0">
                <a:solidFill>
                  <a:srgbClr val="7030A0"/>
                </a:solidFill>
              </a:rPr>
              <a:t>是模拟</a:t>
            </a:r>
            <a:r>
              <a:rPr lang="en-US" altLang="zh-CN" dirty="0">
                <a:solidFill>
                  <a:srgbClr val="7030A0"/>
                </a:solidFill>
              </a:rPr>
              <a:t>C7</a:t>
            </a:r>
            <a:r>
              <a:rPr lang="zh-CN" altLang="en-US" dirty="0">
                <a:solidFill>
                  <a:srgbClr val="7030A0"/>
                </a:solidFill>
              </a:rPr>
              <a:t>指令的函数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734002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PA 2-1</a:t>
            </a:r>
            <a:r>
              <a:rPr lang="zh-CN" altLang="en-US" sz="3600" dirty="0"/>
              <a:t>要做的任务：执行</a:t>
            </a:r>
            <a:r>
              <a:rPr lang="en-US" altLang="zh-CN" sz="3600" dirty="0"/>
              <a:t>make run</a:t>
            </a:r>
            <a:r>
              <a:rPr lang="zh-CN" altLang="en-US" sz="3600" dirty="0"/>
              <a:t>或</a:t>
            </a:r>
            <a:r>
              <a:rPr lang="en-US" altLang="zh-CN" sz="3600" dirty="0"/>
              <a:t>make test_pa-2-1</a:t>
            </a:r>
            <a:endParaRPr lang="zh-CN" altLang="en-US" sz="3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38200" y="1614686"/>
            <a:ext cx="6170448" cy="330859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invalid opcode(eip = 0x00030033): 83 f8 01 66 c7 05 34 12 ...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sz="1100" dirty="0"/>
          </a:p>
          <a:p>
            <a:r>
              <a:rPr lang="zh-CN" altLang="en-US" sz="1000" dirty="0"/>
              <a:t>There are two cases which will trigger this unexpected exception:</a:t>
            </a:r>
            <a:endParaRPr lang="zh-CN" altLang="en-US" sz="1000" dirty="0"/>
          </a:p>
          <a:p>
            <a:r>
              <a:rPr lang="zh-CN" altLang="en-US" sz="1000" dirty="0"/>
              <a:t>1. The instruction at eip = 0x00030033 is not implemented.</a:t>
            </a:r>
            <a:endParaRPr lang="zh-CN" altLang="en-US" sz="1000" dirty="0"/>
          </a:p>
          <a:p>
            <a:r>
              <a:rPr lang="zh-CN" altLang="en-US" sz="1000" dirty="0"/>
              <a:t>2. Something is implemented incorrectly.</a:t>
            </a:r>
            <a:endParaRPr lang="zh-CN" altLang="en-US" sz="1000" dirty="0"/>
          </a:p>
          <a:p>
            <a:r>
              <a:rPr lang="zh-CN" altLang="en-US" sz="1000" dirty="0"/>
              <a:t>Find this eip value(0x00030033) in the disassembling result to distinguish which case it is.</a:t>
            </a:r>
            <a:endParaRPr lang="zh-CN" altLang="en-US" sz="1000" dirty="0"/>
          </a:p>
          <a:p>
            <a:endParaRPr lang="zh-CN" altLang="en-US" sz="1000" dirty="0"/>
          </a:p>
          <a:p>
            <a:r>
              <a:rPr lang="zh-CN" altLang="en-US" sz="1000" dirty="0">
                <a:solidFill>
                  <a:srgbClr val="FF0000"/>
                </a:solidFill>
              </a:rPr>
              <a:t>If it is the first case, see</a:t>
            </a:r>
            <a:endParaRPr lang="zh-CN" altLang="en-US" sz="1000" dirty="0">
              <a:solidFill>
                <a:srgbClr val="FF0000"/>
              </a:solidFill>
            </a:endParaRPr>
          </a:p>
          <a:p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_ ____   ___    __    __  __                         _ </a:t>
            </a:r>
            <a:endParaRPr lang="zh-CN" altLang="en-US" sz="10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(_)___ </a:t>
            </a:r>
            <a:r>
              <a:rPr lang="en-US" altLang="zh-CN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\</a:t>
            </a:r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/ _ \  / /   |  \/  |                       | |</a:t>
            </a:r>
            <a:endParaRPr lang="zh-CN" altLang="en-US" sz="10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_  __) | (_) |/ /_   | \  / | __ _ _ __  _   _  __ _| |</a:t>
            </a:r>
            <a:endParaRPr lang="zh-CN" altLang="en-US" sz="10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| ||__ &lt; &gt; _ &lt;| '_ \  | |\/| |/ _` | '_ \| | | |/ _` | |</a:t>
            </a:r>
            <a:endParaRPr lang="zh-CN" altLang="en-US" sz="10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| |___) | (_) | (_) | | |  | | (_| | | | | |_| | (_| | |</a:t>
            </a:r>
            <a:endParaRPr lang="zh-CN" altLang="en-US" sz="10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|_|____/ \___/ \___/  |_|  |_|\__,_|_| |_|\__,_|\__,_|_|</a:t>
            </a:r>
            <a:endParaRPr lang="zh-CN" altLang="en-US" sz="10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zh-CN" altLang="en-US" sz="1000" dirty="0">
              <a:solidFill>
                <a:srgbClr val="FF0000"/>
              </a:solidFill>
            </a:endParaRPr>
          </a:p>
          <a:p>
            <a:r>
              <a:rPr lang="zh-CN" altLang="en-US" sz="1000" dirty="0">
                <a:solidFill>
                  <a:srgbClr val="FF0000"/>
                </a:solidFill>
              </a:rPr>
              <a:t>for more details.</a:t>
            </a:r>
            <a:endParaRPr lang="zh-CN" altLang="en-US" sz="1000" dirty="0">
              <a:solidFill>
                <a:srgbClr val="FF0000"/>
              </a:solidFill>
            </a:endParaRPr>
          </a:p>
          <a:p>
            <a:endParaRPr lang="zh-CN" altLang="en-US" sz="1000" dirty="0">
              <a:solidFill>
                <a:srgbClr val="FF0000"/>
              </a:solidFill>
            </a:endParaRPr>
          </a:p>
          <a:p>
            <a:r>
              <a:rPr lang="zh-CN" altLang="en-US" sz="1000" dirty="0">
                <a:solidFill>
                  <a:srgbClr val="FF0000"/>
                </a:solidFill>
              </a:rPr>
              <a:t>If it is the second case, remember:</a:t>
            </a:r>
            <a:endParaRPr lang="zh-CN" altLang="en-US" sz="1000" dirty="0">
              <a:solidFill>
                <a:srgbClr val="FF0000"/>
              </a:solidFill>
            </a:endParaRPr>
          </a:p>
          <a:p>
            <a:r>
              <a:rPr lang="zh-CN" altLang="en-US" sz="1000" dirty="0">
                <a:solidFill>
                  <a:srgbClr val="FF0000"/>
                </a:solidFill>
              </a:rPr>
              <a:t>* The machine is always right!</a:t>
            </a:r>
            <a:endParaRPr lang="zh-CN" altLang="en-US" sz="1000" dirty="0">
              <a:solidFill>
                <a:srgbClr val="FF0000"/>
              </a:solidFill>
            </a:endParaRPr>
          </a:p>
          <a:p>
            <a:r>
              <a:rPr lang="zh-CN" altLang="en-US" sz="1000" dirty="0">
                <a:solidFill>
                  <a:srgbClr val="FF0000"/>
                </a:solidFill>
              </a:rPr>
              <a:t>* Every line of untested code is always wrong!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91400" y="1431594"/>
            <a:ext cx="3721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根据</a:t>
            </a:r>
            <a:r>
              <a:rPr lang="en-US" altLang="zh-CN" sz="2800" dirty="0" err="1"/>
              <a:t>eip</a:t>
            </a:r>
            <a:r>
              <a:rPr lang="zh-CN" altLang="en-US" sz="2800" dirty="0"/>
              <a:t>，结合打印出来的内存内容定位需要实现的指令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配合使用我们定制的</a:t>
            </a:r>
            <a:r>
              <a:rPr lang="en-US" altLang="zh-CN" sz="2800" dirty="0" err="1"/>
              <a:t>objdump</a:t>
            </a:r>
            <a:r>
              <a:rPr lang="zh-CN" altLang="en-US" sz="2800" dirty="0"/>
              <a:t>工具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1192032" y="5543919"/>
            <a:ext cx="67345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5"/>
                </a:solidFill>
              </a:rPr>
              <a:t>http://114.212.10.212/wl/pa2020_spring_guide</a:t>
            </a:r>
            <a:endParaRPr lang="zh-CN" altLang="en-US" sz="2400" b="1" dirty="0">
              <a:solidFill>
                <a:schemeClr val="accent5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00" y="4206478"/>
            <a:ext cx="2931932" cy="22373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92032" y="6102812"/>
            <a:ext cx="864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源码：</a:t>
            </a:r>
            <a:r>
              <a:rPr lang="en-US" altLang="zh-CN" sz="2000" dirty="0">
                <a:solidFill>
                  <a:schemeClr val="accent5"/>
                </a:solidFill>
                <a:latin typeface="Consolas" panose="020B0609020204030204" pitchFamily="49" charset="0"/>
              </a:rPr>
              <a:t>https://gitee.com/wlicsnju/binutils4nemu</a:t>
            </a:r>
            <a:endParaRPr lang="zh-CN" altLang="en-US" sz="20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7926568" y="6102812"/>
            <a:ext cx="518932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096000" y="1045977"/>
            <a:ext cx="4638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需要修改</a:t>
            </a:r>
            <a:r>
              <a:rPr lang="en-US" altLang="zh-CN" dirty="0" err="1"/>
              <a:t>Makefile</a:t>
            </a:r>
            <a:r>
              <a:rPr lang="zh-CN" altLang="en-US" dirty="0"/>
              <a:t>来指定测试用例</a:t>
            </a:r>
            <a:endParaRPr lang="zh-CN" altLang="en-US" dirty="0"/>
          </a:p>
        </p:txBody>
      </p:sp>
      <p:cxnSp>
        <p:nvCxnSpPr>
          <p:cNvPr id="14" name="直接箭头连接符 13"/>
          <p:cNvCxnSpPr>
            <a:stCxn id="3" idx="1"/>
          </p:cNvCxnSpPr>
          <p:nvPr/>
        </p:nvCxnSpPr>
        <p:spPr>
          <a:xfrm flipH="1" flipV="1">
            <a:off x="5822731" y="989149"/>
            <a:ext cx="273269" cy="2414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03300" y="1409700"/>
            <a:ext cx="103505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lvl="1" indent="-514350">
              <a:buFont typeface="+mj-lt"/>
              <a:buAutoNum type="arabicPeriod"/>
            </a:pPr>
            <a:r>
              <a:rPr lang="zh-CN" altLang="en-US" sz="3200" b="1" dirty="0"/>
              <a:t>查</a:t>
            </a:r>
            <a:r>
              <a:rPr lang="en-US" altLang="zh-CN" sz="3200" b="1" dirty="0"/>
              <a:t>i386</a:t>
            </a:r>
            <a:r>
              <a:rPr lang="zh-CN" altLang="en-US" sz="3200" b="1" dirty="0"/>
              <a:t>手册得知这是一条什么指令</a:t>
            </a:r>
            <a:endParaRPr lang="en-US" altLang="zh-CN" sz="3200" b="1" dirty="0"/>
          </a:p>
          <a:p>
            <a:pPr marL="1200150" lvl="2" indent="-514350">
              <a:buFont typeface="+mj-lt"/>
              <a:buAutoNum type="alphaLcParenR"/>
            </a:pPr>
            <a:r>
              <a:rPr lang="zh-CN" altLang="en-US" sz="2800" dirty="0"/>
              <a:t>先查</a:t>
            </a:r>
            <a:r>
              <a:rPr lang="en-US" altLang="zh-CN" sz="2800" dirty="0"/>
              <a:t>appendix A</a:t>
            </a:r>
            <a:r>
              <a:rPr lang="zh-CN" altLang="en-US" sz="2800" dirty="0"/>
              <a:t>得知指令的类型和格式</a:t>
            </a:r>
            <a:endParaRPr lang="en-US" altLang="zh-CN" sz="2800" dirty="0"/>
          </a:p>
          <a:p>
            <a:pPr marL="1200150" lvl="2" indent="-514350">
              <a:buFont typeface="+mj-lt"/>
              <a:buAutoNum type="alphaLcParenR"/>
            </a:pPr>
            <a:r>
              <a:rPr lang="zh-CN" altLang="en-US" sz="2800" dirty="0"/>
              <a:t>必要的话查</a:t>
            </a:r>
            <a:r>
              <a:rPr lang="en-US" altLang="zh-CN" sz="2800" dirty="0"/>
              <a:t>section 17.2.1</a:t>
            </a:r>
            <a:r>
              <a:rPr lang="zh-CN" altLang="en-US" sz="2800" dirty="0"/>
              <a:t>译码</a:t>
            </a:r>
            <a:r>
              <a:rPr lang="en-US" altLang="zh-CN" sz="2800" dirty="0" err="1"/>
              <a:t>ModR</a:t>
            </a:r>
            <a:r>
              <a:rPr lang="en-US" altLang="zh-CN" sz="2800" dirty="0"/>
              <a:t>/M</a:t>
            </a:r>
            <a:r>
              <a:rPr lang="zh-CN" altLang="en-US" sz="2800" dirty="0"/>
              <a:t>和</a:t>
            </a:r>
            <a:r>
              <a:rPr lang="en-US" altLang="zh-CN" sz="2800" dirty="0"/>
              <a:t>SIB</a:t>
            </a:r>
            <a:r>
              <a:rPr lang="zh-CN" altLang="en-US" sz="2800" dirty="0"/>
              <a:t>字节</a:t>
            </a:r>
            <a:endParaRPr lang="en-US" altLang="zh-CN" sz="2800" dirty="0"/>
          </a:p>
          <a:p>
            <a:pPr marL="1200150" lvl="2" indent="-514350">
              <a:buFont typeface="+mj-lt"/>
              <a:buAutoNum type="alphaLcParenR"/>
            </a:pPr>
            <a:r>
              <a:rPr lang="zh-CN" altLang="en-US" sz="2800" dirty="0"/>
              <a:t>必要的话查</a:t>
            </a:r>
            <a:r>
              <a:rPr lang="en-US" altLang="zh-CN" sz="2800" dirty="0"/>
              <a:t>section 17.2.2.11</a:t>
            </a:r>
            <a:r>
              <a:rPr lang="zh-CN" altLang="en-US" sz="2800" dirty="0"/>
              <a:t>查看指令的具体含义和细节</a:t>
            </a:r>
            <a:endParaRPr lang="en-US" altLang="zh-CN" sz="2800" dirty="0"/>
          </a:p>
          <a:p>
            <a:pPr marL="857250" lvl="1" indent="-514350">
              <a:buFont typeface="+mj-lt"/>
              <a:buAutoNum type="arabicPeriod"/>
            </a:pPr>
            <a:r>
              <a:rPr lang="zh-CN" altLang="en-US" sz="3200" b="1" dirty="0"/>
              <a:t>写该操作码对应的instr_func</a:t>
            </a:r>
            <a:endParaRPr lang="en-US" altLang="zh-CN" sz="3200" b="1" dirty="0"/>
          </a:p>
          <a:p>
            <a:pPr marL="1200150" lvl="2" indent="-514350">
              <a:buFont typeface="+mj-lt"/>
              <a:buAutoNum type="alphaLcParenR"/>
            </a:pPr>
            <a:r>
              <a:rPr lang="zh-CN" altLang="en-US" sz="3200" dirty="0"/>
              <a:t>例如：</a:t>
            </a:r>
            <a:r>
              <a:rPr lang="en-US" altLang="zh-CN" sz="3200" dirty="0" err="1"/>
              <a:t>make_instr_func</a:t>
            </a:r>
            <a:r>
              <a:rPr lang="en-US" altLang="zh-CN" sz="3200" dirty="0"/>
              <a:t>(mov_i2rm_v)</a:t>
            </a:r>
            <a:endParaRPr lang="en-US" altLang="zh-CN" sz="3200" dirty="0"/>
          </a:p>
          <a:p>
            <a:pPr marL="857250" lvl="1" indent="-514350">
              <a:buFont typeface="+mj-lt"/>
              <a:buAutoNum type="arabicPeriod"/>
            </a:pPr>
            <a:r>
              <a:rPr lang="zh-CN" altLang="en-US" sz="3200" b="1" dirty="0"/>
              <a:t>把这个函数在</a:t>
            </a:r>
            <a:r>
              <a:rPr lang="en-US" altLang="zh-CN" sz="3200" b="1" dirty="0" err="1"/>
              <a:t>nemu</a:t>
            </a:r>
            <a:r>
              <a:rPr lang="en-US" altLang="zh-CN" sz="3200" b="1" dirty="0"/>
              <a:t>/include/</a:t>
            </a:r>
            <a:r>
              <a:rPr lang="en-US" altLang="zh-CN" sz="3200" b="1" dirty="0" err="1"/>
              <a:t>cpu</a:t>
            </a:r>
            <a:r>
              <a:rPr lang="en-US" altLang="zh-CN" sz="3200" b="1" dirty="0"/>
              <a:t>/</a:t>
            </a:r>
            <a:r>
              <a:rPr lang="en-US" altLang="zh-CN" sz="3200" b="1" dirty="0" err="1"/>
              <a:t>instr.h</a:t>
            </a:r>
            <a:r>
              <a:rPr lang="zh-CN" altLang="en-US" sz="3200" b="1" dirty="0"/>
              <a:t>中声明一下</a:t>
            </a:r>
            <a:endParaRPr lang="en-US" altLang="zh-CN" sz="3200" b="1" dirty="0"/>
          </a:p>
          <a:p>
            <a:pPr marL="857250" lvl="1" indent="-514350">
              <a:buFont typeface="+mj-lt"/>
              <a:buAutoNum type="arabicPeriod"/>
            </a:pPr>
            <a:r>
              <a:rPr lang="zh-CN" altLang="en-US" sz="3200" b="1" dirty="0"/>
              <a:t>在</a:t>
            </a:r>
            <a:r>
              <a:rPr lang="en-US" altLang="zh-CN" sz="3200" b="1" dirty="0" err="1"/>
              <a:t>opcode_entry</a:t>
            </a:r>
            <a:r>
              <a:rPr lang="zh-CN" altLang="en-US" sz="3200" b="1" dirty="0"/>
              <a:t>对应该操作码的地方把这个函数的函数名填进去替代原来的</a:t>
            </a:r>
            <a:r>
              <a:rPr lang="en-US" altLang="zh-CN" sz="3200" b="1" dirty="0" err="1"/>
              <a:t>inv</a:t>
            </a:r>
            <a:endParaRPr lang="en-US" altLang="zh-CN" sz="3200" b="1" dirty="0"/>
          </a:p>
          <a:p>
            <a:pPr marL="857250" lvl="1" indent="-514350">
              <a:buFont typeface="+mj-lt"/>
              <a:buAutoNum type="arabicPeriod"/>
            </a:pPr>
            <a:r>
              <a:rPr lang="zh-CN" altLang="en-US" sz="3200" b="1" dirty="0"/>
              <a:t>重复上述过程直至完成所有需要模拟的指令</a:t>
            </a:r>
            <a:endParaRPr lang="zh-CN" altLang="en-US" sz="2800" b="1" dirty="0"/>
          </a:p>
          <a:p>
            <a:endParaRPr lang="zh-CN" altLang="en-US" dirty="0"/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734002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PA 2-1</a:t>
            </a:r>
            <a:r>
              <a:rPr lang="zh-CN" altLang="en-US" sz="3600" dirty="0"/>
              <a:t>要做的任务：执行</a:t>
            </a:r>
            <a:r>
              <a:rPr lang="en-US" altLang="zh-CN" sz="3600" dirty="0"/>
              <a:t>make run</a:t>
            </a:r>
            <a:r>
              <a:rPr lang="zh-CN" altLang="en-US" sz="3600" dirty="0"/>
              <a:t>或</a:t>
            </a:r>
            <a:r>
              <a:rPr lang="en-US" altLang="zh-CN" sz="3600" dirty="0"/>
              <a:t>make test_pa-2-1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805571"/>
          </a:xfrm>
        </p:spPr>
        <p:txBody>
          <a:bodyPr/>
          <a:lstStyle/>
          <a:p>
            <a:r>
              <a:rPr lang="zh-CN" altLang="en-US" dirty="0"/>
              <a:t>针对这个框架有一些要特别注意的地方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FB98-AB12-4AE4-8FF6-2E5909CEBD3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001750" y="2366884"/>
            <a:ext cx="6238360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void exec(uint32_t n) {</a:t>
            </a:r>
            <a:endParaRPr lang="en-US" altLang="zh-CN" dirty="0"/>
          </a:p>
          <a:p>
            <a:r>
              <a:rPr lang="en-US" altLang="zh-CN" dirty="0"/>
              <a:t>	…</a:t>
            </a:r>
            <a:endParaRPr lang="en-US" altLang="zh-CN" dirty="0"/>
          </a:p>
          <a:p>
            <a:r>
              <a:rPr lang="en-US" altLang="zh-CN" dirty="0"/>
              <a:t>	while( n &gt; 0 &amp;&amp; </a:t>
            </a:r>
            <a:r>
              <a:rPr lang="en-US" altLang="zh-CN" dirty="0" err="1"/>
              <a:t>nemu_state</a:t>
            </a:r>
            <a:r>
              <a:rPr lang="en-US" altLang="zh-CN" dirty="0"/>
              <a:t> == NEMU_RUN) </a:t>
            </a:r>
            <a:endParaRPr lang="en-US" altLang="zh-CN" dirty="0"/>
          </a:p>
          <a:p>
            <a:r>
              <a:rPr lang="en-US" altLang="zh-CN" dirty="0"/>
              <a:t>	{</a:t>
            </a:r>
            <a:endParaRPr lang="en-US" altLang="zh-CN" dirty="0"/>
          </a:p>
          <a:p>
            <a:r>
              <a:rPr lang="en-US" altLang="zh-CN" dirty="0"/>
              <a:t>		…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>
                <a:solidFill>
                  <a:srgbClr val="FF0000"/>
                </a:solidFill>
              </a:rPr>
              <a:t>instr_len</a:t>
            </a:r>
            <a:r>
              <a:rPr lang="en-US" altLang="zh-CN" dirty="0">
                <a:solidFill>
                  <a:srgbClr val="FF0000"/>
                </a:solidFill>
              </a:rPr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exec_inst</a:t>
            </a:r>
            <a:r>
              <a:rPr lang="en-US" altLang="zh-CN" dirty="0">
                <a:solidFill>
                  <a:srgbClr val="FF0000"/>
                </a:solidFill>
              </a:rPr>
              <a:t>();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		</a:t>
            </a:r>
            <a:r>
              <a:rPr lang="en-US" altLang="zh-CN" dirty="0" err="1">
                <a:solidFill>
                  <a:srgbClr val="FF0000"/>
                </a:solidFill>
              </a:rPr>
              <a:t>cpu.eip</a:t>
            </a:r>
            <a:r>
              <a:rPr lang="en-US" altLang="zh-CN" dirty="0">
                <a:solidFill>
                  <a:srgbClr val="FF0000"/>
                </a:solidFill>
              </a:rPr>
              <a:t> += </a:t>
            </a:r>
            <a:r>
              <a:rPr lang="en-US" altLang="zh-CN" dirty="0" err="1">
                <a:solidFill>
                  <a:srgbClr val="FF0000"/>
                </a:solidFill>
              </a:rPr>
              <a:t>instr_len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		n--;</a:t>
            </a:r>
            <a:endParaRPr lang="en-US" altLang="zh-CN" dirty="0"/>
          </a:p>
          <a:p>
            <a:r>
              <a:rPr lang="en-US" altLang="zh-CN" dirty="0"/>
              <a:t>		…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	…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3707405" y="1691624"/>
            <a:ext cx="3275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cpu.c</a:t>
            </a:r>
            <a:endParaRPr lang="en-US" altLang="zh-CN" sz="2800" i="1" dirty="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15466" y="3680437"/>
            <a:ext cx="3323885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这一步非常机械，对于某些指令，如特殊的</a:t>
            </a:r>
            <a:r>
              <a:rPr lang="en-US" altLang="zh-CN" dirty="0" err="1"/>
              <a:t>jmp</a:t>
            </a:r>
            <a:r>
              <a:rPr lang="zh-CN" altLang="en-US" dirty="0"/>
              <a:t>、</a:t>
            </a:r>
            <a:r>
              <a:rPr lang="en-US" altLang="zh-CN" dirty="0"/>
              <a:t>ret</a:t>
            </a:r>
            <a:r>
              <a:rPr lang="zh-CN" altLang="en-US" dirty="0"/>
              <a:t>中涉及到跳转到某一个绝对的地址（而非相对下一条指令起始地址的偏移量）时，要在实现时灵活指定指令长度为</a:t>
            </a:r>
            <a:r>
              <a:rPr lang="en-US" altLang="zh-CN" dirty="0"/>
              <a:t>0</a:t>
            </a:r>
            <a:r>
              <a:rPr lang="zh-CN" altLang="en-US" dirty="0"/>
              <a:t>，来规避</a:t>
            </a:r>
            <a:r>
              <a:rPr lang="en-US" altLang="zh-CN" dirty="0" err="1">
                <a:solidFill>
                  <a:srgbClr val="FF0000"/>
                </a:solidFill>
              </a:rPr>
              <a:t>cpu.eip</a:t>
            </a:r>
            <a:r>
              <a:rPr lang="en-US" altLang="zh-CN" dirty="0">
                <a:solidFill>
                  <a:srgbClr val="FF0000"/>
                </a:solidFill>
              </a:rPr>
              <a:t> += </a:t>
            </a:r>
            <a:r>
              <a:rPr lang="en-US" altLang="zh-CN" dirty="0" err="1">
                <a:solidFill>
                  <a:srgbClr val="FF0000"/>
                </a:solidFill>
              </a:rPr>
              <a:t>instr_len</a:t>
            </a:r>
            <a:endParaRPr lang="zh-CN" alt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-21514"/>
            <a:ext cx="9144000" cy="895927"/>
          </a:xfrm>
        </p:spPr>
        <p:txBody>
          <a:bodyPr/>
          <a:lstStyle/>
          <a:p>
            <a:r>
              <a:rPr lang="zh-CN" altLang="en-US" dirty="0"/>
              <a:t>实验目标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78700" y="1483827"/>
            <a:ext cx="4813300" cy="36204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PA 2-1</a:t>
            </a:r>
            <a:r>
              <a:rPr lang="zh-CN" altLang="en-US" sz="2400" dirty="0"/>
              <a:t>提交截止时间待定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建议大家先写一些指令，发现在实现过程中不方便的地方，下一次课我们讲解框架代码中和精简指令实现的宏的有关内容</a:t>
            </a:r>
            <a:endParaRPr lang="en-US" altLang="zh-CN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A67B2-7B7B-44A5-A503-7FF5F45478B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23865" y="1706911"/>
            <a:ext cx="6955750" cy="375487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$ make clean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$ make test_pa-2-1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...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./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autorun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 </a:t>
            </a:r>
            <a:r>
              <a:rPr lang="en-US" altLang="zh-CN" sz="1100" dirty="0" err="1">
                <a:latin typeface="Consolas" panose="020B0609020204030204" pitchFamily="49" charset="0"/>
              </a:rPr>
              <a:t>struct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 load and execute </a:t>
            </a:r>
            <a:r>
              <a:rPr lang="en-US" altLang="zh-CN" sz="1100" dirty="0" err="1">
                <a:latin typeface="Consolas" panose="020B0609020204030204" pitchFamily="49" charset="0"/>
              </a:rPr>
              <a:t>img</a:t>
            </a:r>
            <a:r>
              <a:rPr lang="en-US" altLang="zh-CN" sz="1100" dirty="0">
                <a:latin typeface="Consolas" panose="020B0609020204030204" pitchFamily="49" charset="0"/>
              </a:rPr>
              <a:t>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</a:t>
            </a:r>
            <a:r>
              <a:rPr lang="en-US" altLang="zh-CN" sz="1100" dirty="0" err="1">
                <a:latin typeface="Consolas" panose="020B0609020204030204" pitchFamily="49" charset="0"/>
              </a:rPr>
              <a:t>struct.img</a:t>
            </a:r>
            <a:r>
              <a:rPr lang="en-US" altLang="zh-CN" sz="1100" dirty="0">
                <a:latin typeface="Consolas" panose="020B0609020204030204" pitchFamily="49" charset="0"/>
              </a:rPr>
              <a:t>  elf: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</a:t>
            </a:r>
            <a:r>
              <a:rPr lang="en-US" altLang="zh-CN" sz="1100" dirty="0" err="1">
                <a:latin typeface="Consolas" panose="020B0609020204030204" pitchFamily="49" charset="0"/>
              </a:rPr>
              <a:t>struct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: HIT </a:t>
            </a:r>
            <a:r>
              <a:rPr lang="en-US" altLang="zh-CN" sz="1100" dirty="0">
                <a:solidFill>
                  <a:srgbClr val="00B050"/>
                </a:solidFill>
                <a:latin typeface="Consolas" panose="020B0609020204030204" pitchFamily="49" charset="0"/>
              </a:rPr>
              <a:t>GOOD</a:t>
            </a:r>
            <a:r>
              <a:rPr lang="en-US" altLang="zh-CN" sz="1100" dirty="0">
                <a:latin typeface="Consolas" panose="020B0609020204030204" pitchFamily="49" charset="0"/>
              </a:rPr>
              <a:t> TRAP at </a:t>
            </a:r>
            <a:r>
              <a:rPr lang="en-US" altLang="zh-CN" sz="1100" dirty="0" err="1">
                <a:latin typeface="Consolas" panose="020B0609020204030204" pitchFamily="49" charset="0"/>
              </a:rPr>
              <a:t>eip</a:t>
            </a:r>
            <a:r>
              <a:rPr lang="en-US" altLang="zh-CN" sz="1100" dirty="0">
                <a:latin typeface="Consolas" panose="020B0609020204030204" pitchFamily="49" charset="0"/>
              </a:rPr>
              <a:t> = 0x0003010c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NEMU2 terminated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./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autorun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 string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 load and execute </a:t>
            </a:r>
            <a:r>
              <a:rPr lang="en-US" altLang="zh-CN" sz="1100" dirty="0" err="1">
                <a:latin typeface="Consolas" panose="020B0609020204030204" pitchFamily="49" charset="0"/>
              </a:rPr>
              <a:t>img</a:t>
            </a:r>
            <a:r>
              <a:rPr lang="en-US" altLang="zh-CN" sz="1100" dirty="0">
                <a:latin typeface="Consolas" panose="020B0609020204030204" pitchFamily="49" charset="0"/>
              </a:rPr>
              <a:t>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</a:t>
            </a:r>
            <a:r>
              <a:rPr lang="en-US" altLang="zh-CN" sz="1100" dirty="0" err="1">
                <a:latin typeface="Consolas" panose="020B0609020204030204" pitchFamily="49" charset="0"/>
              </a:rPr>
              <a:t>string.img</a:t>
            </a:r>
            <a:r>
              <a:rPr lang="en-US" altLang="zh-CN" sz="1100" dirty="0">
                <a:latin typeface="Consolas" panose="020B0609020204030204" pitchFamily="49" charset="0"/>
              </a:rPr>
              <a:t>  elf: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/bin/string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: HIT </a:t>
            </a:r>
            <a:r>
              <a:rPr lang="en-US" altLang="zh-CN" sz="1100" dirty="0">
                <a:solidFill>
                  <a:srgbClr val="00B050"/>
                </a:solidFill>
                <a:latin typeface="Consolas" panose="020B0609020204030204" pitchFamily="49" charset="0"/>
              </a:rPr>
              <a:t>GOOD</a:t>
            </a:r>
            <a:r>
              <a:rPr lang="en-US" altLang="zh-CN" sz="1100" dirty="0">
                <a:latin typeface="Consolas" panose="020B0609020204030204" pitchFamily="49" charset="0"/>
              </a:rPr>
              <a:t> TRAP at </a:t>
            </a:r>
            <a:r>
              <a:rPr lang="en-US" altLang="zh-CN" sz="1100" dirty="0" err="1">
                <a:latin typeface="Consolas" panose="020B0609020204030204" pitchFamily="49" charset="0"/>
              </a:rPr>
              <a:t>eip</a:t>
            </a:r>
            <a:r>
              <a:rPr lang="en-US" altLang="zh-CN" sz="1100" dirty="0">
                <a:latin typeface="Consolas" panose="020B0609020204030204" pitchFamily="49" charset="0"/>
              </a:rPr>
              <a:t> = 0x0003016a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NEMU2 terminated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./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autorun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 hello-</a:t>
            </a:r>
            <a:r>
              <a:rPr lang="en-US" altLang="zh-CN" sz="1100" dirty="0" err="1">
                <a:latin typeface="Consolas" panose="020B0609020204030204" pitchFamily="49" charset="0"/>
              </a:rPr>
              <a:t>str</a:t>
            </a:r>
            <a:r>
              <a:rPr lang="en-US" altLang="zh-CN" sz="1100" dirty="0">
                <a:latin typeface="Consolas" panose="020B0609020204030204" pitchFamily="49" charset="0"/>
              </a:rPr>
              <a:t> 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 load and execute </a:t>
            </a:r>
            <a:r>
              <a:rPr lang="en-US" altLang="zh-CN" sz="1100" dirty="0" err="1">
                <a:latin typeface="Consolas" panose="020B0609020204030204" pitchFamily="49" charset="0"/>
              </a:rPr>
              <a:t>img</a:t>
            </a:r>
            <a:r>
              <a:rPr lang="en-US" altLang="zh-CN" sz="1100" dirty="0">
                <a:latin typeface="Consolas" panose="020B0609020204030204" pitchFamily="49" charset="0"/>
              </a:rPr>
              <a:t>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/bin/hello-</a:t>
            </a:r>
            <a:r>
              <a:rPr lang="en-US" altLang="zh-CN" sz="1100" dirty="0" err="1">
                <a:latin typeface="Consolas" panose="020B0609020204030204" pitchFamily="49" charset="0"/>
              </a:rPr>
              <a:t>str.img</a:t>
            </a:r>
            <a:r>
              <a:rPr lang="en-US" altLang="zh-CN" sz="1100" dirty="0">
                <a:latin typeface="Consolas" panose="020B0609020204030204" pitchFamily="49" charset="0"/>
              </a:rPr>
              <a:t>  elf: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/bin/hello-</a:t>
            </a:r>
            <a:r>
              <a:rPr lang="en-US" altLang="zh-CN" sz="1100" dirty="0" err="1">
                <a:latin typeface="Consolas" panose="020B0609020204030204" pitchFamily="49" charset="0"/>
              </a:rPr>
              <a:t>str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: HIT </a:t>
            </a:r>
            <a:r>
              <a:rPr lang="en-US" altLang="zh-CN" sz="1100" dirty="0">
                <a:solidFill>
                  <a:srgbClr val="00B050"/>
                </a:solidFill>
                <a:latin typeface="Consolas" panose="020B0609020204030204" pitchFamily="49" charset="0"/>
              </a:rPr>
              <a:t>GOOD</a:t>
            </a:r>
            <a:r>
              <a:rPr lang="en-US" altLang="zh-CN" sz="1100" dirty="0">
                <a:latin typeface="Consolas" panose="020B0609020204030204" pitchFamily="49" charset="0"/>
              </a:rPr>
              <a:t> TRAP at </a:t>
            </a:r>
            <a:r>
              <a:rPr lang="en-US" altLang="zh-CN" sz="1100" dirty="0" err="1">
                <a:latin typeface="Consolas" panose="020B0609020204030204" pitchFamily="49" charset="0"/>
              </a:rPr>
              <a:t>eip</a:t>
            </a:r>
            <a:r>
              <a:rPr lang="en-US" altLang="zh-CN" sz="1100" dirty="0">
                <a:latin typeface="Consolas" panose="020B0609020204030204" pitchFamily="49" charset="0"/>
              </a:rPr>
              <a:t> = 0x00030105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NEMU2 terminated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./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autorun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 test-float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 load and execute </a:t>
            </a:r>
            <a:r>
              <a:rPr lang="en-US" altLang="zh-CN" sz="1100" dirty="0" err="1">
                <a:latin typeface="Consolas" panose="020B0609020204030204" pitchFamily="49" charset="0"/>
              </a:rPr>
              <a:t>img</a:t>
            </a:r>
            <a:r>
              <a:rPr lang="en-US" altLang="zh-CN" sz="1100" dirty="0">
                <a:latin typeface="Consolas" panose="020B0609020204030204" pitchFamily="49" charset="0"/>
              </a:rPr>
              <a:t>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/bin/test-</a:t>
            </a:r>
            <a:r>
              <a:rPr lang="en-US" altLang="zh-CN" sz="1100" dirty="0" err="1">
                <a:latin typeface="Consolas" panose="020B0609020204030204" pitchFamily="49" charset="0"/>
              </a:rPr>
              <a:t>float.img</a:t>
            </a:r>
            <a:r>
              <a:rPr lang="en-US" altLang="zh-CN" sz="1100" dirty="0">
                <a:latin typeface="Consolas" panose="020B0609020204030204" pitchFamily="49" charset="0"/>
              </a:rPr>
              <a:t>  elf: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/bin/test-float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: HIT </a:t>
            </a:r>
            <a:r>
              <a:rPr lang="en-US" altLang="zh-CN" sz="1100" dirty="0">
                <a:solidFill>
                  <a:srgbClr val="C00000"/>
                </a:solidFill>
                <a:latin typeface="Consolas" panose="020B0609020204030204" pitchFamily="49" charset="0"/>
              </a:rPr>
              <a:t>BAD</a:t>
            </a:r>
            <a:r>
              <a:rPr lang="en-US" altLang="zh-CN" sz="1100" dirty="0">
                <a:latin typeface="Consolas" panose="020B0609020204030204" pitchFamily="49" charset="0"/>
              </a:rPr>
              <a:t> TRAP at </a:t>
            </a:r>
            <a:r>
              <a:rPr lang="en-US" altLang="zh-CN" sz="1100" dirty="0" err="1">
                <a:latin typeface="Consolas" panose="020B0609020204030204" pitchFamily="49" charset="0"/>
              </a:rPr>
              <a:t>eip</a:t>
            </a:r>
            <a:r>
              <a:rPr lang="en-US" altLang="zh-CN" sz="1100" dirty="0">
                <a:latin typeface="Consolas" panose="020B0609020204030204" pitchFamily="49" charset="0"/>
              </a:rPr>
              <a:t> = 0x000300c8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NEMU2 terminated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make[1]: Leaving directory '/home/</a:t>
            </a:r>
            <a:r>
              <a:rPr lang="en-US" altLang="zh-CN" sz="1100" dirty="0" err="1">
                <a:latin typeface="Consolas" panose="020B0609020204030204" pitchFamily="49" charset="0"/>
              </a:rPr>
              <a:t>icspa</a:t>
            </a:r>
            <a:r>
              <a:rPr lang="en-US" altLang="zh-CN" sz="1100" dirty="0">
                <a:latin typeface="Consolas" panose="020B0609020204030204" pitchFamily="49" charset="0"/>
              </a:rPr>
              <a:t>/teaching/</a:t>
            </a:r>
            <a:r>
              <a:rPr lang="en-US" altLang="zh-CN" sz="1100" dirty="0" err="1">
                <a:latin typeface="Consolas" panose="020B0609020204030204" pitchFamily="49" charset="0"/>
              </a:rPr>
              <a:t>temp_test</a:t>
            </a:r>
            <a:r>
              <a:rPr lang="en-US" altLang="zh-CN" sz="1100" dirty="0">
                <a:latin typeface="Consolas" panose="020B0609020204030204" pitchFamily="49" charset="0"/>
              </a:rPr>
              <a:t>/</a:t>
            </a:r>
            <a:r>
              <a:rPr lang="en-US" altLang="zh-CN" sz="1100" dirty="0" err="1">
                <a:latin typeface="Consolas" panose="020B0609020204030204" pitchFamily="49" charset="0"/>
              </a:rPr>
              <a:t>pa_code</a:t>
            </a:r>
            <a:r>
              <a:rPr lang="en-US" altLang="zh-CN" sz="1100" dirty="0">
                <a:latin typeface="Consolas" panose="020B0609020204030204" pitchFamily="49" charset="0"/>
              </a:rPr>
              <a:t>'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7000" y="1219200"/>
            <a:ext cx="2025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控制台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但是！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3EE9-7539-4E35-AA32-D6C6D6B84F3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3879850" cy="258532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make_instr_impl_2op(mov, r, rm, v)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96050" y="4895851"/>
            <a:ext cx="4629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用于精简指令实现的宏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575050" y="1282658"/>
            <a:ext cx="271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00" dirty="0">
                <a:solidFill>
                  <a:srgbClr val="C00000"/>
                </a:solidFill>
              </a:rPr>
              <a:t>普通实现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4000" y="1282658"/>
            <a:ext cx="271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C00000"/>
                </a:solidFill>
              </a:rPr>
              <a:t>精简实现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9697" y="2953407"/>
            <a:ext cx="1072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会出现大量相似的重复代码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662745" y="2804106"/>
            <a:ext cx="1072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同样指令同样的逻辑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0711793" y="4153736"/>
            <a:ext cx="1284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一行对应一条指令的实现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4"/>
            <a:ext cx="4648200" cy="456278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sz="2400" kern="100" dirty="0" err="1">
                <a:solidFill>
                  <a:srgbClr val="C00000"/>
                </a:solidFill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sz="2400" kern="100" dirty="0">
                <a:solidFill>
                  <a:srgbClr val="C00000"/>
                </a:solidFill>
                <a:latin typeface="等线" panose="02010600030101010101" charset="-122"/>
                <a:cs typeface="Times New Roman" panose="02020603050405020304" pitchFamily="18" charset="0"/>
              </a:rPr>
              <a:t>(mov_r2rm_v)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3879850" cy="258532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make_instr_impl_2op(mov, r, rm, v)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496050" y="4895851"/>
            <a:ext cx="4591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52600" y="564646"/>
            <a:ext cx="8839200" cy="72327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making an instruction entry</a:t>
            </a:r>
            <a:endParaRPr lang="zh-CN" altLang="en-US" dirty="0"/>
          </a:p>
          <a:p>
            <a:r>
              <a:rPr lang="zh-CN" altLang="en-US" sz="2300" dirty="0">
                <a:solidFill>
                  <a:srgbClr val="C00000"/>
                </a:solidFill>
              </a:rPr>
              <a:t>#define make_instr_func(name) int name(uint32_t eip, uint8_t opcode)</a:t>
            </a:r>
            <a:endParaRPr lang="zh-CN" altLang="en-US" sz="2300" dirty="0">
              <a:solidFill>
                <a:srgbClr val="C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81500" y="0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8" name="左右箭头 7"/>
          <p:cNvSpPr/>
          <p:nvPr/>
        </p:nvSpPr>
        <p:spPr>
          <a:xfrm rot="19615567">
            <a:off x="5725772" y="1642507"/>
            <a:ext cx="1818366" cy="241300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752600" y="1504117"/>
            <a:ext cx="4661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int </a:t>
            </a:r>
            <a:r>
              <a:rPr lang="en-US" altLang="zh-CN" dirty="0">
                <a:solidFill>
                  <a:srgbClr val="C00000"/>
                </a:solidFill>
              </a:rPr>
              <a:t>mov_r2rm_v </a:t>
            </a:r>
            <a:r>
              <a:rPr lang="zh-CN" altLang="en-US" dirty="0">
                <a:solidFill>
                  <a:srgbClr val="C00000"/>
                </a:solidFill>
              </a:rPr>
              <a:t>(uint32_t eip, uint8_t opcode)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4368800" cy="261610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96050" y="5097952"/>
            <a:ext cx="4695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8991599" cy="347787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#define make_instr_impl_2op(inst_name, src_type, dest_type, suffix) \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                // </a:t>
            </a:r>
            <a:r>
              <a:rPr lang="zh-CN" altLang="en-US" sz="2000" dirty="0">
                <a:solidFill>
                  <a:srgbClr val="C00000"/>
                </a:solidFill>
              </a:rPr>
              <a:t>等于 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	 </a:t>
            </a:r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宏展开等于 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make_instr_</a:t>
            </a:r>
            <a:r>
              <a:rPr lang="en-US" altLang="zh-CN" dirty="0" err="1">
                <a:solidFill>
                  <a:srgbClr val="C00000"/>
                </a:solidFill>
              </a:rPr>
              <a:t>func</a:t>
            </a:r>
            <a:r>
              <a:rPr lang="zh-CN" altLang="en-US" dirty="0">
                <a:solidFill>
                  <a:srgbClr val="C00000"/>
                </a:solidFill>
              </a:rPr>
              <a:t>(mov</a:t>
            </a:r>
            <a:r>
              <a:rPr lang="en-US" altLang="zh-CN" dirty="0">
                <a:solidFill>
                  <a:srgbClr val="C00000"/>
                </a:solidFill>
              </a:rPr>
              <a:t>_</a:t>
            </a:r>
            <a:r>
              <a:rPr lang="zh-CN" altLang="en-US" dirty="0">
                <a:solidFill>
                  <a:srgbClr val="C00000"/>
                </a:solidFill>
              </a:rPr>
              <a:t> r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rm</a:t>
            </a:r>
            <a:r>
              <a:rPr lang="en-US" altLang="zh-CN" dirty="0">
                <a:solidFill>
                  <a:srgbClr val="C00000"/>
                </a:solidFill>
              </a:rPr>
              <a:t>_</a:t>
            </a:r>
            <a:r>
              <a:rPr lang="zh-CN" altLang="en-US" dirty="0">
                <a:solidFill>
                  <a:srgbClr val="C00000"/>
                </a:solidFill>
              </a:rPr>
              <a:t>v) </a:t>
            </a:r>
            <a:r>
              <a:rPr lang="en-US" altLang="zh-CN" dirty="0">
                <a:solidFill>
                  <a:srgbClr val="C00000"/>
                </a:solidFill>
              </a:rPr>
              <a:t>{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int len = 1; \</a:t>
            </a:r>
            <a:endParaRPr lang="zh-CN" altLang="en-US" dirty="0"/>
          </a:p>
          <a:p>
            <a:r>
              <a:rPr lang="zh-CN" altLang="en-US" dirty="0"/>
              <a:t>		concat(decode_data_size_, suffix) \</a:t>
            </a:r>
            <a:endParaRPr lang="zh-CN" altLang="en-US" dirty="0"/>
          </a:p>
          <a:p>
            <a:r>
              <a:rPr lang="zh-CN" altLang="en-US" dirty="0"/>
              <a:t>		concat3(decode_operand, _, concat3(src_type, 2, dest_type)) \</a:t>
            </a:r>
            <a:endParaRPr lang="zh-CN" altLang="en-US" dirty="0"/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</a:t>
            </a:r>
            <a:endParaRPr lang="zh-CN" altLang="en-US" dirty="0"/>
          </a:p>
          <a:p>
            <a:r>
              <a:rPr lang="zh-CN" altLang="en-US" dirty="0"/>
              <a:t>		instr_execute_2op(); \</a:t>
            </a:r>
            <a:endParaRPr lang="zh-CN" altLang="en-US" dirty="0"/>
          </a:p>
          <a:p>
            <a:r>
              <a:rPr lang="zh-CN" altLang="en-US" dirty="0"/>
              <a:t>		return len; \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273675" y="3142334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2383986" y="939800"/>
            <a:ext cx="4327965" cy="3524250"/>
          </a:xfrm>
          <a:custGeom>
            <a:avLst/>
            <a:gdLst>
              <a:gd name="connsiteX0" fmla="*/ 4327965 w 4327965"/>
              <a:gd name="connsiteY0" fmla="*/ 3524250 h 3524250"/>
              <a:gd name="connsiteX1" fmla="*/ 676715 w 4327965"/>
              <a:gd name="connsiteY1" fmla="*/ 1790700 h 3524250"/>
              <a:gd name="connsiteX2" fmla="*/ 9965 w 4327965"/>
              <a:gd name="connsiteY2" fmla="*/ 0 h 352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27965" h="3524250">
                <a:moveTo>
                  <a:pt x="4327965" y="3524250"/>
                </a:moveTo>
                <a:cubicBezTo>
                  <a:pt x="2862173" y="2951162"/>
                  <a:pt x="1396382" y="2378075"/>
                  <a:pt x="676715" y="1790700"/>
                </a:cubicBezTo>
                <a:cubicBezTo>
                  <a:pt x="-42952" y="1203325"/>
                  <a:pt x="-16494" y="601662"/>
                  <a:pt x="9965" y="0"/>
                </a:cubicBezTo>
              </a:path>
            </a:pathLst>
          </a:custGeom>
          <a:noFill/>
          <a:ln w="3810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4279900" cy="261610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96050" y="4895851"/>
            <a:ext cx="450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8991599" cy="347787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/>
              <a:t>#define make_instr_impl_2op(inst_name, src_type, dest_type, suffix) \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 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</a:t>
            </a:r>
            <a:r>
              <a:rPr lang="zh-CN" altLang="en-US" dirty="0">
                <a:solidFill>
                  <a:srgbClr val="C00000"/>
                </a:solidFill>
              </a:rPr>
              <a:t>int len = 1; \ </a:t>
            </a:r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不变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concat(decode_data_size_, suffix) \</a:t>
            </a:r>
            <a:endParaRPr lang="zh-CN" altLang="en-US" dirty="0"/>
          </a:p>
          <a:p>
            <a:r>
              <a:rPr lang="zh-CN" altLang="en-US" dirty="0"/>
              <a:t>		concat3(decode_operand, _, concat3(src_type, 2, dest_type)) \</a:t>
            </a:r>
            <a:endParaRPr lang="zh-CN" altLang="en-US" dirty="0"/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</a:t>
            </a:r>
            <a:endParaRPr lang="zh-CN" altLang="en-US" dirty="0"/>
          </a:p>
          <a:p>
            <a:r>
              <a:rPr lang="zh-CN" altLang="en-US" dirty="0"/>
              <a:t>		instr_execute_2op(); \</a:t>
            </a:r>
            <a:endParaRPr lang="zh-CN" altLang="en-US" dirty="0"/>
          </a:p>
          <a:p>
            <a:r>
              <a:rPr lang="zh-CN" altLang="en-US" dirty="0"/>
              <a:t>		return len; \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407025" y="3142335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4622800" cy="261610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96050" y="4895851"/>
            <a:ext cx="4527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1"/>
            <a:ext cx="8991599" cy="430887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/>
              <a:t>#define make_instr_impl_2op(inst_name, src_type, dest_type, suffix) \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 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int len = 1; \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</a:t>
            </a:r>
            <a:r>
              <a:rPr lang="zh-CN" altLang="en-US" dirty="0">
                <a:solidFill>
                  <a:srgbClr val="C00000"/>
                </a:solidFill>
              </a:rPr>
              <a:t>concat(decode_data_size_, suffix) \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宏展开等于 </a:t>
            </a:r>
            <a:r>
              <a:rPr lang="en-US" altLang="zh-CN" dirty="0" err="1">
                <a:solidFill>
                  <a:srgbClr val="C00000"/>
                </a:solidFill>
              </a:rPr>
              <a:t>decode_data_size_v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下方宏定义 </a:t>
            </a:r>
            <a:r>
              <a:rPr lang="en-US" altLang="zh-CN" dirty="0">
                <a:solidFill>
                  <a:srgbClr val="C00000"/>
                </a:solidFill>
              </a:rPr>
              <a:t>#define </a:t>
            </a:r>
            <a:r>
              <a:rPr lang="en-US" altLang="zh-CN" dirty="0" err="1">
                <a:solidFill>
                  <a:srgbClr val="C00000"/>
                </a:solidFill>
              </a:rPr>
              <a:t>decode_data_size_v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opr_src.data_size</a:t>
            </a:r>
            <a:r>
              <a:rPr lang="en-US" altLang="zh-CN" dirty="0">
                <a:solidFill>
                  <a:srgbClr val="C00000"/>
                </a:solidFill>
              </a:rPr>
              <a:t> = </a:t>
            </a:r>
            <a:r>
              <a:rPr lang="en-US" altLang="zh-CN" dirty="0" err="1">
                <a:solidFill>
                  <a:srgbClr val="C00000"/>
                </a:solidFill>
              </a:rPr>
              <a:t>opr_dest.data_size</a:t>
            </a:r>
            <a:r>
              <a:rPr lang="en-US" altLang="zh-CN" dirty="0">
                <a:solidFill>
                  <a:srgbClr val="C00000"/>
                </a:solidFill>
              </a:rPr>
              <a:t> = </a:t>
            </a:r>
            <a:r>
              <a:rPr lang="en-US" altLang="zh-CN" dirty="0" err="1">
                <a:solidFill>
                  <a:srgbClr val="C00000"/>
                </a:solidFill>
              </a:rPr>
              <a:t>data_size</a:t>
            </a:r>
            <a:r>
              <a:rPr lang="en-US" altLang="zh-CN" dirty="0">
                <a:solidFill>
                  <a:srgbClr val="C00000"/>
                </a:solidFill>
              </a:rPr>
              <a:t>;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concat3(decode_operand, _, concat3(src_type, 2, dest_type)) \</a:t>
            </a:r>
            <a:endParaRPr lang="zh-CN" altLang="en-US" dirty="0"/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</a:t>
            </a:r>
            <a:endParaRPr lang="zh-CN" altLang="en-US" dirty="0"/>
          </a:p>
          <a:p>
            <a:r>
              <a:rPr lang="zh-CN" altLang="en-US" dirty="0"/>
              <a:t>		instr_execute_2op(); \</a:t>
            </a:r>
            <a:endParaRPr lang="zh-CN" altLang="en-US" dirty="0"/>
          </a:p>
          <a:p>
            <a:r>
              <a:rPr lang="zh-CN" altLang="en-US" dirty="0"/>
              <a:t>		return len; \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08600" y="4022353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3879850" cy="292387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8991599" cy="51398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/>
              <a:t>#define make_instr_impl_2op(inst_name, src_type, dest_type, suffix) \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int len = 1; \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concat(decode_data_size_, suffix)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</a:t>
            </a:r>
            <a:r>
              <a:rPr lang="zh-CN" altLang="en-US" dirty="0">
                <a:solidFill>
                  <a:srgbClr val="C00000"/>
                </a:solidFill>
              </a:rPr>
              <a:t>concat3(decode_operand, _, concat3(src_type, 2, dest_type)) \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宏展开等于 </a:t>
            </a:r>
            <a:r>
              <a:rPr lang="en-US" altLang="zh-CN" dirty="0">
                <a:solidFill>
                  <a:srgbClr val="C00000"/>
                </a:solidFill>
              </a:rPr>
              <a:t>decode_operand_r2rm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下方宏定义 </a:t>
            </a:r>
            <a:r>
              <a:rPr lang="en-US" altLang="zh-CN" dirty="0">
                <a:solidFill>
                  <a:srgbClr val="C00000"/>
                </a:solidFill>
              </a:rPr>
              <a:t>#define decode_operand_r2rm \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                               </a:t>
            </a:r>
            <a:r>
              <a:rPr lang="en-US" altLang="zh-CN" dirty="0" err="1">
                <a:solidFill>
                  <a:srgbClr val="C00000"/>
                </a:solidFill>
              </a:rPr>
              <a:t>len</a:t>
            </a:r>
            <a:r>
              <a:rPr lang="en-US" altLang="zh-CN" dirty="0">
                <a:solidFill>
                  <a:srgbClr val="C00000"/>
                </a:solidFill>
              </a:rPr>
              <a:t> += </a:t>
            </a:r>
            <a:r>
              <a:rPr lang="en-US" altLang="zh-CN" dirty="0" err="1">
                <a:solidFill>
                  <a:srgbClr val="C00000"/>
                </a:solidFill>
              </a:rPr>
              <a:t>modrm_r_rm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eip</a:t>
            </a:r>
            <a:r>
              <a:rPr lang="en-US" altLang="zh-CN" dirty="0">
                <a:solidFill>
                  <a:srgbClr val="C00000"/>
                </a:solidFill>
              </a:rPr>
              <a:t> + 1, &amp;</a:t>
            </a:r>
            <a:r>
              <a:rPr lang="en-US" altLang="zh-CN" dirty="0" err="1">
                <a:solidFill>
                  <a:srgbClr val="C00000"/>
                </a:solidFill>
              </a:rPr>
              <a:t>opr_src</a:t>
            </a:r>
            <a:r>
              <a:rPr lang="en-US" altLang="zh-CN" dirty="0">
                <a:solidFill>
                  <a:srgbClr val="C00000"/>
                </a:solidFill>
              </a:rPr>
              <a:t>, &amp;</a:t>
            </a:r>
            <a:r>
              <a:rPr lang="en-US" altLang="zh-CN" dirty="0" err="1">
                <a:solidFill>
                  <a:srgbClr val="C00000"/>
                </a:solidFill>
              </a:rPr>
              <a:t>opr_dest</a:t>
            </a:r>
            <a:r>
              <a:rPr lang="en-US" altLang="zh-CN" dirty="0">
                <a:solidFill>
                  <a:srgbClr val="C00000"/>
                </a:solidFill>
              </a:rPr>
              <a:t>);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</a:t>
            </a:r>
            <a:endParaRPr lang="zh-CN" altLang="en-US" dirty="0"/>
          </a:p>
          <a:p>
            <a:r>
              <a:rPr lang="zh-CN" altLang="en-US" dirty="0"/>
              <a:t>		instr_execute_2op(); \</a:t>
            </a:r>
            <a:endParaRPr lang="zh-CN" altLang="en-US" dirty="0"/>
          </a:p>
          <a:p>
            <a:r>
              <a:rPr lang="zh-CN" altLang="en-US" dirty="0"/>
              <a:t>		return len; \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18125" y="4836342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3879850" cy="292387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8991599" cy="51398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/>
              <a:t>#define make_instr_impl_2op(inst_name, src_type, dest_type, suffix) \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int len = 1; \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concat(decode_data_size_, suffix)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concat3(decode_operand, _, concat3(src_type, 2, dest_type))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decode_operand_r2rm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decode_operand_r2rm \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                              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modrm_r_rm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  </a:t>
            </a:r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单步执行打印调试信息，不变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instr_execute_2op(); \</a:t>
            </a:r>
            <a:endParaRPr lang="zh-CN" altLang="en-US" dirty="0"/>
          </a:p>
          <a:p>
            <a:r>
              <a:rPr lang="zh-CN" altLang="en-US" dirty="0"/>
              <a:t>		return len; \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30825" y="4836342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3879850" cy="292387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8991599" cy="51398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/>
              <a:t>#define make_instr_impl_2op(inst_name, src_type, dest_type, suffix) \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int len = 1; \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concat(decode_data_size_, suffix)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concat3(decode_operand, _, concat3(src_type, 2, dest_type))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decode_operand_r2rm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decode_operand_r2rm \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                              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modrm_r_rm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 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单步执行打印调试信息，不变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</a:t>
            </a:r>
            <a:r>
              <a:rPr lang="zh-CN" altLang="en-US" dirty="0">
                <a:solidFill>
                  <a:srgbClr val="C00000"/>
                </a:solidFill>
              </a:rPr>
              <a:t>instr_execute_2op(); \  </a:t>
            </a:r>
            <a:r>
              <a:rPr lang="en-US" altLang="zh-CN" dirty="0">
                <a:solidFill>
                  <a:srgbClr val="C00000"/>
                </a:solidFill>
              </a:rPr>
              <a:t>//</a:t>
            </a:r>
            <a:r>
              <a:rPr lang="zh-CN" altLang="en-US" dirty="0">
                <a:solidFill>
                  <a:srgbClr val="C00000"/>
                </a:solidFill>
              </a:rPr>
              <a:t>调用执行函数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return len; \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18125" y="4836342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4191000" cy="261610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static void instr_execute_2op() {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	operand_read(&amp;opr_src);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	opr_dest.val = opr_src.val;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	operand_write(&amp;opr_dest);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}</a:t>
            </a:r>
            <a:endParaRPr lang="zh-CN" altLang="en-US" dirty="0">
              <a:solidFill>
                <a:srgbClr val="C00000"/>
              </a:solidFill>
            </a:endParaRPr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96050" y="4895851"/>
            <a:ext cx="450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4800599" cy="261610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900" dirty="0"/>
              <a:t>// macro for generating the implementation of an instruction with two operands</a:t>
            </a:r>
            <a:endParaRPr lang="zh-CN" altLang="en-US" sz="900" dirty="0"/>
          </a:p>
          <a:p>
            <a:r>
              <a:rPr lang="zh-CN" altLang="en-US" sz="1000" dirty="0"/>
              <a:t>#define make_instr_impl_2op(inst_name, src_type, dest_type, suffix) \</a:t>
            </a:r>
            <a:endParaRPr lang="en-US" altLang="zh-CN" sz="1000" dirty="0"/>
          </a:p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900" dirty="0"/>
              <a:t>	make_instr_func(concat7(inst_name, _, src_type, 2, dest_type, _, suffix)) {\</a:t>
            </a:r>
            <a:endParaRPr lang="en-US" altLang="zh-CN" sz="900" dirty="0"/>
          </a:p>
          <a:p>
            <a:r>
              <a:rPr lang="en-US" altLang="zh-CN" sz="900" dirty="0"/>
              <a:t>	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900" dirty="0"/>
              <a:t>		int len = 1; \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不变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900" dirty="0"/>
              <a:t>		concat(decode_data_size_, suffix) \</a:t>
            </a:r>
            <a:endParaRPr lang="en-US" altLang="zh-CN" sz="900" dirty="0"/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endParaRPr lang="en-US" altLang="zh-CN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900" dirty="0"/>
              <a:t>		concat3(decode_operand, _, concat3(src_type, 2, dest_type)) \</a:t>
            </a:r>
            <a:endParaRPr lang="en-US" altLang="zh-CN" sz="900" dirty="0"/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decode_operand_r2rm</a:t>
            </a:r>
            <a:endParaRPr lang="en-US" altLang="zh-CN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decode_operand_r2rm \</a:t>
            </a:r>
            <a:endParaRPr lang="en-US" altLang="zh-CN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                              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modrm_r_rm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900" dirty="0"/>
              <a:t>		print_asm_2(</a:t>
            </a:r>
            <a:r>
              <a:rPr lang="en-US" altLang="zh-CN" sz="900" dirty="0"/>
              <a:t>…</a:t>
            </a:r>
            <a:r>
              <a:rPr lang="zh-CN" altLang="en-US" sz="900" dirty="0"/>
              <a:t>); \ 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单步执行打印调试信息，不变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900" dirty="0"/>
              <a:t>		</a:t>
            </a:r>
            <a:r>
              <a:rPr lang="zh-CN" altLang="en-US" sz="900" dirty="0">
                <a:solidFill>
                  <a:srgbClr val="C00000"/>
                </a:solidFill>
              </a:rPr>
              <a:t>instr_execute_2op(); \  </a:t>
            </a:r>
            <a:r>
              <a:rPr lang="en-US" altLang="zh-CN" sz="900" dirty="0">
                <a:solidFill>
                  <a:srgbClr val="C00000"/>
                </a:solidFill>
              </a:rPr>
              <a:t>//</a:t>
            </a:r>
            <a:r>
              <a:rPr lang="zh-CN" altLang="en-US" sz="900" dirty="0">
                <a:solidFill>
                  <a:srgbClr val="C00000"/>
                </a:solidFill>
              </a:rPr>
              <a:t>调用执行函数</a:t>
            </a:r>
            <a:endParaRPr lang="zh-CN" altLang="en-US" sz="900" dirty="0">
              <a:solidFill>
                <a:srgbClr val="C00000"/>
              </a:solidFill>
            </a:endParaRPr>
          </a:p>
          <a:p>
            <a:r>
              <a:rPr lang="zh-CN" altLang="en-US" sz="900" dirty="0"/>
              <a:t>		return len; \</a:t>
            </a:r>
            <a:endParaRPr lang="zh-CN" altLang="en-US" sz="900" dirty="0"/>
          </a:p>
          <a:p>
            <a:r>
              <a:rPr lang="zh-CN" altLang="en-US" sz="900" dirty="0"/>
              <a:t>	}</a:t>
            </a:r>
            <a:endParaRPr lang="zh-CN" altLang="en-US" sz="900" dirty="0"/>
          </a:p>
        </p:txBody>
      </p:sp>
      <p:sp>
        <p:nvSpPr>
          <p:cNvPr id="8" name="文本框 7"/>
          <p:cNvSpPr txBox="1"/>
          <p:nvPr/>
        </p:nvSpPr>
        <p:spPr>
          <a:xfrm>
            <a:off x="6496050" y="391827"/>
            <a:ext cx="534670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5338764" y="2433638"/>
            <a:ext cx="1533525" cy="328612"/>
          </a:xfrm>
          <a:prstGeom prst="straightConnector1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5724" y="1751905"/>
            <a:ext cx="2316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Static</a:t>
            </a:r>
            <a:r>
              <a:rPr lang="zh-CN" altLang="en-US" dirty="0">
                <a:solidFill>
                  <a:srgbClr val="C00000"/>
                </a:solidFill>
              </a:rPr>
              <a:t>关键字很关键！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3879850" cy="292387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8991599" cy="51398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/>
              <a:t>#define make_instr_impl_2op(inst_name, src_type, dest_type, suffix) \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int len = 1; \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concat(decode_data_size_, suffix)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concat3(decode_operand, _, concat3(src_type, 2, dest_type))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decode_operand_r2rm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decode_operand_r2rm \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                              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modrm_r_rm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 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单步执行打印调试信息，不变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instr_execute_2op(); \ 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调用执行函数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</a:t>
            </a:r>
            <a:r>
              <a:rPr lang="zh-CN" altLang="en-US" dirty="0">
                <a:solidFill>
                  <a:srgbClr val="C00000"/>
                </a:solidFill>
              </a:rPr>
              <a:t>return len; \   </a:t>
            </a:r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返回指令长度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94325" y="4853351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4"/>
            <a:ext cx="3987800" cy="286232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make_instr_impl_2op(mov, r, rm, v)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将其进行宏展开后，变为。。。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96050" y="4895851"/>
            <a:ext cx="4489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61434" y="2166818"/>
            <a:ext cx="2956379" cy="2962349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sz="1100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43667" y="1399671"/>
            <a:ext cx="6430733" cy="535531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make_instr_impl_2op(mov, r, rm, v)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将其进行宏展开后，变为。。。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 len = 1;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modrm_r_rm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print_asm_2(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instr_execute_2op(); 		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return len;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38664" y="812322"/>
            <a:ext cx="4649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3940629" y="4760686"/>
            <a:ext cx="1008742" cy="638628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903438" y="5193296"/>
            <a:ext cx="74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等价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61434" y="2166818"/>
            <a:ext cx="2956379" cy="2962349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sz="1100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43667" y="1399671"/>
            <a:ext cx="6379933" cy="535531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FF0000"/>
                </a:solidFill>
              </a:rPr>
              <a:t>opr_dest</a:t>
            </a:r>
            <a:r>
              <a:rPr lang="zh-CN" altLang="en-US" dirty="0"/>
              <a:t>.val = </a:t>
            </a:r>
            <a:r>
              <a:rPr lang="zh-CN" altLang="en-US" dirty="0">
                <a:solidFill>
                  <a:srgbClr val="FF0000"/>
                </a:solidFill>
              </a:rPr>
              <a:t>opr_src</a:t>
            </a:r>
            <a:r>
              <a:rPr lang="zh-CN" altLang="en-US" dirty="0"/>
              <a:t>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make_instr_impl_2op(mov, r, rm, v)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将其进行宏展开后，变为。。。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 len = 1;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opr_src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opr_dest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modrm_r_rm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print_asm_2(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instr_execute_2op(); 		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return len;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38664" y="812322"/>
            <a:ext cx="4801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3940629" y="4760686"/>
            <a:ext cx="1008742" cy="638628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903438" y="5193296"/>
            <a:ext cx="74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等价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34457" y="5725886"/>
            <a:ext cx="2358572" cy="9233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opr_src</a:t>
            </a:r>
            <a:r>
              <a:rPr lang="zh-CN" altLang="en-US" dirty="0"/>
              <a:t>和</a:t>
            </a:r>
            <a:r>
              <a:rPr lang="en-US" altLang="zh-CN" dirty="0" err="1"/>
              <a:t>opr_dest</a:t>
            </a:r>
            <a:r>
              <a:rPr lang="zh-CN" altLang="en-US" dirty="0"/>
              <a:t>是定义在</a:t>
            </a:r>
            <a:r>
              <a:rPr lang="en-US" altLang="zh-CN" dirty="0" err="1"/>
              <a:t>operand.c</a:t>
            </a:r>
            <a:r>
              <a:rPr lang="zh-CN" altLang="en-US" dirty="0"/>
              <a:t>中的两个全局变量</a:t>
            </a:r>
            <a:endParaRPr lang="zh-CN" alt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61434" y="2166818"/>
            <a:ext cx="2956379" cy="2962349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sz="1100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43667" y="1399671"/>
            <a:ext cx="6329133" cy="535531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make_instr_impl_2op(mov, r, rm, v)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将其进行宏展开后，变为。。。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 len = 1;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dirty="0" err="1">
                <a:solidFill>
                  <a:srgbClr val="FF0000"/>
                </a:solidFill>
              </a:rPr>
              <a:t>modrm_r_rm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print_asm_2(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instr_execute_2op(); 		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return len;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38664" y="812322"/>
            <a:ext cx="4649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3940629" y="4760686"/>
            <a:ext cx="1008742" cy="638628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903438" y="5193296"/>
            <a:ext cx="74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等价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34457" y="5725887"/>
            <a:ext cx="2358572" cy="64633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modrm</a:t>
            </a:r>
            <a:r>
              <a:rPr lang="zh-CN" altLang="en-US" dirty="0"/>
              <a:t>系列函数看</a:t>
            </a:r>
            <a:r>
              <a:rPr lang="en-US" altLang="zh-CN" dirty="0"/>
              <a:t>Guide</a:t>
            </a:r>
            <a:r>
              <a:rPr lang="zh-CN" altLang="en-US" dirty="0"/>
              <a:t>的描述</a:t>
            </a:r>
            <a:endParaRPr lang="zh-CN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PA 2-1 </a:t>
            </a:r>
            <a:r>
              <a:rPr lang="zh-CN" altLang="en-US" dirty="0"/>
              <a:t>结束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3EE9-7539-4E35-AA32-D6C6D6B84F3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f5ba9757-6a82-48e2-9827-af87917581a4"/>
  <p:tag name="COMMONDATA" val="eyJoZGlkIjoiODBiZDM0ZDFkZDAwZGVmZTY2MTgzNDgxYWJhNmE0OGUifQ=="/>
</p:tagLst>
</file>

<file path=ppt/theme/theme1.xml><?xml version="1.0" encoding="utf-8"?>
<a:theme xmlns:a="http://schemas.openxmlformats.org/drawingml/2006/main" name="2020_spring_pa_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2020_spring_pa_0</Template>
  <TotalTime>0</TotalTime>
  <Words>40806</Words>
  <Application>WPS 演示</Application>
  <PresentationFormat>宽屏</PresentationFormat>
  <Paragraphs>2294</Paragraphs>
  <Slides>84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96" baseType="lpstr">
      <vt:lpstr>Arial</vt:lpstr>
      <vt:lpstr>宋体</vt:lpstr>
      <vt:lpstr>Wingdings</vt:lpstr>
      <vt:lpstr>微软雅黑</vt:lpstr>
      <vt:lpstr>幼圆</vt:lpstr>
      <vt:lpstr>Consolas</vt:lpstr>
      <vt:lpstr>等线</vt:lpstr>
      <vt:lpstr>Arial Unicode MS</vt:lpstr>
      <vt:lpstr>MS Gothic</vt:lpstr>
      <vt:lpstr>Times New Roman</vt:lpstr>
      <vt:lpstr>Calibri</vt:lpstr>
      <vt:lpstr>2020_spring_pa_0</vt:lpstr>
      <vt:lpstr>PA 2-1 – 指令解码与执行</vt:lpstr>
      <vt:lpstr>汇编知识提要</vt:lpstr>
      <vt:lpstr>目录</vt:lpstr>
      <vt:lpstr>目录</vt:lpstr>
      <vt:lpstr>计算机执行程序的过程</vt:lpstr>
      <vt:lpstr>计算机执行程序的过程</vt:lpstr>
      <vt:lpstr>计算机执行程序的过程</vt:lpstr>
      <vt:lpstr>计算机执行程序的过程</vt:lpstr>
      <vt:lpstr>NEMU模拟程序执行</vt:lpstr>
      <vt:lpstr>NEMU模拟程序执行：PA 2-1</vt:lpstr>
      <vt:lpstr>NEMU模拟程序执行：PA 2-1</vt:lpstr>
      <vt:lpstr>NEMU模拟程序执行：PA 2-1</vt:lpstr>
      <vt:lpstr>PowerPoint 演示文稿</vt:lpstr>
      <vt:lpstr>NEMU模拟程序执行：1. 装载程序</vt:lpstr>
      <vt:lpstr>NEMU模拟程序执行：1. 装载程序</vt:lpstr>
      <vt:lpstr>NEMU模拟程序执行：1. 装载程序</vt:lpstr>
      <vt:lpstr>NEMU模拟程序执行：1. 装载程序</vt:lpstr>
      <vt:lpstr>NEMU模拟程序执行：1. 装载程序</vt:lpstr>
      <vt:lpstr>NEMU模拟程序执行：1. 装载程序</vt:lpstr>
      <vt:lpstr>计算机执行程序的过程</vt:lpstr>
      <vt:lpstr>NEMU模拟程序执行：2. 执行程序</vt:lpstr>
      <vt:lpstr>NEMU模拟程序执行：2. 执行程序</vt:lpstr>
      <vt:lpstr>NEMU模拟程序执行：2. 执行程序</vt:lpstr>
      <vt:lpstr>NEMU模拟程序执行：2. 执行程序</vt:lpstr>
      <vt:lpstr>NEMU模拟程序执行：2. 执行程序</vt:lpstr>
      <vt:lpstr>PowerPoint 演示文稿</vt:lpstr>
      <vt:lpstr>NEMU模拟程序执行：2. 执行程序</vt:lpstr>
      <vt:lpstr>目录</vt:lpstr>
      <vt:lpstr>指令的解码</vt:lpstr>
      <vt:lpstr>指令的解码</vt:lpstr>
      <vt:lpstr>指令的解码</vt:lpstr>
      <vt:lpstr>指令的解码</vt:lpstr>
      <vt:lpstr>PowerPoint 演示文稿</vt:lpstr>
      <vt:lpstr>PowerPoint 演示文稿</vt:lpstr>
      <vt:lpstr>PowerPoint 演示文稿</vt:lpstr>
      <vt:lpstr>指令的解码</vt:lpstr>
      <vt:lpstr>指令的解码</vt:lpstr>
      <vt:lpstr>指令的解码</vt:lpstr>
      <vt:lpstr>指令的解码</vt:lpstr>
      <vt:lpstr>指令的解码</vt:lpstr>
      <vt:lpstr>指令的解码</vt:lpstr>
      <vt:lpstr>PowerPoint 演示文稿</vt:lpstr>
      <vt:lpstr>指令的解码</vt:lpstr>
      <vt:lpstr>指令的解码</vt:lpstr>
      <vt:lpstr>指令的解码</vt:lpstr>
      <vt:lpstr>目录</vt:lpstr>
      <vt:lpstr>NEMU模拟指令解码和执行</vt:lpstr>
      <vt:lpstr>NEMU模拟指令解码和执行</vt:lpstr>
      <vt:lpstr>PowerPoint 演示文稿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PowerPoint 演示文稿</vt:lpstr>
      <vt:lpstr>PA 2-1要做的任务：执行make run或make test_pa-2-1</vt:lpstr>
      <vt:lpstr>PA 2-1要做的任务：执行make run或make test_pa-2-1</vt:lpstr>
      <vt:lpstr>NEMU模拟指令解码和执行</vt:lpstr>
      <vt:lpstr>实验目标</vt:lpstr>
      <vt:lpstr>但是！</vt:lpstr>
      <vt:lpstr>用于精简指令实现的宏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PA 2-1 结束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 2-0 – 汇编基础知识先导课</dc:title>
  <dc:creator>wangliang</dc:creator>
  <cp:lastModifiedBy>蒂凡内的早餐</cp:lastModifiedBy>
  <cp:revision>418</cp:revision>
  <dcterms:created xsi:type="dcterms:W3CDTF">2020-03-19T08:26:00Z</dcterms:created>
  <dcterms:modified xsi:type="dcterms:W3CDTF">2026-09-19T15:16:20Z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80697A9F559C44BDBE436056653D7BA7</vt:lpwstr>
  </property>
  <property fmtid="{D5CDD505-2E9C-101B-9397-08002B2CF9AE}" pid="3" name="KSOProductBuildVer">
    <vt:lpwstr>2052-12.1.0.28505</vt:lpwstr>
  </property>
</Properties>
</file>